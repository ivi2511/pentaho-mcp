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1"/>
    <p:sldId id="259" r:id="rId12"/>
    <p:sldId id="260" r:id="rId14"/>
    <p:sldId id="261" r:id="rId15"/>
    <p:sldId id="262" r:id="rId16"/>
    <p:sldId id="263" r:id="rId18"/>
    <p:sldId id="264" r:id="rId19"/>
    <p:sldId id="265" r:id="rId20"/>
    <p:sldId id="266" r:id="rId22"/>
    <p:sldId id="26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notesSlides/notesSlide2.xml" Type="http://schemas.openxmlformats.org/officeDocument/2006/relationships/notes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notesSlides/notesSlide3.xml" Type="http://schemas.openxmlformats.org/officeDocument/2006/relationships/notesSlide"/><Relationship Id="rId18" Target="slides/slide8.xml" Type="http://schemas.openxmlformats.org/officeDocument/2006/relationships/slide"/><Relationship Id="rId19" Target="slides/slide9.xml" Type="http://schemas.openxmlformats.org/officeDocument/2006/relationships/slide"/><Relationship Id="rId2" Target="presProps.xml" Type="http://schemas.openxmlformats.org/officeDocument/2006/relationships/presProps"/><Relationship Id="rId20" Target="slides/slide10.xml" Type="http://schemas.openxmlformats.org/officeDocument/2006/relationships/slide"/><Relationship Id="rId21" Target="notesSlides/notesSlide4.xml" Type="http://schemas.openxmlformats.org/officeDocument/2006/relationships/notesSlide"/><Relationship Id="rId22" Target="slides/slide11.xml" Type="http://schemas.openxmlformats.org/officeDocument/2006/relationships/slide"/><Relationship Id="rId23" Target="notesSlides/notesSlide5.xml" Type="http://schemas.openxmlformats.org/officeDocument/2006/relationships/notesSlide"/><Relationship Id="rId24" Target="slides/slide12.xml" Type="http://schemas.openxmlformats.org/officeDocument/2006/relationships/slide"/><Relationship Id="rId25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 sz="1200"/>
              <a:t>Job job_carga_dw.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 sz="1200"/>
              <a:t>Ejecuta 5 transformaciones (01_dim_tienda.ktr, 02_dim_producto.ktr, 03_dim_fecha.ktr, 04_hechos_ventas.ktr, 05_kpi_ventas.ktr), maneja archivos, ejecuta SQL y escribe en el log. 12 entradas y 18 hops.</a:t>
            </a:r>
          </a:p>
          <a:p>
            <a:r>
              <a:rPr lang="es-ES" sz="1200"/>
              <a:t/>
            </a:r>
          </a:p>
          <a:p>
            <a:r>
              <a:rPr lang="es-ES" sz="1200"/>
              <a:t>El job orquesta la carga completa del modelo estrella: comprueba que estén los ficheros de entrada, crea la carpeta de salida y las tablas, carga las tres dimensiones (tiendas, productos y fechas), después los hechos y por último los KPI. Si algún paso falla, registra el error y aborta la carga. En la última ejecución todas las entradas terminaron correctamente.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 sz="1200"/>
              <a:t>12 entradas y 18 hops. Ejecuta 5 transformaciones (01_dim_tienda.ktr, 02_dim_producto.ktr, 03_dim_fecha.ktr, 04_hechos_ventas.ktr, 05_kpi_ventas.ktr).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 sz="1200"/>
              <a:t>La última ejecución del job tardó 3,2 s y terminó bien; se ejecutaron 9 entradas. La entrada más lenta fue «Cargar dim_producto» (839 ms).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 sz="1200"/>
              <a:t>1 error y 0 advertencias.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 sz="1200"/>
              <a:t>1 conexión y 0 parámetros.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notesSlides/notesSlide3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489200"/>
          </a:xfrm>
          <a:solidFill>
            <a:srgbClr val="243B53"/>
          </a:solidFill>
        </p:spPr>
        <p:txBody>
          <a:bodyPr lIns="762000" rIns="762000" wrap="square" anchor="b" tIns="76200" bIns="76200"/>
          <a:lstStyle/>
          <a:p>
            <a:pPr algn="l"/>
            <a:r>
              <a:rPr lang="es-ES" sz="3600" b="true" i="false">
                <a:solidFill>
                  <a:srgbClr val="FFFFFF"/>
                </a:solidFill>
                <a:latin typeface="Segoe UI"/>
              </a:rPr>
              <a:t>Job de carga del modelo estrella · Grano de Oro</a:t>
            </a:r>
            <a:endParaRPr sz="3600" lang="es-E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476500"/>
            <a:ext cx="12192000" cy="698500"/>
          </a:xfrm>
          <a:solidFill>
            <a:srgbClr val="243B53"/>
          </a:solidFill>
        </p:spPr>
        <p:txBody>
          <a:bodyPr lIns="762000" rIns="762000" wrap="square" anchor="t" tIns="76200" bIns="0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ES" sz="1600" b="false" i="false">
                <a:solidFill>
                  <a:srgbClr val="D8DCE0"/>
                </a:solidFill>
                <a:latin typeface="Segoe UI"/>
              </a:rPr>
              <a:t>Informe del job job_carga_dw</a:t>
            </a:r>
            <a:endParaRPr sz="1600" lang="es-ES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0" y="5510084"/>
            <a:ext cx="1435100" cy="814516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0" y="3175000"/>
            <a:ext cx="12192000" cy="50800"/>
          </a:xfrm>
          <a:prstGeom prst="rect">
            <a:avLst/>
          </a:prstGeom>
          <a:solidFill>
            <a:srgbClr val="3F74D8"/>
          </a:solidFill>
          <a:ln>
            <a:noFill/>
          </a:ln>
        </p:spPr>
      </p:sp>
      <p:sp>
        <p:nvSpPr>
          <p:cNvPr name="TextBox 6" id="6"/>
          <p:cNvSpPr txBox="true"/>
          <p:nvPr/>
        </p:nvSpPr>
        <p:spPr>
          <a:xfrm>
            <a:off x="762000" y="3530600"/>
            <a:ext cx="7620000" cy="2052320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>
              <a:spcAft>
                <a:spcPts val="400"/>
              </a:spcAft>
            </a:pPr>
            <a:r>
              <a:rPr lang="es-ES" sz="1200" b="false" i="false">
                <a:solidFill>
                  <a:srgbClr val="6B7785"/>
                </a:solidFill>
                <a:latin typeface="Segoe UI"/>
              </a:rPr>
              <a:t>Documento: </a:t>
            </a:r>
            <a:r>
              <a:rPr lang="es-ES" sz="1200" b="false" i="false">
                <a:solidFill>
                  <a:srgbClr val="1F2933"/>
                </a:solidFill>
                <a:latin typeface="Segoe UI"/>
              </a:rPr>
              <a:t>job_carga_dw.kjb</a:t>
            </a:r>
            <a:endParaRPr sz="1200" lang="es-ES"/>
          </a:p>
          <a:p>
            <a:pPr algn="l">
              <a:spcAft>
                <a:spcPts val="400"/>
              </a:spcAft>
            </a:pPr>
            <a:r>
              <a:rPr lang="es-ES" sz="1200" b="false" i="false">
                <a:solidFill>
                  <a:srgbClr val="6B7785"/>
                </a:solidFill>
                <a:latin typeface="Segoe UI"/>
              </a:rPr>
              <a:t>Tipo: </a:t>
            </a:r>
            <a:r>
              <a:rPr lang="es-ES" sz="1200" b="false" i="false">
                <a:solidFill>
                  <a:srgbClr val="1F2933"/>
                </a:solidFill>
                <a:latin typeface="Segoe UI"/>
              </a:rPr>
              <a:t>Job</a:t>
            </a:r>
            <a:endParaRPr sz="1200" lang="es-ES"/>
          </a:p>
          <a:p>
            <a:pPr algn="l">
              <a:spcAft>
                <a:spcPts val="400"/>
              </a:spcAft>
            </a:pPr>
            <a:r>
              <a:rPr lang="es-ES" sz="1200" b="false" i="false">
                <a:solidFill>
                  <a:srgbClr val="6B7785"/>
                </a:solidFill>
                <a:latin typeface="Segoe UI"/>
              </a:rPr>
              <a:t>Autor: </a:t>
            </a:r>
            <a:r>
              <a:rPr lang="es-ES" sz="1200" b="false" i="false">
                <a:solidFill>
                  <a:srgbClr val="1F2933"/>
                </a:solidFill>
                <a:latin typeface="Segoe UI"/>
              </a:rPr>
              <a:t>Iván Castaño</a:t>
            </a:r>
            <a:endParaRPr sz="1200" lang="es-ES"/>
          </a:p>
          <a:p>
            <a:pPr algn="l">
              <a:spcAft>
                <a:spcPts val="400"/>
              </a:spcAft>
            </a:pPr>
            <a:r>
              <a:rPr lang="es-ES" sz="1200" b="false" i="false">
                <a:solidFill>
                  <a:srgbClr val="6B7785"/>
                </a:solidFill>
                <a:latin typeface="Segoe UI"/>
              </a:rPr>
              <a:t>Institución: </a:t>
            </a:r>
            <a:r>
              <a:rPr lang="es-ES" sz="1200" b="false" i="false">
                <a:solidFill>
                  <a:srgbClr val="1F2933"/>
                </a:solidFill>
                <a:latin typeface="Segoe UI"/>
              </a:rPr>
              <a:t>Universidad Europea de Madrid</a:t>
            </a:r>
            <a:endParaRPr sz="1200" lang="es-ES"/>
          </a:p>
          <a:p>
            <a:pPr algn="l">
              <a:spcAft>
                <a:spcPts val="400"/>
              </a:spcAft>
            </a:pPr>
            <a:r>
              <a:rPr lang="es-ES" sz="1200" b="false" i="false">
                <a:solidFill>
                  <a:srgbClr val="6B7785"/>
                </a:solidFill>
                <a:latin typeface="Segoe UI"/>
              </a:rPr>
              <a:t>Curso: </a:t>
            </a:r>
            <a:r>
              <a:rPr lang="es-ES" sz="1200" b="false" i="false">
                <a:solidFill>
                  <a:srgbClr val="1F2933"/>
                </a:solidFill>
                <a:latin typeface="Segoe UI"/>
              </a:rPr>
              <a:t>Proyecto de Big Data 1 · Práctica de ejemplo</a:t>
            </a:r>
            <a:endParaRPr sz="1200" lang="es-ES"/>
          </a:p>
          <a:p>
            <a:pPr algn="l">
              <a:spcAft>
                <a:spcPts val="400"/>
              </a:spcAft>
            </a:pPr>
            <a:r>
              <a:rPr lang="es-ES" sz="1200" b="false" i="false">
                <a:solidFill>
                  <a:srgbClr val="6B7785"/>
                </a:solidFill>
                <a:latin typeface="Segoe UI"/>
              </a:rPr>
              <a:t>Creado: </a:t>
            </a:r>
            <a:r>
              <a:rPr lang="es-ES" sz="1200" b="false" i="false">
                <a:solidFill>
                  <a:srgbClr val="1F2933"/>
                </a:solidFill>
                <a:latin typeface="Segoe UI"/>
              </a:rPr>
              <a:t>2026-10-20 23:20</a:t>
            </a:r>
            <a:endParaRPr sz="1200" lang="es-ES"/>
          </a:p>
          <a:p>
            <a:pPr algn="l">
              <a:spcAft>
                <a:spcPts val="400"/>
              </a:spcAft>
            </a:pPr>
            <a:r>
              <a:rPr lang="es-ES" sz="1200" b="false" i="false">
                <a:solidFill>
                  <a:srgbClr val="6B7785"/>
                </a:solidFill>
                <a:latin typeface="Segoe UI"/>
              </a:rPr>
              <a:t>Modificado: </a:t>
            </a:r>
            <a:r>
              <a:rPr lang="es-ES" sz="1200" b="false" i="false">
                <a:solidFill>
                  <a:srgbClr val="1F2933"/>
                </a:solidFill>
                <a:latin typeface="Segoe UI"/>
              </a:rPr>
              <a:t>2026-10-20 23:20</a:t>
            </a:r>
            <a:endParaRPr sz="1200" lang="es-ES"/>
          </a:p>
          <a:p>
            <a:pPr algn="l">
              <a:spcAft>
                <a:spcPts val="400"/>
              </a:spcAft>
            </a:pPr>
            <a:r>
              <a:rPr lang="es-ES" sz="1200" b="false" i="false">
                <a:solidFill>
                  <a:srgbClr val="1F2933"/>
                </a:solidFill>
                <a:latin typeface="Segoe UI"/>
              </a:rPr>
              <a:t>Generado el 21 de octubre de 2026, 16:11</a:t>
            </a:r>
            <a:endParaRPr sz="1200" lang="es-E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03200"/>
            <a:ext cx="11176000" cy="635000"/>
          </a:xfrm>
        </p:spPr>
        <p:txBody>
          <a:bodyPr lIns="0" rIns="0" wrap="square" anchor="ctr"/>
          <a:lstStyle/>
          <a:p>
            <a:pPr algn="l"/>
            <a:r>
              <a:rPr lang="es-ES" sz="2600" b="true" i="false">
                <a:solidFill>
                  <a:srgbClr val="243B53"/>
                </a:solidFill>
                <a:latin typeface="Segoe UI"/>
              </a:rPr>
              <a:t>Contenido</a:t>
            </a:r>
            <a:endParaRPr sz="2600" lang="es-E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0" y="5510084"/>
            <a:ext cx="1435100" cy="814516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43B53"/>
          </a:solidFill>
          <a:ln>
            <a:noFill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508750"/>
            <a:ext cx="177800" cy="10091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>
            <a:off x="749300" y="6451600"/>
            <a:ext cx="5080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750" b="false" i="false">
                <a:solidFill>
                  <a:srgbClr val="6B7785"/>
                </a:solidFill>
                <a:latin typeface="Segoe UI"/>
              </a:rPr>
              <a:t>Pentaho Live · IDC Studios</a:t>
            </a:r>
            <a:endParaRPr sz="750" lang="es-ES"/>
          </a:p>
        </p:txBody>
      </p:sp>
      <p:sp>
        <p:nvSpPr>
          <p:cNvPr name="TextBox 7" id="7"/>
          <p:cNvSpPr txBox="true"/>
          <p:nvPr/>
        </p:nvSpPr>
        <p:spPr>
          <a:xfrm>
            <a:off x="10160000" y="6451600"/>
            <a:ext cx="1524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r"/>
            <a:fld id="{97B6DDC8-F00F-4C67-9AEF-3B233204A57A}" type="slidenum">
              <a:rPr lang="es-ES" sz="750">
                <a:solidFill>
                  <a:srgbClr val="6B7785"/>
                </a:solidFill>
                <a:latin typeface="Segoe UI"/>
              </a:rPr>
              <a:t>2</a:t>
            </a:fld>
            <a:endParaRPr sz="750" lang="es-ES"/>
          </a:p>
        </p:txBody>
      </p:sp>
      <p:sp>
        <p:nvSpPr>
          <p:cNvPr name="TextBox 8" id="8"/>
          <p:cNvSpPr txBox="true"/>
          <p:nvPr/>
        </p:nvSpPr>
        <p:spPr>
          <a:xfrm>
            <a:off x="762000" y="1143000"/>
            <a:ext cx="7874000" cy="5130800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>
              <a:spcAft>
                <a:spcPts val="810"/>
              </a:spcAft>
              <a:tabLst>
                <a:tab pos="431800" algn="l"/>
                <a:tab pos="7620000" algn="r"/>
              </a:tabLst>
            </a:pPr>
            <a:r>
              <a:rPr lang="es-ES" sz="1800" b="true" i="false">
                <a:solidFill>
                  <a:srgbClr val="3F74D8"/>
                </a:solidFill>
                <a:latin typeface="Segoe UI"/>
              </a:rPr>
              <a:t>1</a:t>
            </a:r>
            <a:r>
              <a:rPr lang="es-ES" sz="1800" b="false" i="false">
                <a:solidFill>
                  <a:srgbClr val="1F2933"/>
                </a:solidFill>
                <a:latin typeface="Segoe UI"/>
              </a:rPr>
              <a:t>	Resumen</a:t>
            </a:r>
            <a:r>
              <a:rPr lang="es-ES" sz="1800" b="false" i="false">
                <a:solidFill>
                  <a:srgbClr val="6B7785"/>
                </a:solidFill>
                <a:latin typeface="Segoe UI"/>
              </a:rPr>
              <a:t>	3</a:t>
            </a:r>
            <a:endParaRPr sz="1800" lang="es-ES"/>
          </a:p>
          <a:p>
            <a:pPr algn="l">
              <a:spcAft>
                <a:spcPts val="810"/>
              </a:spcAft>
              <a:tabLst>
                <a:tab pos="431800" algn="l"/>
                <a:tab pos="7620000" algn="r"/>
              </a:tabLst>
            </a:pPr>
            <a:r>
              <a:rPr lang="es-ES" sz="1800" b="true" i="false">
                <a:solidFill>
                  <a:srgbClr val="3F74D8"/>
                </a:solidFill>
                <a:latin typeface="Segoe UI"/>
              </a:rPr>
              <a:t>2</a:t>
            </a:r>
            <a:r>
              <a:rPr lang="es-ES" sz="1800" b="false" i="false">
                <a:solidFill>
                  <a:srgbClr val="1F2933"/>
                </a:solidFill>
                <a:latin typeface="Segoe UI"/>
              </a:rPr>
              <a:t>	Flujo del job</a:t>
            </a:r>
            <a:r>
              <a:rPr lang="es-ES" sz="1800" b="false" i="false">
                <a:solidFill>
                  <a:srgbClr val="6B7785"/>
                </a:solidFill>
                <a:latin typeface="Segoe UI"/>
              </a:rPr>
              <a:t>	5</a:t>
            </a:r>
            <a:endParaRPr sz="1800" lang="es-ES"/>
          </a:p>
          <a:p>
            <a:pPr algn="l">
              <a:spcAft>
                <a:spcPts val="810"/>
              </a:spcAft>
              <a:tabLst>
                <a:tab pos="431800" algn="l"/>
                <a:tab pos="7620000" algn="r"/>
              </a:tabLst>
            </a:pPr>
            <a:r>
              <a:rPr lang="es-ES" sz="1800" b="true" i="false">
                <a:solidFill>
                  <a:srgbClr val="3F74D8"/>
                </a:solidFill>
                <a:latin typeface="Segoe UI"/>
              </a:rPr>
              <a:t>3</a:t>
            </a:r>
            <a:r>
              <a:rPr lang="es-ES" sz="1800" b="false" i="false">
                <a:solidFill>
                  <a:srgbClr val="1F2933"/>
                </a:solidFill>
                <a:latin typeface="Segoe UI"/>
              </a:rPr>
              <a:t>	Métricas de ejecución</a:t>
            </a:r>
            <a:r>
              <a:rPr lang="es-ES" sz="1800" b="false" i="false">
                <a:solidFill>
                  <a:srgbClr val="6B7785"/>
                </a:solidFill>
                <a:latin typeface="Segoe UI"/>
              </a:rPr>
              <a:t>	8</a:t>
            </a:r>
            <a:endParaRPr sz="1800" lang="es-ES"/>
          </a:p>
          <a:p>
            <a:pPr algn="l">
              <a:spcAft>
                <a:spcPts val="810"/>
              </a:spcAft>
              <a:tabLst>
                <a:tab pos="431800" algn="l"/>
                <a:tab pos="7620000" algn="r"/>
              </a:tabLst>
            </a:pPr>
            <a:r>
              <a:rPr lang="es-ES" sz="1800" b="true" i="false">
                <a:solidFill>
                  <a:srgbClr val="3F74D8"/>
                </a:solidFill>
                <a:latin typeface="Segoe UI"/>
              </a:rPr>
              <a:t>4</a:t>
            </a:r>
            <a:r>
              <a:rPr lang="es-ES" sz="1800" b="false" i="false">
                <a:solidFill>
                  <a:srgbClr val="1F2933"/>
                </a:solidFill>
                <a:latin typeface="Segoe UI"/>
              </a:rPr>
              <a:t>	Validación</a:t>
            </a:r>
            <a:r>
              <a:rPr lang="es-ES" sz="1800" b="false" i="false">
                <a:solidFill>
                  <a:srgbClr val="6B7785"/>
                </a:solidFill>
                <a:latin typeface="Segoe UI"/>
              </a:rPr>
              <a:t>	11</a:t>
            </a:r>
            <a:endParaRPr sz="1800" lang="es-ES"/>
          </a:p>
          <a:p>
            <a:pPr algn="l">
              <a:spcAft>
                <a:spcPts val="810"/>
              </a:spcAft>
              <a:tabLst>
                <a:tab pos="431800" algn="l"/>
                <a:tab pos="7620000" algn="r"/>
              </a:tabLst>
            </a:pPr>
            <a:r>
              <a:rPr lang="es-ES" sz="1800" b="true" i="false">
                <a:solidFill>
                  <a:srgbClr val="3F74D8"/>
                </a:solidFill>
                <a:latin typeface="Segoe UI"/>
              </a:rPr>
              <a:t>5</a:t>
            </a:r>
            <a:r>
              <a:rPr lang="es-ES" sz="1800" b="false" i="false">
                <a:solidFill>
                  <a:srgbClr val="1F2933"/>
                </a:solidFill>
                <a:latin typeface="Segoe UI"/>
              </a:rPr>
              <a:t>	Conexiones y parámetros</a:t>
            </a:r>
            <a:r>
              <a:rPr lang="es-ES" sz="1800" b="false" i="false">
                <a:solidFill>
                  <a:srgbClr val="6B7785"/>
                </a:solidFill>
                <a:latin typeface="Segoe UI"/>
              </a:rPr>
              <a:t>	12</a:t>
            </a:r>
            <a:endParaRPr sz="1800" lang="es-ES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03200"/>
            <a:ext cx="11176000" cy="635000"/>
          </a:xfrm>
        </p:spPr>
        <p:txBody>
          <a:bodyPr lIns="0" rIns="0" wrap="square" anchor="ctr"/>
          <a:lstStyle/>
          <a:p>
            <a:pPr algn="l"/>
            <a:r>
              <a:rPr lang="es-ES" sz="2600" b="true" i="false">
                <a:solidFill>
                  <a:srgbClr val="243B53"/>
                </a:solidFill>
                <a:latin typeface="Segoe UI"/>
              </a:rPr>
              <a:t>Resumen</a:t>
            </a:r>
            <a:endParaRPr sz="2600" lang="es-E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0" y="5510084"/>
            <a:ext cx="1435100" cy="814516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43B53"/>
          </a:solidFill>
          <a:ln>
            <a:noFill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508750"/>
            <a:ext cx="177800" cy="10091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>
            <a:off x="749300" y="6451600"/>
            <a:ext cx="5080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750" b="false" i="false">
                <a:solidFill>
                  <a:srgbClr val="6B7785"/>
                </a:solidFill>
                <a:latin typeface="Segoe UI"/>
              </a:rPr>
              <a:t>Pentaho Live · IDC Studios</a:t>
            </a:r>
            <a:endParaRPr sz="750" lang="es-ES"/>
          </a:p>
        </p:txBody>
      </p:sp>
      <p:sp>
        <p:nvSpPr>
          <p:cNvPr name="TextBox 7" id="7"/>
          <p:cNvSpPr txBox="true"/>
          <p:nvPr/>
        </p:nvSpPr>
        <p:spPr>
          <a:xfrm>
            <a:off x="10160000" y="6451600"/>
            <a:ext cx="1524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r"/>
            <a:fld id="{0DFFC700-8A54-4066-B7D9-170CE7C47ABA}" type="slidenum">
              <a:rPr lang="es-ES" sz="750">
                <a:solidFill>
                  <a:srgbClr val="6B7785"/>
                </a:solidFill>
                <a:latin typeface="Segoe UI"/>
              </a:rPr>
              <a:t>3</a:t>
            </a:fld>
            <a:endParaRPr sz="750" lang="es-ES"/>
          </a:p>
        </p:txBody>
      </p:sp>
      <p:sp>
        <p:nvSpPr>
          <p:cNvPr name="TextBox 8" id="8"/>
          <p:cNvSpPr txBox="true"/>
          <p:nvPr/>
        </p:nvSpPr>
        <p:spPr>
          <a:xfrm>
            <a:off x="508000" y="1016000"/>
            <a:ext cx="11176000" cy="1077214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>
              <a:spcAft>
                <a:spcPts val="489"/>
              </a:spcAft>
            </a:pPr>
            <a:r>
              <a:rPr lang="es-ES" sz="1400" b="false" i="false">
                <a:solidFill>
                  <a:srgbClr val="1F2933"/>
                </a:solidFill>
                <a:latin typeface="Segoe UI"/>
              </a:rPr>
              <a:t>El job orquesta la carga completa del modelo estrella: comprueba que estén los ficheros de entrada, crea la carpeta de salida y las tablas, carga las tres dimensiones (tiendas, productos y fechas), después los hechos y por último los KPI. Si algún paso falla, registra el error y aborta la carga. En la última ejecución todas las entradas terminaron correctamente.</a:t>
            </a:r>
            <a:endParaRPr sz="1400" lang="es-ES"/>
          </a:p>
        </p:txBody>
      </p:sp>
      <p:sp>
        <p:nvSpPr>
          <p:cNvPr name="TextBox 9" id="9"/>
          <p:cNvSpPr txBox="true"/>
          <p:nvPr/>
        </p:nvSpPr>
        <p:spPr>
          <a:xfrm>
            <a:off x="508000" y="2144014"/>
            <a:ext cx="11176000" cy="235458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/>
            <a:r>
              <a:rPr lang="es-ES" sz="950" b="false" i="true">
                <a:solidFill>
                  <a:srgbClr val="6B7785"/>
                </a:solidFill>
                <a:latin typeface="Segoe UI"/>
              </a:rPr>
              <a:t>Texto redactado con asistencia de IA</a:t>
            </a:r>
            <a:endParaRPr sz="950" lang="es-ES"/>
          </a:p>
        </p:txBody>
      </p:sp>
      <p:sp>
        <p:nvSpPr>
          <p:cNvPr name="AutoShape 10" id="10"/>
          <p:cNvSpPr/>
          <p:nvPr/>
        </p:nvSpPr>
        <p:spPr>
          <a:xfrm>
            <a:off x="508000" y="2506472"/>
            <a:ext cx="3302000" cy="96520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9DEE5"/>
            </a:solidFill>
          </a:ln>
        </p:spPr>
      </p:sp>
      <p:sp>
        <p:nvSpPr>
          <p:cNvPr name="AutoShape 11" id="11"/>
          <p:cNvSpPr/>
          <p:nvPr/>
        </p:nvSpPr>
        <p:spPr>
          <a:xfrm>
            <a:off x="508000" y="2608072"/>
            <a:ext cx="38100" cy="762000"/>
          </a:xfrm>
          <a:prstGeom prst="rect">
            <a:avLst/>
          </a:prstGeom>
          <a:solidFill>
            <a:srgbClr val="3F74D8"/>
          </a:solidFill>
          <a:ln>
            <a:noFill/>
          </a:ln>
        </p:spPr>
      </p:sp>
      <p:sp>
        <p:nvSpPr>
          <p:cNvPr name="TextBox 12" id="12"/>
          <p:cNvSpPr txBox="true"/>
          <p:nvPr/>
        </p:nvSpPr>
        <p:spPr>
          <a:xfrm>
            <a:off x="685800" y="2582672"/>
            <a:ext cx="2997200" cy="8128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1000" b="false" i="false">
                <a:solidFill>
                  <a:srgbClr val="6B7785"/>
                </a:solidFill>
                <a:latin typeface="Segoe UI"/>
              </a:rPr>
              <a:t>Entradas del job</a:t>
            </a:r>
            <a:endParaRPr sz="1000" lang="es-ES"/>
          </a:p>
          <a:p>
            <a:pPr algn="l"/>
            <a:r>
              <a:rPr lang="es-ES" sz="2200" b="true" i="false">
                <a:solidFill>
                  <a:srgbClr val="1F2933"/>
                </a:solidFill>
                <a:latin typeface="Segoe UI"/>
              </a:rPr>
              <a:t>12</a:t>
            </a:r>
            <a:endParaRPr sz="2200" lang="es-ES"/>
          </a:p>
        </p:txBody>
      </p:sp>
      <p:sp>
        <p:nvSpPr>
          <p:cNvPr name="AutoShape 13" id="13"/>
          <p:cNvSpPr/>
          <p:nvPr/>
        </p:nvSpPr>
        <p:spPr>
          <a:xfrm>
            <a:off x="3962400" y="2506472"/>
            <a:ext cx="3302000" cy="96520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9DEE5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3962400" y="2608072"/>
            <a:ext cx="38100" cy="762000"/>
          </a:xfrm>
          <a:prstGeom prst="rect">
            <a:avLst/>
          </a:prstGeom>
          <a:solidFill>
            <a:srgbClr val="3F74D8"/>
          </a:solidFill>
          <a:ln>
            <a:noFill/>
          </a:ln>
        </p:spPr>
      </p:sp>
      <p:sp>
        <p:nvSpPr>
          <p:cNvPr name="TextBox 15" id="15"/>
          <p:cNvSpPr txBox="true"/>
          <p:nvPr/>
        </p:nvSpPr>
        <p:spPr>
          <a:xfrm>
            <a:off x="4140200" y="2582672"/>
            <a:ext cx="2997200" cy="8128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1000" b="false" i="false">
                <a:solidFill>
                  <a:srgbClr val="6B7785"/>
                </a:solidFill>
                <a:latin typeface="Segoe UI"/>
              </a:rPr>
              <a:t>Hops</a:t>
            </a:r>
            <a:endParaRPr sz="1000" lang="es-ES"/>
          </a:p>
          <a:p>
            <a:pPr algn="l"/>
            <a:r>
              <a:rPr lang="es-ES" sz="2200" b="true" i="false">
                <a:solidFill>
                  <a:srgbClr val="1F2933"/>
                </a:solidFill>
                <a:latin typeface="Segoe UI"/>
              </a:rPr>
              <a:t>18</a:t>
            </a:r>
            <a:endParaRPr sz="2200" lang="es-ES"/>
          </a:p>
        </p:txBody>
      </p:sp>
      <p:sp>
        <p:nvSpPr>
          <p:cNvPr name="AutoShape 16" id="16"/>
          <p:cNvSpPr/>
          <p:nvPr/>
        </p:nvSpPr>
        <p:spPr>
          <a:xfrm>
            <a:off x="7416800" y="2506472"/>
            <a:ext cx="3302000" cy="96520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9DEE5"/>
            </a:solidFill>
          </a:ln>
        </p:spPr>
      </p:sp>
      <p:sp>
        <p:nvSpPr>
          <p:cNvPr name="AutoShape 17" id="17"/>
          <p:cNvSpPr/>
          <p:nvPr/>
        </p:nvSpPr>
        <p:spPr>
          <a:xfrm>
            <a:off x="7416800" y="2608072"/>
            <a:ext cx="38100" cy="762000"/>
          </a:xfrm>
          <a:prstGeom prst="rect">
            <a:avLst/>
          </a:prstGeom>
          <a:solidFill>
            <a:srgbClr val="3F74D8"/>
          </a:solidFill>
          <a:ln>
            <a:noFill/>
          </a:ln>
        </p:spPr>
      </p:sp>
      <p:sp>
        <p:nvSpPr>
          <p:cNvPr name="TextBox 18" id="18"/>
          <p:cNvSpPr txBox="true"/>
          <p:nvPr/>
        </p:nvSpPr>
        <p:spPr>
          <a:xfrm>
            <a:off x="7594600" y="2582672"/>
            <a:ext cx="2997200" cy="8128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1000" b="false" i="false">
                <a:solidFill>
                  <a:srgbClr val="6B7785"/>
                </a:solidFill>
                <a:latin typeface="Segoe UI"/>
              </a:rPr>
              <a:t>Transformaciones que ejecuta</a:t>
            </a:r>
            <a:endParaRPr sz="1000" lang="es-ES"/>
          </a:p>
          <a:p>
            <a:pPr algn="l"/>
            <a:r>
              <a:rPr lang="es-ES" sz="2200" b="true" i="false">
                <a:solidFill>
                  <a:srgbClr val="1F2933"/>
                </a:solidFill>
                <a:latin typeface="Segoe UI"/>
              </a:rPr>
              <a:t>5</a:t>
            </a:r>
            <a:endParaRPr sz="2200" lang="es-ES"/>
          </a:p>
          <a:p>
            <a:pPr algn="l"/>
            <a:r>
              <a:rPr lang="es-ES" sz="900" b="false" i="false">
                <a:solidFill>
                  <a:srgbClr val="6B7785"/>
                </a:solidFill>
                <a:latin typeface="Segoe UI"/>
              </a:rPr>
              <a:t>01_dim_tienda.ktr, 02_dim_producto.ktr, 03_dim_fecha.ktr, 04_hechos_ventas.ktr, 05_kpi_ventas.…</a:t>
            </a:r>
            <a:endParaRPr sz="900" lang="es-ES"/>
          </a:p>
        </p:txBody>
      </p:sp>
      <p:sp>
        <p:nvSpPr>
          <p:cNvPr name="AutoShape 19" id="19"/>
          <p:cNvSpPr/>
          <p:nvPr/>
        </p:nvSpPr>
        <p:spPr>
          <a:xfrm>
            <a:off x="508000" y="3598672"/>
            <a:ext cx="3302000" cy="96520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9DEE5"/>
            </a:solidFill>
          </a:ln>
        </p:spPr>
      </p:sp>
      <p:sp>
        <p:nvSpPr>
          <p:cNvPr name="AutoShape 20" id="20"/>
          <p:cNvSpPr/>
          <p:nvPr/>
        </p:nvSpPr>
        <p:spPr>
          <a:xfrm>
            <a:off x="508000" y="3700272"/>
            <a:ext cx="38100" cy="762000"/>
          </a:xfrm>
          <a:prstGeom prst="rect">
            <a:avLst/>
          </a:prstGeom>
          <a:solidFill>
            <a:srgbClr val="3F74D8"/>
          </a:solidFill>
          <a:ln>
            <a:noFill/>
          </a:ln>
        </p:spPr>
      </p:sp>
      <p:sp>
        <p:nvSpPr>
          <p:cNvPr name="TextBox 21" id="21"/>
          <p:cNvSpPr txBox="true"/>
          <p:nvPr/>
        </p:nvSpPr>
        <p:spPr>
          <a:xfrm>
            <a:off x="685800" y="3674872"/>
            <a:ext cx="2997200" cy="8128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1000" b="false" i="false">
                <a:solidFill>
                  <a:srgbClr val="6B7785"/>
                </a:solidFill>
                <a:latin typeface="Segoe UI"/>
              </a:rPr>
              <a:t>Jobs que ejecuta</a:t>
            </a:r>
            <a:endParaRPr sz="1000" lang="es-ES"/>
          </a:p>
          <a:p>
            <a:pPr algn="l"/>
            <a:r>
              <a:rPr lang="es-ES" sz="2200" b="true" i="false">
                <a:solidFill>
                  <a:srgbClr val="1F2933"/>
                </a:solidFill>
                <a:latin typeface="Segoe UI"/>
              </a:rPr>
              <a:t>0</a:t>
            </a:r>
            <a:endParaRPr sz="2200" lang="es-ES"/>
          </a:p>
        </p:txBody>
      </p:sp>
      <p:sp>
        <p:nvSpPr>
          <p:cNvPr name="AutoShape 22" id="22"/>
          <p:cNvSpPr/>
          <p:nvPr/>
        </p:nvSpPr>
        <p:spPr>
          <a:xfrm>
            <a:off x="3962400" y="3598672"/>
            <a:ext cx="3302000" cy="96520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9DEE5"/>
            </a:solidFill>
          </a:ln>
        </p:spPr>
      </p:sp>
      <p:sp>
        <p:nvSpPr>
          <p:cNvPr name="AutoShape 23" id="23"/>
          <p:cNvSpPr/>
          <p:nvPr/>
        </p:nvSpPr>
        <p:spPr>
          <a:xfrm>
            <a:off x="3962400" y="3700272"/>
            <a:ext cx="38100" cy="762000"/>
          </a:xfrm>
          <a:prstGeom prst="rect">
            <a:avLst/>
          </a:prstGeom>
          <a:solidFill>
            <a:srgbClr val="3F74D8"/>
          </a:solidFill>
          <a:ln>
            <a:noFill/>
          </a:ln>
        </p:spPr>
      </p:sp>
      <p:sp>
        <p:nvSpPr>
          <p:cNvPr name="TextBox 24" id="24"/>
          <p:cNvSpPr txBox="true"/>
          <p:nvPr/>
        </p:nvSpPr>
        <p:spPr>
          <a:xfrm>
            <a:off x="4140200" y="3674872"/>
            <a:ext cx="2997200" cy="8128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1000" b="false" i="false">
                <a:solidFill>
                  <a:srgbClr val="6B7785"/>
                </a:solidFill>
                <a:latin typeface="Segoe UI"/>
              </a:rPr>
              <a:t>Conexiones</a:t>
            </a:r>
            <a:endParaRPr sz="1000" lang="es-ES"/>
          </a:p>
          <a:p>
            <a:pPr algn="l"/>
            <a:r>
              <a:rPr lang="es-ES" sz="2200" b="true" i="false">
                <a:solidFill>
                  <a:srgbClr val="1F2933"/>
                </a:solidFill>
                <a:latin typeface="Segoe UI"/>
              </a:rPr>
              <a:t>1</a:t>
            </a:r>
            <a:endParaRPr sz="2200" lang="es-ES"/>
          </a:p>
        </p:txBody>
      </p:sp>
      <p:sp>
        <p:nvSpPr>
          <p:cNvPr name="TextBox 25" id="25"/>
          <p:cNvSpPr txBox="true"/>
          <p:nvPr/>
        </p:nvSpPr>
        <p:spPr>
          <a:xfrm>
            <a:off x="508000" y="4690872"/>
            <a:ext cx="11176000" cy="1215644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>
              <a:spcAft>
                <a:spcPts val="489"/>
              </a:spcAft>
            </a:pPr>
            <a:r>
              <a:rPr lang="es-ES" sz="1400" b="false" i="false">
                <a:solidFill>
                  <a:srgbClr val="1F2933"/>
                </a:solidFill>
                <a:latin typeface="Segoe UI"/>
              </a:rPr>
              <a:t>Ejecuta 5 transformaciones (01_dim_tienda.ktr, 02_dim_producto.ktr, 03_dim_fecha.ktr, 04_hechos_ventas.ktr, 05_kpi_ventas.ktr), maneja archivos, ejecuta SQL y escribe en el log. 12 entradas y 18 hops.</a:t>
            </a:r>
            <a:endParaRPr sz="1400" lang="es-ES"/>
          </a:p>
          <a:p>
            <a:pPr algn="l">
              <a:spcAft>
                <a:spcPts val="489"/>
              </a:spcAft>
            </a:pPr>
            <a:r>
              <a:rPr lang="es-ES" sz="1400" b="false" i="false">
                <a:solidFill>
                  <a:srgbClr val="1F2933"/>
                </a:solidFill>
                <a:latin typeface="Segoe UI"/>
              </a:rPr>
              <a:t>La última ejecución del job tardó 3,2 s y terminó bien; se ejecutaron 9 entradas. La entrada más lenta fue «Cargar dim_producto» (839 ms).</a:t>
            </a:r>
            <a:endParaRPr sz="1400" lang="es-ES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03200"/>
            <a:ext cx="11176000" cy="635000"/>
          </a:xfrm>
        </p:spPr>
        <p:txBody>
          <a:bodyPr lIns="0" rIns="0" wrap="square" anchor="ctr"/>
          <a:lstStyle/>
          <a:p>
            <a:pPr algn="l"/>
            <a:r>
              <a:rPr lang="es-ES" sz="2600" b="true" i="false">
                <a:solidFill>
                  <a:srgbClr val="243B53"/>
                </a:solidFill>
                <a:latin typeface="Segoe UI"/>
              </a:rPr>
              <a:t>Resumen (cont.)</a:t>
            </a:r>
            <a:endParaRPr sz="2600" lang="es-E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0" y="5510084"/>
            <a:ext cx="1435100" cy="814516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43B53"/>
          </a:solidFill>
          <a:ln>
            <a:noFill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508750"/>
            <a:ext cx="177800" cy="10091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>
            <a:off x="749300" y="6451600"/>
            <a:ext cx="5080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750" b="false" i="false">
                <a:solidFill>
                  <a:srgbClr val="6B7785"/>
                </a:solidFill>
                <a:latin typeface="Segoe UI"/>
              </a:rPr>
              <a:t>Pentaho Live · IDC Studios</a:t>
            </a:r>
            <a:endParaRPr sz="750" lang="es-ES"/>
          </a:p>
        </p:txBody>
      </p:sp>
      <p:sp>
        <p:nvSpPr>
          <p:cNvPr name="TextBox 7" id="7"/>
          <p:cNvSpPr txBox="true"/>
          <p:nvPr/>
        </p:nvSpPr>
        <p:spPr>
          <a:xfrm>
            <a:off x="10160000" y="6451600"/>
            <a:ext cx="1524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r"/>
            <a:fld id="{3621EFD7-B0AE-467F-B8F2-232E231B63A8}" type="slidenum">
              <a:rPr lang="es-ES" sz="750">
                <a:solidFill>
                  <a:srgbClr val="6B7785"/>
                </a:solidFill>
                <a:latin typeface="Segoe UI"/>
              </a:rPr>
              <a:t>4</a:t>
            </a:fld>
            <a:endParaRPr sz="750" lang="es-ES"/>
          </a:p>
        </p:txBody>
      </p:sp>
      <p:sp>
        <p:nvSpPr>
          <p:cNvPr name="TextBox 8" id="8"/>
          <p:cNvSpPr txBox="true"/>
          <p:nvPr/>
        </p:nvSpPr>
        <p:spPr>
          <a:xfrm>
            <a:off x="508000" y="1016000"/>
            <a:ext cx="11176000" cy="254000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/>
            <a:r>
              <a:rPr lang="es-ES" sz="1300" b="true" i="false">
                <a:solidFill>
                  <a:srgbClr val="243B53"/>
                </a:solidFill>
                <a:latin typeface="Segoe UI"/>
              </a:rPr>
              <a:t>Lo más importante</a:t>
            </a:r>
            <a:endParaRPr sz="1300" lang="es-ES"/>
          </a:p>
        </p:txBody>
      </p:sp>
      <p:sp>
        <p:nvSpPr>
          <p:cNvPr name="TextBox 9" id="9"/>
          <p:cNvSpPr txBox="true"/>
          <p:nvPr/>
        </p:nvSpPr>
        <p:spPr>
          <a:xfrm>
            <a:off x="508000" y="1295400"/>
            <a:ext cx="11176000" cy="1354074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 marL="203200" indent="-152400">
              <a:spcAft>
                <a:spcPts val="489"/>
              </a:spcAft>
              <a:buClr>
                <a:srgbClr val="3F74D8"/>
              </a:buClr>
              <a:buFont typeface="Arial"/>
              <a:buChar char="•"/>
            </a:pPr>
            <a:r>
              <a:rPr lang="es-ES" sz="1400" b="true" i="false">
                <a:solidFill>
                  <a:srgbClr val="1F2933"/>
                </a:solidFill>
                <a:latin typeface="Segoe UI"/>
              </a:rPr>
              <a:t>Flujo del job:</a:t>
            </a:r>
            <a:r>
              <a:rPr lang="es-ES" sz="1400" b="false" i="false">
                <a:solidFill>
                  <a:srgbClr val="1F2933"/>
                </a:solidFill>
                <a:latin typeface="Segoe UI"/>
              </a:rPr>
              <a:t> 12 entradas y 18 hops. Ejecuta 5 transformaciones (01_dim_tienda.ktr, 02_dim_producto.ktr, 03_dim_fecha.ktr, 04_hechos_ventas.ktr, 05_kpi_ventas.ktr).</a:t>
            </a:r>
            <a:endParaRPr sz="1400" lang="es-ES"/>
          </a:p>
          <a:p>
            <a:pPr algn="l" marL="203200" indent="-152400">
              <a:spcAft>
                <a:spcPts val="489"/>
              </a:spcAft>
              <a:buClr>
                <a:srgbClr val="3F74D8"/>
              </a:buClr>
              <a:buFont typeface="Arial"/>
              <a:buChar char="•"/>
            </a:pPr>
            <a:r>
              <a:rPr lang="es-ES" sz="1400" b="true" i="false">
                <a:solidFill>
                  <a:srgbClr val="1F2933"/>
                </a:solidFill>
                <a:latin typeface="Segoe UI"/>
              </a:rPr>
              <a:t>Validación:</a:t>
            </a:r>
            <a:r>
              <a:rPr lang="es-ES" sz="1400" b="false" i="false">
                <a:solidFill>
                  <a:srgbClr val="1F2933"/>
                </a:solidFill>
                <a:latin typeface="Segoe UI"/>
              </a:rPr>
              <a:t> 1 error y 0 advertencias.</a:t>
            </a:r>
            <a:endParaRPr sz="1400" lang="es-ES"/>
          </a:p>
          <a:p>
            <a:pPr algn="l" marL="203200" indent="-152400">
              <a:spcAft>
                <a:spcPts val="489"/>
              </a:spcAft>
              <a:buClr>
                <a:srgbClr val="3F74D8"/>
              </a:buClr>
              <a:buFont typeface="Arial"/>
              <a:buChar char="•"/>
            </a:pPr>
            <a:r>
              <a:rPr lang="es-ES" sz="1400" b="true" i="false">
                <a:solidFill>
                  <a:srgbClr val="1F2933"/>
                </a:solidFill>
                <a:latin typeface="Segoe UI"/>
              </a:rPr>
              <a:t>Conexiones y parámetros:</a:t>
            </a:r>
            <a:r>
              <a:rPr lang="es-ES" sz="1400" b="false" i="false">
                <a:solidFill>
                  <a:srgbClr val="1F2933"/>
                </a:solidFill>
                <a:latin typeface="Segoe UI"/>
              </a:rPr>
              <a:t> 1 conexión y 0 parámetros.</a:t>
            </a:r>
            <a:endParaRPr sz="1400" lang="es-ES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03200"/>
            <a:ext cx="11176000" cy="635000"/>
          </a:xfrm>
        </p:spPr>
        <p:txBody>
          <a:bodyPr lIns="0" rIns="0" wrap="square" anchor="ctr"/>
          <a:lstStyle/>
          <a:p>
            <a:pPr algn="l"/>
            <a:r>
              <a:rPr lang="es-ES" sz="2600" b="true" i="false">
                <a:solidFill>
                  <a:srgbClr val="243B53"/>
                </a:solidFill>
                <a:latin typeface="Segoe UI"/>
              </a:rPr>
              <a:t>Flujo del job</a:t>
            </a:r>
            <a:endParaRPr sz="2600" lang="es-E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0" y="5510084"/>
            <a:ext cx="1435100" cy="814516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43B53"/>
          </a:solidFill>
          <a:ln>
            <a:noFill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508750"/>
            <a:ext cx="177800" cy="10091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>
            <a:off x="749300" y="6451600"/>
            <a:ext cx="5080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750" b="false" i="false">
                <a:solidFill>
                  <a:srgbClr val="6B7785"/>
                </a:solidFill>
                <a:latin typeface="Segoe UI"/>
              </a:rPr>
              <a:t>Pentaho Live · IDC Studios</a:t>
            </a:r>
            <a:endParaRPr sz="750" lang="es-ES"/>
          </a:p>
        </p:txBody>
      </p:sp>
      <p:sp>
        <p:nvSpPr>
          <p:cNvPr name="TextBox 7" id="7"/>
          <p:cNvSpPr txBox="true"/>
          <p:nvPr/>
        </p:nvSpPr>
        <p:spPr>
          <a:xfrm>
            <a:off x="10160000" y="6451600"/>
            <a:ext cx="1524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r"/>
            <a:fld id="{22F68A5F-9720-4E2B-90A6-BC37E4AB1AFA}" type="slidenum">
              <a:rPr lang="es-ES" sz="750">
                <a:solidFill>
                  <a:srgbClr val="6B7785"/>
                </a:solidFill>
                <a:latin typeface="Segoe UI"/>
              </a:rPr>
              <a:t>5</a:t>
            </a:fld>
            <a:endParaRPr sz="750" lang="es-ES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814" y="1016000"/>
            <a:ext cx="1015637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03200"/>
            <a:ext cx="11176000" cy="635000"/>
          </a:xfrm>
        </p:spPr>
        <p:txBody>
          <a:bodyPr lIns="0" rIns="0" wrap="square" anchor="ctr"/>
          <a:lstStyle/>
          <a:p>
            <a:pPr algn="l"/>
            <a:r>
              <a:rPr lang="es-ES" sz="2600" b="true" i="false">
                <a:solidFill>
                  <a:srgbClr val="243B53"/>
                </a:solidFill>
                <a:latin typeface="Segoe UI"/>
              </a:rPr>
              <a:t>Flujo del job (cont.)</a:t>
            </a:r>
            <a:endParaRPr sz="2600" lang="es-E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0" y="5510084"/>
            <a:ext cx="1435100" cy="814516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43B53"/>
          </a:solidFill>
          <a:ln>
            <a:noFill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508750"/>
            <a:ext cx="177800" cy="10091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>
            <a:off x="749300" y="6451600"/>
            <a:ext cx="5080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750" b="false" i="false">
                <a:solidFill>
                  <a:srgbClr val="6B7785"/>
                </a:solidFill>
                <a:latin typeface="Segoe UI"/>
              </a:rPr>
              <a:t>Pentaho Live · IDC Studios</a:t>
            </a:r>
            <a:endParaRPr sz="750" lang="es-ES"/>
          </a:p>
        </p:txBody>
      </p:sp>
      <p:sp>
        <p:nvSpPr>
          <p:cNvPr name="TextBox 7" id="7"/>
          <p:cNvSpPr txBox="true"/>
          <p:nvPr/>
        </p:nvSpPr>
        <p:spPr>
          <a:xfrm>
            <a:off x="10160000" y="6451600"/>
            <a:ext cx="1524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r"/>
            <a:fld id="{43CBDB3C-FDAF-4358-B78F-A0647E6B93A5}" type="slidenum">
              <a:rPr lang="es-ES" sz="750">
                <a:solidFill>
                  <a:srgbClr val="6B7785"/>
                </a:solidFill>
                <a:latin typeface="Segoe UI"/>
              </a:rPr>
              <a:t>6</a:t>
            </a:fld>
            <a:endParaRPr sz="750" lang="es-ES"/>
          </a:p>
        </p:txBody>
      </p:sp>
      <p:sp>
        <p:nvSpPr>
          <p:cNvPr name="TextBox 8" id="8"/>
          <p:cNvSpPr txBox="true"/>
          <p:nvPr/>
        </p:nvSpPr>
        <p:spPr>
          <a:xfrm>
            <a:off x="508000" y="1016000"/>
            <a:ext cx="11176000" cy="235458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/>
            <a:r>
              <a:rPr lang="es-ES" sz="950" b="false" i="true">
                <a:solidFill>
                  <a:srgbClr val="6B7785"/>
                </a:solidFill>
                <a:latin typeface="Segoe UI"/>
              </a:rPr>
              <a:t>Verde: si termina bien; rojo punteado: si falla; negro: siempre; las que terminan en x están deshabilitadas.</a:t>
            </a:r>
            <a:endParaRPr sz="950" lang="es-ES"/>
          </a:p>
        </p:txBody>
      </p:sp>
      <p:sp>
        <p:nvSpPr>
          <p:cNvPr name="TextBox 9" id="9"/>
          <p:cNvSpPr txBox="true"/>
          <p:nvPr/>
        </p:nvSpPr>
        <p:spPr>
          <a:xfrm>
            <a:off x="508000" y="1378458"/>
            <a:ext cx="11176000" cy="254000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/>
            <a:r>
              <a:rPr lang="es-ES" sz="1300" b="true" i="false">
                <a:solidFill>
                  <a:srgbClr val="243B53"/>
                </a:solidFill>
                <a:latin typeface="Segoe UI"/>
              </a:rPr>
              <a:t>Entradas del job</a:t>
            </a:r>
            <a:endParaRPr sz="1300" lang="es-ES"/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508000" y="1657858"/>
          <a:ext cx="9448800" cy="4462272"/>
        </p:xfrm>
        <a:graphic>
          <a:graphicData uri="http://schemas.openxmlformats.org/drawingml/2006/table">
            <a:tbl>
              <a:tblPr/>
              <a:tblGrid>
                <a:gridCol w="406400"/>
                <a:gridCol w="2400300"/>
                <a:gridCol w="2781300"/>
                <a:gridCol w="3860800"/>
              </a:tblGrid>
              <a:tr h="298704"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Entrada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Qué hace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1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START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Inicio (SPECIAL)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Inicio del job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2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Comprobar ficheros de entrada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Los archivos existen (FILES_EXIST)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Los archivos existen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3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Crear carpeta salida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Crear carpeta (CREATE_FOLDER)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Crear carpeta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1916"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4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Crear modelo estrella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SQL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Conexión: dw_grano_de_oro; SQL: DROP TABLE IF EXISTS hechos_ventas; DROP TABLE IF EXISTS kpi_ventas_tienda_categoria; DROP TABLE IF EXISTS kpi_ticket_medio_tienda; DROP TABLE IF EXISTS dim_...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</a:tr>
              <a:tr h="483108"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5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Cargar dim_tienda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Transformación (TRANS)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Ejecuta la transformación: ${Internal.Entry.Current.Directory}/01_dim_tienda.ktr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108"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6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Cargar dim_producto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Transformación (TRANS)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Ejecuta la transformación: ${Internal.Entry.Current.Directory}/02_dim_producto.ktr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</a:tr>
              <a:tr h="483108"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7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Cargar dim_fecha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Transformación (TRANS)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Ejecuta la transformación: ${Internal.Entry.Current.Directory}/03_dim_fecha.ktr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108"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8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Cargar hechos_ventas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Transformación (TRANS)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Ejecuta la transformación: ${Internal.Entry.Current.Directory}/04_hechos_ventas.ktr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</a:tr>
              <a:tr h="483108"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9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Calcular KPI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Transformación (TRANS)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Ejecuta la transformación: ${Internal.Entry.Current.Directory}/05_kpi_ventas.ktr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03200"/>
            <a:ext cx="11176000" cy="635000"/>
          </a:xfrm>
        </p:spPr>
        <p:txBody>
          <a:bodyPr lIns="0" rIns="0" wrap="square" anchor="ctr"/>
          <a:lstStyle/>
          <a:p>
            <a:pPr algn="l"/>
            <a:r>
              <a:rPr lang="es-ES" sz="2600" b="true" i="false">
                <a:solidFill>
                  <a:srgbClr val="243B53"/>
                </a:solidFill>
                <a:latin typeface="Segoe UI"/>
              </a:rPr>
              <a:t>Flujo del job (cont.)</a:t>
            </a:r>
            <a:endParaRPr sz="2600" lang="es-E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0" y="5510084"/>
            <a:ext cx="1435100" cy="814516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43B53"/>
          </a:solidFill>
          <a:ln>
            <a:noFill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508750"/>
            <a:ext cx="177800" cy="10091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>
            <a:off x="749300" y="6451600"/>
            <a:ext cx="5080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750" b="false" i="false">
                <a:solidFill>
                  <a:srgbClr val="6B7785"/>
                </a:solidFill>
                <a:latin typeface="Segoe UI"/>
              </a:rPr>
              <a:t>Pentaho Live · IDC Studios</a:t>
            </a:r>
            <a:endParaRPr sz="750" lang="es-ES"/>
          </a:p>
        </p:txBody>
      </p:sp>
      <p:sp>
        <p:nvSpPr>
          <p:cNvPr name="TextBox 7" id="7"/>
          <p:cNvSpPr txBox="true"/>
          <p:nvPr/>
        </p:nvSpPr>
        <p:spPr>
          <a:xfrm>
            <a:off x="10160000" y="6451600"/>
            <a:ext cx="1524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r"/>
            <a:fld id="{7F8B81B9-D9AE-4F06-A217-C3A510972E13}" type="slidenum">
              <a:rPr lang="es-ES" sz="750">
                <a:solidFill>
                  <a:srgbClr val="6B7785"/>
                </a:solidFill>
                <a:latin typeface="Segoe UI"/>
              </a:rPr>
              <a:t>7</a:t>
            </a:fld>
            <a:endParaRPr sz="750" lang="es-ES"/>
          </a:p>
        </p:txBody>
      </p:sp>
      <p:sp>
        <p:nvSpPr>
          <p:cNvPr name="TextBox 8" id="8"/>
          <p:cNvSpPr txBox="true"/>
          <p:nvPr/>
        </p:nvSpPr>
        <p:spPr>
          <a:xfrm>
            <a:off x="508000" y="1016000"/>
            <a:ext cx="11176000" cy="254000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/>
            <a:r>
              <a:rPr lang="es-ES" sz="1300" b="true" i="false">
                <a:solidFill>
                  <a:srgbClr val="243B53"/>
                </a:solidFill>
                <a:latin typeface="Segoe UI"/>
              </a:rPr>
              <a:t>Entradas del job (cont.)</a:t>
            </a:r>
            <a:endParaRPr sz="1300" lang="es-ES"/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508000" y="1295400"/>
          <a:ext cx="9448800" cy="2301240"/>
        </p:xfrm>
        <a:graphic>
          <a:graphicData uri="http://schemas.openxmlformats.org/drawingml/2006/table">
            <a:tbl>
              <a:tblPr/>
              <a:tblGrid>
                <a:gridCol w="406400"/>
                <a:gridCol w="2400300"/>
                <a:gridCol w="2781300"/>
                <a:gridCol w="3860800"/>
              </a:tblGrid>
              <a:tr h="298704"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Entrada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Qué hace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10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Carga correcta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Éxito (SUCCESS)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Termina el job con éxito.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1916"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11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Registrar el error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Escribir en el log (WRITE_TO_LOG)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Escribe en el log: «La carga del almacén de Grano de Oro ha fallado: la entrada que ha fallado es la última que aparece como «Starting entry» antes de este mensaje.»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</a:tr>
              <a:tr h="851916"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12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Abortar la carga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Abortar el job (ABORT)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Aborta el job: termina con error y el mensaje «Carga abortada: el almacén puede haber quedado a medias. Corrige el error y vuelve a lanzar el job.».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>
            <a:off x="508000" y="3723640"/>
            <a:ext cx="11176000" cy="254000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/>
            <a:r>
              <a:rPr lang="es-ES" sz="1300" b="true" i="false">
                <a:solidFill>
                  <a:srgbClr val="243B53"/>
                </a:solidFill>
                <a:latin typeface="Segoe UI"/>
              </a:rPr>
              <a:t>Qué ejecuta</a:t>
            </a:r>
            <a:endParaRPr sz="1300" lang="es-ES"/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08000" y="4003040"/>
          <a:ext cx="5384800" cy="1792224"/>
        </p:xfrm>
        <a:graphic>
          <a:graphicData uri="http://schemas.openxmlformats.org/drawingml/2006/table">
            <a:tbl>
              <a:tblPr/>
              <a:tblGrid>
                <a:gridCol w="1714500"/>
                <a:gridCol w="1244600"/>
                <a:gridCol w="1714500"/>
                <a:gridCol w="711200"/>
              </a:tblGrid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Entrada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Archivo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Existe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Cargar dim_tienda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Transformación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01_dim_tienda.ktr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sí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Cargar dim_producto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Transformación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02_dim_producto.ktr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sí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Cargar dim_fecha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Transformación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03_dim_fecha.ktr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sí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Cargar hechos_ventas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Transformación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04_hechos_ventas.ktr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sí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Calcular KPI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Transformación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05_kpi_ventas.ktr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sí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03200"/>
            <a:ext cx="11176000" cy="635000"/>
          </a:xfrm>
        </p:spPr>
        <p:txBody>
          <a:bodyPr lIns="0" rIns="0" wrap="square" anchor="ctr"/>
          <a:lstStyle/>
          <a:p>
            <a:pPr algn="l"/>
            <a:r>
              <a:rPr lang="es-ES" sz="2600" b="true" i="false">
                <a:solidFill>
                  <a:srgbClr val="243B53"/>
                </a:solidFill>
                <a:latin typeface="Segoe UI"/>
              </a:rPr>
              <a:t>Métricas de ejecución</a:t>
            </a:r>
            <a:endParaRPr sz="2600" lang="es-E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0" y="5510084"/>
            <a:ext cx="1435100" cy="814516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43B53"/>
          </a:solidFill>
          <a:ln>
            <a:noFill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508750"/>
            <a:ext cx="177800" cy="10091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>
            <a:off x="749300" y="6451600"/>
            <a:ext cx="5080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750" b="false" i="false">
                <a:solidFill>
                  <a:srgbClr val="6B7785"/>
                </a:solidFill>
                <a:latin typeface="Segoe UI"/>
              </a:rPr>
              <a:t>Pentaho Live · IDC Studios</a:t>
            </a:r>
            <a:endParaRPr sz="750" lang="es-ES"/>
          </a:p>
        </p:txBody>
      </p:sp>
      <p:sp>
        <p:nvSpPr>
          <p:cNvPr name="TextBox 7" id="7"/>
          <p:cNvSpPr txBox="true"/>
          <p:nvPr/>
        </p:nvSpPr>
        <p:spPr>
          <a:xfrm>
            <a:off x="10160000" y="6451600"/>
            <a:ext cx="1524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r"/>
            <a:fld id="{27E003DD-69F5-4A19-ABBB-ADB897CD393C}" type="slidenum">
              <a:rPr lang="es-ES" sz="750">
                <a:solidFill>
                  <a:srgbClr val="6B7785"/>
                </a:solidFill>
                <a:latin typeface="Segoe UI"/>
              </a:rPr>
              <a:t>8</a:t>
            </a:fld>
            <a:endParaRPr sz="750" lang="es-ES"/>
          </a:p>
        </p:txBody>
      </p:sp>
      <p:sp>
        <p:nvSpPr>
          <p:cNvPr name="AutoShape 8" id="8"/>
          <p:cNvSpPr/>
          <p:nvPr/>
        </p:nvSpPr>
        <p:spPr>
          <a:xfrm>
            <a:off x="508000" y="1016000"/>
            <a:ext cx="3302000" cy="96520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9DEE5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508000" y="1117600"/>
            <a:ext cx="38100" cy="762000"/>
          </a:xfrm>
          <a:prstGeom prst="rect">
            <a:avLst/>
          </a:prstGeom>
          <a:solidFill>
            <a:srgbClr val="3F74D8"/>
          </a:solidFill>
          <a:ln>
            <a:noFill/>
          </a:ln>
        </p:spPr>
      </p:sp>
      <p:sp>
        <p:nvSpPr>
          <p:cNvPr name="TextBox 10" id="10"/>
          <p:cNvSpPr txBox="true"/>
          <p:nvPr/>
        </p:nvSpPr>
        <p:spPr>
          <a:xfrm>
            <a:off x="685800" y="1092200"/>
            <a:ext cx="2997200" cy="8128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1000" b="false" i="false">
                <a:solidFill>
                  <a:srgbClr val="6B7785"/>
                </a:solidFill>
                <a:latin typeface="Segoe UI"/>
              </a:rPr>
              <a:t>Duración</a:t>
            </a:r>
            <a:endParaRPr sz="1000" lang="es-ES"/>
          </a:p>
          <a:p>
            <a:pPr algn="l"/>
            <a:r>
              <a:rPr lang="es-ES" sz="2200" b="true" i="false">
                <a:solidFill>
                  <a:srgbClr val="1F2933"/>
                </a:solidFill>
                <a:latin typeface="Segoe UI"/>
              </a:rPr>
              <a:t>3,2 s</a:t>
            </a:r>
            <a:endParaRPr sz="2200" lang="es-ES"/>
          </a:p>
          <a:p>
            <a:pPr algn="l"/>
            <a:r>
              <a:rPr lang="es-ES" sz="900" b="false" i="false">
                <a:solidFill>
                  <a:srgbClr val="6B7785"/>
                </a:solidFill>
                <a:latin typeface="Segoe UI"/>
              </a:rPr>
              <a:t>última ejecución en Spoon</a:t>
            </a:r>
            <a:endParaRPr sz="900" lang="es-ES"/>
          </a:p>
        </p:txBody>
      </p:sp>
      <p:sp>
        <p:nvSpPr>
          <p:cNvPr name="AutoShape 11" id="11"/>
          <p:cNvSpPr/>
          <p:nvPr/>
        </p:nvSpPr>
        <p:spPr>
          <a:xfrm>
            <a:off x="3962400" y="1016000"/>
            <a:ext cx="3302000" cy="96520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9DEE5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3962400" y="1117600"/>
            <a:ext cx="38100" cy="762000"/>
          </a:xfrm>
          <a:prstGeom prst="rect">
            <a:avLst/>
          </a:prstGeom>
          <a:solidFill>
            <a:srgbClr val="2F855A"/>
          </a:solidFill>
          <a:ln>
            <a:noFill/>
          </a:ln>
        </p:spPr>
      </p:sp>
      <p:sp>
        <p:nvSpPr>
          <p:cNvPr name="TextBox 13" id="13"/>
          <p:cNvSpPr txBox="true"/>
          <p:nvPr/>
        </p:nvSpPr>
        <p:spPr>
          <a:xfrm>
            <a:off x="4140200" y="1092200"/>
            <a:ext cx="2997200" cy="8128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1000" b="false" i="false">
                <a:solidFill>
                  <a:srgbClr val="6B7785"/>
                </a:solidFill>
                <a:latin typeface="Segoe UI"/>
              </a:rPr>
              <a:t>Resultado</a:t>
            </a:r>
            <a:endParaRPr sz="1000" lang="es-ES"/>
          </a:p>
          <a:p>
            <a:pPr algn="l"/>
            <a:r>
              <a:rPr lang="es-ES" sz="2200" b="true" i="false">
                <a:solidFill>
                  <a:srgbClr val="2F855A"/>
                </a:solidFill>
                <a:latin typeface="Segoe UI"/>
              </a:rPr>
              <a:t>Bien</a:t>
            </a:r>
            <a:endParaRPr sz="2200" lang="es-ES"/>
          </a:p>
        </p:txBody>
      </p:sp>
      <p:sp>
        <p:nvSpPr>
          <p:cNvPr name="AutoShape 14" id="14"/>
          <p:cNvSpPr/>
          <p:nvPr/>
        </p:nvSpPr>
        <p:spPr>
          <a:xfrm>
            <a:off x="7416800" y="1016000"/>
            <a:ext cx="3302000" cy="96520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9DEE5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7416800" y="1117600"/>
            <a:ext cx="38100" cy="762000"/>
          </a:xfrm>
          <a:prstGeom prst="rect">
            <a:avLst/>
          </a:prstGeom>
          <a:solidFill>
            <a:srgbClr val="3F74D8"/>
          </a:solidFill>
          <a:ln>
            <a:noFill/>
          </a:ln>
        </p:spPr>
      </p:sp>
      <p:sp>
        <p:nvSpPr>
          <p:cNvPr name="TextBox 16" id="16"/>
          <p:cNvSpPr txBox="true"/>
          <p:nvPr/>
        </p:nvSpPr>
        <p:spPr>
          <a:xfrm>
            <a:off x="7594600" y="1092200"/>
            <a:ext cx="2997200" cy="8128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1000" b="false" i="false">
                <a:solidFill>
                  <a:srgbClr val="6B7785"/>
                </a:solidFill>
                <a:latin typeface="Segoe UI"/>
              </a:rPr>
              <a:t>Entradas ejecutadas</a:t>
            </a:r>
            <a:endParaRPr sz="1000" lang="es-ES"/>
          </a:p>
          <a:p>
            <a:pPr algn="l"/>
            <a:r>
              <a:rPr lang="es-ES" sz="2200" b="true" i="false">
                <a:solidFill>
                  <a:srgbClr val="1F2933"/>
                </a:solidFill>
                <a:latin typeface="Segoe UI"/>
              </a:rPr>
              <a:t>9</a:t>
            </a:r>
            <a:endParaRPr sz="2200" lang="es-ES"/>
          </a:p>
        </p:txBody>
      </p:sp>
      <p:sp>
        <p:nvSpPr>
          <p:cNvPr name="AutoShape 17" id="17"/>
          <p:cNvSpPr/>
          <p:nvPr/>
        </p:nvSpPr>
        <p:spPr>
          <a:xfrm>
            <a:off x="508000" y="2108200"/>
            <a:ext cx="3302000" cy="96520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9DEE5"/>
            </a:solidFill>
          </a:ln>
        </p:spPr>
      </p:sp>
      <p:sp>
        <p:nvSpPr>
          <p:cNvPr name="AutoShape 18" id="18"/>
          <p:cNvSpPr/>
          <p:nvPr/>
        </p:nvSpPr>
        <p:spPr>
          <a:xfrm>
            <a:off x="508000" y="2209800"/>
            <a:ext cx="38100" cy="762000"/>
          </a:xfrm>
          <a:prstGeom prst="rect">
            <a:avLst/>
          </a:prstGeom>
          <a:solidFill>
            <a:srgbClr val="2F855A"/>
          </a:solidFill>
          <a:ln>
            <a:noFill/>
          </a:ln>
        </p:spPr>
      </p:sp>
      <p:sp>
        <p:nvSpPr>
          <p:cNvPr name="TextBox 19" id="19"/>
          <p:cNvSpPr txBox="true"/>
          <p:nvPr/>
        </p:nvSpPr>
        <p:spPr>
          <a:xfrm>
            <a:off x="685800" y="2184400"/>
            <a:ext cx="2997200" cy="8128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1000" b="false" i="false">
                <a:solidFill>
                  <a:srgbClr val="6B7785"/>
                </a:solidFill>
                <a:latin typeface="Segoe UI"/>
              </a:rPr>
              <a:t>Errores</a:t>
            </a:r>
            <a:endParaRPr sz="1000" lang="es-ES"/>
          </a:p>
          <a:p>
            <a:pPr algn="l"/>
            <a:r>
              <a:rPr lang="es-ES" sz="2200" b="true" i="false">
                <a:solidFill>
                  <a:srgbClr val="2F855A"/>
                </a:solidFill>
                <a:latin typeface="Segoe UI"/>
              </a:rPr>
              <a:t>0</a:t>
            </a:r>
            <a:endParaRPr sz="2200" lang="es-ES"/>
          </a:p>
        </p:txBody>
      </p:sp>
      <p:sp>
        <p:nvSpPr>
          <p:cNvPr name="AutoShape 20" id="20"/>
          <p:cNvSpPr/>
          <p:nvPr/>
        </p:nvSpPr>
        <p:spPr>
          <a:xfrm>
            <a:off x="3962400" y="2108200"/>
            <a:ext cx="3302000" cy="96520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9DEE5"/>
            </a:solidFill>
          </a:ln>
        </p:spPr>
      </p:sp>
      <p:sp>
        <p:nvSpPr>
          <p:cNvPr name="AutoShape 21" id="21"/>
          <p:cNvSpPr/>
          <p:nvPr/>
        </p:nvSpPr>
        <p:spPr>
          <a:xfrm>
            <a:off x="3962400" y="2209800"/>
            <a:ext cx="38100" cy="762000"/>
          </a:xfrm>
          <a:prstGeom prst="rect">
            <a:avLst/>
          </a:prstGeom>
          <a:solidFill>
            <a:srgbClr val="3F74D8"/>
          </a:solidFill>
          <a:ln>
            <a:noFill/>
          </a:ln>
        </p:spPr>
      </p:sp>
      <p:sp>
        <p:nvSpPr>
          <p:cNvPr name="TextBox 22" id="22"/>
          <p:cNvSpPr txBox="true"/>
          <p:nvPr/>
        </p:nvSpPr>
        <p:spPr>
          <a:xfrm>
            <a:off x="4140200" y="2184400"/>
            <a:ext cx="2997200" cy="8128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1000" b="false" i="false">
                <a:solidFill>
                  <a:srgbClr val="6B7785"/>
                </a:solidFill>
                <a:latin typeface="Segoe UI"/>
              </a:rPr>
              <a:t>Entrada más lenta</a:t>
            </a:r>
            <a:endParaRPr sz="1000" lang="es-ES"/>
          </a:p>
          <a:p>
            <a:pPr algn="l"/>
            <a:r>
              <a:rPr lang="es-ES" sz="2200" b="true" i="false">
                <a:solidFill>
                  <a:srgbClr val="1F2933"/>
                </a:solidFill>
                <a:latin typeface="Segoe UI"/>
              </a:rPr>
              <a:t>Cargar dim_producto</a:t>
            </a:r>
            <a:endParaRPr sz="2200" lang="es-ES"/>
          </a:p>
          <a:p>
            <a:pPr algn="l"/>
            <a:r>
              <a:rPr lang="es-ES" sz="900" b="false" i="false">
                <a:solidFill>
                  <a:srgbClr val="6B7785"/>
                </a:solidFill>
                <a:latin typeface="Segoe UI"/>
              </a:rPr>
              <a:t>839 ms</a:t>
            </a:r>
            <a:endParaRPr sz="900" lang="es-ES"/>
          </a:p>
        </p:txBody>
      </p:sp>
      <p:sp>
        <p:nvSpPr>
          <p:cNvPr name="AutoShape 23" id="23"/>
          <p:cNvSpPr/>
          <p:nvPr/>
        </p:nvSpPr>
        <p:spPr>
          <a:xfrm>
            <a:off x="508000" y="3200400"/>
            <a:ext cx="38100" cy="344932"/>
          </a:xfrm>
          <a:prstGeom prst="rect">
            <a:avLst/>
          </a:prstGeom>
          <a:solidFill>
            <a:srgbClr val="243B53"/>
          </a:solidFill>
          <a:ln>
            <a:noFill/>
          </a:ln>
        </p:spPr>
      </p:sp>
      <p:sp>
        <p:nvSpPr>
          <p:cNvPr name="TextBox 24" id="24"/>
          <p:cNvSpPr txBox="true"/>
          <p:nvPr/>
        </p:nvSpPr>
        <p:spPr>
          <a:xfrm>
            <a:off x="660400" y="3200400"/>
            <a:ext cx="11023600" cy="344932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1300" b="false" i="true">
                <a:solidFill>
                  <a:srgbClr val="243B53"/>
                </a:solidFill>
                <a:latin typeface="Segoe UI"/>
              </a:rPr>
              <a:t>Las filas de las transformaciones que ejecuta un job solo se conocen al medirlo (Medir…).</a:t>
            </a:r>
            <a:endParaRPr sz="1300" lang="es-ES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03200"/>
            <a:ext cx="11176000" cy="635000"/>
          </a:xfrm>
        </p:spPr>
        <p:txBody>
          <a:bodyPr lIns="0" rIns="0" wrap="square" anchor="ctr"/>
          <a:lstStyle/>
          <a:p>
            <a:pPr algn="l"/>
            <a:r>
              <a:rPr lang="es-ES" sz="2600" b="true" i="false">
                <a:solidFill>
                  <a:srgbClr val="243B53"/>
                </a:solidFill>
                <a:latin typeface="Segoe UI"/>
              </a:rPr>
              <a:t>Métricas de ejecución (cont.)</a:t>
            </a:r>
            <a:endParaRPr sz="2600" lang="es-E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0" y="5510084"/>
            <a:ext cx="1435100" cy="814516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43B53"/>
          </a:solidFill>
          <a:ln>
            <a:noFill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508750"/>
            <a:ext cx="177800" cy="10091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>
            <a:off x="749300" y="6451600"/>
            <a:ext cx="5080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750" b="false" i="false">
                <a:solidFill>
                  <a:srgbClr val="6B7785"/>
                </a:solidFill>
                <a:latin typeface="Segoe UI"/>
              </a:rPr>
              <a:t>Pentaho Live · IDC Studios</a:t>
            </a:r>
            <a:endParaRPr sz="750" lang="es-ES"/>
          </a:p>
        </p:txBody>
      </p:sp>
      <p:sp>
        <p:nvSpPr>
          <p:cNvPr name="TextBox 7" id="7"/>
          <p:cNvSpPr txBox="true"/>
          <p:nvPr/>
        </p:nvSpPr>
        <p:spPr>
          <a:xfrm>
            <a:off x="10160000" y="6451600"/>
            <a:ext cx="1524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r"/>
            <a:fld id="{D8C6848C-C762-426D-9658-085CA3268978}" type="slidenum">
              <a:rPr lang="es-ES" sz="750">
                <a:solidFill>
                  <a:srgbClr val="6B7785"/>
                </a:solidFill>
                <a:latin typeface="Segoe UI"/>
              </a:rPr>
              <a:t>9</a:t>
            </a:fld>
            <a:endParaRPr sz="750" lang="es-ES"/>
          </a:p>
        </p:txBody>
      </p:sp>
      <p:sp>
        <p:nvSpPr>
          <p:cNvPr name="TextBox 8" id="8"/>
          <p:cNvSpPr txBox="true"/>
          <p:nvPr/>
        </p:nvSpPr>
        <p:spPr>
          <a:xfrm>
            <a:off x="508000" y="1016000"/>
            <a:ext cx="11176000" cy="254000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/>
            <a:r>
              <a:rPr lang="es-ES" sz="1300" b="true" i="false">
                <a:solidFill>
                  <a:srgbClr val="243B53"/>
                </a:solidFill>
                <a:latin typeface="Segoe UI"/>
              </a:rPr>
              <a:t>Línea de tiempo de las entradas</a:t>
            </a:r>
            <a:endParaRPr sz="1300" lang="es-ES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" y="1295400"/>
            <a:ext cx="11176000" cy="3213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>
            <a:off x="508000" y="4559300"/>
            <a:ext cx="11176000" cy="235458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/>
            <a:r>
              <a:rPr lang="es-ES" sz="950" b="false" i="true">
                <a:solidFill>
                  <a:srgbClr val="6B7785"/>
                </a:solidFill>
                <a:latin typeface="Segoe UI"/>
              </a:rPr>
              <a:t>Las filas anidadas (↳) son del sub-job o de la sub-transformación de arriba.</a:t>
            </a:r>
            <a:endParaRPr sz="950" lang="es-ES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03200"/>
            <a:ext cx="11176000" cy="635000"/>
          </a:xfrm>
        </p:spPr>
        <p:txBody>
          <a:bodyPr lIns="0" rIns="0" wrap="square" anchor="ctr"/>
          <a:lstStyle/>
          <a:p>
            <a:pPr algn="l"/>
            <a:r>
              <a:rPr lang="es-ES" sz="2600" b="true" i="false">
                <a:solidFill>
                  <a:srgbClr val="243B53"/>
                </a:solidFill>
                <a:latin typeface="Segoe UI"/>
              </a:rPr>
              <a:t>Métricas de ejecución (cont.)</a:t>
            </a:r>
            <a:endParaRPr sz="2600" lang="es-E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0" y="5510084"/>
            <a:ext cx="1435100" cy="814516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43B53"/>
          </a:solidFill>
          <a:ln>
            <a:noFill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508750"/>
            <a:ext cx="177800" cy="10091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>
            <a:off x="749300" y="6451600"/>
            <a:ext cx="5080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750" b="false" i="false">
                <a:solidFill>
                  <a:srgbClr val="6B7785"/>
                </a:solidFill>
                <a:latin typeface="Segoe UI"/>
              </a:rPr>
              <a:t>Pentaho Live · IDC Studios</a:t>
            </a:r>
            <a:endParaRPr sz="750" lang="es-ES"/>
          </a:p>
        </p:txBody>
      </p:sp>
      <p:sp>
        <p:nvSpPr>
          <p:cNvPr name="TextBox 7" id="7"/>
          <p:cNvSpPr txBox="true"/>
          <p:nvPr/>
        </p:nvSpPr>
        <p:spPr>
          <a:xfrm>
            <a:off x="10160000" y="6451600"/>
            <a:ext cx="1524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r"/>
            <a:fld id="{066018AC-E78D-4CFE-98DC-FDD5331AE84E}" type="slidenum">
              <a:rPr lang="es-ES" sz="750">
                <a:solidFill>
                  <a:srgbClr val="6B7785"/>
                </a:solidFill>
                <a:latin typeface="Segoe UI"/>
              </a:rPr>
              <a:t>10</a:t>
            </a:fld>
            <a:endParaRPr sz="750" lang="es-ES"/>
          </a:p>
        </p:txBody>
      </p:sp>
      <p:sp>
        <p:nvSpPr>
          <p:cNvPr name="TextBox 8" id="8"/>
          <p:cNvSpPr txBox="true"/>
          <p:nvPr/>
        </p:nvSpPr>
        <p:spPr>
          <a:xfrm>
            <a:off x="508000" y="1016000"/>
            <a:ext cx="11176000" cy="254000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/>
            <a:r>
              <a:rPr lang="es-ES" sz="1300" b="true" i="false">
                <a:solidFill>
                  <a:srgbClr val="243B53"/>
                </a:solidFill>
                <a:latin typeface="Segoe UI"/>
              </a:rPr>
              <a:t>Entradas del job</a:t>
            </a:r>
            <a:endParaRPr sz="1300" lang="es-ES"/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508000" y="1295400"/>
          <a:ext cx="8026400" cy="3285744"/>
        </p:xfrm>
        <a:graphic>
          <a:graphicData uri="http://schemas.openxmlformats.org/drawingml/2006/table">
            <a:tbl>
              <a:tblPr/>
              <a:tblGrid>
                <a:gridCol w="2400300"/>
                <a:gridCol w="1092200"/>
                <a:gridCol w="711200"/>
                <a:gridCol w="863600"/>
                <a:gridCol w="939800"/>
                <a:gridCol w="2019300"/>
              </a:tblGrid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Entrada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Job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Inicio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Duración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Resultado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Llegó por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START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job_carga_dw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+26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5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Bien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el inicio del job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Comprobar ficheros de entrada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job_carga_dw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+32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5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Bien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un hop incondicional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Crear carpeta salida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job_carga_dw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+38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1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Bien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un hop «si termina bien»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Crear modelo estrella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job_carga_dw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+40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510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Bien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un hop «si termina bien»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Cargar dim_tienda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job_carga_dw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+552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324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Bien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un hop «si termina bien»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Cargar dim_producto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job_carga_dw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+878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839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Bien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un hop «si termina bien»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Cargar dim_fecha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job_carga_dw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+1,7 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449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Bien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un hop «si termina bien»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Cargar hechos_ventas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job_carga_dw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+2,2 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831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Bien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un hop «si termina bien»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Calcular KPI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job_carga_dw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+3,0 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155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Bien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un hop «si termina bien»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Carga correcta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job_carga_dw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+3,2 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0 ms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Bien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un hop «si termina bien»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03200"/>
            <a:ext cx="11176000" cy="635000"/>
          </a:xfrm>
        </p:spPr>
        <p:txBody>
          <a:bodyPr lIns="0" rIns="0" wrap="square" anchor="ctr"/>
          <a:lstStyle/>
          <a:p>
            <a:pPr algn="l"/>
            <a:r>
              <a:rPr lang="es-ES" sz="2600" b="true" i="false">
                <a:solidFill>
                  <a:srgbClr val="243B53"/>
                </a:solidFill>
                <a:latin typeface="Segoe UI"/>
              </a:rPr>
              <a:t>Validación</a:t>
            </a:r>
            <a:endParaRPr sz="2600" lang="es-E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0" y="5510084"/>
            <a:ext cx="1435100" cy="814516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43B53"/>
          </a:solidFill>
          <a:ln>
            <a:noFill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508750"/>
            <a:ext cx="177800" cy="10091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>
            <a:off x="749300" y="6451600"/>
            <a:ext cx="5080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750" b="false" i="false">
                <a:solidFill>
                  <a:srgbClr val="6B7785"/>
                </a:solidFill>
                <a:latin typeface="Segoe UI"/>
              </a:rPr>
              <a:t>Pentaho Live · IDC Studios</a:t>
            </a:r>
            <a:endParaRPr sz="750" lang="es-ES"/>
          </a:p>
        </p:txBody>
      </p:sp>
      <p:sp>
        <p:nvSpPr>
          <p:cNvPr name="TextBox 7" id="7"/>
          <p:cNvSpPr txBox="true"/>
          <p:nvPr/>
        </p:nvSpPr>
        <p:spPr>
          <a:xfrm>
            <a:off x="10160000" y="6451600"/>
            <a:ext cx="1524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r"/>
            <a:fld id="{E6F81376-BCD1-44DF-83DB-F798CF073D71}" type="slidenum">
              <a:rPr lang="es-ES" sz="750">
                <a:solidFill>
                  <a:srgbClr val="6B7785"/>
                </a:solidFill>
                <a:latin typeface="Segoe UI"/>
              </a:rPr>
              <a:t>11</a:t>
            </a:fld>
            <a:endParaRPr sz="750" lang="es-ES"/>
          </a:p>
        </p:txBody>
      </p:sp>
      <p:sp>
        <p:nvSpPr>
          <p:cNvPr name="AutoShape 8" id="8"/>
          <p:cNvSpPr/>
          <p:nvPr/>
        </p:nvSpPr>
        <p:spPr>
          <a:xfrm>
            <a:off x="508000" y="1016000"/>
            <a:ext cx="3302000" cy="96520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9DEE5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508000" y="1117600"/>
            <a:ext cx="38100" cy="762000"/>
          </a:xfrm>
          <a:prstGeom prst="rect">
            <a:avLst/>
          </a:prstGeom>
          <a:solidFill>
            <a:srgbClr val="C53030"/>
          </a:solidFill>
          <a:ln>
            <a:noFill/>
          </a:ln>
        </p:spPr>
      </p:sp>
      <p:sp>
        <p:nvSpPr>
          <p:cNvPr name="TextBox 10" id="10"/>
          <p:cNvSpPr txBox="true"/>
          <p:nvPr/>
        </p:nvSpPr>
        <p:spPr>
          <a:xfrm>
            <a:off x="685800" y="1092200"/>
            <a:ext cx="2997200" cy="8128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1000" b="false" i="false">
                <a:solidFill>
                  <a:srgbClr val="6B7785"/>
                </a:solidFill>
                <a:latin typeface="Segoe UI"/>
              </a:rPr>
              <a:t>Errores</a:t>
            </a:r>
            <a:endParaRPr sz="1000" lang="es-ES"/>
          </a:p>
          <a:p>
            <a:pPr algn="l"/>
            <a:r>
              <a:rPr lang="es-ES" sz="2200" b="true" i="false">
                <a:solidFill>
                  <a:srgbClr val="C53030"/>
                </a:solidFill>
                <a:latin typeface="Segoe UI"/>
              </a:rPr>
              <a:t>1</a:t>
            </a:r>
            <a:endParaRPr sz="2200" lang="es-ES"/>
          </a:p>
        </p:txBody>
      </p:sp>
      <p:sp>
        <p:nvSpPr>
          <p:cNvPr name="AutoShape 11" id="11"/>
          <p:cNvSpPr/>
          <p:nvPr/>
        </p:nvSpPr>
        <p:spPr>
          <a:xfrm>
            <a:off x="3962400" y="1016000"/>
            <a:ext cx="3302000" cy="96520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9DEE5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3962400" y="1117600"/>
            <a:ext cx="38100" cy="762000"/>
          </a:xfrm>
          <a:prstGeom prst="rect">
            <a:avLst/>
          </a:prstGeom>
          <a:solidFill>
            <a:srgbClr val="2F855A"/>
          </a:solidFill>
          <a:ln>
            <a:noFill/>
          </a:ln>
        </p:spPr>
      </p:sp>
      <p:sp>
        <p:nvSpPr>
          <p:cNvPr name="TextBox 13" id="13"/>
          <p:cNvSpPr txBox="true"/>
          <p:nvPr/>
        </p:nvSpPr>
        <p:spPr>
          <a:xfrm>
            <a:off x="4140200" y="1092200"/>
            <a:ext cx="2997200" cy="8128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1000" b="false" i="false">
                <a:solidFill>
                  <a:srgbClr val="6B7785"/>
                </a:solidFill>
                <a:latin typeface="Segoe UI"/>
              </a:rPr>
              <a:t>Advertencias</a:t>
            </a:r>
            <a:endParaRPr sz="1000" lang="es-ES"/>
          </a:p>
          <a:p>
            <a:pPr algn="l"/>
            <a:r>
              <a:rPr lang="es-ES" sz="2200" b="true" i="false">
                <a:solidFill>
                  <a:srgbClr val="2F855A"/>
                </a:solidFill>
                <a:latin typeface="Segoe UI"/>
              </a:rPr>
              <a:t>0</a:t>
            </a:r>
            <a:endParaRPr sz="2200" lang="es-ES"/>
          </a:p>
        </p:txBody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508000" y="2108200"/>
          <a:ext cx="4368800" cy="597408"/>
        </p:xfrm>
        <a:graphic>
          <a:graphicData uri="http://schemas.openxmlformats.org/drawingml/2006/table">
            <a:tbl>
              <a:tblPr/>
              <a:tblGrid>
                <a:gridCol w="1714500"/>
                <a:gridCol w="635000"/>
                <a:gridCol w="2019300"/>
              </a:tblGrid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Step / entrada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Nivel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Mensaje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</a:tr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Crear carpeta salida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Error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filename cannot be null.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>
            <a:off x="508000" y="2756408"/>
            <a:ext cx="11176000" cy="235458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/>
            <a:r>
              <a:rPr lang="es-ES" sz="950" b="false" i="true">
                <a:solidFill>
                  <a:srgbClr val="6B7785"/>
                </a:solidFill>
                <a:latin typeface="Segoe UI"/>
              </a:rPr>
              <a:t>Los mensajes de Kettle salen en el idioma de Spoon; los chequeos de Pentaho Live, en el del informe.</a:t>
            </a:r>
            <a:endParaRPr sz="950" lang="es-ES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03200"/>
            <a:ext cx="11176000" cy="635000"/>
          </a:xfrm>
        </p:spPr>
        <p:txBody>
          <a:bodyPr lIns="0" rIns="0" wrap="square" anchor="ctr"/>
          <a:lstStyle/>
          <a:p>
            <a:pPr algn="l"/>
            <a:r>
              <a:rPr lang="es-ES" sz="2600" b="true" i="false">
                <a:solidFill>
                  <a:srgbClr val="243B53"/>
                </a:solidFill>
                <a:latin typeface="Segoe UI"/>
              </a:rPr>
              <a:t>Conexiones y parámetros</a:t>
            </a:r>
            <a:endParaRPr sz="2600" lang="es-E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0" y="5510084"/>
            <a:ext cx="1435100" cy="814516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43B53"/>
          </a:solidFill>
          <a:ln>
            <a:noFill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508750"/>
            <a:ext cx="177800" cy="10091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>
            <a:off x="749300" y="6451600"/>
            <a:ext cx="5080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l"/>
            <a:r>
              <a:rPr lang="es-ES" sz="750" b="false" i="false">
                <a:solidFill>
                  <a:srgbClr val="6B7785"/>
                </a:solidFill>
                <a:latin typeface="Segoe UI"/>
              </a:rPr>
              <a:t>Pentaho Live · IDC Studios</a:t>
            </a:r>
            <a:endParaRPr sz="750" lang="es-ES"/>
          </a:p>
        </p:txBody>
      </p:sp>
      <p:sp>
        <p:nvSpPr>
          <p:cNvPr name="TextBox 7" id="7"/>
          <p:cNvSpPr txBox="true"/>
          <p:nvPr/>
        </p:nvSpPr>
        <p:spPr>
          <a:xfrm>
            <a:off x="10160000" y="6451600"/>
            <a:ext cx="1524000" cy="228600"/>
          </a:xfrm>
          <a:prstGeom prst="rect">
            <a:avLst/>
          </a:prstGeom>
        </p:spPr>
        <p:txBody>
          <a:bodyPr anchor="ctr" rtlCol="false" wrap="square" lIns="0" rIns="0" tIns="25400" bIns="25400"/>
          <a:lstStyle/>
          <a:p>
            <a:pPr algn="r"/>
            <a:fld id="{126994DA-6263-4067-A5E1-C9C035E56422}" type="slidenum">
              <a:rPr lang="es-ES" sz="750">
                <a:solidFill>
                  <a:srgbClr val="6B7785"/>
                </a:solidFill>
                <a:latin typeface="Segoe UI"/>
              </a:rPr>
              <a:t>12</a:t>
            </a:fld>
            <a:endParaRPr sz="750" lang="es-ES"/>
          </a:p>
        </p:txBody>
      </p:sp>
      <p:sp>
        <p:nvSpPr>
          <p:cNvPr name="TextBox 8" id="8"/>
          <p:cNvSpPr txBox="true"/>
          <p:nvPr/>
        </p:nvSpPr>
        <p:spPr>
          <a:xfrm>
            <a:off x="508000" y="1016000"/>
            <a:ext cx="11176000" cy="254000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/>
            <a:r>
              <a:rPr lang="es-ES" sz="1300" b="true" i="false">
                <a:solidFill>
                  <a:srgbClr val="243B53"/>
                </a:solidFill>
                <a:latin typeface="Segoe UI"/>
              </a:rPr>
              <a:t>Conexiones a bases de datos</a:t>
            </a:r>
            <a:endParaRPr sz="1300" lang="es-ES"/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508000" y="1295400"/>
          <a:ext cx="8877300" cy="781812"/>
        </p:xfrm>
        <a:graphic>
          <a:graphicData uri="http://schemas.openxmlformats.org/drawingml/2006/table">
            <a:tbl>
              <a:tblPr/>
              <a:tblGrid>
                <a:gridCol w="1320800"/>
                <a:gridCol w="635000"/>
                <a:gridCol w="711200"/>
                <a:gridCol w="558800"/>
                <a:gridCol w="3860800"/>
                <a:gridCol w="1790700"/>
              </a:tblGrid>
              <a:tr h="298704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Nombre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Acceso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Host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Base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true" i="false">
                          <a:solidFill>
                            <a:srgbClr val="FFFFFF"/>
                          </a:solidFill>
                          <a:latin typeface="Segoe UI"/>
                        </a:rPr>
                        <a:t>Usada por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243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3"/>
                    </a:solidFill>
                  </a:tcPr>
                </a:tc>
              </a:tr>
              <a:tr h="483108"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dw_grano_de_oro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SQLite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Native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 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${Internal.Entry.Current.Directory}/../salida/grano_de_oro_dw.sqlite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lang="es-ES" sz="1100" b="false" i="false">
                          <a:solidFill>
                            <a:srgbClr val="1F2933"/>
                          </a:solidFill>
                          <a:latin typeface="Segoe UI"/>
                        </a:rPr>
                        <a:t>Crear modelo estrella</a:t>
                      </a:r>
                      <a:endParaRPr sz="1100" lang="es-ES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9525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>
            <a:off x="508000" y="2128012"/>
            <a:ext cx="11176000" cy="235458"/>
          </a:xfrm>
          <a:prstGeom prst="rect">
            <a:avLst/>
          </a:prstGeom>
        </p:spPr>
        <p:txBody>
          <a:bodyPr anchor="t" rtlCol="false" wrap="square" lIns="0" rIns="0" tIns="25400" bIns="25400"/>
          <a:lstStyle/>
          <a:p>
            <a:pPr algn="l"/>
            <a:r>
              <a:rPr lang="es-ES" sz="950" b="false" i="true">
                <a:solidFill>
                  <a:srgbClr val="6B7785"/>
                </a:solidFill>
                <a:latin typeface="Segoe UI"/>
              </a:rPr>
              <a:t>Nunca se incluyen contraseñas.</a:t>
            </a:r>
            <a:endParaRPr sz="950"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terms="http://purl.org/dc/terms/" xmlns:dc="http://purl.org/dc/elements/1.1/" xmlns:xsi="http://www.w3.org/2001/XMLSchema-instance">
  <dcterms:created xsi:type="dcterms:W3CDTF">2006-08-16T00:00:00Z</dcterms:created>
  <dc:creator>Iván Castaño</dc:creator>
  <dc:description>Informe del job job_carga_dw</dc:description>
  <dc:language>es-ES</dc:language>
  <dcterms:modified xsi:type="dcterms:W3CDTF">2011-08-01T06:04:30Z</dcterms:modified>
  <cp:revision>1</cp:revision>
  <dc:title>Job de carga del modelo estrella · Grano de Oro</dc:title>
</cp:coreProperties>
</file>