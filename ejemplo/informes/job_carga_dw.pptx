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1"/>
    <p:sldId id="259" r:id="rId12"/>
    <p:sldId id="260" r:id="rId14"/>
    <p:sldId id="261" r:id="rId15"/>
    <p:sldId id="262" r:id="rId16"/>
    <p:sldId id="263" r:id="rId18"/>
    <p:sldId id="264" r:id="rId19"/>
    <p:sldId id="265" r:id="rId20"/>
    <p:sldId id="266" r:id="rId22"/>
    <p:sldId id="26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notesSlides/notesSlide2.xml" Type="http://schemas.openxmlformats.org/officeDocument/2006/relationships/notesSlide"/><Relationship Id="rId14" Target="slides/slide5.xml" Type="http://schemas.openxmlformats.org/officeDocument/2006/relationships/slide"/><Relationship Id="rId15" Target="slides/slide6.xml" Type="http://schemas.openxmlformats.org/officeDocument/2006/relationships/slide"/><Relationship Id="rId16" Target="slides/slide7.xml" Type="http://schemas.openxmlformats.org/officeDocument/2006/relationships/slide"/><Relationship Id="rId17" Target="notesSlides/notesSlide3.xml" Type="http://schemas.openxmlformats.org/officeDocument/2006/relationships/notesSlide"/><Relationship Id="rId18" Target="slides/slide8.xml" Type="http://schemas.openxmlformats.org/officeDocument/2006/relationships/slide"/><Relationship Id="rId19" Target="slides/slide9.xml" Type="http://schemas.openxmlformats.org/officeDocument/2006/relationships/slide"/><Relationship Id="rId2" Target="presProps.xml" Type="http://schemas.openxmlformats.org/officeDocument/2006/relationships/presProps"/><Relationship Id="rId20" Target="slides/slide10.xml" Type="http://schemas.openxmlformats.org/officeDocument/2006/relationships/slide"/><Relationship Id="rId21" Target="notesSlides/notesSlide4.xml" Type="http://schemas.openxmlformats.org/officeDocument/2006/relationships/notesSlide"/><Relationship Id="rId22" Target="slides/slide11.xml" Type="http://schemas.openxmlformats.org/officeDocument/2006/relationships/slide"/><Relationship Id="rId23" Target="notesSlides/notesSlide5.xml" Type="http://schemas.openxmlformats.org/officeDocument/2006/relationships/notesSlide"/><Relationship Id="rId24" Target="slides/slide12.xml" Type="http://schemas.openxmlformats.org/officeDocument/2006/relationships/slide"/><Relationship Id="rId25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Job job_carga_dw.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Ejecuta 5 transformaciones (01_dim_tienda.ktr, 02_dim_producto.ktr, 03_dim_fecha.ktr, 04_hechos_ventas.ktr, 05_kpi_ventas.ktr), maneja archivos, ejecuta SQL y escribe en el log. 12 entradas y 18 hops.</a:t>
            </a:r>
          </a:p>
          <a:p>
            <a:r>
              <a:rPr lang="es-ES" sz="1200"/>
              <a:t/>
            </a:r>
          </a:p>
          <a:p>
            <a:r>
              <a:rPr lang="es-ES" sz="1200"/>
              <a:t>El job orquesta la carga completa del modelo estrella: comprueba que estén los ficheros de entrada, crea la carpeta de salida y las tablas, carga las tres dimensiones (tiendas, productos y fechas), después los hechos y por último los KPI. Si algún paso falla, registra el error y aborta la carga. En la última ejecución todas las entradas terminaron correctamente.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12 entradas y 18 hops. Ejecuta 5 transformaciones (01_dim_tienda.ktr, 02_dim_producto.ktr, 03_dim_fecha.ktr, 04_hechos_ventas.ktr, 05_kpi_ventas.ktr).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La última ejecución del job tardó 3,4 s y terminó bien; se ejecutaron 10 entradas. La entrada más lenta fue «Cargar dim_producto» (1,0 s).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1 error y 0 advertencias.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1 conexión y 0 parámetros.</a:t>
            </a: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2.png" Type="http://schemas.openxmlformats.org/officeDocument/2006/relationships/image"/><Relationship Id="rId3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3.png" Type="http://schemas.openxmlformats.org/officeDocument/2006/relationships/image"/><Relationship Id="rId5" Target="../notesSlides/notesSlide3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4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5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5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6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2489200"/>
          </a:xfrm>
          <a:solidFill>
            <a:srgbClr val="243B53"/>
          </a:solidFill>
        </p:spPr>
        <p:txBody>
          <a:bodyPr lIns="762000" rIns="762000" wrap="square" anchor="b" tIns="76200" bIns="76200"/>
          <a:lstStyle/>
          <a:p>
            <a:pPr algn="l"/>
            <a:r>
              <a:rPr lang="es-ES" sz="3600" b="true" i="false">
                <a:solidFill>
                  <a:srgbClr val="FFFFFF"/>
                </a:solidFill>
                <a:latin typeface="Segoe UI"/>
              </a:rPr>
              <a:t>Job de carga del modelo estrella · Grano de Oro</a:t>
            </a:r>
            <a:endParaRPr sz="3600" lang="es-E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476500"/>
            <a:ext cx="12192000" cy="698500"/>
          </a:xfrm>
          <a:solidFill>
            <a:srgbClr val="243B53"/>
          </a:solidFill>
        </p:spPr>
        <p:txBody>
          <a:bodyPr lIns="762000" rIns="762000" wrap="square" anchor="t" tIns="76200" bIns="0"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s-ES" sz="1600" b="false" i="false">
                <a:solidFill>
                  <a:srgbClr val="D8DCE0"/>
                </a:solidFill>
                <a:latin typeface="Segoe UI"/>
              </a:rPr>
              <a:t>Informe del job job_carga_dw</a:t>
            </a:r>
            <a:endParaRPr sz="1600" lang="es-ES"/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5" id="5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6" id="6"/>
          <p:cNvSpPr txBox="true"/>
          <p:nvPr/>
        </p:nvSpPr>
        <p:spPr>
          <a:xfrm>
            <a:off x="762000" y="3530600"/>
            <a:ext cx="7620000" cy="205232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Documento: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job_carga_dw.kjb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Tipo: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Job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Autor: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Iván Castaño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Institución: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Universidad Europea de Madrid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Curso: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Proyecto de Big Data 1 · Práctica de ejemplo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Creado: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2026-10-20 23:20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Modificado: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2026-10-20 23:20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Generado el 20 de octubre de 2026, 23:30</a:t>
            </a:r>
            <a:endParaRPr sz="1200" lang="es-ES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Contenido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2FCBCF1D-379D-4F82-9EB1-B32A9675FFF2}" type="slidenum">
              <a:rPr lang="es-ES" sz="750">
                <a:solidFill>
                  <a:srgbClr val="6B7785"/>
                </a:solidFill>
                <a:latin typeface="Segoe UI"/>
              </a:rPr>
              <a:t>2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762000" y="1143000"/>
            <a:ext cx="7874000" cy="51308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810"/>
              </a:spcAft>
              <a:tabLst>
                <a:tab pos="431800" algn="l"/>
                <a:tab pos="7620000" algn="r"/>
              </a:tabLst>
            </a:pPr>
            <a:r>
              <a:rPr lang="es-ES" sz="1800" b="true" i="false">
                <a:solidFill>
                  <a:srgbClr val="3F74D8"/>
                </a:solidFill>
                <a:latin typeface="Segoe UI"/>
              </a:rPr>
              <a:t>1</a:t>
            </a:r>
            <a:r>
              <a:rPr lang="es-ES" sz="1800" b="false" i="false">
                <a:solidFill>
                  <a:srgbClr val="1F2933"/>
                </a:solidFill>
                <a:latin typeface="Segoe UI"/>
              </a:rPr>
              <a:t>	Resumen</a:t>
            </a:r>
            <a:r>
              <a:rPr lang="es-ES" sz="1800" b="false" i="false">
                <a:solidFill>
                  <a:srgbClr val="6B7785"/>
                </a:solidFill>
                <a:latin typeface="Segoe UI"/>
              </a:rPr>
              <a:t>	3</a:t>
            </a:r>
            <a:endParaRPr sz="1800" lang="es-ES"/>
          </a:p>
          <a:p>
            <a:pPr algn="l">
              <a:spcAft>
                <a:spcPts val="810"/>
              </a:spcAft>
              <a:tabLst>
                <a:tab pos="431800" algn="l"/>
                <a:tab pos="7620000" algn="r"/>
              </a:tabLst>
            </a:pPr>
            <a:r>
              <a:rPr lang="es-ES" sz="1800" b="true" i="false">
                <a:solidFill>
                  <a:srgbClr val="3F74D8"/>
                </a:solidFill>
                <a:latin typeface="Segoe UI"/>
              </a:rPr>
              <a:t>2</a:t>
            </a:r>
            <a:r>
              <a:rPr lang="es-ES" sz="1800" b="false" i="false">
                <a:solidFill>
                  <a:srgbClr val="1F2933"/>
                </a:solidFill>
                <a:latin typeface="Segoe UI"/>
              </a:rPr>
              <a:t>	Flujo del job</a:t>
            </a:r>
            <a:r>
              <a:rPr lang="es-ES" sz="1800" b="false" i="false">
                <a:solidFill>
                  <a:srgbClr val="6B7785"/>
                </a:solidFill>
                <a:latin typeface="Segoe UI"/>
              </a:rPr>
              <a:t>	5</a:t>
            </a:r>
            <a:endParaRPr sz="1800" lang="es-ES"/>
          </a:p>
          <a:p>
            <a:pPr algn="l">
              <a:spcAft>
                <a:spcPts val="810"/>
              </a:spcAft>
              <a:tabLst>
                <a:tab pos="431800" algn="l"/>
                <a:tab pos="7620000" algn="r"/>
              </a:tabLst>
            </a:pPr>
            <a:r>
              <a:rPr lang="es-ES" sz="1800" b="true" i="false">
                <a:solidFill>
                  <a:srgbClr val="3F74D8"/>
                </a:solidFill>
                <a:latin typeface="Segoe UI"/>
              </a:rPr>
              <a:t>3</a:t>
            </a:r>
            <a:r>
              <a:rPr lang="es-ES" sz="1800" b="false" i="false">
                <a:solidFill>
                  <a:srgbClr val="1F2933"/>
                </a:solidFill>
                <a:latin typeface="Segoe UI"/>
              </a:rPr>
              <a:t>	Métricas de ejecución</a:t>
            </a:r>
            <a:r>
              <a:rPr lang="es-ES" sz="1800" b="false" i="false">
                <a:solidFill>
                  <a:srgbClr val="6B7785"/>
                </a:solidFill>
                <a:latin typeface="Segoe UI"/>
              </a:rPr>
              <a:t>	8</a:t>
            </a:r>
            <a:endParaRPr sz="1800" lang="es-ES"/>
          </a:p>
          <a:p>
            <a:pPr algn="l">
              <a:spcAft>
                <a:spcPts val="810"/>
              </a:spcAft>
              <a:tabLst>
                <a:tab pos="431800" algn="l"/>
                <a:tab pos="7620000" algn="r"/>
              </a:tabLst>
            </a:pPr>
            <a:r>
              <a:rPr lang="es-ES" sz="1800" b="true" i="false">
                <a:solidFill>
                  <a:srgbClr val="3F74D8"/>
                </a:solidFill>
                <a:latin typeface="Segoe UI"/>
              </a:rPr>
              <a:t>4</a:t>
            </a:r>
            <a:r>
              <a:rPr lang="es-ES" sz="1800" b="false" i="false">
                <a:solidFill>
                  <a:srgbClr val="1F2933"/>
                </a:solidFill>
                <a:latin typeface="Segoe UI"/>
              </a:rPr>
              <a:t>	Validación</a:t>
            </a:r>
            <a:r>
              <a:rPr lang="es-ES" sz="1800" b="false" i="false">
                <a:solidFill>
                  <a:srgbClr val="6B7785"/>
                </a:solidFill>
                <a:latin typeface="Segoe UI"/>
              </a:rPr>
              <a:t>	11</a:t>
            </a:r>
            <a:endParaRPr sz="1800" lang="es-ES"/>
          </a:p>
          <a:p>
            <a:pPr algn="l">
              <a:spcAft>
                <a:spcPts val="810"/>
              </a:spcAft>
              <a:tabLst>
                <a:tab pos="431800" algn="l"/>
                <a:tab pos="7620000" algn="r"/>
              </a:tabLst>
            </a:pPr>
            <a:r>
              <a:rPr lang="es-ES" sz="1800" b="true" i="false">
                <a:solidFill>
                  <a:srgbClr val="3F74D8"/>
                </a:solidFill>
                <a:latin typeface="Segoe UI"/>
              </a:rPr>
              <a:t>5</a:t>
            </a:r>
            <a:r>
              <a:rPr lang="es-ES" sz="1800" b="false" i="false">
                <a:solidFill>
                  <a:srgbClr val="1F2933"/>
                </a:solidFill>
                <a:latin typeface="Segoe UI"/>
              </a:rPr>
              <a:t>	Conexiones y parámetros</a:t>
            </a:r>
            <a:r>
              <a:rPr lang="es-ES" sz="1800" b="false" i="false">
                <a:solidFill>
                  <a:srgbClr val="6B7785"/>
                </a:solidFill>
                <a:latin typeface="Segoe UI"/>
              </a:rPr>
              <a:t>	12</a:t>
            </a:r>
            <a:endParaRPr sz="1800" lang="es-ES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Resumen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22F4C4DA-0DD3-4755-87BB-2F897D50EFB1}" type="slidenum">
              <a:rPr lang="es-ES" sz="750">
                <a:solidFill>
                  <a:srgbClr val="6B7785"/>
                </a:solidFill>
                <a:latin typeface="Segoe UI"/>
              </a:rPr>
              <a:t>3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1077214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89"/>
              </a:spcAft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El job orquesta la carga completa del modelo estrella: comprueba que estén los ficheros de entrada, crea la carpeta de salida y las tablas, carga las tres dimensiones (tiendas, productos y fechas), después los hechos y por último los KPI. Si algún paso falla, registra el error y aborta la carga. En la última ejecución todas las entradas terminaron correctamente.</a:t>
            </a:r>
            <a:endParaRPr sz="1400" lang="es-ES"/>
          </a:p>
        </p:txBody>
      </p:sp>
      <p:sp>
        <p:nvSpPr>
          <p:cNvPr name="TextBox 9" id="9"/>
          <p:cNvSpPr txBox="true"/>
          <p:nvPr/>
        </p:nvSpPr>
        <p:spPr>
          <a:xfrm>
            <a:off x="508000" y="2144014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Texto redactado con asistencia de IA</a:t>
            </a:r>
            <a:endParaRPr sz="950" lang="es-ES"/>
          </a:p>
        </p:txBody>
      </p:sp>
      <p:sp>
        <p:nvSpPr>
          <p:cNvPr name="AutoShape 10" id="10"/>
          <p:cNvSpPr/>
          <p:nvPr/>
        </p:nvSpPr>
        <p:spPr>
          <a:xfrm>
            <a:off x="508000" y="2506472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1" id="11"/>
          <p:cNvSpPr/>
          <p:nvPr/>
        </p:nvSpPr>
        <p:spPr>
          <a:xfrm>
            <a:off x="508000" y="2608072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2" id="12"/>
          <p:cNvSpPr txBox="true"/>
          <p:nvPr/>
        </p:nvSpPr>
        <p:spPr>
          <a:xfrm>
            <a:off x="685800" y="2582672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Entradas del job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12</a:t>
            </a:r>
            <a:endParaRPr sz="2200" lang="es-ES"/>
          </a:p>
        </p:txBody>
      </p:sp>
      <p:sp>
        <p:nvSpPr>
          <p:cNvPr name="AutoShape 13" id="13"/>
          <p:cNvSpPr/>
          <p:nvPr/>
        </p:nvSpPr>
        <p:spPr>
          <a:xfrm>
            <a:off x="3962400" y="2506472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4" id="14"/>
          <p:cNvSpPr/>
          <p:nvPr/>
        </p:nvSpPr>
        <p:spPr>
          <a:xfrm>
            <a:off x="3962400" y="2608072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5" id="15"/>
          <p:cNvSpPr txBox="true"/>
          <p:nvPr/>
        </p:nvSpPr>
        <p:spPr>
          <a:xfrm>
            <a:off x="4140200" y="2582672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Hops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18</a:t>
            </a:r>
            <a:endParaRPr sz="2200" lang="es-ES"/>
          </a:p>
        </p:txBody>
      </p:sp>
      <p:sp>
        <p:nvSpPr>
          <p:cNvPr name="AutoShape 16" id="16"/>
          <p:cNvSpPr/>
          <p:nvPr/>
        </p:nvSpPr>
        <p:spPr>
          <a:xfrm>
            <a:off x="7416800" y="2506472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7" id="17"/>
          <p:cNvSpPr/>
          <p:nvPr/>
        </p:nvSpPr>
        <p:spPr>
          <a:xfrm>
            <a:off x="7416800" y="2608072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8" id="18"/>
          <p:cNvSpPr txBox="true"/>
          <p:nvPr/>
        </p:nvSpPr>
        <p:spPr>
          <a:xfrm>
            <a:off x="7594600" y="2582672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Transformaciones que ejecuta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5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01_dim_tienda.ktr, 02_dim_producto.ktr, 03_dim_fecha.ktr, 04_hechos_ventas.ktr, 05_kpi_ventas.…</a:t>
            </a:r>
            <a:endParaRPr sz="900" lang="es-ES"/>
          </a:p>
        </p:txBody>
      </p:sp>
      <p:sp>
        <p:nvSpPr>
          <p:cNvPr name="AutoShape 19" id="19"/>
          <p:cNvSpPr/>
          <p:nvPr/>
        </p:nvSpPr>
        <p:spPr>
          <a:xfrm>
            <a:off x="508000" y="3598672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0" id="20"/>
          <p:cNvSpPr/>
          <p:nvPr/>
        </p:nvSpPr>
        <p:spPr>
          <a:xfrm>
            <a:off x="508000" y="3700272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1" id="21"/>
          <p:cNvSpPr txBox="true"/>
          <p:nvPr/>
        </p:nvSpPr>
        <p:spPr>
          <a:xfrm>
            <a:off x="685800" y="3674872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Jobs que ejecuta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0</a:t>
            </a:r>
            <a:endParaRPr sz="2200" lang="es-ES"/>
          </a:p>
        </p:txBody>
      </p:sp>
      <p:sp>
        <p:nvSpPr>
          <p:cNvPr name="AutoShape 22" id="22"/>
          <p:cNvSpPr/>
          <p:nvPr/>
        </p:nvSpPr>
        <p:spPr>
          <a:xfrm>
            <a:off x="3962400" y="3598672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3" id="23"/>
          <p:cNvSpPr/>
          <p:nvPr/>
        </p:nvSpPr>
        <p:spPr>
          <a:xfrm>
            <a:off x="3962400" y="3700272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4" id="24"/>
          <p:cNvSpPr txBox="true"/>
          <p:nvPr/>
        </p:nvSpPr>
        <p:spPr>
          <a:xfrm>
            <a:off x="4140200" y="3674872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Conexiones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</a:t>
            </a:r>
            <a:endParaRPr sz="2200" lang="es-ES"/>
          </a:p>
        </p:txBody>
      </p:sp>
      <p:sp>
        <p:nvSpPr>
          <p:cNvPr name="TextBox 25" id="25"/>
          <p:cNvSpPr txBox="true"/>
          <p:nvPr/>
        </p:nvSpPr>
        <p:spPr>
          <a:xfrm>
            <a:off x="508000" y="4690872"/>
            <a:ext cx="11176000" cy="1215644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89"/>
              </a:spcAft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Ejecuta 5 transformaciones (01_dim_tienda.ktr, 02_dim_producto.ktr, 03_dim_fecha.ktr, 04_hechos_ventas.ktr, 05_kpi_ventas.ktr), maneja archivos, ejecuta SQL y escribe en el log. 12 entradas y 18 hops.</a:t>
            </a:r>
            <a:endParaRPr sz="1400" lang="es-ES"/>
          </a:p>
          <a:p>
            <a:pPr algn="l">
              <a:spcAft>
                <a:spcPts val="489"/>
              </a:spcAft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La última ejecución del job tardó 3,4 s y terminó bien; se ejecutaron 10 entradas. La entrada más lenta fue «Cargar dim_producto» (1,0 s).</a:t>
            </a:r>
            <a:endParaRPr sz="1400" lang="es-ES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Resumen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83896471-2A17-47A1-B2F0-A1DA0BBDE264}" type="slidenum">
              <a:rPr lang="es-ES" sz="750">
                <a:solidFill>
                  <a:srgbClr val="6B7785"/>
                </a:solidFill>
                <a:latin typeface="Segoe UI"/>
              </a:rPr>
              <a:t>4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Lo más importante</a:t>
            </a:r>
            <a:endParaRPr sz="1300" lang="es-ES"/>
          </a:p>
        </p:txBody>
      </p:sp>
      <p:sp>
        <p:nvSpPr>
          <p:cNvPr name="TextBox 9" id="9"/>
          <p:cNvSpPr txBox="true"/>
          <p:nvPr/>
        </p:nvSpPr>
        <p:spPr>
          <a:xfrm>
            <a:off x="508000" y="1295400"/>
            <a:ext cx="11176000" cy="1354074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Flujo del job: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12 entradas y 18 hops. Ejecuta 5 transformaciones (01_dim_tienda.ktr, 02_dim_producto.ktr, 03_dim_fecha.ktr, 04_hechos_ventas.ktr, 05_kpi_ventas.ktr).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Validación: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1 error y 0 advertencias.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Conexiones y parámetros: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1 conexión y 0 parámetros.</a:t>
            </a:r>
            <a:endParaRPr sz="1400" lang="es-ES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Flujo del job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9902BDA6-C4DC-4097-9FEB-61C37883B39E}" type="slidenum">
              <a:rPr lang="es-ES" sz="750">
                <a:solidFill>
                  <a:srgbClr val="6B7785"/>
                </a:solidFill>
                <a:latin typeface="Segoe UI"/>
              </a:rPr>
              <a:t>5</a:t>
            </a:fld>
            <a:endParaRPr sz="750" lang="es-ES"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1016000"/>
            <a:ext cx="11176000" cy="29972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>
            <a:off x="508000" y="4064000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Verde: si termina bien; rojo punteado: si falla; negro: siempre; las que terminan en x están deshabilitadas.</a:t>
            </a:r>
            <a:endParaRPr sz="950" lang="es-ES"/>
          </a:p>
        </p:txBody>
      </p:sp>
      <p:sp>
        <p:nvSpPr>
          <p:cNvPr name="TextBox 10" id="10"/>
          <p:cNvSpPr txBox="true"/>
          <p:nvPr/>
        </p:nvSpPr>
        <p:spPr>
          <a:xfrm>
            <a:off x="508000" y="4426458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Entradas del job</a:t>
            </a:r>
            <a:endParaRPr sz="1300" lang="es-ES"/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508000" y="4705858"/>
          <a:ext cx="9448800" cy="1194816"/>
        </p:xfrm>
        <a:graphic>
          <a:graphicData uri="http://schemas.openxmlformats.org/drawingml/2006/table">
            <a:tbl>
              <a:tblPr/>
              <a:tblGrid>
                <a:gridCol w="406400"/>
                <a:gridCol w="2400300"/>
                <a:gridCol w="27813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START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Inicio (SPECIAL)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Inicio del job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Comprobar ficheros de 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Los archivos existen (FILES_EXIST)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Los archivos existen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carpeta salida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carpeta (CREATE_FOLDER)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carpeta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Flujo del job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A83A0C94-F6B3-4FA5-B59D-0BA7C35BA258}" type="slidenum">
              <a:rPr lang="es-ES" sz="750">
                <a:solidFill>
                  <a:srgbClr val="6B7785"/>
                </a:solidFill>
                <a:latin typeface="Segoe UI"/>
              </a:rPr>
              <a:t>6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Entradas del job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448800" cy="3566160"/>
        </p:xfrm>
        <a:graphic>
          <a:graphicData uri="http://schemas.openxmlformats.org/drawingml/2006/table">
            <a:tbl>
              <a:tblPr/>
              <a:tblGrid>
                <a:gridCol w="406400"/>
                <a:gridCol w="2400300"/>
                <a:gridCol w="27813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851916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modelo estrella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SQL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Conexión: dw_grano_de_oro; SQL: DROP TABLE IF EXISTS hechos_ventas; DROP TABLE IF EXISTS kpi_ventas_tienda_categoria; DROP TABLE IF EXISTS kpi_ticket_medio_tienda; DROP TABLE IF EXISTS dim_...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 (TRANS)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Ejecuta la transformación: ${Internal.Entry.Current.Directory}/01_dim_tienda.ktr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 (TRANS)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Ejecuta la transformación: ${Internal.Entry.Current.Directory}/02_dim_producto.ktr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7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 (TRANS)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Ejecuta la transformación: ${Internal.Entry.Current.Directory}/03_dim_fecha.ktr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8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hechos_ventas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 (TRANS)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Ejecuta la transformación: ${Internal.Entry.Current.Directory}/04_hechos_ventas.ktr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KPI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 (TRANS)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Ejecuta la transformación: ${Internal.Entry.Current.Directory}/05_kpi_ventas.ktr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Flujo del job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095E69B8-FB87-47B5-A275-D98E227303DF}" type="slidenum">
              <a:rPr lang="es-ES" sz="750">
                <a:solidFill>
                  <a:srgbClr val="6B7785"/>
                </a:solidFill>
                <a:latin typeface="Segoe UI"/>
              </a:rPr>
              <a:t>7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Entradas del job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448800" cy="2301240"/>
        </p:xfrm>
        <a:graphic>
          <a:graphicData uri="http://schemas.openxmlformats.org/drawingml/2006/table">
            <a:tbl>
              <a:tblPr/>
              <a:tblGrid>
                <a:gridCol w="406400"/>
                <a:gridCol w="2400300"/>
                <a:gridCol w="27813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 correcta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Éxito (SUCCESS)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 el job con éxito.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1916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Registrar el error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Escribir en el log (WRITE_TO_LOG)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Escribe en el log: «La carga del almacén de Grano de Oro ha fallado: la entrada que ha fallado es la última que aparece como «Starting entry» antes de este mensaje.»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851916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12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Abortar la carga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Abortar el job (ABORT)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Aborta el job: termina con error y el mensaje «Carga abortada: el almacén puede haber quedado a medias. Corrige el error y vuelve a lanzar el job.».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372364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Qué ejecuta</a:t>
            </a:r>
            <a:endParaRPr sz="1300" lang="es-ES"/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508000" y="4003040"/>
          <a:ext cx="5384800" cy="1792224"/>
        </p:xfrm>
        <a:graphic>
          <a:graphicData uri="http://schemas.openxmlformats.org/drawingml/2006/table">
            <a:tbl>
              <a:tblPr/>
              <a:tblGrid>
                <a:gridCol w="1714500"/>
                <a:gridCol w="1244600"/>
                <a:gridCol w="1714500"/>
                <a:gridCol w="7112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Archivo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Existe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01_dim_tienda.ktr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sí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02_dim_producto.ktr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sí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03_dim_fecha.ktr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sí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hechos_ventas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04_hechos_ventas.ktr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sí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KPI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Transformación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05_kpi_ventas.ktr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sí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90A5F638-E7E4-4F32-A3B6-5B6684B0A5ED}" type="slidenum">
              <a:rPr lang="es-ES" sz="750">
                <a:solidFill>
                  <a:srgbClr val="6B7785"/>
                </a:solidFill>
                <a:latin typeface="Segoe UI"/>
              </a:rPr>
              <a:t>8</a:t>
            </a:fld>
            <a:endParaRPr sz="750" lang="es-ES"/>
          </a:p>
        </p:txBody>
      </p:sp>
      <p:sp>
        <p:nvSpPr>
          <p:cNvPr name="AutoShape 8" id="8"/>
          <p:cNvSpPr/>
          <p:nvPr/>
        </p:nvSpPr>
        <p:spPr>
          <a:xfrm>
            <a:off x="5080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9" id="9"/>
          <p:cNvSpPr/>
          <p:nvPr/>
        </p:nvSpPr>
        <p:spPr>
          <a:xfrm>
            <a:off x="508000" y="11176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0" id="10"/>
          <p:cNvSpPr txBox="true"/>
          <p:nvPr/>
        </p:nvSpPr>
        <p:spPr>
          <a:xfrm>
            <a:off x="6858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Duración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3,4 s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última ejecución en Spoon</a:t>
            </a:r>
            <a:endParaRPr sz="900" lang="es-ES"/>
          </a:p>
        </p:txBody>
      </p:sp>
      <p:sp>
        <p:nvSpPr>
          <p:cNvPr name="AutoShape 11" id="11"/>
          <p:cNvSpPr/>
          <p:nvPr/>
        </p:nvSpPr>
        <p:spPr>
          <a:xfrm>
            <a:off x="39624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3962400" y="1117600"/>
            <a:ext cx="38100" cy="762000"/>
          </a:xfrm>
          <a:prstGeom prst="rect">
            <a:avLst/>
          </a:prstGeom>
          <a:solidFill>
            <a:srgbClr val="2F855A"/>
          </a:solidFill>
          <a:ln>
            <a:noFill/>
          </a:ln>
        </p:spPr>
      </p:sp>
      <p:sp>
        <p:nvSpPr>
          <p:cNvPr name="TextBox 13" id="13"/>
          <p:cNvSpPr txBox="true"/>
          <p:nvPr/>
        </p:nvSpPr>
        <p:spPr>
          <a:xfrm>
            <a:off x="41402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Resultado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2F855A"/>
                </a:solidFill>
                <a:latin typeface="Segoe UI"/>
              </a:rPr>
              <a:t>Bien</a:t>
            </a:r>
            <a:endParaRPr sz="2200" lang="es-ES"/>
          </a:p>
        </p:txBody>
      </p:sp>
      <p:sp>
        <p:nvSpPr>
          <p:cNvPr name="AutoShape 14" id="14"/>
          <p:cNvSpPr/>
          <p:nvPr/>
        </p:nvSpPr>
        <p:spPr>
          <a:xfrm>
            <a:off x="74168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5" id="15"/>
          <p:cNvSpPr/>
          <p:nvPr/>
        </p:nvSpPr>
        <p:spPr>
          <a:xfrm>
            <a:off x="7416800" y="11176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6" id="16"/>
          <p:cNvSpPr txBox="true"/>
          <p:nvPr/>
        </p:nvSpPr>
        <p:spPr>
          <a:xfrm>
            <a:off x="75946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Entradas ejecutadas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10</a:t>
            </a:r>
            <a:endParaRPr sz="2200" lang="es-ES"/>
          </a:p>
        </p:txBody>
      </p:sp>
      <p:sp>
        <p:nvSpPr>
          <p:cNvPr name="AutoShape 17" id="17"/>
          <p:cNvSpPr/>
          <p:nvPr/>
        </p:nvSpPr>
        <p:spPr>
          <a:xfrm>
            <a:off x="508000" y="21082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8" id="18"/>
          <p:cNvSpPr/>
          <p:nvPr/>
        </p:nvSpPr>
        <p:spPr>
          <a:xfrm>
            <a:off x="508000" y="2209800"/>
            <a:ext cx="38100" cy="762000"/>
          </a:xfrm>
          <a:prstGeom prst="rect">
            <a:avLst/>
          </a:prstGeom>
          <a:solidFill>
            <a:srgbClr val="2F855A"/>
          </a:solidFill>
          <a:ln>
            <a:noFill/>
          </a:ln>
        </p:spPr>
      </p:sp>
      <p:sp>
        <p:nvSpPr>
          <p:cNvPr name="TextBox 19" id="19"/>
          <p:cNvSpPr txBox="true"/>
          <p:nvPr/>
        </p:nvSpPr>
        <p:spPr>
          <a:xfrm>
            <a:off x="685800" y="21844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Errores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2F855A"/>
                </a:solidFill>
                <a:latin typeface="Segoe UI"/>
              </a:rPr>
              <a:t>0</a:t>
            </a:r>
            <a:endParaRPr sz="2200" lang="es-ES"/>
          </a:p>
        </p:txBody>
      </p:sp>
      <p:sp>
        <p:nvSpPr>
          <p:cNvPr name="AutoShape 20" id="20"/>
          <p:cNvSpPr/>
          <p:nvPr/>
        </p:nvSpPr>
        <p:spPr>
          <a:xfrm>
            <a:off x="3962400" y="21082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1" id="21"/>
          <p:cNvSpPr/>
          <p:nvPr/>
        </p:nvSpPr>
        <p:spPr>
          <a:xfrm>
            <a:off x="3962400" y="22098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2" id="22"/>
          <p:cNvSpPr txBox="true"/>
          <p:nvPr/>
        </p:nvSpPr>
        <p:spPr>
          <a:xfrm>
            <a:off x="4140200" y="21844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Entrada más lenta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Cargar dim_producto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1,0 s</a:t>
            </a:r>
            <a:endParaRPr sz="900" lang="es-ES"/>
          </a:p>
        </p:txBody>
      </p:sp>
      <p:sp>
        <p:nvSpPr>
          <p:cNvPr name="AutoShape 23" id="23"/>
          <p:cNvSpPr/>
          <p:nvPr/>
        </p:nvSpPr>
        <p:spPr>
          <a:xfrm>
            <a:off x="508000" y="3200400"/>
            <a:ext cx="38100" cy="344932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sp>
        <p:nvSpPr>
          <p:cNvPr name="TextBox 24" id="24"/>
          <p:cNvSpPr txBox="true"/>
          <p:nvPr/>
        </p:nvSpPr>
        <p:spPr>
          <a:xfrm>
            <a:off x="660400" y="3200400"/>
            <a:ext cx="11023600" cy="344932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300" b="false" i="true">
                <a:solidFill>
                  <a:srgbClr val="243B53"/>
                </a:solidFill>
                <a:latin typeface="Segoe UI"/>
              </a:rPr>
              <a:t>Las filas de las transformaciones que ejecuta un job solo se conocen al medirlo (Medir…).</a:t>
            </a:r>
            <a:endParaRPr sz="1300" lang="es-ES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8937C109-64D8-431F-9C3C-562F3F2B06AD}" type="slidenum">
              <a:rPr lang="es-ES" sz="750">
                <a:solidFill>
                  <a:srgbClr val="6B7785"/>
                </a:solidFill>
                <a:latin typeface="Segoe UI"/>
              </a:rPr>
              <a:t>9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Línea de tiempo de las entradas</a:t>
            </a:r>
            <a:endParaRPr sz="1300" lang="es-ES"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8000" y="1295400"/>
            <a:ext cx="11176000" cy="34925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>
            <a:off x="508000" y="4838700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Las filas anidadas (↳) son del sub-job o de la sub-transformación de arriba.</a:t>
            </a:r>
            <a:endParaRPr sz="950" lang="es-ES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CA3C9DAF-EDA8-4E66-B71F-999AD9FBBF5F}" type="slidenum">
              <a:rPr lang="es-ES" sz="750">
                <a:solidFill>
                  <a:srgbClr val="6B7785"/>
                </a:solidFill>
                <a:latin typeface="Segoe UI"/>
              </a:rPr>
              <a:t>10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Entradas del job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8026400" cy="3285744"/>
        </p:xfrm>
        <a:graphic>
          <a:graphicData uri="http://schemas.openxmlformats.org/drawingml/2006/table">
            <a:tbl>
              <a:tblPr/>
              <a:tblGrid>
                <a:gridCol w="2400300"/>
                <a:gridCol w="1092200"/>
                <a:gridCol w="711200"/>
                <a:gridCol w="863600"/>
                <a:gridCol w="939800"/>
                <a:gridCol w="20193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Job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Inicio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Duración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Llegó por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START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+23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el inicio del job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Comprobar ficheros de 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+30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incondicional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carpeta salida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+36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modelo estrella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+38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552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+592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327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+920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1,0 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dim_fecha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+2,0 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461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hechos_ventas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+2,4 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833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KPI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+3,3 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142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 correcta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job_carga_dw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+3,4 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ms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un hop «si termina bien»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Validación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44529BD9-8FDD-434B-8266-B475D871B357}" type="slidenum">
              <a:rPr lang="es-ES" sz="750">
                <a:solidFill>
                  <a:srgbClr val="6B7785"/>
                </a:solidFill>
                <a:latin typeface="Segoe UI"/>
              </a:rPr>
              <a:t>11</a:t>
            </a:fld>
            <a:endParaRPr sz="750" lang="es-ES"/>
          </a:p>
        </p:txBody>
      </p:sp>
      <p:sp>
        <p:nvSpPr>
          <p:cNvPr name="AutoShape 8" id="8"/>
          <p:cNvSpPr/>
          <p:nvPr/>
        </p:nvSpPr>
        <p:spPr>
          <a:xfrm>
            <a:off x="5080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9" id="9"/>
          <p:cNvSpPr/>
          <p:nvPr/>
        </p:nvSpPr>
        <p:spPr>
          <a:xfrm>
            <a:off x="508000" y="1117600"/>
            <a:ext cx="38100" cy="762000"/>
          </a:xfrm>
          <a:prstGeom prst="rect">
            <a:avLst/>
          </a:prstGeom>
          <a:solidFill>
            <a:srgbClr val="C53030"/>
          </a:solidFill>
          <a:ln>
            <a:noFill/>
          </a:ln>
        </p:spPr>
      </p:sp>
      <p:sp>
        <p:nvSpPr>
          <p:cNvPr name="TextBox 10" id="10"/>
          <p:cNvSpPr txBox="true"/>
          <p:nvPr/>
        </p:nvSpPr>
        <p:spPr>
          <a:xfrm>
            <a:off x="6858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Errores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C53030"/>
                </a:solidFill>
                <a:latin typeface="Segoe UI"/>
              </a:rPr>
              <a:t>1</a:t>
            </a:r>
            <a:endParaRPr sz="2200" lang="es-ES"/>
          </a:p>
        </p:txBody>
      </p:sp>
      <p:sp>
        <p:nvSpPr>
          <p:cNvPr name="AutoShape 11" id="11"/>
          <p:cNvSpPr/>
          <p:nvPr/>
        </p:nvSpPr>
        <p:spPr>
          <a:xfrm>
            <a:off x="39624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3962400" y="1117600"/>
            <a:ext cx="38100" cy="762000"/>
          </a:xfrm>
          <a:prstGeom prst="rect">
            <a:avLst/>
          </a:prstGeom>
          <a:solidFill>
            <a:srgbClr val="2F855A"/>
          </a:solidFill>
          <a:ln>
            <a:noFill/>
          </a:ln>
        </p:spPr>
      </p:sp>
      <p:sp>
        <p:nvSpPr>
          <p:cNvPr name="TextBox 13" id="13"/>
          <p:cNvSpPr txBox="true"/>
          <p:nvPr/>
        </p:nvSpPr>
        <p:spPr>
          <a:xfrm>
            <a:off x="41402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Advertencias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2F855A"/>
                </a:solidFill>
                <a:latin typeface="Segoe UI"/>
              </a:rPr>
              <a:t>0</a:t>
            </a:r>
            <a:endParaRPr sz="2200" lang="es-ES"/>
          </a:p>
        </p:txBody>
      </p:sp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508000" y="2108200"/>
          <a:ext cx="4368800" cy="597408"/>
        </p:xfrm>
        <a:graphic>
          <a:graphicData uri="http://schemas.openxmlformats.org/drawingml/2006/table">
            <a:tbl>
              <a:tblPr/>
              <a:tblGrid>
                <a:gridCol w="1714500"/>
                <a:gridCol w="635000"/>
                <a:gridCol w="20193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Step / 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Nivel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Mensaje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carpeta salida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Error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filename cannot be null.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5" id="15"/>
          <p:cNvSpPr txBox="true"/>
          <p:nvPr/>
        </p:nvSpPr>
        <p:spPr>
          <a:xfrm>
            <a:off x="508000" y="2756408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Los mensajes de Kettle salen en el idioma de Spoon; los chequeos de Pentaho Live, en el del informe.</a:t>
            </a:r>
            <a:endParaRPr sz="950" lang="es-ES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Conexiones y parámetros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2F8613A4-CD8D-41A3-8A96-74B711B2C4E5}" type="slidenum">
              <a:rPr lang="es-ES" sz="750">
                <a:solidFill>
                  <a:srgbClr val="6B7785"/>
                </a:solidFill>
                <a:latin typeface="Segoe UI"/>
              </a:rPr>
              <a:t>12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Conexiones a bases de datos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8877300" cy="781812"/>
        </p:xfrm>
        <a:graphic>
          <a:graphicData uri="http://schemas.openxmlformats.org/drawingml/2006/table">
            <a:tbl>
              <a:tblPr/>
              <a:tblGrid>
                <a:gridCol w="1320800"/>
                <a:gridCol w="635000"/>
                <a:gridCol w="711200"/>
                <a:gridCol w="558800"/>
                <a:gridCol w="3860800"/>
                <a:gridCol w="17907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Nombre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Acceso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Host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Base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Usada por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dw_grano_de_oro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SQLite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Native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${Internal.Entry.Current.Directory}/../salida/grano_de_oro_dw.sqlite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modelo estrella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2128012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Nunca se incluyen contraseñas.</a:t>
            </a:r>
            <a:endParaRPr sz="950"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terms="http://purl.org/dc/terms/" xmlns:dc="http://purl.org/dc/elements/1.1/" xmlns:xsi="http://www.w3.org/2001/XMLSchema-instance">
  <dcterms:created xsi:type="dcterms:W3CDTF">2006-08-16T00:00:00Z</dcterms:created>
  <dc:creator>Iván Castaño</dc:creator>
  <dc:description>Informe del job job_carga_dw</dc:description>
  <dc:language>es-ES</dc:language>
  <dcterms:modified xsi:type="dcterms:W3CDTF">2011-08-01T06:04:30Z</dcterms:modified>
  <cp:revision>1</cp:revision>
  <dc:title>Job de carga del modelo estrella · Grano de Oro</dc:title>
</cp:coreProperties>
</file>