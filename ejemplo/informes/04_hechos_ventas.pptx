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6"/>
    <p:sldId id="257" r:id="rId10"/>
    <p:sldId id="258" r:id="rId11"/>
    <p:sldId id="259" r:id="rId12"/>
    <p:sldId id="260" r:id="rId14"/>
    <p:sldId id="261" r:id="rId15"/>
    <p:sldId id="262" r:id="rId16"/>
    <p:sldId id="263" r:id="rId18"/>
    <p:sldId id="264" r:id="rId19"/>
    <p:sldId id="265" r:id="rId20"/>
    <p:sldId id="266" r:id="rId21"/>
    <p:sldId id="267" r:id="rId22"/>
    <p:sldId id="268" r:id="rId23"/>
    <p:sldId id="269" r:id="rId24"/>
    <p:sldId id="270" r:id="rId26"/>
    <p:sldId id="271" r:id="rId27"/>
    <p:sldId id="272" r:id="rId29"/>
    <p:sldId id="273" r:id="rId30"/>
    <p:sldId id="274" r:id="rId32"/>
    <p:sldId id="275" r:id="rId33"/>
    <p:sldId id="276" r:id="rId35"/>
    <p:sldId id="277" r:id="rId36"/>
    <p:sldId id="278" r:id="rId37"/>
    <p:sldId id="279" r:id="rId38"/>
    <p:sldId id="280" r:id="rId39"/>
    <p:sldId id="281" r:id="rId41"/>
    <p:sldId id="282" r:id="rId43"/>
    <p:sldId id="283"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notesSlides/notesSlide2.xml" Type="http://schemas.openxmlformats.org/officeDocument/2006/relationships/notesSlide"/><Relationship Id="rId14" Target="slides/slide5.xml" Type="http://schemas.openxmlformats.org/officeDocument/2006/relationships/slide"/><Relationship Id="rId15" Target="slides/slide6.xml" Type="http://schemas.openxmlformats.org/officeDocument/2006/relationships/slide"/><Relationship Id="rId16" Target="slides/slide7.xml" Type="http://schemas.openxmlformats.org/officeDocument/2006/relationships/slide"/><Relationship Id="rId17" Target="notesSlides/notesSlide3.xml" Type="http://schemas.openxmlformats.org/officeDocument/2006/relationships/notesSlide"/><Relationship Id="rId18" Target="slides/slide8.xml" Type="http://schemas.openxmlformats.org/officeDocument/2006/relationships/slide"/><Relationship Id="rId19" Target="slides/slide9.xml" Type="http://schemas.openxmlformats.org/officeDocument/2006/relationships/slide"/><Relationship Id="rId2" Target="presProps.xml" Type="http://schemas.openxmlformats.org/officeDocument/2006/relationships/presProps"/><Relationship Id="rId20" Target="slides/slide10.xml" Type="http://schemas.openxmlformats.org/officeDocument/2006/relationships/slide"/><Relationship Id="rId21" Target="slides/slide11.xml" Type="http://schemas.openxmlformats.org/officeDocument/2006/relationships/slide"/><Relationship Id="rId22" Target="slides/slide12.xml" Type="http://schemas.openxmlformats.org/officeDocument/2006/relationships/slide"/><Relationship Id="rId23" Target="slides/slide13.xml" Type="http://schemas.openxmlformats.org/officeDocument/2006/relationships/slide"/><Relationship Id="rId24" Target="slides/slide14.xml" Type="http://schemas.openxmlformats.org/officeDocument/2006/relationships/slide"/><Relationship Id="rId25" Target="notesSlides/notesSlide4.xml" Type="http://schemas.openxmlformats.org/officeDocument/2006/relationships/notesSlide"/><Relationship Id="rId26" Target="slides/slide15.xml" Type="http://schemas.openxmlformats.org/officeDocument/2006/relationships/slide"/><Relationship Id="rId27" Target="slides/slide16.xml" Type="http://schemas.openxmlformats.org/officeDocument/2006/relationships/slide"/><Relationship Id="rId28" Target="notesSlides/notesSlide5.xml" Type="http://schemas.openxmlformats.org/officeDocument/2006/relationships/notesSlide"/><Relationship Id="rId29" Target="slides/slide17.xml" Type="http://schemas.openxmlformats.org/officeDocument/2006/relationships/slide"/><Relationship Id="rId3" Target="viewProps.xml" Type="http://schemas.openxmlformats.org/officeDocument/2006/relationships/viewProps"/><Relationship Id="rId30" Target="slides/slide18.xml" Type="http://schemas.openxmlformats.org/officeDocument/2006/relationships/slide"/><Relationship Id="rId31" Target="notesSlides/notesSlide6.xml" Type="http://schemas.openxmlformats.org/officeDocument/2006/relationships/notesSlide"/><Relationship Id="rId32" Target="slides/slide19.xml" Type="http://schemas.openxmlformats.org/officeDocument/2006/relationships/slide"/><Relationship Id="rId33" Target="slides/slide20.xml" Type="http://schemas.openxmlformats.org/officeDocument/2006/relationships/slide"/><Relationship Id="rId34" Target="notesSlides/notesSlide7.xml" Type="http://schemas.openxmlformats.org/officeDocument/2006/relationships/notesSlide"/><Relationship Id="rId35" Target="slides/slide21.xml" Type="http://schemas.openxmlformats.org/officeDocument/2006/relationships/slide"/><Relationship Id="rId36" Target="slides/slide22.xml" Type="http://schemas.openxmlformats.org/officeDocument/2006/relationships/slide"/><Relationship Id="rId37" Target="slides/slide23.xml" Type="http://schemas.openxmlformats.org/officeDocument/2006/relationships/slide"/><Relationship Id="rId38" Target="slides/slide24.xml" Type="http://schemas.openxmlformats.org/officeDocument/2006/relationships/slide"/><Relationship Id="rId39" Target="slides/slide25.xml" Type="http://schemas.openxmlformats.org/officeDocument/2006/relationships/slide"/><Relationship Id="rId4" Target="theme/theme1.xml" Type="http://schemas.openxmlformats.org/officeDocument/2006/relationships/theme"/><Relationship Id="rId40" Target="notesSlides/notesSlide8.xml" Type="http://schemas.openxmlformats.org/officeDocument/2006/relationships/notesSlide"/><Relationship Id="rId41" Target="slides/slide26.xml" Type="http://schemas.openxmlformats.org/officeDocument/2006/relationships/slide"/><Relationship Id="rId42" Target="notesSlides/notesSlide9.xml" Type="http://schemas.openxmlformats.org/officeDocument/2006/relationships/notesSlide"/><Relationship Id="rId43" Target="slides/slide27.xml" Type="http://schemas.openxmlformats.org/officeDocument/2006/relationships/slide"/><Relationship Id="rId44" Target="notesSlides/notesSlide10.xml" Type="http://schemas.openxmlformats.org/officeDocument/2006/relationships/notesSlide"/><Relationship Id="rId45" Target="slides/slide28.xml" Type="http://schemas.openxmlformats.org/officeDocument/2006/relationships/slide"/><Relationship Id="rId46" Target="notesSlides/notesSlide11.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notesMasters/notesMaster1.xml" Type="http://schemas.openxmlformats.org/officeDocument/2006/relationships/notesMaster"/><Relationship Id="rId8" Target="theme/theme2.xml" Type="http://schemas.openxmlformats.org/officeDocument/2006/relationships/theme"/><Relationship Id="rId9" Target="notesSlides/notesSlide1.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notesSlide1.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es-ES"/>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s-ES" sz="1200"/>
              <a:t>Transformación 04_hechos_ventas.</a:t>
            </a:r>
          </a:p>
        </p:txBody>
      </p:sp>
    </p:spTree>
  </p:cSld>
</p:notes>
</file>

<file path=ppt/notesSlides/notesSlide2.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es-ES"/>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s-ES" sz="1200"/>
              <a:t>Lee 1 archivo (ventas_2026_09.csv), calcula, selecciona campos, ordena, quita duplicados, busca valores, agrega constantes, filtra y separa las filas con error, escribe 1 archivo (rechazos_ventas.csv), y escribe en 1 tabla (hechos_ventas). 16 steps y 16 hops.</a:t>
            </a:r>
          </a:p>
          <a:p>
            <a:r>
              <a:rPr lang="es-ES" sz="1200"/>
              <a:t/>
            </a:r>
          </a:p>
          <a:p>
            <a:r>
              <a:rPr lang="es-ES" sz="1200"/>
              <a:t>Esta transformación carga la tabla de hechos del modelo estrella de Grano de Oro a partir del fichero de ventas de septiembre de 2026. En la última ejecución leyó 3.000 líneas: 60 eran duplicados exactos, que salen por el hop de error de «Eliminar duplicados» y reciben el motivo DUPLICADO en «Marcar duplicado»; 55 no superaron las reglas de «¿Línea válida?», y las 2.885 restantes se cargaron en `hechos_ventas`. Las 115 líneas descartadas quedan en `rechazos_ventas.csv` con su motivo, de modo que 2.885 + 115 = 3.000: no se pierde ninguna línea.</a:t>
            </a:r>
          </a:p>
        </p:txBody>
      </p:sp>
    </p:spTree>
  </p:cSld>
</p:notes>
</file>

<file path=ppt/notesSlides/notesSlide3.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es-ES"/>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s-ES" sz="1200"/>
              <a:t>16 steps y 16 hops. Tiene 1 hop de error.</a:t>
            </a:r>
          </a:p>
        </p:txBody>
      </p:sp>
    </p:spTree>
  </p:cSld>
</p:notes>
</file>

<file path=ppt/notesSlides/notesSlide4.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es-ES"/>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s-ES" sz="1200"/>
              <a:t>Traza 22 campos de 2 steps destino hasta «Leer ventas (CSV)» (ventas_2026_09.csv). Operaciones: 6 cálculos, 1 conversión de tipo o formato y 5 campos creados en la transformación.</a:t>
            </a:r>
          </a:p>
          <a:p>
            <a:r>
              <a:rPr lang="es-ES" sz="1200"/>
              <a:t/>
            </a:r>
          </a:p>
          <a:p>
            <a:r>
              <a:rPr lang="es-ES" sz="1200"/>
              <a:t>Detalle de consulta en el informe completo (HTML, PDF o Word): «Campos de «Cargar hechos_ventas»», «Campos de «Escribir rechazos»».</a:t>
            </a:r>
          </a:p>
        </p:txBody>
      </p:sp>
    </p:spTree>
  </p:cSld>
</p:notes>
</file>

<file path=ppt/notesSlides/notesSlide5.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es-ES"/>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s-ES" sz="1200"/>
              <a:t>2 salidas finales con 18 campos en total.</a:t>
            </a:r>
          </a:p>
          <a:p>
            <a:r>
              <a:rPr lang="es-ES" sz="1200"/>
              <a:t/>
            </a:r>
          </a:p>
          <a:p>
            <a:r>
              <a:rPr lang="es-ES" sz="1200"/>
              <a:t>Detalle de consulta en el informe completo (HTML, PDF o Word): «Leer ventas (CSV)», «Estandarizar textos», «Normalizar fecha y precio» … (14).</a:t>
            </a:r>
          </a:p>
        </p:txBody>
      </p:sp>
    </p:spTree>
  </p:cSld>
</p:notes>
</file>

<file path=ppt/notesSlides/notesSlide6.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es-ES"/>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s-ES" sz="1200"/>
              <a:t>Escribe en 1 tabla (hechos_ventas) por la conexión dw_grano_de_oro: 9 columnas. Las claves y los tipos salen de los steps, sin consultar la base.</a:t>
            </a:r>
          </a:p>
        </p:txBody>
      </p:sp>
    </p:spTree>
  </p:cSld>
</p:notes>
</file>

<file path=ppt/notesSlides/notesSlide7.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es-ES"/>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s-ES" sz="1200"/>
              <a:t>Perfil de «Convertir precio a número» sobre todas sus 3.000 filas: 8 campos. El campo con más nulos es «id_tienda» (0,5 %).</a:t>
            </a:r>
          </a:p>
          <a:p>
            <a:r>
              <a:rPr lang="es-ES" sz="1200"/>
              <a:t/>
            </a:r>
          </a:p>
          <a:p>
            <a:r>
              <a:rPr lang="es-ES" sz="1200"/>
              <a:t>Detalle de consulta en el informe completo (HTML, PDF o Word): «Campos numéricos», «Valores más frecuentes».</a:t>
            </a:r>
          </a:p>
        </p:txBody>
      </p:sp>
    </p:spTree>
  </p:cSld>
</p:notes>
</file>

<file path=ppt/notesSlides/notesSlide8.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es-ES"/>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s-ES" sz="1200"/>
              <a:t>La última ejecución procesó 3.000 filas en 292 ms. El step más lento fue «Cargar hechos_ventas» (206 ms).</a:t>
            </a:r>
          </a:p>
        </p:txBody>
      </p:sp>
    </p:spTree>
  </p:cSld>
</p:notes>
</file>

<file path=ppt/notesSlides/notesSlide9.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es-ES"/>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s-ES" sz="1200"/>
              <a:t>Sin errores ni advertencias.</a:t>
            </a:r>
          </a:p>
        </p:txBody>
      </p:sp>
    </p:spTree>
  </p:cSld>
</p:notes>
</file>

<file path=ppt/notesSlides/notesSlide10.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es-ES"/>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s-ES" sz="1200"/>
              <a:t>1 conexión y 0 parámetros.</a:t>
            </a:r>
          </a:p>
        </p:txBody>
      </p:sp>
    </p:spTree>
  </p:cSld>
</p:notes>
</file>

<file path=ppt/notesSlides/notesSlide11.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es-ES"/>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s-ES" sz="1200"/>
              <a:t>- La carga es completa y trazable: cada línea del fichero termina en `hechos_ventas` o en el fichero de rechazos, con el motivo.</a:t>
            </a:r>
          </a:p>
          <a:p>
            <a:r>
              <a:rPr lang="es-ES" sz="1200"/>
              <a:t>- La validación de Spoon no encuentra errores ni advertencias.</a:t>
            </a:r>
          </a:p>
          <a:p>
            <a:r>
              <a:rPr lang="es-ES" sz="1200"/>
              <a:t>- El paso más lento es la escritura en SQLite («Cargar hechos_ventas»), lo esperable en una carga de este tamaño.</a:t>
            </a:r>
          </a:p>
        </p:txBody>
      </p:sp>
    </p:spTree>
  </p:cSld>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0"/>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2.pn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 Id="rId4" Target="../notesSlides/notesSlide2.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notesSlides/notesSlide3.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 Id="rId4" Target="../notesSlides/notesSlide4.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 Id="rId4" Target="../notesSlides/notesSlide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 Id="rId4" Target="../media/image17.png" Type="http://schemas.openxmlformats.org/officeDocument/2006/relationships/image"/><Relationship Id="rId5" Target="../notesSlides/notesSlide6.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 Id="rId4" Target="../notesSlides/notesSlide7.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 Id="rId4" Target="../media/image19.png" Type="http://schemas.openxmlformats.org/officeDocument/2006/relationships/image"/><Relationship Id="rId5" Target="../media/image18.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 Id="rId4" Target="../notesSlides/notesSlide8.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 Id="rId4" Target="../media/image21.png" Type="http://schemas.openxmlformats.org/officeDocument/2006/relationships/image"/><Relationship Id="rId5" Target="../media/image20.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 Id="rId4" Target="../media/image23.png" Type="http://schemas.openxmlformats.org/officeDocument/2006/relationships/image"/><Relationship Id="rId5" Target="../media/image22.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 Id="rId4" Target="../notesSlides/notesSlide9.xml" Type="http://schemas.openxmlformats.org/officeDocument/2006/relationships/notesSlide"/></Relationships>
</file>

<file path=ppt/slides/_rels/slide27.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 Id="rId4" Target="../notesSlides/notesSlide10.xml" Type="http://schemas.openxmlformats.org/officeDocument/2006/relationships/notesSlide"/></Relationships>
</file>

<file path=ppt/slides/_rels/slide28.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 Id="rId4" Target="../notesSlides/notesSlide11.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192000" cy="2489200"/>
          </a:xfrm>
          <a:solidFill>
            <a:srgbClr val="243B53"/>
          </a:solidFill>
        </p:spPr>
        <p:txBody>
          <a:bodyPr lIns="762000" rIns="762000" wrap="square" anchor="b" tIns="76200" bIns="76200"/>
          <a:lstStyle/>
          <a:p>
            <a:pPr algn="l"/>
            <a:r>
              <a:rPr lang="es-ES" sz="3600" b="true" i="false">
                <a:solidFill>
                  <a:srgbClr val="FFFFFF"/>
                </a:solidFill>
                <a:latin typeface="Segoe UI"/>
              </a:rPr>
              <a:t>Carga de hechos de ventas · Grano de Oro</a:t>
            </a:r>
            <a:endParaRPr sz="3600" lang="es-ES"/>
          </a:p>
        </p:txBody>
      </p:sp>
      <p:sp>
        <p:nvSpPr>
          <p:cNvPr id="3" name="Subtitle 2"/>
          <p:cNvSpPr>
            <a:spLocks noGrp="1"/>
          </p:cNvSpPr>
          <p:nvPr>
            <p:ph type="subTitle" idx="1"/>
          </p:nvPr>
        </p:nvSpPr>
        <p:spPr>
          <a:xfrm>
            <a:off x="0" y="2476500"/>
            <a:ext cx="12192000" cy="698500"/>
          </a:xfrm>
          <a:solidFill>
            <a:srgbClr val="243B53"/>
          </a:solidFill>
        </p:spPr>
        <p:txBody>
          <a:bodyPr lIns="762000" rIns="762000" wrap="square" anchor="t" tIns="76200" bIns="0"/>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lgn="l"/>
            <a:r>
              <a:rPr lang="es-ES" sz="1600" b="false" i="false">
                <a:solidFill>
                  <a:srgbClr val="D8DCE0"/>
                </a:solidFill>
                <a:latin typeface="Segoe UI"/>
              </a:rPr>
              <a:t>Informe de la transformación 04_hechos_ventas</a:t>
            </a:r>
            <a:endParaRPr sz="1600" lang="es-ES"/>
          </a:p>
        </p:txBody>
      </p:sp>
      <p:pic>
        <p:nvPicPr>
          <p:cNvPr name="Picture 4" id="4"/>
          <p:cNvPicPr>
            <a:picLocks noChangeAspect="true"/>
          </p:cNvPicPr>
          <p:nvPr/>
        </p:nvPicPr>
        <p:blipFill>
          <a:blip r:embed="rId2"/>
          <a:stretch>
            <a:fillRect/>
          </a:stretch>
        </p:blipFill>
        <p:spPr>
          <a:xfrm>
            <a:off x="10248900" y="5510084"/>
            <a:ext cx="1435100" cy="814516"/>
          </a:xfrm>
          <a:prstGeom prst="rect">
            <a:avLst/>
          </a:prstGeom>
        </p:spPr>
      </p:pic>
      <p:sp>
        <p:nvSpPr>
          <p:cNvPr name="AutoShape 5" id="5"/>
          <p:cNvSpPr/>
          <p:nvPr/>
        </p:nvSpPr>
        <p:spPr>
          <a:xfrm>
            <a:off x="0" y="3175000"/>
            <a:ext cx="12192000" cy="50800"/>
          </a:xfrm>
          <a:prstGeom prst="rect">
            <a:avLst/>
          </a:prstGeom>
          <a:solidFill>
            <a:srgbClr val="3F74D8"/>
          </a:solidFill>
          <a:ln>
            <a:noFill/>
          </a:ln>
        </p:spPr>
      </p:sp>
      <p:sp>
        <p:nvSpPr>
          <p:cNvPr name="TextBox 6" id="6"/>
          <p:cNvSpPr txBox="true"/>
          <p:nvPr/>
        </p:nvSpPr>
        <p:spPr>
          <a:xfrm>
            <a:off x="762000" y="3530600"/>
            <a:ext cx="7620000" cy="2052320"/>
          </a:xfrm>
          <a:prstGeom prst="rect">
            <a:avLst/>
          </a:prstGeom>
        </p:spPr>
        <p:txBody>
          <a:bodyPr anchor="t" rtlCol="false" wrap="square" lIns="0" rIns="0" tIns="25400" bIns="25400"/>
          <a:lstStyle/>
          <a:p>
            <a:pPr algn="l">
              <a:spcAft>
                <a:spcPts val="400"/>
              </a:spcAft>
            </a:pPr>
            <a:r>
              <a:rPr lang="es-ES" sz="1200" b="false" i="false">
                <a:solidFill>
                  <a:srgbClr val="6B7785"/>
                </a:solidFill>
                <a:latin typeface="Segoe UI"/>
              </a:rPr>
              <a:t>Documento: </a:t>
            </a:r>
            <a:r>
              <a:rPr lang="es-ES" sz="1200" b="false" i="false">
                <a:solidFill>
                  <a:srgbClr val="1F2933"/>
                </a:solidFill>
                <a:latin typeface="Segoe UI"/>
              </a:rPr>
              <a:t>04_hechos_ventas.ktr</a:t>
            </a:r>
            <a:endParaRPr sz="1200" lang="es-ES"/>
          </a:p>
          <a:p>
            <a:pPr algn="l">
              <a:spcAft>
                <a:spcPts val="400"/>
              </a:spcAft>
            </a:pPr>
            <a:r>
              <a:rPr lang="es-ES" sz="1200" b="false" i="false">
                <a:solidFill>
                  <a:srgbClr val="6B7785"/>
                </a:solidFill>
                <a:latin typeface="Segoe UI"/>
              </a:rPr>
              <a:t>Tipo: </a:t>
            </a:r>
            <a:r>
              <a:rPr lang="es-ES" sz="1200" b="false" i="false">
                <a:solidFill>
                  <a:srgbClr val="1F2933"/>
                </a:solidFill>
                <a:latin typeface="Segoe UI"/>
              </a:rPr>
              <a:t>Transformación</a:t>
            </a:r>
            <a:endParaRPr sz="1200" lang="es-ES"/>
          </a:p>
          <a:p>
            <a:pPr algn="l">
              <a:spcAft>
                <a:spcPts val="400"/>
              </a:spcAft>
            </a:pPr>
            <a:r>
              <a:rPr lang="es-ES" sz="1200" b="false" i="false">
                <a:solidFill>
                  <a:srgbClr val="6B7785"/>
                </a:solidFill>
                <a:latin typeface="Segoe UI"/>
              </a:rPr>
              <a:t>Autor: </a:t>
            </a:r>
            <a:r>
              <a:rPr lang="es-ES" sz="1200" b="false" i="false">
                <a:solidFill>
                  <a:srgbClr val="1F2933"/>
                </a:solidFill>
                <a:latin typeface="Segoe UI"/>
              </a:rPr>
              <a:t>Iván Castaño</a:t>
            </a:r>
            <a:endParaRPr sz="1200" lang="es-ES"/>
          </a:p>
          <a:p>
            <a:pPr algn="l">
              <a:spcAft>
                <a:spcPts val="400"/>
              </a:spcAft>
            </a:pPr>
            <a:r>
              <a:rPr lang="es-ES" sz="1200" b="false" i="false">
                <a:solidFill>
                  <a:srgbClr val="6B7785"/>
                </a:solidFill>
                <a:latin typeface="Segoe UI"/>
              </a:rPr>
              <a:t>Institución: </a:t>
            </a:r>
            <a:r>
              <a:rPr lang="es-ES" sz="1200" b="false" i="false">
                <a:solidFill>
                  <a:srgbClr val="1F2933"/>
                </a:solidFill>
                <a:latin typeface="Segoe UI"/>
              </a:rPr>
              <a:t>Universidad Europea de Madrid</a:t>
            </a:r>
            <a:endParaRPr sz="1200" lang="es-ES"/>
          </a:p>
          <a:p>
            <a:pPr algn="l">
              <a:spcAft>
                <a:spcPts val="400"/>
              </a:spcAft>
            </a:pPr>
            <a:r>
              <a:rPr lang="es-ES" sz="1200" b="false" i="false">
                <a:solidFill>
                  <a:srgbClr val="6B7785"/>
                </a:solidFill>
                <a:latin typeface="Segoe UI"/>
              </a:rPr>
              <a:t>Curso: </a:t>
            </a:r>
            <a:r>
              <a:rPr lang="es-ES" sz="1200" b="false" i="false">
                <a:solidFill>
                  <a:srgbClr val="1F2933"/>
                </a:solidFill>
                <a:latin typeface="Segoe UI"/>
              </a:rPr>
              <a:t>Proyecto de Big Data 1 · Práctica de ejemplo</a:t>
            </a:r>
            <a:endParaRPr sz="1200" lang="es-ES"/>
          </a:p>
          <a:p>
            <a:pPr algn="l">
              <a:spcAft>
                <a:spcPts val="400"/>
              </a:spcAft>
            </a:pPr>
            <a:r>
              <a:rPr lang="es-ES" sz="1200" b="false" i="false">
                <a:solidFill>
                  <a:srgbClr val="6B7785"/>
                </a:solidFill>
                <a:latin typeface="Segoe UI"/>
              </a:rPr>
              <a:t>Creado: </a:t>
            </a:r>
            <a:r>
              <a:rPr lang="es-ES" sz="1200" b="false" i="false">
                <a:solidFill>
                  <a:srgbClr val="1F2933"/>
                </a:solidFill>
                <a:latin typeface="Segoe UI"/>
              </a:rPr>
              <a:t>2026-10-20 23:20</a:t>
            </a:r>
            <a:endParaRPr sz="1200" lang="es-ES"/>
          </a:p>
          <a:p>
            <a:pPr algn="l">
              <a:spcAft>
                <a:spcPts val="400"/>
              </a:spcAft>
            </a:pPr>
            <a:r>
              <a:rPr lang="es-ES" sz="1200" b="false" i="false">
                <a:solidFill>
                  <a:srgbClr val="6B7785"/>
                </a:solidFill>
                <a:latin typeface="Segoe UI"/>
              </a:rPr>
              <a:t>Modificado: </a:t>
            </a:r>
            <a:r>
              <a:rPr lang="es-ES" sz="1200" b="false" i="false">
                <a:solidFill>
                  <a:srgbClr val="1F2933"/>
                </a:solidFill>
                <a:latin typeface="Segoe UI"/>
              </a:rPr>
              <a:t>2026-10-20 23:20</a:t>
            </a:r>
            <a:endParaRPr sz="1200" lang="es-ES"/>
          </a:p>
          <a:p>
            <a:pPr algn="l">
              <a:spcAft>
                <a:spcPts val="400"/>
              </a:spcAft>
            </a:pPr>
            <a:r>
              <a:rPr lang="es-ES" sz="1200" b="false" i="false">
                <a:solidFill>
                  <a:srgbClr val="1F2933"/>
                </a:solidFill>
                <a:latin typeface="Segoe UI"/>
              </a:rPr>
              <a:t>Generado el 21 de octubre de 2026, 16:11</a:t>
            </a:r>
            <a:endParaRPr sz="1200" lang="es-ES"/>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203200"/>
            <a:ext cx="11176000" cy="635000"/>
          </a:xfrm>
        </p:spPr>
        <p:txBody>
          <a:bodyPr lIns="0" rIns="0" wrap="square" anchor="ctr"/>
          <a:lstStyle/>
          <a:p>
            <a:pPr algn="l"/>
            <a:r>
              <a:rPr lang="es-ES" sz="2600" b="true" i="false">
                <a:solidFill>
                  <a:srgbClr val="243B53"/>
                </a:solidFill>
                <a:latin typeface="Segoe UI"/>
              </a:rPr>
              <a:t>Contenido</a:t>
            </a:r>
            <a:endParaRPr sz="2600" lang="es-ES"/>
          </a:p>
        </p:txBody>
      </p:sp>
      <p:pic>
        <p:nvPicPr>
          <p:cNvPr name="Picture 3" id="3"/>
          <p:cNvPicPr>
            <a:picLocks noChangeAspect="true"/>
          </p:cNvPicPr>
          <p:nvPr/>
        </p:nvPicPr>
        <p:blipFill>
          <a:blip r:embed="rId2"/>
          <a:stretch>
            <a:fillRect/>
          </a:stretch>
        </p:blipFill>
        <p:spPr>
          <a:xfrm>
            <a:off x="10248900" y="5510084"/>
            <a:ext cx="1435100" cy="814516"/>
          </a:xfrm>
          <a:prstGeom prst="rect">
            <a:avLst/>
          </a:prstGeom>
        </p:spPr>
      </p:pic>
      <p:sp>
        <p:nvSpPr>
          <p:cNvPr name="AutoShape 4" id="4"/>
          <p:cNvSpPr/>
          <p:nvPr/>
        </p:nvSpPr>
        <p:spPr>
          <a:xfrm>
            <a:off x="0" y="0"/>
            <a:ext cx="12192000" cy="76200"/>
          </a:xfrm>
          <a:prstGeom prst="rect">
            <a:avLst/>
          </a:prstGeom>
          <a:solidFill>
            <a:srgbClr val="243B53"/>
          </a:solidFill>
          <a:ln>
            <a:noFill/>
          </a:ln>
        </p:spPr>
      </p:sp>
      <p:pic>
        <p:nvPicPr>
          <p:cNvPr name="Picture 5" id="5"/>
          <p:cNvPicPr>
            <a:picLocks noChangeAspect="true"/>
          </p:cNvPicPr>
          <p:nvPr/>
        </p:nvPicPr>
        <p:blipFill>
          <a:blip r:embed="rId3"/>
          <a:stretch>
            <a:fillRect/>
          </a:stretch>
        </p:blipFill>
        <p:spPr>
          <a:xfrm>
            <a:off x="508000" y="6508750"/>
            <a:ext cx="177800" cy="100914"/>
          </a:xfrm>
          <a:prstGeom prst="rect">
            <a:avLst/>
          </a:prstGeom>
        </p:spPr>
      </p:pic>
      <p:sp>
        <p:nvSpPr>
          <p:cNvPr name="TextBox 6" id="6"/>
          <p:cNvSpPr txBox="true"/>
          <p:nvPr/>
        </p:nvSpPr>
        <p:spPr>
          <a:xfrm>
            <a:off x="749300" y="6451600"/>
            <a:ext cx="5080000" cy="228600"/>
          </a:xfrm>
          <a:prstGeom prst="rect">
            <a:avLst/>
          </a:prstGeom>
        </p:spPr>
        <p:txBody>
          <a:bodyPr anchor="ctr" rtlCol="false" wrap="square" lIns="0" rIns="0" tIns="25400" bIns="25400"/>
          <a:lstStyle/>
          <a:p>
            <a:pPr algn="l"/>
            <a:r>
              <a:rPr lang="es-ES" sz="750" b="false" i="false">
                <a:solidFill>
                  <a:srgbClr val="6B7785"/>
                </a:solidFill>
                <a:latin typeface="Segoe UI"/>
              </a:rPr>
              <a:t>Pentaho Live · IDC Studios</a:t>
            </a:r>
            <a:endParaRPr sz="750" lang="es-ES"/>
          </a:p>
        </p:txBody>
      </p:sp>
      <p:sp>
        <p:nvSpPr>
          <p:cNvPr name="TextBox 7" id="7"/>
          <p:cNvSpPr txBox="true"/>
          <p:nvPr/>
        </p:nvSpPr>
        <p:spPr>
          <a:xfrm>
            <a:off x="10160000" y="6451600"/>
            <a:ext cx="1524000" cy="228600"/>
          </a:xfrm>
          <a:prstGeom prst="rect">
            <a:avLst/>
          </a:prstGeom>
        </p:spPr>
        <p:txBody>
          <a:bodyPr anchor="ctr" rtlCol="false" wrap="square" lIns="0" rIns="0" tIns="25400" bIns="25400"/>
          <a:lstStyle/>
          <a:p>
            <a:pPr algn="r"/>
            <a:fld id="{B4020022-9B3B-4DCD-819E-D5C2EA76B258}" type="slidenum">
              <a:rPr lang="es-ES" sz="750">
                <a:solidFill>
                  <a:srgbClr val="6B7785"/>
                </a:solidFill>
                <a:latin typeface="Segoe UI"/>
              </a:rPr>
              <a:t>2</a:t>
            </a:fld>
            <a:endParaRPr sz="750" lang="es-ES"/>
          </a:p>
        </p:txBody>
      </p:sp>
      <p:sp>
        <p:nvSpPr>
          <p:cNvPr name="TextBox 8" id="8"/>
          <p:cNvSpPr txBox="true"/>
          <p:nvPr/>
        </p:nvSpPr>
        <p:spPr>
          <a:xfrm>
            <a:off x="762000" y="1143000"/>
            <a:ext cx="7874000" cy="5130800"/>
          </a:xfrm>
          <a:prstGeom prst="rect">
            <a:avLst/>
          </a:prstGeom>
        </p:spPr>
        <p:txBody>
          <a:bodyPr anchor="t" rtlCol="false" wrap="square" lIns="0" rIns="0" tIns="25400" bIns="25400"/>
          <a:lstStyle/>
          <a:p>
            <a:pPr algn="l">
              <a:spcAft>
                <a:spcPts val="675"/>
              </a:spcAft>
              <a:tabLst>
                <a:tab pos="431800" algn="l"/>
                <a:tab pos="7620000" algn="r"/>
              </a:tabLst>
            </a:pPr>
            <a:r>
              <a:rPr lang="es-ES" sz="1500" b="true" i="false">
                <a:solidFill>
                  <a:srgbClr val="3F74D8"/>
                </a:solidFill>
                <a:latin typeface="Segoe UI"/>
              </a:rPr>
              <a:t>1</a:t>
            </a:r>
            <a:r>
              <a:rPr lang="es-ES" sz="1500" b="false" i="false">
                <a:solidFill>
                  <a:srgbClr val="1F2933"/>
                </a:solidFill>
                <a:latin typeface="Segoe UI"/>
              </a:rPr>
              <a:t>	Resumen</a:t>
            </a:r>
            <a:r>
              <a:rPr lang="es-ES" sz="1500" b="false" i="false">
                <a:solidFill>
                  <a:srgbClr val="6B7785"/>
                </a:solidFill>
                <a:latin typeface="Segoe UI"/>
              </a:rPr>
              <a:t>	3</a:t>
            </a:r>
            <a:endParaRPr sz="1500" lang="es-ES"/>
          </a:p>
          <a:p>
            <a:pPr algn="l">
              <a:spcAft>
                <a:spcPts val="675"/>
              </a:spcAft>
              <a:tabLst>
                <a:tab pos="431800" algn="l"/>
                <a:tab pos="7620000" algn="r"/>
              </a:tabLst>
            </a:pPr>
            <a:r>
              <a:rPr lang="es-ES" sz="1500" b="true" i="false">
                <a:solidFill>
                  <a:srgbClr val="3F74D8"/>
                </a:solidFill>
                <a:latin typeface="Segoe UI"/>
              </a:rPr>
              <a:t>2</a:t>
            </a:r>
            <a:r>
              <a:rPr lang="es-ES" sz="1500" b="false" i="false">
                <a:solidFill>
                  <a:srgbClr val="1F2933"/>
                </a:solidFill>
                <a:latin typeface="Segoe UI"/>
              </a:rPr>
              <a:t>	Diagrama de flujo</a:t>
            </a:r>
            <a:r>
              <a:rPr lang="es-ES" sz="1500" b="false" i="false">
                <a:solidFill>
                  <a:srgbClr val="6B7785"/>
                </a:solidFill>
                <a:latin typeface="Segoe UI"/>
              </a:rPr>
              <a:t>	5</a:t>
            </a:r>
            <a:endParaRPr sz="1500" lang="es-ES"/>
          </a:p>
          <a:p>
            <a:pPr algn="l">
              <a:spcAft>
                <a:spcPts val="675"/>
              </a:spcAft>
              <a:tabLst>
                <a:tab pos="431800" algn="l"/>
                <a:tab pos="7620000" algn="r"/>
              </a:tabLst>
            </a:pPr>
            <a:r>
              <a:rPr lang="es-ES" sz="1500" b="true" i="false">
                <a:solidFill>
                  <a:srgbClr val="3F74D8"/>
                </a:solidFill>
                <a:latin typeface="Segoe UI"/>
              </a:rPr>
              <a:t>3</a:t>
            </a:r>
            <a:r>
              <a:rPr lang="es-ES" sz="1500" b="false" i="false">
                <a:solidFill>
                  <a:srgbClr val="1F2933"/>
                </a:solidFill>
                <a:latin typeface="Segoe UI"/>
              </a:rPr>
              <a:t>	Linaje de campos</a:t>
            </a:r>
            <a:r>
              <a:rPr lang="es-ES" sz="1500" b="false" i="false">
                <a:solidFill>
                  <a:srgbClr val="6B7785"/>
                </a:solidFill>
                <a:latin typeface="Segoe UI"/>
              </a:rPr>
              <a:t>	8</a:t>
            </a:r>
            <a:endParaRPr sz="1500" lang="es-ES"/>
          </a:p>
          <a:p>
            <a:pPr algn="l">
              <a:spcAft>
                <a:spcPts val="675"/>
              </a:spcAft>
              <a:tabLst>
                <a:tab pos="431800" algn="l"/>
                <a:tab pos="7620000" algn="r"/>
              </a:tabLst>
            </a:pPr>
            <a:r>
              <a:rPr lang="es-ES" sz="1500" b="true" i="false">
                <a:solidFill>
                  <a:srgbClr val="3F74D8"/>
                </a:solidFill>
                <a:latin typeface="Segoe UI"/>
              </a:rPr>
              <a:t>4</a:t>
            </a:r>
            <a:r>
              <a:rPr lang="es-ES" sz="1500" b="false" i="false">
                <a:solidFill>
                  <a:srgbClr val="1F2933"/>
                </a:solidFill>
                <a:latin typeface="Segoe UI"/>
              </a:rPr>
              <a:t>	Diccionario de datos</a:t>
            </a:r>
            <a:r>
              <a:rPr lang="es-ES" sz="1500" b="false" i="false">
                <a:solidFill>
                  <a:srgbClr val="6B7785"/>
                </a:solidFill>
                <a:latin typeface="Segoe UI"/>
              </a:rPr>
              <a:t>	15</a:t>
            </a:r>
            <a:endParaRPr sz="1500" lang="es-ES"/>
          </a:p>
          <a:p>
            <a:pPr algn="l">
              <a:spcAft>
                <a:spcPts val="675"/>
              </a:spcAft>
              <a:tabLst>
                <a:tab pos="431800" algn="l"/>
                <a:tab pos="7620000" algn="r"/>
              </a:tabLst>
            </a:pPr>
            <a:r>
              <a:rPr lang="es-ES" sz="1500" b="true" i="false">
                <a:solidFill>
                  <a:srgbClr val="3F74D8"/>
                </a:solidFill>
                <a:latin typeface="Segoe UI"/>
              </a:rPr>
              <a:t>5</a:t>
            </a:r>
            <a:r>
              <a:rPr lang="es-ES" sz="1500" b="false" i="false">
                <a:solidFill>
                  <a:srgbClr val="1F2933"/>
                </a:solidFill>
                <a:latin typeface="Segoe UI"/>
              </a:rPr>
              <a:t>	Modelo destino</a:t>
            </a:r>
            <a:r>
              <a:rPr lang="es-ES" sz="1500" b="false" i="false">
                <a:solidFill>
                  <a:srgbClr val="6B7785"/>
                </a:solidFill>
                <a:latin typeface="Segoe UI"/>
              </a:rPr>
              <a:t>	17</a:t>
            </a:r>
            <a:endParaRPr sz="1500" lang="es-ES"/>
          </a:p>
          <a:p>
            <a:pPr algn="l">
              <a:spcAft>
                <a:spcPts val="675"/>
              </a:spcAft>
              <a:tabLst>
                <a:tab pos="431800" algn="l"/>
                <a:tab pos="7620000" algn="r"/>
              </a:tabLst>
            </a:pPr>
            <a:r>
              <a:rPr lang="es-ES" sz="1500" b="true" i="false">
                <a:solidFill>
                  <a:srgbClr val="3F74D8"/>
                </a:solidFill>
                <a:latin typeface="Segoe UI"/>
              </a:rPr>
              <a:t>6</a:t>
            </a:r>
            <a:r>
              <a:rPr lang="es-ES" sz="1500" b="false" i="false">
                <a:solidFill>
                  <a:srgbClr val="1F2933"/>
                </a:solidFill>
                <a:latin typeface="Segoe UI"/>
              </a:rPr>
              <a:t>	Perfil de datos</a:t>
            </a:r>
            <a:r>
              <a:rPr lang="es-ES" sz="1500" b="false" i="false">
                <a:solidFill>
                  <a:srgbClr val="6B7785"/>
                </a:solidFill>
                <a:latin typeface="Segoe UI"/>
              </a:rPr>
              <a:t>	19</a:t>
            </a:r>
            <a:endParaRPr sz="1500" lang="es-ES"/>
          </a:p>
          <a:p>
            <a:pPr algn="l">
              <a:spcAft>
                <a:spcPts val="675"/>
              </a:spcAft>
              <a:tabLst>
                <a:tab pos="431800" algn="l"/>
                <a:tab pos="7620000" algn="r"/>
              </a:tabLst>
            </a:pPr>
            <a:r>
              <a:rPr lang="es-ES" sz="1500" b="true" i="false">
                <a:solidFill>
                  <a:srgbClr val="3F74D8"/>
                </a:solidFill>
                <a:latin typeface="Segoe UI"/>
              </a:rPr>
              <a:t>7</a:t>
            </a:r>
            <a:r>
              <a:rPr lang="es-ES" sz="1500" b="false" i="false">
                <a:solidFill>
                  <a:srgbClr val="1F2933"/>
                </a:solidFill>
                <a:latin typeface="Segoe UI"/>
              </a:rPr>
              <a:t>	Métricas de ejecución</a:t>
            </a:r>
            <a:r>
              <a:rPr lang="es-ES" sz="1500" b="false" i="false">
                <a:solidFill>
                  <a:srgbClr val="6B7785"/>
                </a:solidFill>
                <a:latin typeface="Segoe UI"/>
              </a:rPr>
              <a:t>	21</a:t>
            </a:r>
            <a:endParaRPr sz="1500" lang="es-ES"/>
          </a:p>
          <a:p>
            <a:pPr algn="l">
              <a:spcAft>
                <a:spcPts val="675"/>
              </a:spcAft>
              <a:tabLst>
                <a:tab pos="431800" algn="l"/>
                <a:tab pos="7620000" algn="r"/>
              </a:tabLst>
            </a:pPr>
            <a:r>
              <a:rPr lang="es-ES" sz="1500" b="true" i="false">
                <a:solidFill>
                  <a:srgbClr val="3F74D8"/>
                </a:solidFill>
                <a:latin typeface="Segoe UI"/>
              </a:rPr>
              <a:t>8</a:t>
            </a:r>
            <a:r>
              <a:rPr lang="es-ES" sz="1500" b="false" i="false">
                <a:solidFill>
                  <a:srgbClr val="1F2933"/>
                </a:solidFill>
                <a:latin typeface="Segoe UI"/>
              </a:rPr>
              <a:t>	Validación</a:t>
            </a:r>
            <a:r>
              <a:rPr lang="es-ES" sz="1500" b="false" i="false">
                <a:solidFill>
                  <a:srgbClr val="6B7785"/>
                </a:solidFill>
                <a:latin typeface="Segoe UI"/>
              </a:rPr>
              <a:t>	26</a:t>
            </a:r>
            <a:endParaRPr sz="1500" lang="es-ES"/>
          </a:p>
          <a:p>
            <a:pPr algn="l">
              <a:spcAft>
                <a:spcPts val="675"/>
              </a:spcAft>
              <a:tabLst>
                <a:tab pos="431800" algn="l"/>
                <a:tab pos="7620000" algn="r"/>
              </a:tabLst>
            </a:pPr>
            <a:r>
              <a:rPr lang="es-ES" sz="1500" b="true" i="false">
                <a:solidFill>
                  <a:srgbClr val="3F74D8"/>
                </a:solidFill>
                <a:latin typeface="Segoe UI"/>
              </a:rPr>
              <a:t>9</a:t>
            </a:r>
            <a:r>
              <a:rPr lang="es-ES" sz="1500" b="false" i="false">
                <a:solidFill>
                  <a:srgbClr val="1F2933"/>
                </a:solidFill>
                <a:latin typeface="Segoe UI"/>
              </a:rPr>
              <a:t>	Conexiones y parámetros</a:t>
            </a:r>
            <a:r>
              <a:rPr lang="es-ES" sz="1500" b="false" i="false">
                <a:solidFill>
                  <a:srgbClr val="6B7785"/>
                </a:solidFill>
                <a:latin typeface="Segoe UI"/>
              </a:rPr>
              <a:t>	27</a:t>
            </a:r>
            <a:endParaRPr sz="1500" lang="es-ES"/>
          </a:p>
          <a:p>
            <a:pPr algn="l">
              <a:spcAft>
                <a:spcPts val="675"/>
              </a:spcAft>
              <a:tabLst>
                <a:tab pos="431800" algn="l"/>
                <a:tab pos="7620000" algn="r"/>
              </a:tabLst>
            </a:pPr>
            <a:r>
              <a:rPr lang="es-ES" sz="1500" b="true" i="false">
                <a:solidFill>
                  <a:srgbClr val="3F74D8"/>
                </a:solidFill>
                <a:latin typeface="Segoe UI"/>
              </a:rPr>
              <a:t>10</a:t>
            </a:r>
            <a:r>
              <a:rPr lang="es-ES" sz="1500" b="false" i="false">
                <a:solidFill>
                  <a:srgbClr val="1F2933"/>
                </a:solidFill>
                <a:latin typeface="Segoe UI"/>
              </a:rPr>
              <a:t>	Conclusiones</a:t>
            </a:r>
            <a:r>
              <a:rPr lang="es-ES" sz="1500" b="false" i="false">
                <a:solidFill>
                  <a:srgbClr val="6B7785"/>
                </a:solidFill>
                <a:latin typeface="Segoe UI"/>
              </a:rPr>
              <a:t>	28</a:t>
            </a:r>
            <a:endParaRPr sz="1500" lang="es-ES"/>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203200"/>
            <a:ext cx="11176000" cy="635000"/>
          </a:xfrm>
        </p:spPr>
        <p:txBody>
          <a:bodyPr lIns="0" rIns="0" wrap="square" anchor="ctr"/>
          <a:lstStyle/>
          <a:p>
            <a:pPr algn="l"/>
            <a:r>
              <a:rPr lang="es-ES" sz="2600" b="true" i="false">
                <a:solidFill>
                  <a:srgbClr val="243B53"/>
                </a:solidFill>
                <a:latin typeface="Segoe UI"/>
              </a:rPr>
              <a:t>Resumen</a:t>
            </a:r>
            <a:endParaRPr sz="2600" lang="es-ES"/>
          </a:p>
        </p:txBody>
      </p:sp>
      <p:pic>
        <p:nvPicPr>
          <p:cNvPr name="Picture 3" id="3"/>
          <p:cNvPicPr>
            <a:picLocks noChangeAspect="true"/>
          </p:cNvPicPr>
          <p:nvPr/>
        </p:nvPicPr>
        <p:blipFill>
          <a:blip r:embed="rId2"/>
          <a:stretch>
            <a:fillRect/>
          </a:stretch>
        </p:blipFill>
        <p:spPr>
          <a:xfrm>
            <a:off x="10248900" y="5510084"/>
            <a:ext cx="1435100" cy="814516"/>
          </a:xfrm>
          <a:prstGeom prst="rect">
            <a:avLst/>
          </a:prstGeom>
        </p:spPr>
      </p:pic>
      <p:sp>
        <p:nvSpPr>
          <p:cNvPr name="AutoShape 4" id="4"/>
          <p:cNvSpPr/>
          <p:nvPr/>
        </p:nvSpPr>
        <p:spPr>
          <a:xfrm>
            <a:off x="0" y="0"/>
            <a:ext cx="12192000" cy="76200"/>
          </a:xfrm>
          <a:prstGeom prst="rect">
            <a:avLst/>
          </a:prstGeom>
          <a:solidFill>
            <a:srgbClr val="243B53"/>
          </a:solidFill>
          <a:ln>
            <a:noFill/>
          </a:ln>
        </p:spPr>
      </p:sp>
      <p:pic>
        <p:nvPicPr>
          <p:cNvPr name="Picture 5" id="5"/>
          <p:cNvPicPr>
            <a:picLocks noChangeAspect="true"/>
          </p:cNvPicPr>
          <p:nvPr/>
        </p:nvPicPr>
        <p:blipFill>
          <a:blip r:embed="rId3"/>
          <a:stretch>
            <a:fillRect/>
          </a:stretch>
        </p:blipFill>
        <p:spPr>
          <a:xfrm>
            <a:off x="508000" y="6508750"/>
            <a:ext cx="177800" cy="100914"/>
          </a:xfrm>
          <a:prstGeom prst="rect">
            <a:avLst/>
          </a:prstGeom>
        </p:spPr>
      </p:pic>
      <p:sp>
        <p:nvSpPr>
          <p:cNvPr name="TextBox 6" id="6"/>
          <p:cNvSpPr txBox="true"/>
          <p:nvPr/>
        </p:nvSpPr>
        <p:spPr>
          <a:xfrm>
            <a:off x="749300" y="6451600"/>
            <a:ext cx="5080000" cy="228600"/>
          </a:xfrm>
          <a:prstGeom prst="rect">
            <a:avLst/>
          </a:prstGeom>
        </p:spPr>
        <p:txBody>
          <a:bodyPr anchor="ctr" rtlCol="false" wrap="square" lIns="0" rIns="0" tIns="25400" bIns="25400"/>
          <a:lstStyle/>
          <a:p>
            <a:pPr algn="l"/>
            <a:r>
              <a:rPr lang="es-ES" sz="750" b="false" i="false">
                <a:solidFill>
                  <a:srgbClr val="6B7785"/>
                </a:solidFill>
                <a:latin typeface="Segoe UI"/>
              </a:rPr>
              <a:t>Pentaho Live · IDC Studios</a:t>
            </a:r>
            <a:endParaRPr sz="750" lang="es-ES"/>
          </a:p>
        </p:txBody>
      </p:sp>
      <p:sp>
        <p:nvSpPr>
          <p:cNvPr name="TextBox 7" id="7"/>
          <p:cNvSpPr txBox="true"/>
          <p:nvPr/>
        </p:nvSpPr>
        <p:spPr>
          <a:xfrm>
            <a:off x="10160000" y="6451600"/>
            <a:ext cx="1524000" cy="228600"/>
          </a:xfrm>
          <a:prstGeom prst="rect">
            <a:avLst/>
          </a:prstGeom>
        </p:spPr>
        <p:txBody>
          <a:bodyPr anchor="ctr" rtlCol="false" wrap="square" lIns="0" rIns="0" tIns="25400" bIns="25400"/>
          <a:lstStyle/>
          <a:p>
            <a:pPr algn="r"/>
            <a:fld id="{CD95D91B-86A2-45EA-B64A-CBE006576DE4}" type="slidenum">
              <a:rPr lang="es-ES" sz="750">
                <a:solidFill>
                  <a:srgbClr val="6B7785"/>
                </a:solidFill>
                <a:latin typeface="Segoe UI"/>
              </a:rPr>
              <a:t>3</a:t>
            </a:fld>
            <a:endParaRPr sz="750" lang="es-ES"/>
          </a:p>
        </p:txBody>
      </p:sp>
      <p:sp>
        <p:nvSpPr>
          <p:cNvPr name="TextBox 8" id="8"/>
          <p:cNvSpPr txBox="true"/>
          <p:nvPr/>
        </p:nvSpPr>
        <p:spPr>
          <a:xfrm>
            <a:off x="508000" y="1016000"/>
            <a:ext cx="11176000" cy="1311910"/>
          </a:xfrm>
          <a:prstGeom prst="rect">
            <a:avLst/>
          </a:prstGeom>
        </p:spPr>
        <p:txBody>
          <a:bodyPr anchor="t" rtlCol="false" wrap="square" lIns="0" rIns="0" tIns="25400" bIns="25400"/>
          <a:lstStyle/>
          <a:p>
            <a:pPr algn="l">
              <a:spcAft>
                <a:spcPts val="489"/>
              </a:spcAft>
            </a:pPr>
            <a:r>
              <a:rPr lang="es-ES" sz="1400" b="false" i="false">
                <a:solidFill>
                  <a:srgbClr val="1F2933"/>
                </a:solidFill>
                <a:latin typeface="Segoe UI"/>
              </a:rPr>
              <a:t>Esta transformación carga la tabla de hechos del modelo estrella de </a:t>
            </a:r>
            <a:r>
              <a:rPr lang="es-ES" sz="1400" b="true" i="false">
                <a:solidFill>
                  <a:srgbClr val="1F2933"/>
                </a:solidFill>
                <a:latin typeface="Segoe UI"/>
              </a:rPr>
              <a:t>Grano de Oro</a:t>
            </a:r>
            <a:r>
              <a:rPr lang="es-ES" sz="1400" b="false" i="false">
                <a:solidFill>
                  <a:srgbClr val="1F2933"/>
                </a:solidFill>
                <a:latin typeface="Segoe UI"/>
              </a:rPr>
              <a:t> a partir del fichero de ventas de septiembre de 2026. En la última ejecución leyó </a:t>
            </a:r>
            <a:r>
              <a:rPr lang="es-ES" sz="1400" b="true" i="false">
                <a:solidFill>
                  <a:srgbClr val="1F2933"/>
                </a:solidFill>
                <a:latin typeface="Segoe UI"/>
              </a:rPr>
              <a:t>3.000 líneas</a:t>
            </a:r>
            <a:r>
              <a:rPr lang="es-ES" sz="1400" b="false" i="false">
                <a:solidFill>
                  <a:srgbClr val="1F2933"/>
                </a:solidFill>
                <a:latin typeface="Segoe UI"/>
              </a:rPr>
              <a:t>: 60 eran duplicados exactos, que salen por el hop de error de «Eliminar duplicados» y reciben el motivo DUPLICADO en «Marcar duplicado»; 55 no superaron las reglas de «¿Línea válida?», y las </a:t>
            </a:r>
            <a:r>
              <a:rPr lang="es-ES" sz="1400" b="true" i="false">
                <a:solidFill>
                  <a:srgbClr val="1F2933"/>
                </a:solidFill>
                <a:latin typeface="Segoe UI"/>
              </a:rPr>
              <a:t>2.885 restantes</a:t>
            </a:r>
            <a:r>
              <a:rPr lang="es-ES" sz="1400" b="false" i="false">
                <a:solidFill>
                  <a:srgbClr val="1F2933"/>
                </a:solidFill>
                <a:latin typeface="Segoe UI"/>
              </a:rPr>
              <a:t> se cargaron en `hechos_ventas`. Las 115 líneas descartadas quedan en `rechazos_ventas.csv` con su motivo, de modo que 2.885 + 115 = 3.000: no se pierde ninguna línea.</a:t>
            </a:r>
            <a:endParaRPr sz="1400" lang="es-ES"/>
          </a:p>
        </p:txBody>
      </p:sp>
      <p:sp>
        <p:nvSpPr>
          <p:cNvPr name="TextBox 9" id="9"/>
          <p:cNvSpPr txBox="true"/>
          <p:nvPr/>
        </p:nvSpPr>
        <p:spPr>
          <a:xfrm>
            <a:off x="508000" y="2378710"/>
            <a:ext cx="11176000" cy="235458"/>
          </a:xfrm>
          <a:prstGeom prst="rect">
            <a:avLst/>
          </a:prstGeom>
        </p:spPr>
        <p:txBody>
          <a:bodyPr anchor="t" rtlCol="false" wrap="square" lIns="0" rIns="0" tIns="25400" bIns="25400"/>
          <a:lstStyle/>
          <a:p>
            <a:pPr algn="l"/>
            <a:r>
              <a:rPr lang="es-ES" sz="950" b="false" i="true">
                <a:solidFill>
                  <a:srgbClr val="6B7785"/>
                </a:solidFill>
                <a:latin typeface="Segoe UI"/>
              </a:rPr>
              <a:t>Texto redactado con asistencia de IA</a:t>
            </a:r>
            <a:endParaRPr sz="950" lang="es-ES"/>
          </a:p>
        </p:txBody>
      </p:sp>
      <p:sp>
        <p:nvSpPr>
          <p:cNvPr name="AutoShape 10" id="10"/>
          <p:cNvSpPr/>
          <p:nvPr/>
        </p:nvSpPr>
        <p:spPr>
          <a:xfrm>
            <a:off x="508000" y="2741168"/>
            <a:ext cx="3302000" cy="965200"/>
          </a:xfrm>
          <a:prstGeom prst="roundRect">
            <a:avLst/>
          </a:prstGeom>
          <a:solidFill>
            <a:srgbClr val="F4F5F6"/>
          </a:solidFill>
          <a:ln w="9525">
            <a:solidFill>
              <a:srgbClr val="D9DEE5"/>
            </a:solidFill>
          </a:ln>
        </p:spPr>
      </p:sp>
      <p:sp>
        <p:nvSpPr>
          <p:cNvPr name="AutoShape 11" id="11"/>
          <p:cNvSpPr/>
          <p:nvPr/>
        </p:nvSpPr>
        <p:spPr>
          <a:xfrm>
            <a:off x="508000" y="2842768"/>
            <a:ext cx="38100" cy="762000"/>
          </a:xfrm>
          <a:prstGeom prst="rect">
            <a:avLst/>
          </a:prstGeom>
          <a:solidFill>
            <a:srgbClr val="3F74D8"/>
          </a:solidFill>
          <a:ln>
            <a:noFill/>
          </a:ln>
        </p:spPr>
      </p:sp>
      <p:sp>
        <p:nvSpPr>
          <p:cNvPr name="TextBox 12" id="12"/>
          <p:cNvSpPr txBox="true"/>
          <p:nvPr/>
        </p:nvSpPr>
        <p:spPr>
          <a:xfrm>
            <a:off x="685800" y="2817368"/>
            <a:ext cx="2997200" cy="812800"/>
          </a:xfrm>
          <a:prstGeom prst="rect">
            <a:avLst/>
          </a:prstGeom>
        </p:spPr>
        <p:txBody>
          <a:bodyPr anchor="ctr" rtlCol="false" wrap="square" lIns="0" rIns="0" tIns="25400" bIns="25400"/>
          <a:lstStyle/>
          <a:p>
            <a:pPr algn="l"/>
            <a:r>
              <a:rPr lang="es-ES" sz="1000" b="false" i="false">
                <a:solidFill>
                  <a:srgbClr val="6B7785"/>
                </a:solidFill>
                <a:latin typeface="Segoe UI"/>
              </a:rPr>
              <a:t>Steps</a:t>
            </a:r>
            <a:endParaRPr sz="1000" lang="es-ES"/>
          </a:p>
          <a:p>
            <a:pPr algn="l"/>
            <a:r>
              <a:rPr lang="es-ES" sz="2200" b="true" i="false">
                <a:solidFill>
                  <a:srgbClr val="1F2933"/>
                </a:solidFill>
                <a:latin typeface="Segoe UI"/>
              </a:rPr>
              <a:t>16</a:t>
            </a:r>
            <a:endParaRPr sz="2200" lang="es-ES"/>
          </a:p>
        </p:txBody>
      </p:sp>
      <p:sp>
        <p:nvSpPr>
          <p:cNvPr name="AutoShape 13" id="13"/>
          <p:cNvSpPr/>
          <p:nvPr/>
        </p:nvSpPr>
        <p:spPr>
          <a:xfrm>
            <a:off x="3962400" y="2741168"/>
            <a:ext cx="3302000" cy="965200"/>
          </a:xfrm>
          <a:prstGeom prst="roundRect">
            <a:avLst/>
          </a:prstGeom>
          <a:solidFill>
            <a:srgbClr val="F4F5F6"/>
          </a:solidFill>
          <a:ln w="9525">
            <a:solidFill>
              <a:srgbClr val="D9DEE5"/>
            </a:solidFill>
          </a:ln>
        </p:spPr>
      </p:sp>
      <p:sp>
        <p:nvSpPr>
          <p:cNvPr name="AutoShape 14" id="14"/>
          <p:cNvSpPr/>
          <p:nvPr/>
        </p:nvSpPr>
        <p:spPr>
          <a:xfrm>
            <a:off x="3962400" y="2842768"/>
            <a:ext cx="38100" cy="762000"/>
          </a:xfrm>
          <a:prstGeom prst="rect">
            <a:avLst/>
          </a:prstGeom>
          <a:solidFill>
            <a:srgbClr val="3F74D8"/>
          </a:solidFill>
          <a:ln>
            <a:noFill/>
          </a:ln>
        </p:spPr>
      </p:sp>
      <p:sp>
        <p:nvSpPr>
          <p:cNvPr name="TextBox 15" id="15"/>
          <p:cNvSpPr txBox="true"/>
          <p:nvPr/>
        </p:nvSpPr>
        <p:spPr>
          <a:xfrm>
            <a:off x="4140200" y="2817368"/>
            <a:ext cx="2997200" cy="812800"/>
          </a:xfrm>
          <a:prstGeom prst="rect">
            <a:avLst/>
          </a:prstGeom>
        </p:spPr>
        <p:txBody>
          <a:bodyPr anchor="ctr" rtlCol="false" wrap="square" lIns="0" rIns="0" tIns="25400" bIns="25400"/>
          <a:lstStyle/>
          <a:p>
            <a:pPr algn="l"/>
            <a:r>
              <a:rPr lang="es-ES" sz="1000" b="false" i="false">
                <a:solidFill>
                  <a:srgbClr val="6B7785"/>
                </a:solidFill>
                <a:latin typeface="Segoe UI"/>
              </a:rPr>
              <a:t>Hops</a:t>
            </a:r>
            <a:endParaRPr sz="1000" lang="es-ES"/>
          </a:p>
          <a:p>
            <a:pPr algn="l"/>
            <a:r>
              <a:rPr lang="es-ES" sz="2200" b="true" i="false">
                <a:solidFill>
                  <a:srgbClr val="1F2933"/>
                </a:solidFill>
                <a:latin typeface="Segoe UI"/>
              </a:rPr>
              <a:t>16</a:t>
            </a:r>
            <a:endParaRPr sz="2200" lang="es-ES"/>
          </a:p>
        </p:txBody>
      </p:sp>
      <p:sp>
        <p:nvSpPr>
          <p:cNvPr name="AutoShape 16" id="16"/>
          <p:cNvSpPr/>
          <p:nvPr/>
        </p:nvSpPr>
        <p:spPr>
          <a:xfrm>
            <a:off x="7416800" y="2741168"/>
            <a:ext cx="3302000" cy="965200"/>
          </a:xfrm>
          <a:prstGeom prst="roundRect">
            <a:avLst/>
          </a:prstGeom>
          <a:solidFill>
            <a:srgbClr val="F4F5F6"/>
          </a:solidFill>
          <a:ln w="9525">
            <a:solidFill>
              <a:srgbClr val="D9DEE5"/>
            </a:solidFill>
          </a:ln>
        </p:spPr>
      </p:sp>
      <p:sp>
        <p:nvSpPr>
          <p:cNvPr name="AutoShape 17" id="17"/>
          <p:cNvSpPr/>
          <p:nvPr/>
        </p:nvSpPr>
        <p:spPr>
          <a:xfrm>
            <a:off x="7416800" y="2842768"/>
            <a:ext cx="38100" cy="762000"/>
          </a:xfrm>
          <a:prstGeom prst="rect">
            <a:avLst/>
          </a:prstGeom>
          <a:solidFill>
            <a:srgbClr val="3F74D8"/>
          </a:solidFill>
          <a:ln>
            <a:noFill/>
          </a:ln>
        </p:spPr>
      </p:sp>
      <p:sp>
        <p:nvSpPr>
          <p:cNvPr name="TextBox 18" id="18"/>
          <p:cNvSpPr txBox="true"/>
          <p:nvPr/>
        </p:nvSpPr>
        <p:spPr>
          <a:xfrm>
            <a:off x="7594600" y="2817368"/>
            <a:ext cx="2997200" cy="812800"/>
          </a:xfrm>
          <a:prstGeom prst="rect">
            <a:avLst/>
          </a:prstGeom>
        </p:spPr>
        <p:txBody>
          <a:bodyPr anchor="ctr" rtlCol="false" wrap="square" lIns="0" rIns="0" tIns="25400" bIns="25400"/>
          <a:lstStyle/>
          <a:p>
            <a:pPr algn="l"/>
            <a:r>
              <a:rPr lang="es-ES" sz="1000" b="false" i="false">
                <a:solidFill>
                  <a:srgbClr val="6B7785"/>
                </a:solidFill>
                <a:latin typeface="Segoe UI"/>
              </a:rPr>
              <a:t>Archivos leídos</a:t>
            </a:r>
            <a:endParaRPr sz="1000" lang="es-ES"/>
          </a:p>
          <a:p>
            <a:pPr algn="l"/>
            <a:r>
              <a:rPr lang="es-ES" sz="2200" b="true" i="false">
                <a:solidFill>
                  <a:srgbClr val="1F2933"/>
                </a:solidFill>
                <a:latin typeface="Segoe UI"/>
              </a:rPr>
              <a:t>1</a:t>
            </a:r>
            <a:endParaRPr sz="2200" lang="es-ES"/>
          </a:p>
          <a:p>
            <a:pPr algn="l"/>
            <a:r>
              <a:rPr lang="es-ES" sz="900" b="false" i="false">
                <a:solidFill>
                  <a:srgbClr val="6B7785"/>
                </a:solidFill>
                <a:latin typeface="Segoe UI"/>
              </a:rPr>
              <a:t>ventas_2026_09.csv</a:t>
            </a:r>
            <a:endParaRPr sz="900" lang="es-ES"/>
          </a:p>
        </p:txBody>
      </p:sp>
      <p:sp>
        <p:nvSpPr>
          <p:cNvPr name="AutoShape 19" id="19"/>
          <p:cNvSpPr/>
          <p:nvPr/>
        </p:nvSpPr>
        <p:spPr>
          <a:xfrm>
            <a:off x="508000" y="3833368"/>
            <a:ext cx="3302000" cy="965200"/>
          </a:xfrm>
          <a:prstGeom prst="roundRect">
            <a:avLst/>
          </a:prstGeom>
          <a:solidFill>
            <a:srgbClr val="F4F5F6"/>
          </a:solidFill>
          <a:ln w="9525">
            <a:solidFill>
              <a:srgbClr val="D9DEE5"/>
            </a:solidFill>
          </a:ln>
        </p:spPr>
      </p:sp>
      <p:sp>
        <p:nvSpPr>
          <p:cNvPr name="AutoShape 20" id="20"/>
          <p:cNvSpPr/>
          <p:nvPr/>
        </p:nvSpPr>
        <p:spPr>
          <a:xfrm>
            <a:off x="508000" y="3934968"/>
            <a:ext cx="38100" cy="762000"/>
          </a:xfrm>
          <a:prstGeom prst="rect">
            <a:avLst/>
          </a:prstGeom>
          <a:solidFill>
            <a:srgbClr val="3F74D8"/>
          </a:solidFill>
          <a:ln>
            <a:noFill/>
          </a:ln>
        </p:spPr>
      </p:sp>
      <p:sp>
        <p:nvSpPr>
          <p:cNvPr name="TextBox 21" id="21"/>
          <p:cNvSpPr txBox="true"/>
          <p:nvPr/>
        </p:nvSpPr>
        <p:spPr>
          <a:xfrm>
            <a:off x="685800" y="3909568"/>
            <a:ext cx="2997200" cy="812800"/>
          </a:xfrm>
          <a:prstGeom prst="rect">
            <a:avLst/>
          </a:prstGeom>
        </p:spPr>
        <p:txBody>
          <a:bodyPr anchor="ctr" rtlCol="false" wrap="square" lIns="0" rIns="0" tIns="25400" bIns="25400"/>
          <a:lstStyle/>
          <a:p>
            <a:pPr algn="l"/>
            <a:r>
              <a:rPr lang="es-ES" sz="1000" b="false" i="false">
                <a:solidFill>
                  <a:srgbClr val="6B7785"/>
                </a:solidFill>
                <a:latin typeface="Segoe UI"/>
              </a:rPr>
              <a:t>Archivos escritos</a:t>
            </a:r>
            <a:endParaRPr sz="1000" lang="es-ES"/>
          </a:p>
          <a:p>
            <a:pPr algn="l"/>
            <a:r>
              <a:rPr lang="es-ES" sz="2200" b="true" i="false">
                <a:solidFill>
                  <a:srgbClr val="1F2933"/>
                </a:solidFill>
                <a:latin typeface="Segoe UI"/>
              </a:rPr>
              <a:t>1</a:t>
            </a:r>
            <a:endParaRPr sz="2200" lang="es-ES"/>
          </a:p>
          <a:p>
            <a:pPr algn="l"/>
            <a:r>
              <a:rPr lang="es-ES" sz="900" b="false" i="false">
                <a:solidFill>
                  <a:srgbClr val="6B7785"/>
                </a:solidFill>
                <a:latin typeface="Segoe UI"/>
              </a:rPr>
              <a:t>rechazos_ventas.csv</a:t>
            </a:r>
            <a:endParaRPr sz="900" lang="es-ES"/>
          </a:p>
        </p:txBody>
      </p:sp>
      <p:sp>
        <p:nvSpPr>
          <p:cNvPr name="AutoShape 22" id="22"/>
          <p:cNvSpPr/>
          <p:nvPr/>
        </p:nvSpPr>
        <p:spPr>
          <a:xfrm>
            <a:off x="3962400" y="3833368"/>
            <a:ext cx="3302000" cy="965200"/>
          </a:xfrm>
          <a:prstGeom prst="roundRect">
            <a:avLst/>
          </a:prstGeom>
          <a:solidFill>
            <a:srgbClr val="F4F5F6"/>
          </a:solidFill>
          <a:ln w="9525">
            <a:solidFill>
              <a:srgbClr val="D9DEE5"/>
            </a:solidFill>
          </a:ln>
        </p:spPr>
      </p:sp>
      <p:sp>
        <p:nvSpPr>
          <p:cNvPr name="AutoShape 23" id="23"/>
          <p:cNvSpPr/>
          <p:nvPr/>
        </p:nvSpPr>
        <p:spPr>
          <a:xfrm>
            <a:off x="3962400" y="3934968"/>
            <a:ext cx="38100" cy="762000"/>
          </a:xfrm>
          <a:prstGeom prst="rect">
            <a:avLst/>
          </a:prstGeom>
          <a:solidFill>
            <a:srgbClr val="3F74D8"/>
          </a:solidFill>
          <a:ln>
            <a:noFill/>
          </a:ln>
        </p:spPr>
      </p:sp>
      <p:sp>
        <p:nvSpPr>
          <p:cNvPr name="TextBox 24" id="24"/>
          <p:cNvSpPr txBox="true"/>
          <p:nvPr/>
        </p:nvSpPr>
        <p:spPr>
          <a:xfrm>
            <a:off x="4140200" y="3909568"/>
            <a:ext cx="2997200" cy="812800"/>
          </a:xfrm>
          <a:prstGeom prst="rect">
            <a:avLst/>
          </a:prstGeom>
        </p:spPr>
        <p:txBody>
          <a:bodyPr anchor="ctr" rtlCol="false" wrap="square" lIns="0" rIns="0" tIns="25400" bIns="25400"/>
          <a:lstStyle/>
          <a:p>
            <a:pPr algn="l"/>
            <a:r>
              <a:rPr lang="es-ES" sz="1000" b="false" i="false">
                <a:solidFill>
                  <a:srgbClr val="6B7785"/>
                </a:solidFill>
                <a:latin typeface="Segoe UI"/>
              </a:rPr>
              <a:t>Tablas escritas</a:t>
            </a:r>
            <a:endParaRPr sz="1000" lang="es-ES"/>
          </a:p>
          <a:p>
            <a:pPr algn="l"/>
            <a:r>
              <a:rPr lang="es-ES" sz="2200" b="true" i="false">
                <a:solidFill>
                  <a:srgbClr val="1F2933"/>
                </a:solidFill>
                <a:latin typeface="Segoe UI"/>
              </a:rPr>
              <a:t>1</a:t>
            </a:r>
            <a:endParaRPr sz="2200" lang="es-ES"/>
          </a:p>
          <a:p>
            <a:pPr algn="l"/>
            <a:r>
              <a:rPr lang="es-ES" sz="900" b="false" i="false">
                <a:solidFill>
                  <a:srgbClr val="6B7785"/>
                </a:solidFill>
                <a:latin typeface="Segoe UI"/>
              </a:rPr>
              <a:t>hechos_ventas</a:t>
            </a:r>
            <a:endParaRPr sz="900" lang="es-ES"/>
          </a:p>
        </p:txBody>
      </p:sp>
      <p:sp>
        <p:nvSpPr>
          <p:cNvPr name="AutoShape 25" id="25"/>
          <p:cNvSpPr/>
          <p:nvPr/>
        </p:nvSpPr>
        <p:spPr>
          <a:xfrm>
            <a:off x="7416800" y="3833368"/>
            <a:ext cx="3302000" cy="965200"/>
          </a:xfrm>
          <a:prstGeom prst="roundRect">
            <a:avLst/>
          </a:prstGeom>
          <a:solidFill>
            <a:srgbClr val="F4F5F6"/>
          </a:solidFill>
          <a:ln w="9525">
            <a:solidFill>
              <a:srgbClr val="D9DEE5"/>
            </a:solidFill>
          </a:ln>
        </p:spPr>
      </p:sp>
      <p:sp>
        <p:nvSpPr>
          <p:cNvPr name="AutoShape 26" id="26"/>
          <p:cNvSpPr/>
          <p:nvPr/>
        </p:nvSpPr>
        <p:spPr>
          <a:xfrm>
            <a:off x="7416800" y="3934968"/>
            <a:ext cx="38100" cy="762000"/>
          </a:xfrm>
          <a:prstGeom prst="rect">
            <a:avLst/>
          </a:prstGeom>
          <a:solidFill>
            <a:srgbClr val="3F74D8"/>
          </a:solidFill>
          <a:ln>
            <a:noFill/>
          </a:ln>
        </p:spPr>
      </p:sp>
      <p:sp>
        <p:nvSpPr>
          <p:cNvPr name="TextBox 27" id="27"/>
          <p:cNvSpPr txBox="true"/>
          <p:nvPr/>
        </p:nvSpPr>
        <p:spPr>
          <a:xfrm>
            <a:off x="7594600" y="3909568"/>
            <a:ext cx="2997200" cy="812800"/>
          </a:xfrm>
          <a:prstGeom prst="rect">
            <a:avLst/>
          </a:prstGeom>
        </p:spPr>
        <p:txBody>
          <a:bodyPr anchor="ctr" rtlCol="false" wrap="square" lIns="0" rIns="0" tIns="25400" bIns="25400"/>
          <a:lstStyle/>
          <a:p>
            <a:pPr algn="l"/>
            <a:r>
              <a:rPr lang="es-ES" sz="1000" b="false" i="false">
                <a:solidFill>
                  <a:srgbClr val="6B7785"/>
                </a:solidFill>
                <a:latin typeface="Segoe UI"/>
              </a:rPr>
              <a:t>Conexiones</a:t>
            </a:r>
            <a:endParaRPr sz="1000" lang="es-ES"/>
          </a:p>
          <a:p>
            <a:pPr algn="l"/>
            <a:r>
              <a:rPr lang="es-ES" sz="2200" b="true" i="false">
                <a:solidFill>
                  <a:srgbClr val="1F2933"/>
                </a:solidFill>
                <a:latin typeface="Segoe UI"/>
              </a:rPr>
              <a:t>1</a:t>
            </a:r>
            <a:endParaRPr sz="2200" lang="es-ES"/>
          </a:p>
        </p:txBody>
      </p:sp>
      <p:sp>
        <p:nvSpPr>
          <p:cNvPr name="TextBox 28" id="28"/>
          <p:cNvSpPr txBox="true"/>
          <p:nvPr/>
        </p:nvSpPr>
        <p:spPr>
          <a:xfrm>
            <a:off x="508000" y="4925568"/>
            <a:ext cx="11176000" cy="1215644"/>
          </a:xfrm>
          <a:prstGeom prst="rect">
            <a:avLst/>
          </a:prstGeom>
        </p:spPr>
        <p:txBody>
          <a:bodyPr anchor="t" rtlCol="false" wrap="square" lIns="0" rIns="0" tIns="25400" bIns="25400"/>
          <a:lstStyle/>
          <a:p>
            <a:pPr algn="l">
              <a:spcAft>
                <a:spcPts val="489"/>
              </a:spcAft>
            </a:pPr>
            <a:r>
              <a:rPr lang="es-ES" sz="1400" b="false" i="false">
                <a:solidFill>
                  <a:srgbClr val="1F2933"/>
                </a:solidFill>
                <a:latin typeface="Segoe UI"/>
              </a:rPr>
              <a:t>Lee 1 archivo (ventas_2026_09.csv), calcula, selecciona campos, ordena, quita duplicados, busca valores, agrega constantes, filtra y separa las filas con error, escribe 1 archivo (rechazos_ventas.csv), y escribe en 1 tabla (hechos_ventas). 16 steps y 16 hops.</a:t>
            </a:r>
            <a:endParaRPr sz="1400" lang="es-ES"/>
          </a:p>
          <a:p>
            <a:pPr algn="l">
              <a:spcAft>
                <a:spcPts val="489"/>
              </a:spcAft>
            </a:pPr>
            <a:r>
              <a:rPr lang="es-ES" sz="1400" b="false" i="false">
                <a:solidFill>
                  <a:srgbClr val="1F2933"/>
                </a:solidFill>
                <a:latin typeface="Segoe UI"/>
              </a:rPr>
              <a:t>La última ejecución procesó 3.000 filas en 292 ms. El step más lento fue «Cargar hechos_ventas» (206 ms).</a:t>
            </a:r>
            <a:endParaRPr sz="1400" lang="es-ES"/>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203200"/>
            <a:ext cx="11176000" cy="635000"/>
          </a:xfrm>
        </p:spPr>
        <p:txBody>
          <a:bodyPr lIns="0" rIns="0" wrap="square" anchor="ctr"/>
          <a:lstStyle/>
          <a:p>
            <a:pPr algn="l"/>
            <a:r>
              <a:rPr lang="es-ES" sz="2600" b="true" i="false">
                <a:solidFill>
                  <a:srgbClr val="243B53"/>
                </a:solidFill>
                <a:latin typeface="Segoe UI"/>
              </a:rPr>
              <a:t>Resumen (cont.)</a:t>
            </a:r>
            <a:endParaRPr sz="2600" lang="es-ES"/>
          </a:p>
        </p:txBody>
      </p:sp>
      <p:pic>
        <p:nvPicPr>
          <p:cNvPr name="Picture 3" id="3"/>
          <p:cNvPicPr>
            <a:picLocks noChangeAspect="true"/>
          </p:cNvPicPr>
          <p:nvPr/>
        </p:nvPicPr>
        <p:blipFill>
          <a:blip r:embed="rId2"/>
          <a:stretch>
            <a:fillRect/>
          </a:stretch>
        </p:blipFill>
        <p:spPr>
          <a:xfrm>
            <a:off x="10248900" y="5510084"/>
            <a:ext cx="1435100" cy="814516"/>
          </a:xfrm>
          <a:prstGeom prst="rect">
            <a:avLst/>
          </a:prstGeom>
        </p:spPr>
      </p:pic>
      <p:sp>
        <p:nvSpPr>
          <p:cNvPr name="AutoShape 4" id="4"/>
          <p:cNvSpPr/>
          <p:nvPr/>
        </p:nvSpPr>
        <p:spPr>
          <a:xfrm>
            <a:off x="0" y="0"/>
            <a:ext cx="12192000" cy="76200"/>
          </a:xfrm>
          <a:prstGeom prst="rect">
            <a:avLst/>
          </a:prstGeom>
          <a:solidFill>
            <a:srgbClr val="243B53"/>
          </a:solidFill>
          <a:ln>
            <a:noFill/>
          </a:ln>
        </p:spPr>
      </p:sp>
      <p:pic>
        <p:nvPicPr>
          <p:cNvPr name="Picture 5" id="5"/>
          <p:cNvPicPr>
            <a:picLocks noChangeAspect="true"/>
          </p:cNvPicPr>
          <p:nvPr/>
        </p:nvPicPr>
        <p:blipFill>
          <a:blip r:embed="rId3"/>
          <a:stretch>
            <a:fillRect/>
          </a:stretch>
        </p:blipFill>
        <p:spPr>
          <a:xfrm>
            <a:off x="508000" y="6508750"/>
            <a:ext cx="177800" cy="100914"/>
          </a:xfrm>
          <a:prstGeom prst="rect">
            <a:avLst/>
          </a:prstGeom>
        </p:spPr>
      </p:pic>
      <p:sp>
        <p:nvSpPr>
          <p:cNvPr name="TextBox 6" id="6"/>
          <p:cNvSpPr txBox="true"/>
          <p:nvPr/>
        </p:nvSpPr>
        <p:spPr>
          <a:xfrm>
            <a:off x="749300" y="6451600"/>
            <a:ext cx="5080000" cy="228600"/>
          </a:xfrm>
          <a:prstGeom prst="rect">
            <a:avLst/>
          </a:prstGeom>
        </p:spPr>
        <p:txBody>
          <a:bodyPr anchor="ctr" rtlCol="false" wrap="square" lIns="0" rIns="0" tIns="25400" bIns="25400"/>
          <a:lstStyle/>
          <a:p>
            <a:pPr algn="l"/>
            <a:r>
              <a:rPr lang="es-ES" sz="750" b="false" i="false">
                <a:solidFill>
                  <a:srgbClr val="6B7785"/>
                </a:solidFill>
                <a:latin typeface="Segoe UI"/>
              </a:rPr>
              <a:t>Pentaho Live · IDC Studios</a:t>
            </a:r>
            <a:endParaRPr sz="750" lang="es-ES"/>
          </a:p>
        </p:txBody>
      </p:sp>
      <p:sp>
        <p:nvSpPr>
          <p:cNvPr name="TextBox 7" id="7"/>
          <p:cNvSpPr txBox="true"/>
          <p:nvPr/>
        </p:nvSpPr>
        <p:spPr>
          <a:xfrm>
            <a:off x="10160000" y="6451600"/>
            <a:ext cx="1524000" cy="228600"/>
          </a:xfrm>
          <a:prstGeom prst="rect">
            <a:avLst/>
          </a:prstGeom>
        </p:spPr>
        <p:txBody>
          <a:bodyPr anchor="ctr" rtlCol="false" wrap="square" lIns="0" rIns="0" tIns="25400" bIns="25400"/>
          <a:lstStyle/>
          <a:p>
            <a:pPr algn="r"/>
            <a:fld id="{966DB279-B6B6-41CB-A03F-780F0C1A5A27}" type="slidenum">
              <a:rPr lang="es-ES" sz="750">
                <a:solidFill>
                  <a:srgbClr val="6B7785"/>
                </a:solidFill>
                <a:latin typeface="Segoe UI"/>
              </a:rPr>
              <a:t>4</a:t>
            </a:fld>
            <a:endParaRPr sz="750" lang="es-ES"/>
          </a:p>
        </p:txBody>
      </p:sp>
      <p:sp>
        <p:nvSpPr>
          <p:cNvPr name="TextBox 8" id="8"/>
          <p:cNvSpPr txBox="true"/>
          <p:nvPr/>
        </p:nvSpPr>
        <p:spPr>
          <a:xfrm>
            <a:off x="508000" y="1016000"/>
            <a:ext cx="11176000" cy="254000"/>
          </a:xfrm>
          <a:prstGeom prst="rect">
            <a:avLst/>
          </a:prstGeom>
        </p:spPr>
        <p:txBody>
          <a:bodyPr anchor="t" rtlCol="false" wrap="square" lIns="0" rIns="0" tIns="25400" bIns="25400"/>
          <a:lstStyle/>
          <a:p>
            <a:pPr algn="l"/>
            <a:r>
              <a:rPr lang="es-ES" sz="1300" b="true" i="false">
                <a:solidFill>
                  <a:srgbClr val="243B53"/>
                </a:solidFill>
                <a:latin typeface="Segoe UI"/>
              </a:rPr>
              <a:t>Lo más importante</a:t>
            </a:r>
            <a:endParaRPr sz="1300" lang="es-ES"/>
          </a:p>
        </p:txBody>
      </p:sp>
      <p:sp>
        <p:nvSpPr>
          <p:cNvPr name="TextBox 9" id="9"/>
          <p:cNvSpPr txBox="true"/>
          <p:nvPr/>
        </p:nvSpPr>
        <p:spPr>
          <a:xfrm>
            <a:off x="508000" y="1295400"/>
            <a:ext cx="11176000" cy="3315970"/>
          </a:xfrm>
          <a:prstGeom prst="rect">
            <a:avLst/>
          </a:prstGeom>
        </p:spPr>
        <p:txBody>
          <a:bodyPr anchor="t" rtlCol="false" wrap="square" lIns="0" rIns="0" tIns="25400" bIns="25400"/>
          <a:lstStyle/>
          <a:p>
            <a:pPr algn="l" marL="203200" indent="-152400">
              <a:spcAft>
                <a:spcPts val="489"/>
              </a:spcAft>
              <a:buClr>
                <a:srgbClr val="3F74D8"/>
              </a:buClr>
              <a:buFont typeface="Arial"/>
              <a:buChar char="•"/>
            </a:pPr>
            <a:r>
              <a:rPr lang="es-ES" sz="1400" b="true" i="false">
                <a:solidFill>
                  <a:srgbClr val="1F2933"/>
                </a:solidFill>
                <a:latin typeface="Segoe UI"/>
              </a:rPr>
              <a:t>Diagrama de flujo:</a:t>
            </a:r>
            <a:r>
              <a:rPr lang="es-ES" sz="1400" b="false" i="false">
                <a:solidFill>
                  <a:srgbClr val="1F2933"/>
                </a:solidFill>
                <a:latin typeface="Segoe UI"/>
              </a:rPr>
              <a:t> 16 steps y 16 hops. Tiene 1 hop de error.</a:t>
            </a:r>
            <a:endParaRPr sz="1400" lang="es-ES"/>
          </a:p>
          <a:p>
            <a:pPr algn="l" marL="203200" indent="-152400">
              <a:spcAft>
                <a:spcPts val="489"/>
              </a:spcAft>
              <a:buClr>
                <a:srgbClr val="3F74D8"/>
              </a:buClr>
              <a:buFont typeface="Arial"/>
              <a:buChar char="•"/>
            </a:pPr>
            <a:r>
              <a:rPr lang="es-ES" sz="1400" b="true" i="false">
                <a:solidFill>
                  <a:srgbClr val="1F2933"/>
                </a:solidFill>
                <a:latin typeface="Segoe UI"/>
              </a:rPr>
              <a:t>Linaje de campos:</a:t>
            </a:r>
            <a:r>
              <a:rPr lang="es-ES" sz="1400" b="false" i="false">
                <a:solidFill>
                  <a:srgbClr val="1F2933"/>
                </a:solidFill>
                <a:latin typeface="Segoe UI"/>
              </a:rPr>
              <a:t> Traza 22 campos de 2 steps destino hasta «Leer ventas (CSV)» (ventas_2026_09.csv). Operaciones: 6 cálculos, 1 conversión de tipo o formato y 5 campos creados en la transformación.</a:t>
            </a:r>
            <a:endParaRPr sz="1400" lang="es-ES"/>
          </a:p>
          <a:p>
            <a:pPr algn="l" marL="203200" indent="-152400">
              <a:spcAft>
                <a:spcPts val="489"/>
              </a:spcAft>
              <a:buClr>
                <a:srgbClr val="3F74D8"/>
              </a:buClr>
              <a:buFont typeface="Arial"/>
              <a:buChar char="•"/>
            </a:pPr>
            <a:r>
              <a:rPr lang="es-ES" sz="1400" b="true" i="false">
                <a:solidFill>
                  <a:srgbClr val="1F2933"/>
                </a:solidFill>
                <a:latin typeface="Segoe UI"/>
              </a:rPr>
              <a:t>Diccionario de datos:</a:t>
            </a:r>
            <a:r>
              <a:rPr lang="es-ES" sz="1400" b="false" i="false">
                <a:solidFill>
                  <a:srgbClr val="1F2933"/>
                </a:solidFill>
                <a:latin typeface="Segoe UI"/>
              </a:rPr>
              <a:t> 2 salidas finales con 18 campos en total.</a:t>
            </a:r>
            <a:endParaRPr sz="1400" lang="es-ES"/>
          </a:p>
          <a:p>
            <a:pPr algn="l" marL="203200" indent="-152400">
              <a:spcAft>
                <a:spcPts val="489"/>
              </a:spcAft>
              <a:buClr>
                <a:srgbClr val="3F74D8"/>
              </a:buClr>
              <a:buFont typeface="Arial"/>
              <a:buChar char="•"/>
            </a:pPr>
            <a:r>
              <a:rPr lang="es-ES" sz="1400" b="true" i="false">
                <a:solidFill>
                  <a:srgbClr val="1F2933"/>
                </a:solidFill>
                <a:latin typeface="Segoe UI"/>
              </a:rPr>
              <a:t>Modelo destino:</a:t>
            </a:r>
            <a:r>
              <a:rPr lang="es-ES" sz="1400" b="false" i="false">
                <a:solidFill>
                  <a:srgbClr val="1F2933"/>
                </a:solidFill>
                <a:latin typeface="Segoe UI"/>
              </a:rPr>
              <a:t> Escribe en 1 tabla (hechos_ventas) por la conexión dw_grano_de_oro: 9 columnas. Las claves y los tipos salen de los steps, sin consultar la base.</a:t>
            </a:r>
            <a:endParaRPr sz="1400" lang="es-ES"/>
          </a:p>
          <a:p>
            <a:pPr algn="l" marL="203200" indent="-152400">
              <a:spcAft>
                <a:spcPts val="489"/>
              </a:spcAft>
              <a:buClr>
                <a:srgbClr val="3F74D8"/>
              </a:buClr>
              <a:buFont typeface="Arial"/>
              <a:buChar char="•"/>
            </a:pPr>
            <a:r>
              <a:rPr lang="es-ES" sz="1400" b="true" i="false">
                <a:solidFill>
                  <a:srgbClr val="1F2933"/>
                </a:solidFill>
                <a:latin typeface="Segoe UI"/>
              </a:rPr>
              <a:t>Perfil de datos:</a:t>
            </a:r>
            <a:r>
              <a:rPr lang="es-ES" sz="1400" b="false" i="false">
                <a:solidFill>
                  <a:srgbClr val="1F2933"/>
                </a:solidFill>
                <a:latin typeface="Segoe UI"/>
              </a:rPr>
              <a:t> Perfil de «Convertir precio a número» sobre todas sus 3.000 filas: 8 campos. El campo con más nulos es «id_tienda» (0,5 %).</a:t>
            </a:r>
            <a:endParaRPr sz="1400" lang="es-ES"/>
          </a:p>
          <a:p>
            <a:pPr algn="l" marL="203200" indent="-152400">
              <a:spcAft>
                <a:spcPts val="489"/>
              </a:spcAft>
              <a:buClr>
                <a:srgbClr val="3F74D8"/>
              </a:buClr>
              <a:buFont typeface="Arial"/>
              <a:buChar char="•"/>
            </a:pPr>
            <a:r>
              <a:rPr lang="es-ES" sz="1400" b="true" i="false">
                <a:solidFill>
                  <a:srgbClr val="1F2933"/>
                </a:solidFill>
                <a:latin typeface="Segoe UI"/>
              </a:rPr>
              <a:t>Validación:</a:t>
            </a:r>
            <a:r>
              <a:rPr lang="es-ES" sz="1400" b="false" i="false">
                <a:solidFill>
                  <a:srgbClr val="1F2933"/>
                </a:solidFill>
                <a:latin typeface="Segoe UI"/>
              </a:rPr>
              <a:t> Sin errores ni advertencias.</a:t>
            </a:r>
            <a:endParaRPr sz="1400" lang="es-ES"/>
          </a:p>
          <a:p>
            <a:pPr algn="l" marL="203200" indent="-152400">
              <a:spcAft>
                <a:spcPts val="489"/>
              </a:spcAft>
              <a:buClr>
                <a:srgbClr val="3F74D8"/>
              </a:buClr>
              <a:buFont typeface="Arial"/>
              <a:buChar char="•"/>
            </a:pPr>
            <a:r>
              <a:rPr lang="es-ES" sz="1400" b="true" i="false">
                <a:solidFill>
                  <a:srgbClr val="1F2933"/>
                </a:solidFill>
                <a:latin typeface="Segoe UI"/>
              </a:rPr>
              <a:t>Conexiones y parámetros:</a:t>
            </a:r>
            <a:r>
              <a:rPr lang="es-ES" sz="1400" b="false" i="false">
                <a:solidFill>
                  <a:srgbClr val="1F2933"/>
                </a:solidFill>
                <a:latin typeface="Segoe UI"/>
              </a:rPr>
              <a:t> 1 conexión y 0 parámetros.</a:t>
            </a:r>
            <a:endParaRPr sz="1400" lang="es-ES"/>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203200"/>
            <a:ext cx="11176000" cy="635000"/>
          </a:xfrm>
        </p:spPr>
        <p:txBody>
          <a:bodyPr lIns="0" rIns="0" wrap="square" anchor="ctr"/>
          <a:lstStyle/>
          <a:p>
            <a:pPr algn="l"/>
            <a:r>
              <a:rPr lang="es-ES" sz="2600" b="true" i="false">
                <a:solidFill>
                  <a:srgbClr val="243B53"/>
                </a:solidFill>
                <a:latin typeface="Segoe UI"/>
              </a:rPr>
              <a:t>Diagrama de flujo</a:t>
            </a:r>
            <a:endParaRPr sz="2600" lang="es-ES"/>
          </a:p>
        </p:txBody>
      </p:sp>
      <p:pic>
        <p:nvPicPr>
          <p:cNvPr name="Picture 3" id="3"/>
          <p:cNvPicPr>
            <a:picLocks noChangeAspect="true"/>
          </p:cNvPicPr>
          <p:nvPr/>
        </p:nvPicPr>
        <p:blipFill>
          <a:blip r:embed="rId2"/>
          <a:stretch>
            <a:fillRect/>
          </a:stretch>
        </p:blipFill>
        <p:spPr>
          <a:xfrm>
            <a:off x="10248900" y="5510084"/>
            <a:ext cx="1435100" cy="814516"/>
          </a:xfrm>
          <a:prstGeom prst="rect">
            <a:avLst/>
          </a:prstGeom>
        </p:spPr>
      </p:pic>
      <p:sp>
        <p:nvSpPr>
          <p:cNvPr name="AutoShape 4" id="4"/>
          <p:cNvSpPr/>
          <p:nvPr/>
        </p:nvSpPr>
        <p:spPr>
          <a:xfrm>
            <a:off x="0" y="0"/>
            <a:ext cx="12192000" cy="76200"/>
          </a:xfrm>
          <a:prstGeom prst="rect">
            <a:avLst/>
          </a:prstGeom>
          <a:solidFill>
            <a:srgbClr val="243B53"/>
          </a:solidFill>
          <a:ln>
            <a:noFill/>
          </a:ln>
        </p:spPr>
      </p:sp>
      <p:pic>
        <p:nvPicPr>
          <p:cNvPr name="Picture 5" id="5"/>
          <p:cNvPicPr>
            <a:picLocks noChangeAspect="true"/>
          </p:cNvPicPr>
          <p:nvPr/>
        </p:nvPicPr>
        <p:blipFill>
          <a:blip r:embed="rId3"/>
          <a:stretch>
            <a:fillRect/>
          </a:stretch>
        </p:blipFill>
        <p:spPr>
          <a:xfrm>
            <a:off x="508000" y="6508750"/>
            <a:ext cx="177800" cy="100914"/>
          </a:xfrm>
          <a:prstGeom prst="rect">
            <a:avLst/>
          </a:prstGeom>
        </p:spPr>
      </p:pic>
      <p:sp>
        <p:nvSpPr>
          <p:cNvPr name="TextBox 6" id="6"/>
          <p:cNvSpPr txBox="true"/>
          <p:nvPr/>
        </p:nvSpPr>
        <p:spPr>
          <a:xfrm>
            <a:off x="749300" y="6451600"/>
            <a:ext cx="5080000" cy="228600"/>
          </a:xfrm>
          <a:prstGeom prst="rect">
            <a:avLst/>
          </a:prstGeom>
        </p:spPr>
        <p:txBody>
          <a:bodyPr anchor="ctr" rtlCol="false" wrap="square" lIns="0" rIns="0" tIns="25400" bIns="25400"/>
          <a:lstStyle/>
          <a:p>
            <a:pPr algn="l"/>
            <a:r>
              <a:rPr lang="es-ES" sz="750" b="false" i="false">
                <a:solidFill>
                  <a:srgbClr val="6B7785"/>
                </a:solidFill>
                <a:latin typeface="Segoe UI"/>
              </a:rPr>
              <a:t>Pentaho Live · IDC Studios</a:t>
            </a:r>
            <a:endParaRPr sz="750" lang="es-ES"/>
          </a:p>
        </p:txBody>
      </p:sp>
      <p:sp>
        <p:nvSpPr>
          <p:cNvPr name="TextBox 7" id="7"/>
          <p:cNvSpPr txBox="true"/>
          <p:nvPr/>
        </p:nvSpPr>
        <p:spPr>
          <a:xfrm>
            <a:off x="10160000" y="6451600"/>
            <a:ext cx="1524000" cy="228600"/>
          </a:xfrm>
          <a:prstGeom prst="rect">
            <a:avLst/>
          </a:prstGeom>
        </p:spPr>
        <p:txBody>
          <a:bodyPr anchor="ctr" rtlCol="false" wrap="square" lIns="0" rIns="0" tIns="25400" bIns="25400"/>
          <a:lstStyle/>
          <a:p>
            <a:pPr algn="r"/>
            <a:fld id="{43445100-AB13-4F03-B562-002370D86B4C}" type="slidenum">
              <a:rPr lang="es-ES" sz="750">
                <a:solidFill>
                  <a:srgbClr val="6B7785"/>
                </a:solidFill>
                <a:latin typeface="Segoe UI"/>
              </a:rPr>
              <a:t>5</a:t>
            </a:fld>
            <a:endParaRPr sz="750" lang="es-ES"/>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22281" y="1016000"/>
            <a:ext cx="10147439" cy="5257800"/>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203200"/>
            <a:ext cx="11176000" cy="635000"/>
          </a:xfrm>
        </p:spPr>
        <p:txBody>
          <a:bodyPr lIns="0" rIns="0" wrap="square" anchor="ctr"/>
          <a:lstStyle/>
          <a:p>
            <a:pPr algn="l"/>
            <a:r>
              <a:rPr lang="es-ES" sz="2600" b="true" i="false">
                <a:solidFill>
                  <a:srgbClr val="243B53"/>
                </a:solidFill>
                <a:latin typeface="Segoe UI"/>
              </a:rPr>
              <a:t>Diagrama de flujo (cont.)</a:t>
            </a:r>
            <a:endParaRPr sz="2600" lang="es-ES"/>
          </a:p>
        </p:txBody>
      </p:sp>
      <p:pic>
        <p:nvPicPr>
          <p:cNvPr name="Picture 3" id="3"/>
          <p:cNvPicPr>
            <a:picLocks noChangeAspect="true"/>
          </p:cNvPicPr>
          <p:nvPr/>
        </p:nvPicPr>
        <p:blipFill>
          <a:blip r:embed="rId2"/>
          <a:stretch>
            <a:fillRect/>
          </a:stretch>
        </p:blipFill>
        <p:spPr>
          <a:xfrm>
            <a:off x="10248900" y="5510084"/>
            <a:ext cx="1435100" cy="814516"/>
          </a:xfrm>
          <a:prstGeom prst="rect">
            <a:avLst/>
          </a:prstGeom>
        </p:spPr>
      </p:pic>
      <p:sp>
        <p:nvSpPr>
          <p:cNvPr name="AutoShape 4" id="4"/>
          <p:cNvSpPr/>
          <p:nvPr/>
        </p:nvSpPr>
        <p:spPr>
          <a:xfrm>
            <a:off x="0" y="0"/>
            <a:ext cx="12192000" cy="76200"/>
          </a:xfrm>
          <a:prstGeom prst="rect">
            <a:avLst/>
          </a:prstGeom>
          <a:solidFill>
            <a:srgbClr val="243B53"/>
          </a:solidFill>
          <a:ln>
            <a:noFill/>
          </a:ln>
        </p:spPr>
      </p:sp>
      <p:pic>
        <p:nvPicPr>
          <p:cNvPr name="Picture 5" id="5"/>
          <p:cNvPicPr>
            <a:picLocks noChangeAspect="true"/>
          </p:cNvPicPr>
          <p:nvPr/>
        </p:nvPicPr>
        <p:blipFill>
          <a:blip r:embed="rId3"/>
          <a:stretch>
            <a:fillRect/>
          </a:stretch>
        </p:blipFill>
        <p:spPr>
          <a:xfrm>
            <a:off x="508000" y="6508750"/>
            <a:ext cx="177800" cy="100914"/>
          </a:xfrm>
          <a:prstGeom prst="rect">
            <a:avLst/>
          </a:prstGeom>
        </p:spPr>
      </p:pic>
      <p:sp>
        <p:nvSpPr>
          <p:cNvPr name="TextBox 6" id="6"/>
          <p:cNvSpPr txBox="true"/>
          <p:nvPr/>
        </p:nvSpPr>
        <p:spPr>
          <a:xfrm>
            <a:off x="749300" y="6451600"/>
            <a:ext cx="5080000" cy="228600"/>
          </a:xfrm>
          <a:prstGeom prst="rect">
            <a:avLst/>
          </a:prstGeom>
        </p:spPr>
        <p:txBody>
          <a:bodyPr anchor="ctr" rtlCol="false" wrap="square" lIns="0" rIns="0" tIns="25400" bIns="25400"/>
          <a:lstStyle/>
          <a:p>
            <a:pPr algn="l"/>
            <a:r>
              <a:rPr lang="es-ES" sz="750" b="false" i="false">
                <a:solidFill>
                  <a:srgbClr val="6B7785"/>
                </a:solidFill>
                <a:latin typeface="Segoe UI"/>
              </a:rPr>
              <a:t>Pentaho Live · IDC Studios</a:t>
            </a:r>
            <a:endParaRPr sz="750" lang="es-ES"/>
          </a:p>
        </p:txBody>
      </p:sp>
      <p:sp>
        <p:nvSpPr>
          <p:cNvPr name="TextBox 7" id="7"/>
          <p:cNvSpPr txBox="true"/>
          <p:nvPr/>
        </p:nvSpPr>
        <p:spPr>
          <a:xfrm>
            <a:off x="10160000" y="6451600"/>
            <a:ext cx="1524000" cy="228600"/>
          </a:xfrm>
          <a:prstGeom prst="rect">
            <a:avLst/>
          </a:prstGeom>
        </p:spPr>
        <p:txBody>
          <a:bodyPr anchor="ctr" rtlCol="false" wrap="square" lIns="0" rIns="0" tIns="25400" bIns="25400"/>
          <a:lstStyle/>
          <a:p>
            <a:pPr algn="r"/>
            <a:fld id="{58AB545C-2B4A-45B9-BE20-677F7C562DFB}" type="slidenum">
              <a:rPr lang="es-ES" sz="750">
                <a:solidFill>
                  <a:srgbClr val="6B7785"/>
                </a:solidFill>
                <a:latin typeface="Segoe UI"/>
              </a:rPr>
              <a:t>6</a:t>
            </a:fld>
            <a:endParaRPr sz="750" lang="es-ES"/>
          </a:p>
        </p:txBody>
      </p:sp>
      <p:sp>
        <p:nvSpPr>
          <p:cNvPr name="TextBox 8" id="8"/>
          <p:cNvSpPr txBox="true"/>
          <p:nvPr/>
        </p:nvSpPr>
        <p:spPr>
          <a:xfrm>
            <a:off x="508000" y="1016000"/>
            <a:ext cx="11176000" cy="235458"/>
          </a:xfrm>
          <a:prstGeom prst="rect">
            <a:avLst/>
          </a:prstGeom>
        </p:spPr>
        <p:txBody>
          <a:bodyPr anchor="t" rtlCol="false" wrap="square" lIns="0" rIns="0" tIns="25400" bIns="25400"/>
          <a:lstStyle/>
          <a:p>
            <a:pPr algn="l"/>
            <a:r>
              <a:rPr lang="es-ES" sz="950" b="false" i="true">
                <a:solidFill>
                  <a:srgbClr val="6B7785"/>
                </a:solidFill>
                <a:latin typeface="Segoe UI"/>
              </a:rPr>
              <a:t>Las flechas llenas llevan filas; las punteadas rojas son hops de error; las que terminan en x están deshabilitadas.</a:t>
            </a:r>
            <a:endParaRPr sz="950" lang="es-ES"/>
          </a:p>
        </p:txBody>
      </p:sp>
      <p:sp>
        <p:nvSpPr>
          <p:cNvPr name="TextBox 9" id="9"/>
          <p:cNvSpPr txBox="true"/>
          <p:nvPr/>
        </p:nvSpPr>
        <p:spPr>
          <a:xfrm>
            <a:off x="508000" y="1378458"/>
            <a:ext cx="11176000" cy="254000"/>
          </a:xfrm>
          <a:prstGeom prst="rect">
            <a:avLst/>
          </a:prstGeom>
        </p:spPr>
        <p:txBody>
          <a:bodyPr anchor="t" rtlCol="false" wrap="square" lIns="0" rIns="0" tIns="25400" bIns="25400"/>
          <a:lstStyle/>
          <a:p>
            <a:pPr algn="l"/>
            <a:r>
              <a:rPr lang="es-ES" sz="1300" b="true" i="false">
                <a:solidFill>
                  <a:srgbClr val="243B53"/>
                </a:solidFill>
                <a:latin typeface="Segoe UI"/>
              </a:rPr>
              <a:t>Qué hace cada step</a:t>
            </a:r>
            <a:endParaRPr sz="1300" lang="es-ES"/>
          </a:p>
        </p:txBody>
      </p:sp>
      <p:graphicFrame>
        <p:nvGraphicFramePr>
          <p:cNvPr name="Table 10" id="10"/>
          <p:cNvGraphicFramePr>
            <a:graphicFrameLocks noGrp="true"/>
          </p:cNvGraphicFramePr>
          <p:nvPr/>
        </p:nvGraphicFramePr>
        <p:xfrm>
          <a:off x="508000" y="1657858"/>
          <a:ext cx="9842500" cy="4347972"/>
        </p:xfrm>
        <a:graphic>
          <a:graphicData uri="http://schemas.openxmlformats.org/drawingml/2006/table">
            <a:tbl>
              <a:tblPr/>
              <a:tblGrid>
                <a:gridCol w="406400"/>
                <a:gridCol w="2171700"/>
                <a:gridCol w="3403600"/>
                <a:gridCol w="3860800"/>
              </a:tblGrid>
              <a:tr h="298704">
                <a:tc>
                  <a:txBody>
                    <a:bodyPr anchor="t" rtlCol="false"/>
                    <a:lstStyle/>
                    <a:p>
                      <a:pPr algn="r"/>
                      <a:r>
                        <a:rPr lang="es-ES" sz="1100" b="true" i="false">
                          <a:solidFill>
                            <a:srgbClr val="FFFFFF"/>
                          </a:solidFill>
                          <a:latin typeface="Segoe UI"/>
                        </a:rPr>
                        <a:t>#</a:t>
                      </a:r>
                      <a:endParaRPr sz="11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l"/>
                      <a:r>
                        <a:rPr lang="es-ES" sz="1100" b="true" i="false">
                          <a:solidFill>
                            <a:srgbClr val="FFFFFF"/>
                          </a:solidFill>
                          <a:latin typeface="Segoe UI"/>
                        </a:rPr>
                        <a:t>Step</a:t>
                      </a:r>
                      <a:endParaRPr sz="11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l"/>
                      <a:r>
                        <a:rPr lang="es-ES" sz="1100" b="true" i="false">
                          <a:solidFill>
                            <a:srgbClr val="FFFFFF"/>
                          </a:solidFill>
                          <a:latin typeface="Segoe UI"/>
                        </a:rPr>
                        <a:t>Tipo</a:t>
                      </a:r>
                      <a:endParaRPr sz="11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l"/>
                      <a:r>
                        <a:rPr lang="es-ES" sz="1100" b="true" i="false">
                          <a:solidFill>
                            <a:srgbClr val="FFFFFF"/>
                          </a:solidFill>
                          <a:latin typeface="Segoe UI"/>
                        </a:rPr>
                        <a:t>Qué hace</a:t>
                      </a:r>
                      <a:endParaRPr sz="11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r>
              <a:tr h="483108">
                <a:tc>
                  <a:txBody>
                    <a:bodyPr anchor="t" rtlCol="false"/>
                    <a:lstStyle/>
                    <a:p>
                      <a:pPr algn="r"/>
                      <a:r>
                        <a:rPr lang="es-ES" sz="1100" b="false" i="false">
                          <a:solidFill>
                            <a:srgbClr val="1F2933"/>
                          </a:solidFill>
                          <a:latin typeface="Segoe UI"/>
                        </a:rPr>
                        <a:t>1</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Leer ventas (CSV)</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CsvInput</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Lee: ${Internal.Entry.Current.Directory}/../datos/ventas_2026_09.csv</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r>
              <a:tr h="298704">
                <a:tc>
                  <a:txBody>
                    <a:bodyPr anchor="t" rtlCol="false"/>
                    <a:lstStyle/>
                    <a:p>
                      <a:pPr algn="r"/>
                      <a:r>
                        <a:rPr lang="es-ES" sz="1100" b="false" i="false">
                          <a:solidFill>
                            <a:srgbClr val="1F2933"/>
                          </a:solidFill>
                          <a:latin typeface="Segoe UI"/>
                        </a:rPr>
                        <a:t>2</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100" b="false" i="false">
                          <a:solidFill>
                            <a:srgbClr val="1F2933"/>
                          </a:solidFill>
                          <a:latin typeface="Segoe UI"/>
                        </a:rPr>
                        <a:t>Estandarizar textos</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100" b="false" i="false">
                          <a:solidFill>
                            <a:srgbClr val="1F2933"/>
                          </a:solidFill>
                          <a:latin typeface="Segoe UI"/>
                        </a:rPr>
                        <a:t>StringOperations</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100" b="false" i="false">
                          <a:solidFill>
                            <a:srgbClr val="1F2933"/>
                          </a:solidFill>
                          <a:latin typeface="Segoe UI"/>
                        </a:rPr>
                        <a:t>StringOperations</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r>
              <a:tr h="298704">
                <a:tc>
                  <a:txBody>
                    <a:bodyPr anchor="t" rtlCol="false"/>
                    <a:lstStyle/>
                    <a:p>
                      <a:pPr algn="r"/>
                      <a:r>
                        <a:rPr lang="es-ES" sz="1100" b="false" i="false">
                          <a:solidFill>
                            <a:srgbClr val="1F2933"/>
                          </a:solidFill>
                          <a:latin typeface="Segoe UI"/>
                        </a:rPr>
                        <a:t>3</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Normalizar fecha y precio</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ReplaceString</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ReplaceString</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r>
              <a:tr h="667512">
                <a:tc>
                  <a:txBody>
                    <a:bodyPr anchor="t" rtlCol="false"/>
                    <a:lstStyle/>
                    <a:p>
                      <a:pPr algn="r"/>
                      <a:r>
                        <a:rPr lang="es-ES" sz="1100" b="false" i="false">
                          <a:solidFill>
                            <a:srgbClr val="1F2933"/>
                          </a:solidFill>
                          <a:latin typeface="Segoe UI"/>
                        </a:rPr>
                        <a:t>4</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100" b="false" i="false">
                          <a:solidFill>
                            <a:srgbClr val="1F2933"/>
                          </a:solidFill>
                          <a:latin typeface="Segoe UI"/>
                        </a:rPr>
                        <a:t>Convertir precio a número</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100" b="false" i="false">
                          <a:solidFill>
                            <a:srgbClr val="1F2933"/>
                          </a:solidFill>
                          <a:latin typeface="Segoe UI"/>
                        </a:rPr>
                        <a:t>Selecciona/Renombra valores (SelectValues)</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100" b="false" i="false">
                          <a:solidFill>
                            <a:srgbClr val="1F2933"/>
                          </a:solidFill>
                          <a:latin typeface="Segoe UI"/>
                        </a:rPr>
                        <a:t>Seleccionar o eliminar campos de una fila. Opcionalmente, se puede establecer la meta-información del campo: tipo, longitud y precisión.</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r>
              <a:tr h="298704">
                <a:tc>
                  <a:txBody>
                    <a:bodyPr anchor="t" rtlCol="false"/>
                    <a:lstStyle/>
                    <a:p>
                      <a:pPr algn="r"/>
                      <a:r>
                        <a:rPr lang="es-ES" sz="1100" b="false" i="false">
                          <a:solidFill>
                            <a:srgbClr val="1F2933"/>
                          </a:solidFill>
                          <a:latin typeface="Segoe UI"/>
                        </a:rPr>
                        <a:t>5</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Ordenar por ticket y línea</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Ordenar filas (SortRows)</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Ordena por: id_ticket, linea</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r>
              <a:tr h="1036320">
                <a:tc>
                  <a:txBody>
                    <a:bodyPr anchor="t" rtlCol="false"/>
                    <a:lstStyle/>
                    <a:p>
                      <a:pPr algn="r"/>
                      <a:r>
                        <a:rPr lang="es-ES" sz="1100" b="false" i="false">
                          <a:solidFill>
                            <a:srgbClr val="1F2933"/>
                          </a:solidFill>
                          <a:latin typeface="Segoe UI"/>
                        </a:rPr>
                        <a:t>6</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100" b="false" i="false">
                          <a:solidFill>
                            <a:srgbClr val="1F2933"/>
                          </a:solidFill>
                          <a:latin typeface="Segoe UI"/>
                        </a:rPr>
                        <a:t>Eliminar duplicados</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100" b="false" i="false">
                          <a:solidFill>
                            <a:srgbClr val="1F2933"/>
                          </a:solidFill>
                          <a:latin typeface="Segoe UI"/>
                        </a:rPr>
                        <a:t>Filas Unicas (Unique)</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100" b="false" i="false">
                          <a:solidFill>
                            <a:srgbClr val="1F2933"/>
                          </a:solidFill>
                          <a:latin typeface="Segoe UI"/>
                        </a:rPr>
                        <a:t>Eliminar filas duplicadas y dejar solo ocurrencias únicas. Esto funciona solo con entradas ordenadas. Si la entrada no esta ordenada, solo se hace correctamente las entradas duplicadas consecutivas.</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r>
              <a:tr h="483108">
                <a:tc>
                  <a:txBody>
                    <a:bodyPr anchor="t" rtlCol="false"/>
                    <a:lstStyle/>
                    <a:p>
                      <a:pPr algn="r"/>
                      <a:r>
                        <a:rPr lang="es-ES" sz="1100" b="false" i="false">
                          <a:solidFill>
                            <a:srgbClr val="1F2933"/>
                          </a:solidFill>
                          <a:latin typeface="Segoe UI"/>
                        </a:rPr>
                        <a:t>7</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Buscar tienda</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Búsqueda en base de datos (DBLookup)</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Obtener valores de una base de datos utilizando campos</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r>
              <a:tr h="483108">
                <a:tc>
                  <a:txBody>
                    <a:bodyPr anchor="t" rtlCol="false"/>
                    <a:lstStyle/>
                    <a:p>
                      <a:pPr algn="r"/>
                      <a:r>
                        <a:rPr lang="es-ES" sz="1100" b="false" i="false">
                          <a:solidFill>
                            <a:srgbClr val="1F2933"/>
                          </a:solidFill>
                          <a:latin typeface="Segoe UI"/>
                        </a:rPr>
                        <a:t>8</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100" b="false" i="false">
                          <a:solidFill>
                            <a:srgbClr val="1F2933"/>
                          </a:solidFill>
                          <a:latin typeface="Segoe UI"/>
                        </a:rPr>
                        <a:t>Buscar producto</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100" b="false" i="false">
                          <a:solidFill>
                            <a:srgbClr val="1F2933"/>
                          </a:solidFill>
                          <a:latin typeface="Segoe UI"/>
                        </a:rPr>
                        <a:t>Búsqueda en base de datos (DBLookup)</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100" b="false" i="false">
                          <a:solidFill>
                            <a:srgbClr val="1F2933"/>
                          </a:solidFill>
                          <a:latin typeface="Segoe UI"/>
                        </a:rPr>
                        <a:t>Obtener valores de una base de datos utilizando campos</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r>
            </a:tbl>
          </a:graphicData>
        </a:graphic>
      </p:graphicFrame>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203200"/>
            <a:ext cx="11176000" cy="635000"/>
          </a:xfrm>
        </p:spPr>
        <p:txBody>
          <a:bodyPr lIns="0" rIns="0" wrap="square" anchor="ctr"/>
          <a:lstStyle/>
          <a:p>
            <a:pPr algn="l"/>
            <a:r>
              <a:rPr lang="es-ES" sz="2600" b="true" i="false">
                <a:solidFill>
                  <a:srgbClr val="243B53"/>
                </a:solidFill>
                <a:latin typeface="Segoe UI"/>
              </a:rPr>
              <a:t>Diagrama de flujo (cont.)</a:t>
            </a:r>
            <a:endParaRPr sz="2600" lang="es-ES"/>
          </a:p>
        </p:txBody>
      </p:sp>
      <p:pic>
        <p:nvPicPr>
          <p:cNvPr name="Picture 3" id="3"/>
          <p:cNvPicPr>
            <a:picLocks noChangeAspect="true"/>
          </p:cNvPicPr>
          <p:nvPr/>
        </p:nvPicPr>
        <p:blipFill>
          <a:blip r:embed="rId2"/>
          <a:stretch>
            <a:fillRect/>
          </a:stretch>
        </p:blipFill>
        <p:spPr>
          <a:xfrm>
            <a:off x="10248900" y="5510084"/>
            <a:ext cx="1435100" cy="814516"/>
          </a:xfrm>
          <a:prstGeom prst="rect">
            <a:avLst/>
          </a:prstGeom>
        </p:spPr>
      </p:pic>
      <p:sp>
        <p:nvSpPr>
          <p:cNvPr name="AutoShape 4" id="4"/>
          <p:cNvSpPr/>
          <p:nvPr/>
        </p:nvSpPr>
        <p:spPr>
          <a:xfrm>
            <a:off x="0" y="0"/>
            <a:ext cx="12192000" cy="76200"/>
          </a:xfrm>
          <a:prstGeom prst="rect">
            <a:avLst/>
          </a:prstGeom>
          <a:solidFill>
            <a:srgbClr val="243B53"/>
          </a:solidFill>
          <a:ln>
            <a:noFill/>
          </a:ln>
        </p:spPr>
      </p:sp>
      <p:pic>
        <p:nvPicPr>
          <p:cNvPr name="Picture 5" id="5"/>
          <p:cNvPicPr>
            <a:picLocks noChangeAspect="true"/>
          </p:cNvPicPr>
          <p:nvPr/>
        </p:nvPicPr>
        <p:blipFill>
          <a:blip r:embed="rId3"/>
          <a:stretch>
            <a:fillRect/>
          </a:stretch>
        </p:blipFill>
        <p:spPr>
          <a:xfrm>
            <a:off x="508000" y="6508750"/>
            <a:ext cx="177800" cy="100914"/>
          </a:xfrm>
          <a:prstGeom prst="rect">
            <a:avLst/>
          </a:prstGeom>
        </p:spPr>
      </p:pic>
      <p:sp>
        <p:nvSpPr>
          <p:cNvPr name="TextBox 6" id="6"/>
          <p:cNvSpPr txBox="true"/>
          <p:nvPr/>
        </p:nvSpPr>
        <p:spPr>
          <a:xfrm>
            <a:off x="749300" y="6451600"/>
            <a:ext cx="5080000" cy="228600"/>
          </a:xfrm>
          <a:prstGeom prst="rect">
            <a:avLst/>
          </a:prstGeom>
        </p:spPr>
        <p:txBody>
          <a:bodyPr anchor="ctr" rtlCol="false" wrap="square" lIns="0" rIns="0" tIns="25400" bIns="25400"/>
          <a:lstStyle/>
          <a:p>
            <a:pPr algn="l"/>
            <a:r>
              <a:rPr lang="es-ES" sz="750" b="false" i="false">
                <a:solidFill>
                  <a:srgbClr val="6B7785"/>
                </a:solidFill>
                <a:latin typeface="Segoe UI"/>
              </a:rPr>
              <a:t>Pentaho Live · IDC Studios</a:t>
            </a:r>
            <a:endParaRPr sz="750" lang="es-ES"/>
          </a:p>
        </p:txBody>
      </p:sp>
      <p:sp>
        <p:nvSpPr>
          <p:cNvPr name="TextBox 7" id="7"/>
          <p:cNvSpPr txBox="true"/>
          <p:nvPr/>
        </p:nvSpPr>
        <p:spPr>
          <a:xfrm>
            <a:off x="10160000" y="6451600"/>
            <a:ext cx="1524000" cy="228600"/>
          </a:xfrm>
          <a:prstGeom prst="rect">
            <a:avLst/>
          </a:prstGeom>
        </p:spPr>
        <p:txBody>
          <a:bodyPr anchor="ctr" rtlCol="false" wrap="square" lIns="0" rIns="0" tIns="25400" bIns="25400"/>
          <a:lstStyle/>
          <a:p>
            <a:pPr algn="r"/>
            <a:fld id="{6F44BE66-8A4F-4697-B152-215E98879782}" type="slidenum">
              <a:rPr lang="es-ES" sz="750">
                <a:solidFill>
                  <a:srgbClr val="6B7785"/>
                </a:solidFill>
                <a:latin typeface="Segoe UI"/>
              </a:rPr>
              <a:t>7</a:t>
            </a:fld>
            <a:endParaRPr sz="750" lang="es-ES"/>
          </a:p>
        </p:txBody>
      </p:sp>
      <p:sp>
        <p:nvSpPr>
          <p:cNvPr name="TextBox 8" id="8"/>
          <p:cNvSpPr txBox="true"/>
          <p:nvPr/>
        </p:nvSpPr>
        <p:spPr>
          <a:xfrm>
            <a:off x="508000" y="1016000"/>
            <a:ext cx="11176000" cy="254000"/>
          </a:xfrm>
          <a:prstGeom prst="rect">
            <a:avLst/>
          </a:prstGeom>
        </p:spPr>
        <p:txBody>
          <a:bodyPr anchor="t" rtlCol="false" wrap="square" lIns="0" rIns="0" tIns="25400" bIns="25400"/>
          <a:lstStyle/>
          <a:p>
            <a:pPr algn="l"/>
            <a:r>
              <a:rPr lang="es-ES" sz="1300" b="true" i="false">
                <a:solidFill>
                  <a:srgbClr val="243B53"/>
                </a:solidFill>
                <a:latin typeface="Segoe UI"/>
              </a:rPr>
              <a:t>Qué hace cada step (cont.)</a:t>
            </a:r>
            <a:endParaRPr sz="1300" lang="es-ES"/>
          </a:p>
        </p:txBody>
      </p:sp>
      <p:graphicFrame>
        <p:nvGraphicFramePr>
          <p:cNvPr name="Table 9" id="9"/>
          <p:cNvGraphicFramePr>
            <a:graphicFrameLocks noGrp="true"/>
          </p:cNvGraphicFramePr>
          <p:nvPr/>
        </p:nvGraphicFramePr>
        <p:xfrm>
          <a:off x="508000" y="1295400"/>
          <a:ext cx="9842500" cy="3794760"/>
        </p:xfrm>
        <a:graphic>
          <a:graphicData uri="http://schemas.openxmlformats.org/drawingml/2006/table">
            <a:tbl>
              <a:tblPr/>
              <a:tblGrid>
                <a:gridCol w="406400"/>
                <a:gridCol w="2171700"/>
                <a:gridCol w="3403600"/>
                <a:gridCol w="3860800"/>
              </a:tblGrid>
              <a:tr h="298704">
                <a:tc>
                  <a:txBody>
                    <a:bodyPr anchor="t" rtlCol="false"/>
                    <a:lstStyle/>
                    <a:p>
                      <a:pPr algn="r"/>
                      <a:r>
                        <a:rPr lang="es-ES" sz="1100" b="true" i="false">
                          <a:solidFill>
                            <a:srgbClr val="FFFFFF"/>
                          </a:solidFill>
                          <a:latin typeface="Segoe UI"/>
                        </a:rPr>
                        <a:t>#</a:t>
                      </a:r>
                      <a:endParaRPr sz="11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l"/>
                      <a:r>
                        <a:rPr lang="es-ES" sz="1100" b="true" i="false">
                          <a:solidFill>
                            <a:srgbClr val="FFFFFF"/>
                          </a:solidFill>
                          <a:latin typeface="Segoe UI"/>
                        </a:rPr>
                        <a:t>Step</a:t>
                      </a:r>
                      <a:endParaRPr sz="11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l"/>
                      <a:r>
                        <a:rPr lang="es-ES" sz="1100" b="true" i="false">
                          <a:solidFill>
                            <a:srgbClr val="FFFFFF"/>
                          </a:solidFill>
                          <a:latin typeface="Segoe UI"/>
                        </a:rPr>
                        <a:t>Tipo</a:t>
                      </a:r>
                      <a:endParaRPr sz="11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l"/>
                      <a:r>
                        <a:rPr lang="es-ES" sz="1100" b="true" i="false">
                          <a:solidFill>
                            <a:srgbClr val="FFFFFF"/>
                          </a:solidFill>
                          <a:latin typeface="Segoe UI"/>
                        </a:rPr>
                        <a:t>Qué hace</a:t>
                      </a:r>
                      <a:endParaRPr sz="11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r>
              <a:tr h="483108">
                <a:tc>
                  <a:txBody>
                    <a:bodyPr anchor="t" rtlCol="false"/>
                    <a:lstStyle/>
                    <a:p>
                      <a:pPr algn="r"/>
                      <a:r>
                        <a:rPr lang="es-ES" sz="1100" b="false" i="false">
                          <a:solidFill>
                            <a:srgbClr val="1F2933"/>
                          </a:solidFill>
                          <a:latin typeface="Segoe UI"/>
                        </a:rPr>
                        <a:t>9</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Buscar fecha</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Búsqueda en base de datos (DBLookup)</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Obtener valores de una base de datos utilizando campos</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r>
              <a:tr h="298704">
                <a:tc>
                  <a:txBody>
                    <a:bodyPr anchor="t" rtlCol="false"/>
                    <a:lstStyle/>
                    <a:p>
                      <a:pPr algn="r"/>
                      <a:r>
                        <a:rPr lang="es-ES" sz="1100" b="false" i="false">
                          <a:solidFill>
                            <a:srgbClr val="1F2933"/>
                          </a:solidFill>
                          <a:latin typeface="Segoe UI"/>
                        </a:rPr>
                        <a:t>10</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100" b="false" i="false">
                          <a:solidFill>
                            <a:srgbClr val="1F2933"/>
                          </a:solidFill>
                          <a:latin typeface="Segoe UI"/>
                        </a:rPr>
                        <a:t>Clasificar línea</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100" b="false" i="false">
                          <a:solidFill>
                            <a:srgbClr val="1F2933"/>
                          </a:solidFill>
                          <a:latin typeface="Segoe UI"/>
                        </a:rPr>
                        <a:t>Janino</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100" b="false" i="false">
                          <a:solidFill>
                            <a:srgbClr val="1F2933"/>
                          </a:solidFill>
                          <a:latin typeface="Segoe UI"/>
                        </a:rPr>
                        <a:t>Janino</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r>
              <a:tr h="483108">
                <a:tc>
                  <a:txBody>
                    <a:bodyPr anchor="t" rtlCol="false"/>
                    <a:lstStyle/>
                    <a:p>
                      <a:pPr algn="r"/>
                      <a:r>
                        <a:rPr lang="es-ES" sz="1100" b="false" i="false">
                          <a:solidFill>
                            <a:srgbClr val="1F2933"/>
                          </a:solidFill>
                          <a:latin typeface="Segoe UI"/>
                        </a:rPr>
                        <a:t>11</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Marcar duplicado</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Añadir constantes (Constant)</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Añadir uno o más constantes a las filas de entrada</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r>
              <a:tr h="298704">
                <a:tc>
                  <a:txBody>
                    <a:bodyPr anchor="t" rtlCol="false"/>
                    <a:lstStyle/>
                    <a:p>
                      <a:pPr algn="r"/>
                      <a:r>
                        <a:rPr lang="es-ES" sz="1100" b="false" i="false">
                          <a:solidFill>
                            <a:srgbClr val="1F2933"/>
                          </a:solidFill>
                          <a:latin typeface="Segoe UI"/>
                        </a:rPr>
                        <a:t>12</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100" b="false" i="false">
                          <a:solidFill>
                            <a:srgbClr val="1F2933"/>
                          </a:solidFill>
                          <a:latin typeface="Segoe UI"/>
                        </a:rPr>
                        <a:t>¿Línea válida?</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100" b="false" i="false">
                          <a:solidFill>
                            <a:srgbClr val="1F2933"/>
                          </a:solidFill>
                          <a:latin typeface="Segoe UI"/>
                        </a:rPr>
                        <a:t>Filtrar filas (FilterRows)</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100" b="false" i="false">
                          <a:solidFill>
                            <a:srgbClr val="1F2933"/>
                          </a:solidFill>
                          <a:latin typeface="Segoe UI"/>
                        </a:rPr>
                        <a:t>Condición: motivo_rechazo IS NULL</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r>
              <a:tr h="483108">
                <a:tc>
                  <a:txBody>
                    <a:bodyPr anchor="t" rtlCol="false"/>
                    <a:lstStyle/>
                    <a:p>
                      <a:pPr algn="r"/>
                      <a:r>
                        <a:rPr lang="es-ES" sz="1100" b="false" i="false">
                          <a:solidFill>
                            <a:srgbClr val="1F2933"/>
                          </a:solidFill>
                          <a:latin typeface="Segoe UI"/>
                        </a:rPr>
                        <a:t>13</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Calcular importe</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Calculadora (Calculator)</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Crear nuevos campos a partir de cálculos sencillos</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r>
              <a:tr h="298704">
                <a:tc>
                  <a:txBody>
                    <a:bodyPr anchor="t" rtlCol="false"/>
                    <a:lstStyle/>
                    <a:p>
                      <a:pPr algn="r"/>
                      <a:r>
                        <a:rPr lang="es-ES" sz="1100" b="false" i="false">
                          <a:solidFill>
                            <a:srgbClr val="1F2933"/>
                          </a:solidFill>
                          <a:latin typeface="Segoe UI"/>
                        </a:rPr>
                        <a:t>14</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100" b="false" i="false">
                          <a:solidFill>
                            <a:srgbClr val="1F2933"/>
                          </a:solidFill>
                          <a:latin typeface="Segoe UI"/>
                        </a:rPr>
                        <a:t>Cargar hechos_ventas</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100" b="false" i="false">
                          <a:solidFill>
                            <a:srgbClr val="1F2933"/>
                          </a:solidFill>
                          <a:latin typeface="Segoe UI"/>
                        </a:rPr>
                        <a:t>Salida Tabla (TableOutput)</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100" b="false" i="false">
                          <a:solidFill>
                            <a:srgbClr val="1F2933"/>
                          </a:solidFill>
                          <a:latin typeface="Segoe UI"/>
                        </a:rPr>
                        <a:t>Tabla: hechos_ventas; Conexión: dw_grano_de_oro</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r>
              <a:tr h="667512">
                <a:tc>
                  <a:txBody>
                    <a:bodyPr anchor="t" rtlCol="false"/>
                    <a:lstStyle/>
                    <a:p>
                      <a:pPr algn="r"/>
                      <a:r>
                        <a:rPr lang="es-ES" sz="1100" b="false" i="false">
                          <a:solidFill>
                            <a:srgbClr val="1F2933"/>
                          </a:solidFill>
                          <a:latin typeface="Segoe UI"/>
                        </a:rPr>
                        <a:t>15</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Preparar rechazo</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Selecciona/Renombra valores (SelectValues)</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Seleccionar o eliminar campos de una fila. Opcionalmente, se puede establecer la meta-información del campo: tipo, longitud y precisión.</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r>
              <a:tr h="483108">
                <a:tc>
                  <a:txBody>
                    <a:bodyPr anchor="t" rtlCol="false"/>
                    <a:lstStyle/>
                    <a:p>
                      <a:pPr algn="r"/>
                      <a:r>
                        <a:rPr lang="es-ES" sz="1100" b="false" i="false">
                          <a:solidFill>
                            <a:srgbClr val="1F2933"/>
                          </a:solidFill>
                          <a:latin typeface="Segoe UI"/>
                        </a:rPr>
                        <a:t>16</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100" b="false" i="false">
                          <a:solidFill>
                            <a:srgbClr val="1F2933"/>
                          </a:solidFill>
                          <a:latin typeface="Segoe UI"/>
                        </a:rPr>
                        <a:t>Escribir rechazos</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100" b="false" i="false">
                          <a:solidFill>
                            <a:srgbClr val="1F2933"/>
                          </a:solidFill>
                          <a:latin typeface="Segoe UI"/>
                        </a:rPr>
                        <a:t>Salida Fichero de Texto (TextFileOutput)</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100" b="false" i="false">
                          <a:solidFill>
                            <a:srgbClr val="1F2933"/>
                          </a:solidFill>
                          <a:latin typeface="Segoe UI"/>
                        </a:rPr>
                        <a:t>Escribe: ${Internal.Entry.Current.Directory}/../salida/rechazos_ventas.csv</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r>
            </a:tbl>
          </a:graphicData>
        </a:graphic>
      </p:graphicFrame>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203200"/>
            <a:ext cx="11176000" cy="635000"/>
          </a:xfrm>
        </p:spPr>
        <p:txBody>
          <a:bodyPr lIns="0" rIns="0" wrap="square" anchor="ctr"/>
          <a:lstStyle/>
          <a:p>
            <a:pPr algn="l"/>
            <a:r>
              <a:rPr lang="es-ES" sz="2600" b="true" i="false">
                <a:solidFill>
                  <a:srgbClr val="243B53"/>
                </a:solidFill>
                <a:latin typeface="Segoe UI"/>
              </a:rPr>
              <a:t>Linaje de campos</a:t>
            </a:r>
            <a:endParaRPr sz="2600" lang="es-ES"/>
          </a:p>
        </p:txBody>
      </p:sp>
      <p:pic>
        <p:nvPicPr>
          <p:cNvPr name="Picture 3" id="3"/>
          <p:cNvPicPr>
            <a:picLocks noChangeAspect="true"/>
          </p:cNvPicPr>
          <p:nvPr/>
        </p:nvPicPr>
        <p:blipFill>
          <a:blip r:embed="rId2"/>
          <a:stretch>
            <a:fillRect/>
          </a:stretch>
        </p:blipFill>
        <p:spPr>
          <a:xfrm>
            <a:off x="10248900" y="5510084"/>
            <a:ext cx="1435100" cy="814516"/>
          </a:xfrm>
          <a:prstGeom prst="rect">
            <a:avLst/>
          </a:prstGeom>
        </p:spPr>
      </p:pic>
      <p:sp>
        <p:nvSpPr>
          <p:cNvPr name="AutoShape 4" id="4"/>
          <p:cNvSpPr/>
          <p:nvPr/>
        </p:nvSpPr>
        <p:spPr>
          <a:xfrm>
            <a:off x="0" y="0"/>
            <a:ext cx="12192000" cy="76200"/>
          </a:xfrm>
          <a:prstGeom prst="rect">
            <a:avLst/>
          </a:prstGeom>
          <a:solidFill>
            <a:srgbClr val="243B53"/>
          </a:solidFill>
          <a:ln>
            <a:noFill/>
          </a:ln>
        </p:spPr>
      </p:sp>
      <p:pic>
        <p:nvPicPr>
          <p:cNvPr name="Picture 5" id="5"/>
          <p:cNvPicPr>
            <a:picLocks noChangeAspect="true"/>
          </p:cNvPicPr>
          <p:nvPr/>
        </p:nvPicPr>
        <p:blipFill>
          <a:blip r:embed="rId3"/>
          <a:stretch>
            <a:fillRect/>
          </a:stretch>
        </p:blipFill>
        <p:spPr>
          <a:xfrm>
            <a:off x="508000" y="6508750"/>
            <a:ext cx="177800" cy="100914"/>
          </a:xfrm>
          <a:prstGeom prst="rect">
            <a:avLst/>
          </a:prstGeom>
        </p:spPr>
      </p:pic>
      <p:sp>
        <p:nvSpPr>
          <p:cNvPr name="TextBox 6" id="6"/>
          <p:cNvSpPr txBox="true"/>
          <p:nvPr/>
        </p:nvSpPr>
        <p:spPr>
          <a:xfrm>
            <a:off x="749300" y="6451600"/>
            <a:ext cx="5080000" cy="228600"/>
          </a:xfrm>
          <a:prstGeom prst="rect">
            <a:avLst/>
          </a:prstGeom>
        </p:spPr>
        <p:txBody>
          <a:bodyPr anchor="ctr" rtlCol="false" wrap="square" lIns="0" rIns="0" tIns="25400" bIns="25400"/>
          <a:lstStyle/>
          <a:p>
            <a:pPr algn="l"/>
            <a:r>
              <a:rPr lang="es-ES" sz="750" b="false" i="false">
                <a:solidFill>
                  <a:srgbClr val="6B7785"/>
                </a:solidFill>
                <a:latin typeface="Segoe UI"/>
              </a:rPr>
              <a:t>Pentaho Live · IDC Studios</a:t>
            </a:r>
            <a:endParaRPr sz="750" lang="es-ES"/>
          </a:p>
        </p:txBody>
      </p:sp>
      <p:sp>
        <p:nvSpPr>
          <p:cNvPr name="TextBox 7" id="7"/>
          <p:cNvSpPr txBox="true"/>
          <p:nvPr/>
        </p:nvSpPr>
        <p:spPr>
          <a:xfrm>
            <a:off x="10160000" y="6451600"/>
            <a:ext cx="1524000" cy="228600"/>
          </a:xfrm>
          <a:prstGeom prst="rect">
            <a:avLst/>
          </a:prstGeom>
        </p:spPr>
        <p:txBody>
          <a:bodyPr anchor="ctr" rtlCol="false" wrap="square" lIns="0" rIns="0" tIns="25400" bIns="25400"/>
          <a:lstStyle/>
          <a:p>
            <a:pPr algn="r"/>
            <a:fld id="{BFDF1D98-C061-48CC-9A7D-D37F435D189F}" type="slidenum">
              <a:rPr lang="es-ES" sz="750">
                <a:solidFill>
                  <a:srgbClr val="6B7785"/>
                </a:solidFill>
                <a:latin typeface="Segoe UI"/>
              </a:rPr>
              <a:t>8</a:t>
            </a:fld>
            <a:endParaRPr sz="750" lang="es-ES"/>
          </a:p>
        </p:txBody>
      </p:sp>
      <p:sp>
        <p:nvSpPr>
          <p:cNvPr name="TextBox 8" id="8"/>
          <p:cNvSpPr txBox="true"/>
          <p:nvPr/>
        </p:nvSpPr>
        <p:spPr>
          <a:xfrm>
            <a:off x="508000" y="1016000"/>
            <a:ext cx="11176000" cy="842518"/>
          </a:xfrm>
          <a:prstGeom prst="rect">
            <a:avLst/>
          </a:prstGeom>
        </p:spPr>
        <p:txBody>
          <a:bodyPr anchor="t" rtlCol="false" wrap="square" lIns="0" rIns="0" tIns="25400" bIns="25400"/>
          <a:lstStyle/>
          <a:p>
            <a:pPr algn="l">
              <a:spcAft>
                <a:spcPts val="489"/>
              </a:spcAft>
            </a:pPr>
            <a:r>
              <a:rPr lang="es-ES" sz="1400" b="true" i="false">
                <a:solidFill>
                  <a:srgbClr val="1F2933"/>
                </a:solidFill>
                <a:latin typeface="Segoe UI"/>
              </a:rPr>
              <a:t>Para qué sirve:</a:t>
            </a:r>
            <a:r>
              <a:rPr lang="es-ES" sz="1400" b="false" i="false">
                <a:solidFill>
                  <a:srgbClr val="1F2933"/>
                </a:solidFill>
                <a:latin typeface="Segoe UI"/>
              </a:rPr>
              <a:t> muestra de dónde sale cada campo que escribe la transformación y qué le pasa por el camino. Sirve para saber qué se rompe si cambias una columna de origen (análisis de impacto), para encontrar en qué step se estropea un valor que sale mal y para documentar el proceso (auditorías y normativa).</a:t>
            </a:r>
            <a:endParaRPr sz="1400" lang="es-ES"/>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203200"/>
            <a:ext cx="11176000" cy="635000"/>
          </a:xfrm>
        </p:spPr>
        <p:txBody>
          <a:bodyPr lIns="0" rIns="0" wrap="square" anchor="ctr"/>
          <a:lstStyle/>
          <a:p>
            <a:pPr algn="l"/>
            <a:r>
              <a:rPr lang="es-ES" sz="2600" b="true" i="false">
                <a:solidFill>
                  <a:srgbClr val="243B53"/>
                </a:solidFill>
                <a:latin typeface="Segoe UI"/>
              </a:rPr>
              <a:t>Linaje de campos (cont.)</a:t>
            </a:r>
            <a:endParaRPr sz="2600" lang="es-ES"/>
          </a:p>
        </p:txBody>
      </p:sp>
      <p:pic>
        <p:nvPicPr>
          <p:cNvPr name="Picture 3" id="3"/>
          <p:cNvPicPr>
            <a:picLocks noChangeAspect="true"/>
          </p:cNvPicPr>
          <p:nvPr/>
        </p:nvPicPr>
        <p:blipFill>
          <a:blip r:embed="rId2"/>
          <a:stretch>
            <a:fillRect/>
          </a:stretch>
        </p:blipFill>
        <p:spPr>
          <a:xfrm>
            <a:off x="10248900" y="5510084"/>
            <a:ext cx="1435100" cy="814516"/>
          </a:xfrm>
          <a:prstGeom prst="rect">
            <a:avLst/>
          </a:prstGeom>
        </p:spPr>
      </p:pic>
      <p:sp>
        <p:nvSpPr>
          <p:cNvPr name="AutoShape 4" id="4"/>
          <p:cNvSpPr/>
          <p:nvPr/>
        </p:nvSpPr>
        <p:spPr>
          <a:xfrm>
            <a:off x="0" y="0"/>
            <a:ext cx="12192000" cy="76200"/>
          </a:xfrm>
          <a:prstGeom prst="rect">
            <a:avLst/>
          </a:prstGeom>
          <a:solidFill>
            <a:srgbClr val="243B53"/>
          </a:solidFill>
          <a:ln>
            <a:noFill/>
          </a:ln>
        </p:spPr>
      </p:sp>
      <p:pic>
        <p:nvPicPr>
          <p:cNvPr name="Picture 5" id="5"/>
          <p:cNvPicPr>
            <a:picLocks noChangeAspect="true"/>
          </p:cNvPicPr>
          <p:nvPr/>
        </p:nvPicPr>
        <p:blipFill>
          <a:blip r:embed="rId3"/>
          <a:stretch>
            <a:fillRect/>
          </a:stretch>
        </p:blipFill>
        <p:spPr>
          <a:xfrm>
            <a:off x="508000" y="6508750"/>
            <a:ext cx="177800" cy="100914"/>
          </a:xfrm>
          <a:prstGeom prst="rect">
            <a:avLst/>
          </a:prstGeom>
        </p:spPr>
      </p:pic>
      <p:sp>
        <p:nvSpPr>
          <p:cNvPr name="TextBox 6" id="6"/>
          <p:cNvSpPr txBox="true"/>
          <p:nvPr/>
        </p:nvSpPr>
        <p:spPr>
          <a:xfrm>
            <a:off x="749300" y="6451600"/>
            <a:ext cx="5080000" cy="228600"/>
          </a:xfrm>
          <a:prstGeom prst="rect">
            <a:avLst/>
          </a:prstGeom>
        </p:spPr>
        <p:txBody>
          <a:bodyPr anchor="ctr" rtlCol="false" wrap="square" lIns="0" rIns="0" tIns="25400" bIns="25400"/>
          <a:lstStyle/>
          <a:p>
            <a:pPr algn="l"/>
            <a:r>
              <a:rPr lang="es-ES" sz="750" b="false" i="false">
                <a:solidFill>
                  <a:srgbClr val="6B7785"/>
                </a:solidFill>
                <a:latin typeface="Segoe UI"/>
              </a:rPr>
              <a:t>Pentaho Live · IDC Studios</a:t>
            </a:r>
            <a:endParaRPr sz="750" lang="es-ES"/>
          </a:p>
        </p:txBody>
      </p:sp>
      <p:sp>
        <p:nvSpPr>
          <p:cNvPr name="TextBox 7" id="7"/>
          <p:cNvSpPr txBox="true"/>
          <p:nvPr/>
        </p:nvSpPr>
        <p:spPr>
          <a:xfrm>
            <a:off x="10160000" y="6451600"/>
            <a:ext cx="1524000" cy="228600"/>
          </a:xfrm>
          <a:prstGeom prst="rect">
            <a:avLst/>
          </a:prstGeom>
        </p:spPr>
        <p:txBody>
          <a:bodyPr anchor="ctr" rtlCol="false" wrap="square" lIns="0" rIns="0" tIns="25400" bIns="25400"/>
          <a:lstStyle/>
          <a:p>
            <a:pPr algn="r"/>
            <a:fld id="{682527A7-50EA-440A-BEE9-BFE73B1E8E9C}" type="slidenum">
              <a:rPr lang="es-ES" sz="750">
                <a:solidFill>
                  <a:srgbClr val="6B7785"/>
                </a:solidFill>
                <a:latin typeface="Segoe UI"/>
              </a:rPr>
              <a:t>9</a:t>
            </a:fld>
            <a:endParaRPr sz="750" lang="es-ES"/>
          </a:p>
        </p:txBody>
      </p:sp>
      <p:sp>
        <p:nvSpPr>
          <p:cNvPr name="TextBox 8" id="8"/>
          <p:cNvSpPr txBox="true"/>
          <p:nvPr/>
        </p:nvSpPr>
        <p:spPr>
          <a:xfrm>
            <a:off x="508000" y="1016000"/>
            <a:ext cx="11176000" cy="254000"/>
          </a:xfrm>
          <a:prstGeom prst="rect">
            <a:avLst/>
          </a:prstGeom>
        </p:spPr>
        <p:txBody>
          <a:bodyPr anchor="t" rtlCol="false" wrap="square" lIns="0" rIns="0" tIns="25400" bIns="25400"/>
          <a:lstStyle/>
          <a:p>
            <a:pPr algn="l"/>
            <a:r>
              <a:rPr lang="es-ES" sz="1300" b="true" i="false">
                <a:solidFill>
                  <a:srgbClr val="243B53"/>
                </a:solidFill>
                <a:latin typeface="Segoe UI"/>
              </a:rPr>
              <a:t>Linaje hacia «Cargar hechos_ventas» · Parte 1 de 4</a:t>
            </a:r>
            <a:endParaRPr sz="1300" lang="es-ES"/>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99690" y="1295400"/>
            <a:ext cx="10392620" cy="4978400"/>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203200"/>
            <a:ext cx="11176000" cy="635000"/>
          </a:xfrm>
        </p:spPr>
        <p:txBody>
          <a:bodyPr lIns="0" rIns="0" wrap="square" anchor="ctr"/>
          <a:lstStyle/>
          <a:p>
            <a:pPr algn="l"/>
            <a:r>
              <a:rPr lang="es-ES" sz="2600" b="true" i="false">
                <a:solidFill>
                  <a:srgbClr val="243B53"/>
                </a:solidFill>
                <a:latin typeface="Segoe UI"/>
              </a:rPr>
              <a:t>Linaje de campos (cont.)</a:t>
            </a:r>
            <a:endParaRPr sz="2600" lang="es-ES"/>
          </a:p>
        </p:txBody>
      </p:sp>
      <p:pic>
        <p:nvPicPr>
          <p:cNvPr name="Picture 3" id="3"/>
          <p:cNvPicPr>
            <a:picLocks noChangeAspect="true"/>
          </p:cNvPicPr>
          <p:nvPr/>
        </p:nvPicPr>
        <p:blipFill>
          <a:blip r:embed="rId2"/>
          <a:stretch>
            <a:fillRect/>
          </a:stretch>
        </p:blipFill>
        <p:spPr>
          <a:xfrm>
            <a:off x="10248900" y="5510084"/>
            <a:ext cx="1435100" cy="814516"/>
          </a:xfrm>
          <a:prstGeom prst="rect">
            <a:avLst/>
          </a:prstGeom>
        </p:spPr>
      </p:pic>
      <p:sp>
        <p:nvSpPr>
          <p:cNvPr name="AutoShape 4" id="4"/>
          <p:cNvSpPr/>
          <p:nvPr/>
        </p:nvSpPr>
        <p:spPr>
          <a:xfrm>
            <a:off x="0" y="0"/>
            <a:ext cx="12192000" cy="76200"/>
          </a:xfrm>
          <a:prstGeom prst="rect">
            <a:avLst/>
          </a:prstGeom>
          <a:solidFill>
            <a:srgbClr val="243B53"/>
          </a:solidFill>
          <a:ln>
            <a:noFill/>
          </a:ln>
        </p:spPr>
      </p:sp>
      <p:pic>
        <p:nvPicPr>
          <p:cNvPr name="Picture 5" id="5"/>
          <p:cNvPicPr>
            <a:picLocks noChangeAspect="true"/>
          </p:cNvPicPr>
          <p:nvPr/>
        </p:nvPicPr>
        <p:blipFill>
          <a:blip r:embed="rId3"/>
          <a:stretch>
            <a:fillRect/>
          </a:stretch>
        </p:blipFill>
        <p:spPr>
          <a:xfrm>
            <a:off x="508000" y="6508750"/>
            <a:ext cx="177800" cy="100914"/>
          </a:xfrm>
          <a:prstGeom prst="rect">
            <a:avLst/>
          </a:prstGeom>
        </p:spPr>
      </p:pic>
      <p:sp>
        <p:nvSpPr>
          <p:cNvPr name="TextBox 6" id="6"/>
          <p:cNvSpPr txBox="true"/>
          <p:nvPr/>
        </p:nvSpPr>
        <p:spPr>
          <a:xfrm>
            <a:off x="749300" y="6451600"/>
            <a:ext cx="5080000" cy="228600"/>
          </a:xfrm>
          <a:prstGeom prst="rect">
            <a:avLst/>
          </a:prstGeom>
        </p:spPr>
        <p:txBody>
          <a:bodyPr anchor="ctr" rtlCol="false" wrap="square" lIns="0" rIns="0" tIns="25400" bIns="25400"/>
          <a:lstStyle/>
          <a:p>
            <a:pPr algn="l"/>
            <a:r>
              <a:rPr lang="es-ES" sz="750" b="false" i="false">
                <a:solidFill>
                  <a:srgbClr val="6B7785"/>
                </a:solidFill>
                <a:latin typeface="Segoe UI"/>
              </a:rPr>
              <a:t>Pentaho Live · IDC Studios</a:t>
            </a:r>
            <a:endParaRPr sz="750" lang="es-ES"/>
          </a:p>
        </p:txBody>
      </p:sp>
      <p:sp>
        <p:nvSpPr>
          <p:cNvPr name="TextBox 7" id="7"/>
          <p:cNvSpPr txBox="true"/>
          <p:nvPr/>
        </p:nvSpPr>
        <p:spPr>
          <a:xfrm>
            <a:off x="10160000" y="6451600"/>
            <a:ext cx="1524000" cy="228600"/>
          </a:xfrm>
          <a:prstGeom prst="rect">
            <a:avLst/>
          </a:prstGeom>
        </p:spPr>
        <p:txBody>
          <a:bodyPr anchor="ctr" rtlCol="false" wrap="square" lIns="0" rIns="0" tIns="25400" bIns="25400"/>
          <a:lstStyle/>
          <a:p>
            <a:pPr algn="r"/>
            <a:fld id="{4A3176CB-1D05-46FE-ACC8-DF1352E483BE}" type="slidenum">
              <a:rPr lang="es-ES" sz="750">
                <a:solidFill>
                  <a:srgbClr val="6B7785"/>
                </a:solidFill>
                <a:latin typeface="Segoe UI"/>
              </a:rPr>
              <a:t>10</a:t>
            </a:fld>
            <a:endParaRPr sz="750" lang="es-ES"/>
          </a:p>
        </p:txBody>
      </p:sp>
      <p:sp>
        <p:nvSpPr>
          <p:cNvPr name="TextBox 8" id="8"/>
          <p:cNvSpPr txBox="true"/>
          <p:nvPr/>
        </p:nvSpPr>
        <p:spPr>
          <a:xfrm>
            <a:off x="508000" y="1016000"/>
            <a:ext cx="11176000" cy="254000"/>
          </a:xfrm>
          <a:prstGeom prst="rect">
            <a:avLst/>
          </a:prstGeom>
        </p:spPr>
        <p:txBody>
          <a:bodyPr anchor="t" rtlCol="false" wrap="square" lIns="0" rIns="0" tIns="25400" bIns="25400"/>
          <a:lstStyle/>
          <a:p>
            <a:pPr algn="l"/>
            <a:r>
              <a:rPr lang="es-ES" sz="1300" b="true" i="false">
                <a:solidFill>
                  <a:srgbClr val="243B53"/>
                </a:solidFill>
                <a:latin typeface="Segoe UI"/>
              </a:rPr>
              <a:t>Linaje hacia «Cargar hechos_ventas» · Parte 2 de 4</a:t>
            </a:r>
            <a:endParaRPr sz="1300" lang="es-ES"/>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16242" y="1295400"/>
            <a:ext cx="10959517" cy="4978400"/>
          </a:xfrm>
          <a:prstGeom prst="rect">
            <a:avLst/>
          </a:prstGeom>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203200"/>
            <a:ext cx="11176000" cy="635000"/>
          </a:xfrm>
        </p:spPr>
        <p:txBody>
          <a:bodyPr lIns="0" rIns="0" wrap="square" anchor="ctr"/>
          <a:lstStyle/>
          <a:p>
            <a:pPr algn="l"/>
            <a:r>
              <a:rPr lang="es-ES" sz="2600" b="true" i="false">
                <a:solidFill>
                  <a:srgbClr val="243B53"/>
                </a:solidFill>
                <a:latin typeface="Segoe UI"/>
              </a:rPr>
              <a:t>Linaje de campos (cont.)</a:t>
            </a:r>
            <a:endParaRPr sz="2600" lang="es-ES"/>
          </a:p>
        </p:txBody>
      </p:sp>
      <p:pic>
        <p:nvPicPr>
          <p:cNvPr name="Picture 3" id="3"/>
          <p:cNvPicPr>
            <a:picLocks noChangeAspect="true"/>
          </p:cNvPicPr>
          <p:nvPr/>
        </p:nvPicPr>
        <p:blipFill>
          <a:blip r:embed="rId2"/>
          <a:stretch>
            <a:fillRect/>
          </a:stretch>
        </p:blipFill>
        <p:spPr>
          <a:xfrm>
            <a:off x="10248900" y="5510084"/>
            <a:ext cx="1435100" cy="814516"/>
          </a:xfrm>
          <a:prstGeom prst="rect">
            <a:avLst/>
          </a:prstGeom>
        </p:spPr>
      </p:pic>
      <p:sp>
        <p:nvSpPr>
          <p:cNvPr name="AutoShape 4" id="4"/>
          <p:cNvSpPr/>
          <p:nvPr/>
        </p:nvSpPr>
        <p:spPr>
          <a:xfrm>
            <a:off x="0" y="0"/>
            <a:ext cx="12192000" cy="76200"/>
          </a:xfrm>
          <a:prstGeom prst="rect">
            <a:avLst/>
          </a:prstGeom>
          <a:solidFill>
            <a:srgbClr val="243B53"/>
          </a:solidFill>
          <a:ln>
            <a:noFill/>
          </a:ln>
        </p:spPr>
      </p:sp>
      <p:pic>
        <p:nvPicPr>
          <p:cNvPr name="Picture 5" id="5"/>
          <p:cNvPicPr>
            <a:picLocks noChangeAspect="true"/>
          </p:cNvPicPr>
          <p:nvPr/>
        </p:nvPicPr>
        <p:blipFill>
          <a:blip r:embed="rId3"/>
          <a:stretch>
            <a:fillRect/>
          </a:stretch>
        </p:blipFill>
        <p:spPr>
          <a:xfrm>
            <a:off x="508000" y="6508750"/>
            <a:ext cx="177800" cy="100914"/>
          </a:xfrm>
          <a:prstGeom prst="rect">
            <a:avLst/>
          </a:prstGeom>
        </p:spPr>
      </p:pic>
      <p:sp>
        <p:nvSpPr>
          <p:cNvPr name="TextBox 6" id="6"/>
          <p:cNvSpPr txBox="true"/>
          <p:nvPr/>
        </p:nvSpPr>
        <p:spPr>
          <a:xfrm>
            <a:off x="749300" y="6451600"/>
            <a:ext cx="5080000" cy="228600"/>
          </a:xfrm>
          <a:prstGeom prst="rect">
            <a:avLst/>
          </a:prstGeom>
        </p:spPr>
        <p:txBody>
          <a:bodyPr anchor="ctr" rtlCol="false" wrap="square" lIns="0" rIns="0" tIns="25400" bIns="25400"/>
          <a:lstStyle/>
          <a:p>
            <a:pPr algn="l"/>
            <a:r>
              <a:rPr lang="es-ES" sz="750" b="false" i="false">
                <a:solidFill>
                  <a:srgbClr val="6B7785"/>
                </a:solidFill>
                <a:latin typeface="Segoe UI"/>
              </a:rPr>
              <a:t>Pentaho Live · IDC Studios</a:t>
            </a:r>
            <a:endParaRPr sz="750" lang="es-ES"/>
          </a:p>
        </p:txBody>
      </p:sp>
      <p:sp>
        <p:nvSpPr>
          <p:cNvPr name="TextBox 7" id="7"/>
          <p:cNvSpPr txBox="true"/>
          <p:nvPr/>
        </p:nvSpPr>
        <p:spPr>
          <a:xfrm>
            <a:off x="10160000" y="6451600"/>
            <a:ext cx="1524000" cy="228600"/>
          </a:xfrm>
          <a:prstGeom prst="rect">
            <a:avLst/>
          </a:prstGeom>
        </p:spPr>
        <p:txBody>
          <a:bodyPr anchor="ctr" rtlCol="false" wrap="square" lIns="0" rIns="0" tIns="25400" bIns="25400"/>
          <a:lstStyle/>
          <a:p>
            <a:pPr algn="r"/>
            <a:fld id="{1A08E001-BE29-40DB-BE35-C45717D4749C}" type="slidenum">
              <a:rPr lang="es-ES" sz="750">
                <a:solidFill>
                  <a:srgbClr val="6B7785"/>
                </a:solidFill>
                <a:latin typeface="Segoe UI"/>
              </a:rPr>
              <a:t>11</a:t>
            </a:fld>
            <a:endParaRPr sz="750" lang="es-ES"/>
          </a:p>
        </p:txBody>
      </p:sp>
      <p:sp>
        <p:nvSpPr>
          <p:cNvPr name="TextBox 8" id="8"/>
          <p:cNvSpPr txBox="true"/>
          <p:nvPr/>
        </p:nvSpPr>
        <p:spPr>
          <a:xfrm>
            <a:off x="508000" y="1016000"/>
            <a:ext cx="11176000" cy="254000"/>
          </a:xfrm>
          <a:prstGeom prst="rect">
            <a:avLst/>
          </a:prstGeom>
        </p:spPr>
        <p:txBody>
          <a:bodyPr anchor="t" rtlCol="false" wrap="square" lIns="0" rIns="0" tIns="25400" bIns="25400"/>
          <a:lstStyle/>
          <a:p>
            <a:pPr algn="l"/>
            <a:r>
              <a:rPr lang="es-ES" sz="1300" b="true" i="false">
                <a:solidFill>
                  <a:srgbClr val="243B53"/>
                </a:solidFill>
                <a:latin typeface="Segoe UI"/>
              </a:rPr>
              <a:t>Linaje hacia «Cargar hechos_ventas» · Parte 3 de 4</a:t>
            </a:r>
            <a:endParaRPr sz="1300" lang="es-ES"/>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342753" y="1295400"/>
            <a:ext cx="7506494" cy="4978400"/>
          </a:xfrm>
          <a:prstGeom prst="rect">
            <a:avLst/>
          </a:prstGeom>
        </p:spPr>
      </p:pic>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203200"/>
            <a:ext cx="11176000" cy="635000"/>
          </a:xfrm>
        </p:spPr>
        <p:txBody>
          <a:bodyPr lIns="0" rIns="0" wrap="square" anchor="ctr"/>
          <a:lstStyle/>
          <a:p>
            <a:pPr algn="l"/>
            <a:r>
              <a:rPr lang="es-ES" sz="2600" b="true" i="false">
                <a:solidFill>
                  <a:srgbClr val="243B53"/>
                </a:solidFill>
                <a:latin typeface="Segoe UI"/>
              </a:rPr>
              <a:t>Linaje de campos (cont.)</a:t>
            </a:r>
            <a:endParaRPr sz="2600" lang="es-ES"/>
          </a:p>
        </p:txBody>
      </p:sp>
      <p:pic>
        <p:nvPicPr>
          <p:cNvPr name="Picture 3" id="3"/>
          <p:cNvPicPr>
            <a:picLocks noChangeAspect="true"/>
          </p:cNvPicPr>
          <p:nvPr/>
        </p:nvPicPr>
        <p:blipFill>
          <a:blip r:embed="rId2"/>
          <a:stretch>
            <a:fillRect/>
          </a:stretch>
        </p:blipFill>
        <p:spPr>
          <a:xfrm>
            <a:off x="10248900" y="5510084"/>
            <a:ext cx="1435100" cy="814516"/>
          </a:xfrm>
          <a:prstGeom prst="rect">
            <a:avLst/>
          </a:prstGeom>
        </p:spPr>
      </p:pic>
      <p:sp>
        <p:nvSpPr>
          <p:cNvPr name="AutoShape 4" id="4"/>
          <p:cNvSpPr/>
          <p:nvPr/>
        </p:nvSpPr>
        <p:spPr>
          <a:xfrm>
            <a:off x="0" y="0"/>
            <a:ext cx="12192000" cy="76200"/>
          </a:xfrm>
          <a:prstGeom prst="rect">
            <a:avLst/>
          </a:prstGeom>
          <a:solidFill>
            <a:srgbClr val="243B53"/>
          </a:solidFill>
          <a:ln>
            <a:noFill/>
          </a:ln>
        </p:spPr>
      </p:sp>
      <p:pic>
        <p:nvPicPr>
          <p:cNvPr name="Picture 5" id="5"/>
          <p:cNvPicPr>
            <a:picLocks noChangeAspect="true"/>
          </p:cNvPicPr>
          <p:nvPr/>
        </p:nvPicPr>
        <p:blipFill>
          <a:blip r:embed="rId3"/>
          <a:stretch>
            <a:fillRect/>
          </a:stretch>
        </p:blipFill>
        <p:spPr>
          <a:xfrm>
            <a:off x="508000" y="6508750"/>
            <a:ext cx="177800" cy="100914"/>
          </a:xfrm>
          <a:prstGeom prst="rect">
            <a:avLst/>
          </a:prstGeom>
        </p:spPr>
      </p:pic>
      <p:sp>
        <p:nvSpPr>
          <p:cNvPr name="TextBox 6" id="6"/>
          <p:cNvSpPr txBox="true"/>
          <p:nvPr/>
        </p:nvSpPr>
        <p:spPr>
          <a:xfrm>
            <a:off x="749300" y="6451600"/>
            <a:ext cx="5080000" cy="228600"/>
          </a:xfrm>
          <a:prstGeom prst="rect">
            <a:avLst/>
          </a:prstGeom>
        </p:spPr>
        <p:txBody>
          <a:bodyPr anchor="ctr" rtlCol="false" wrap="square" lIns="0" rIns="0" tIns="25400" bIns="25400"/>
          <a:lstStyle/>
          <a:p>
            <a:pPr algn="l"/>
            <a:r>
              <a:rPr lang="es-ES" sz="750" b="false" i="false">
                <a:solidFill>
                  <a:srgbClr val="6B7785"/>
                </a:solidFill>
                <a:latin typeface="Segoe UI"/>
              </a:rPr>
              <a:t>Pentaho Live · IDC Studios</a:t>
            </a:r>
            <a:endParaRPr sz="750" lang="es-ES"/>
          </a:p>
        </p:txBody>
      </p:sp>
      <p:sp>
        <p:nvSpPr>
          <p:cNvPr name="TextBox 7" id="7"/>
          <p:cNvSpPr txBox="true"/>
          <p:nvPr/>
        </p:nvSpPr>
        <p:spPr>
          <a:xfrm>
            <a:off x="10160000" y="6451600"/>
            <a:ext cx="1524000" cy="228600"/>
          </a:xfrm>
          <a:prstGeom prst="rect">
            <a:avLst/>
          </a:prstGeom>
        </p:spPr>
        <p:txBody>
          <a:bodyPr anchor="ctr" rtlCol="false" wrap="square" lIns="0" rIns="0" tIns="25400" bIns="25400"/>
          <a:lstStyle/>
          <a:p>
            <a:pPr algn="r"/>
            <a:fld id="{4934A3F9-DF89-48D7-A6E7-2CE65D334133}" type="slidenum">
              <a:rPr lang="es-ES" sz="750">
                <a:solidFill>
                  <a:srgbClr val="6B7785"/>
                </a:solidFill>
                <a:latin typeface="Segoe UI"/>
              </a:rPr>
              <a:t>12</a:t>
            </a:fld>
            <a:endParaRPr sz="750" lang="es-ES"/>
          </a:p>
        </p:txBody>
      </p:sp>
      <p:sp>
        <p:nvSpPr>
          <p:cNvPr name="TextBox 8" id="8"/>
          <p:cNvSpPr txBox="true"/>
          <p:nvPr/>
        </p:nvSpPr>
        <p:spPr>
          <a:xfrm>
            <a:off x="508000" y="1016000"/>
            <a:ext cx="11176000" cy="254000"/>
          </a:xfrm>
          <a:prstGeom prst="rect">
            <a:avLst/>
          </a:prstGeom>
        </p:spPr>
        <p:txBody>
          <a:bodyPr anchor="t" rtlCol="false" wrap="square" lIns="0" rIns="0" tIns="25400" bIns="25400"/>
          <a:lstStyle/>
          <a:p>
            <a:pPr algn="l"/>
            <a:r>
              <a:rPr lang="es-ES" sz="1300" b="true" i="false">
                <a:solidFill>
                  <a:srgbClr val="243B53"/>
                </a:solidFill>
                <a:latin typeface="Segoe UI"/>
              </a:rPr>
              <a:t>Linaje hacia «Cargar hechos_ventas» · Parte 4 de 4</a:t>
            </a:r>
            <a:endParaRPr sz="1300" lang="es-ES"/>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834640" y="1295400"/>
            <a:ext cx="6522720" cy="1889760"/>
          </a:xfrm>
          <a:prstGeom prst="rect">
            <a:avLst/>
          </a:prstGeom>
        </p:spPr>
      </p:pic>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203200"/>
            <a:ext cx="11176000" cy="635000"/>
          </a:xfrm>
        </p:spPr>
        <p:txBody>
          <a:bodyPr lIns="0" rIns="0" wrap="square" anchor="ctr"/>
          <a:lstStyle/>
          <a:p>
            <a:pPr algn="l"/>
            <a:r>
              <a:rPr lang="es-ES" sz="2600" b="true" i="false">
                <a:solidFill>
                  <a:srgbClr val="243B53"/>
                </a:solidFill>
                <a:latin typeface="Segoe UI"/>
              </a:rPr>
              <a:t>Linaje de campos (cont.)</a:t>
            </a:r>
            <a:endParaRPr sz="2600" lang="es-ES"/>
          </a:p>
        </p:txBody>
      </p:sp>
      <p:pic>
        <p:nvPicPr>
          <p:cNvPr name="Picture 3" id="3"/>
          <p:cNvPicPr>
            <a:picLocks noChangeAspect="true"/>
          </p:cNvPicPr>
          <p:nvPr/>
        </p:nvPicPr>
        <p:blipFill>
          <a:blip r:embed="rId2"/>
          <a:stretch>
            <a:fillRect/>
          </a:stretch>
        </p:blipFill>
        <p:spPr>
          <a:xfrm>
            <a:off x="10248900" y="5510084"/>
            <a:ext cx="1435100" cy="814516"/>
          </a:xfrm>
          <a:prstGeom prst="rect">
            <a:avLst/>
          </a:prstGeom>
        </p:spPr>
      </p:pic>
      <p:sp>
        <p:nvSpPr>
          <p:cNvPr name="AutoShape 4" id="4"/>
          <p:cNvSpPr/>
          <p:nvPr/>
        </p:nvSpPr>
        <p:spPr>
          <a:xfrm>
            <a:off x="0" y="0"/>
            <a:ext cx="12192000" cy="76200"/>
          </a:xfrm>
          <a:prstGeom prst="rect">
            <a:avLst/>
          </a:prstGeom>
          <a:solidFill>
            <a:srgbClr val="243B53"/>
          </a:solidFill>
          <a:ln>
            <a:noFill/>
          </a:ln>
        </p:spPr>
      </p:sp>
      <p:pic>
        <p:nvPicPr>
          <p:cNvPr name="Picture 5" id="5"/>
          <p:cNvPicPr>
            <a:picLocks noChangeAspect="true"/>
          </p:cNvPicPr>
          <p:nvPr/>
        </p:nvPicPr>
        <p:blipFill>
          <a:blip r:embed="rId3"/>
          <a:stretch>
            <a:fillRect/>
          </a:stretch>
        </p:blipFill>
        <p:spPr>
          <a:xfrm>
            <a:off x="508000" y="6508750"/>
            <a:ext cx="177800" cy="100914"/>
          </a:xfrm>
          <a:prstGeom prst="rect">
            <a:avLst/>
          </a:prstGeom>
        </p:spPr>
      </p:pic>
      <p:sp>
        <p:nvSpPr>
          <p:cNvPr name="TextBox 6" id="6"/>
          <p:cNvSpPr txBox="true"/>
          <p:nvPr/>
        </p:nvSpPr>
        <p:spPr>
          <a:xfrm>
            <a:off x="749300" y="6451600"/>
            <a:ext cx="5080000" cy="228600"/>
          </a:xfrm>
          <a:prstGeom prst="rect">
            <a:avLst/>
          </a:prstGeom>
        </p:spPr>
        <p:txBody>
          <a:bodyPr anchor="ctr" rtlCol="false" wrap="square" lIns="0" rIns="0" tIns="25400" bIns="25400"/>
          <a:lstStyle/>
          <a:p>
            <a:pPr algn="l"/>
            <a:r>
              <a:rPr lang="es-ES" sz="750" b="false" i="false">
                <a:solidFill>
                  <a:srgbClr val="6B7785"/>
                </a:solidFill>
                <a:latin typeface="Segoe UI"/>
              </a:rPr>
              <a:t>Pentaho Live · IDC Studios</a:t>
            </a:r>
            <a:endParaRPr sz="750" lang="es-ES"/>
          </a:p>
        </p:txBody>
      </p:sp>
      <p:sp>
        <p:nvSpPr>
          <p:cNvPr name="TextBox 7" id="7"/>
          <p:cNvSpPr txBox="true"/>
          <p:nvPr/>
        </p:nvSpPr>
        <p:spPr>
          <a:xfrm>
            <a:off x="10160000" y="6451600"/>
            <a:ext cx="1524000" cy="228600"/>
          </a:xfrm>
          <a:prstGeom prst="rect">
            <a:avLst/>
          </a:prstGeom>
        </p:spPr>
        <p:txBody>
          <a:bodyPr anchor="ctr" rtlCol="false" wrap="square" lIns="0" rIns="0" tIns="25400" bIns="25400"/>
          <a:lstStyle/>
          <a:p>
            <a:pPr algn="r"/>
            <a:fld id="{A813CDF4-93AE-4903-BAFA-F19D6B3A915B}" type="slidenum">
              <a:rPr lang="es-ES" sz="750">
                <a:solidFill>
                  <a:srgbClr val="6B7785"/>
                </a:solidFill>
                <a:latin typeface="Segoe UI"/>
              </a:rPr>
              <a:t>13</a:t>
            </a:fld>
            <a:endParaRPr sz="750" lang="es-ES"/>
          </a:p>
        </p:txBody>
      </p:sp>
      <p:sp>
        <p:nvSpPr>
          <p:cNvPr name="TextBox 8" id="8"/>
          <p:cNvSpPr txBox="true"/>
          <p:nvPr/>
        </p:nvSpPr>
        <p:spPr>
          <a:xfrm>
            <a:off x="508000" y="1016000"/>
            <a:ext cx="11176000" cy="254000"/>
          </a:xfrm>
          <a:prstGeom prst="rect">
            <a:avLst/>
          </a:prstGeom>
        </p:spPr>
        <p:txBody>
          <a:bodyPr anchor="t" rtlCol="false" wrap="square" lIns="0" rIns="0" tIns="25400" bIns="25400"/>
          <a:lstStyle/>
          <a:p>
            <a:pPr algn="l"/>
            <a:r>
              <a:rPr lang="es-ES" sz="1300" b="true" i="false">
                <a:solidFill>
                  <a:srgbClr val="243B53"/>
                </a:solidFill>
                <a:latin typeface="Segoe UI"/>
              </a:rPr>
              <a:t>Linaje hacia «Escribir rechazos» · Parte 1 de 2</a:t>
            </a:r>
            <a:endParaRPr sz="1300" lang="es-ES"/>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686" y="1295400"/>
            <a:ext cx="10158627" cy="4978400"/>
          </a:xfrm>
          <a:prstGeom prst="rect">
            <a:avLst/>
          </a:prstGeom>
        </p:spPr>
      </p:pic>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203200"/>
            <a:ext cx="11176000" cy="635000"/>
          </a:xfrm>
        </p:spPr>
        <p:txBody>
          <a:bodyPr lIns="0" rIns="0" wrap="square" anchor="ctr"/>
          <a:lstStyle/>
          <a:p>
            <a:pPr algn="l"/>
            <a:r>
              <a:rPr lang="es-ES" sz="2600" b="true" i="false">
                <a:solidFill>
                  <a:srgbClr val="243B53"/>
                </a:solidFill>
                <a:latin typeface="Segoe UI"/>
              </a:rPr>
              <a:t>Linaje de campos (cont.)</a:t>
            </a:r>
            <a:endParaRPr sz="2600" lang="es-ES"/>
          </a:p>
        </p:txBody>
      </p:sp>
      <p:pic>
        <p:nvPicPr>
          <p:cNvPr name="Picture 3" id="3"/>
          <p:cNvPicPr>
            <a:picLocks noChangeAspect="true"/>
          </p:cNvPicPr>
          <p:nvPr/>
        </p:nvPicPr>
        <p:blipFill>
          <a:blip r:embed="rId2"/>
          <a:stretch>
            <a:fillRect/>
          </a:stretch>
        </p:blipFill>
        <p:spPr>
          <a:xfrm>
            <a:off x="10248900" y="5510084"/>
            <a:ext cx="1435100" cy="814516"/>
          </a:xfrm>
          <a:prstGeom prst="rect">
            <a:avLst/>
          </a:prstGeom>
        </p:spPr>
      </p:pic>
      <p:sp>
        <p:nvSpPr>
          <p:cNvPr name="AutoShape 4" id="4"/>
          <p:cNvSpPr/>
          <p:nvPr/>
        </p:nvSpPr>
        <p:spPr>
          <a:xfrm>
            <a:off x="0" y="0"/>
            <a:ext cx="12192000" cy="76200"/>
          </a:xfrm>
          <a:prstGeom prst="rect">
            <a:avLst/>
          </a:prstGeom>
          <a:solidFill>
            <a:srgbClr val="243B53"/>
          </a:solidFill>
          <a:ln>
            <a:noFill/>
          </a:ln>
        </p:spPr>
      </p:sp>
      <p:pic>
        <p:nvPicPr>
          <p:cNvPr name="Picture 5" id="5"/>
          <p:cNvPicPr>
            <a:picLocks noChangeAspect="true"/>
          </p:cNvPicPr>
          <p:nvPr/>
        </p:nvPicPr>
        <p:blipFill>
          <a:blip r:embed="rId3"/>
          <a:stretch>
            <a:fillRect/>
          </a:stretch>
        </p:blipFill>
        <p:spPr>
          <a:xfrm>
            <a:off x="508000" y="6508750"/>
            <a:ext cx="177800" cy="100914"/>
          </a:xfrm>
          <a:prstGeom prst="rect">
            <a:avLst/>
          </a:prstGeom>
        </p:spPr>
      </p:pic>
      <p:sp>
        <p:nvSpPr>
          <p:cNvPr name="TextBox 6" id="6"/>
          <p:cNvSpPr txBox="true"/>
          <p:nvPr/>
        </p:nvSpPr>
        <p:spPr>
          <a:xfrm>
            <a:off x="749300" y="6451600"/>
            <a:ext cx="5080000" cy="228600"/>
          </a:xfrm>
          <a:prstGeom prst="rect">
            <a:avLst/>
          </a:prstGeom>
        </p:spPr>
        <p:txBody>
          <a:bodyPr anchor="ctr" rtlCol="false" wrap="square" lIns="0" rIns="0" tIns="25400" bIns="25400"/>
          <a:lstStyle/>
          <a:p>
            <a:pPr algn="l"/>
            <a:r>
              <a:rPr lang="es-ES" sz="750" b="false" i="false">
                <a:solidFill>
                  <a:srgbClr val="6B7785"/>
                </a:solidFill>
                <a:latin typeface="Segoe UI"/>
              </a:rPr>
              <a:t>Pentaho Live · IDC Studios</a:t>
            </a:r>
            <a:endParaRPr sz="750" lang="es-ES"/>
          </a:p>
        </p:txBody>
      </p:sp>
      <p:sp>
        <p:nvSpPr>
          <p:cNvPr name="TextBox 7" id="7"/>
          <p:cNvSpPr txBox="true"/>
          <p:nvPr/>
        </p:nvSpPr>
        <p:spPr>
          <a:xfrm>
            <a:off x="10160000" y="6451600"/>
            <a:ext cx="1524000" cy="228600"/>
          </a:xfrm>
          <a:prstGeom prst="rect">
            <a:avLst/>
          </a:prstGeom>
        </p:spPr>
        <p:txBody>
          <a:bodyPr anchor="ctr" rtlCol="false" wrap="square" lIns="0" rIns="0" tIns="25400" bIns="25400"/>
          <a:lstStyle/>
          <a:p>
            <a:pPr algn="r"/>
            <a:fld id="{953BB100-DABC-41CF-A41B-861A066C7415}" type="slidenum">
              <a:rPr lang="es-ES" sz="750">
                <a:solidFill>
                  <a:srgbClr val="6B7785"/>
                </a:solidFill>
                <a:latin typeface="Segoe UI"/>
              </a:rPr>
              <a:t>14</a:t>
            </a:fld>
            <a:endParaRPr sz="750" lang="es-ES"/>
          </a:p>
        </p:txBody>
      </p:sp>
      <p:sp>
        <p:nvSpPr>
          <p:cNvPr name="TextBox 8" id="8"/>
          <p:cNvSpPr txBox="true"/>
          <p:nvPr/>
        </p:nvSpPr>
        <p:spPr>
          <a:xfrm>
            <a:off x="508000" y="1016000"/>
            <a:ext cx="11176000" cy="254000"/>
          </a:xfrm>
          <a:prstGeom prst="rect">
            <a:avLst/>
          </a:prstGeom>
        </p:spPr>
        <p:txBody>
          <a:bodyPr anchor="t" rtlCol="false" wrap="square" lIns="0" rIns="0" tIns="25400" bIns="25400"/>
          <a:lstStyle/>
          <a:p>
            <a:pPr algn="l"/>
            <a:r>
              <a:rPr lang="es-ES" sz="1300" b="true" i="false">
                <a:solidFill>
                  <a:srgbClr val="243B53"/>
                </a:solidFill>
                <a:latin typeface="Segoe UI"/>
              </a:rPr>
              <a:t>Linaje hacia «Escribir rechazos» · Parte 2 de 2</a:t>
            </a:r>
            <a:endParaRPr sz="1300" lang="es-ES"/>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08000" y="1295400"/>
            <a:ext cx="11176000" cy="4914574"/>
          </a:xfrm>
          <a:prstGeom prst="rect">
            <a:avLst/>
          </a:prstGeom>
        </p:spPr>
      </p:pic>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203200"/>
            <a:ext cx="11176000" cy="635000"/>
          </a:xfrm>
        </p:spPr>
        <p:txBody>
          <a:bodyPr lIns="0" rIns="0" wrap="square" anchor="ctr"/>
          <a:lstStyle/>
          <a:p>
            <a:pPr algn="l"/>
            <a:r>
              <a:rPr lang="es-ES" sz="2600" b="true" i="false">
                <a:solidFill>
                  <a:srgbClr val="243B53"/>
                </a:solidFill>
                <a:latin typeface="Segoe UI"/>
              </a:rPr>
              <a:t>Diccionario de datos</a:t>
            </a:r>
            <a:endParaRPr sz="2600" lang="es-ES"/>
          </a:p>
        </p:txBody>
      </p:sp>
      <p:pic>
        <p:nvPicPr>
          <p:cNvPr name="Picture 3" id="3"/>
          <p:cNvPicPr>
            <a:picLocks noChangeAspect="true"/>
          </p:cNvPicPr>
          <p:nvPr/>
        </p:nvPicPr>
        <p:blipFill>
          <a:blip r:embed="rId2"/>
          <a:stretch>
            <a:fillRect/>
          </a:stretch>
        </p:blipFill>
        <p:spPr>
          <a:xfrm>
            <a:off x="10248900" y="5510084"/>
            <a:ext cx="1435100" cy="814516"/>
          </a:xfrm>
          <a:prstGeom prst="rect">
            <a:avLst/>
          </a:prstGeom>
        </p:spPr>
      </p:pic>
      <p:sp>
        <p:nvSpPr>
          <p:cNvPr name="AutoShape 4" id="4"/>
          <p:cNvSpPr/>
          <p:nvPr/>
        </p:nvSpPr>
        <p:spPr>
          <a:xfrm>
            <a:off x="0" y="0"/>
            <a:ext cx="12192000" cy="76200"/>
          </a:xfrm>
          <a:prstGeom prst="rect">
            <a:avLst/>
          </a:prstGeom>
          <a:solidFill>
            <a:srgbClr val="243B53"/>
          </a:solidFill>
          <a:ln>
            <a:noFill/>
          </a:ln>
        </p:spPr>
      </p:sp>
      <p:pic>
        <p:nvPicPr>
          <p:cNvPr name="Picture 5" id="5"/>
          <p:cNvPicPr>
            <a:picLocks noChangeAspect="true"/>
          </p:cNvPicPr>
          <p:nvPr/>
        </p:nvPicPr>
        <p:blipFill>
          <a:blip r:embed="rId3"/>
          <a:stretch>
            <a:fillRect/>
          </a:stretch>
        </p:blipFill>
        <p:spPr>
          <a:xfrm>
            <a:off x="508000" y="6508750"/>
            <a:ext cx="177800" cy="100914"/>
          </a:xfrm>
          <a:prstGeom prst="rect">
            <a:avLst/>
          </a:prstGeom>
        </p:spPr>
      </p:pic>
      <p:sp>
        <p:nvSpPr>
          <p:cNvPr name="TextBox 6" id="6"/>
          <p:cNvSpPr txBox="true"/>
          <p:nvPr/>
        </p:nvSpPr>
        <p:spPr>
          <a:xfrm>
            <a:off x="749300" y="6451600"/>
            <a:ext cx="5080000" cy="228600"/>
          </a:xfrm>
          <a:prstGeom prst="rect">
            <a:avLst/>
          </a:prstGeom>
        </p:spPr>
        <p:txBody>
          <a:bodyPr anchor="ctr" rtlCol="false" wrap="square" lIns="0" rIns="0" tIns="25400" bIns="25400"/>
          <a:lstStyle/>
          <a:p>
            <a:pPr algn="l"/>
            <a:r>
              <a:rPr lang="es-ES" sz="750" b="false" i="false">
                <a:solidFill>
                  <a:srgbClr val="6B7785"/>
                </a:solidFill>
                <a:latin typeface="Segoe UI"/>
              </a:rPr>
              <a:t>Pentaho Live · IDC Studios</a:t>
            </a:r>
            <a:endParaRPr sz="750" lang="es-ES"/>
          </a:p>
        </p:txBody>
      </p:sp>
      <p:sp>
        <p:nvSpPr>
          <p:cNvPr name="TextBox 7" id="7"/>
          <p:cNvSpPr txBox="true"/>
          <p:nvPr/>
        </p:nvSpPr>
        <p:spPr>
          <a:xfrm>
            <a:off x="10160000" y="6451600"/>
            <a:ext cx="1524000" cy="228600"/>
          </a:xfrm>
          <a:prstGeom prst="rect">
            <a:avLst/>
          </a:prstGeom>
        </p:spPr>
        <p:txBody>
          <a:bodyPr anchor="ctr" rtlCol="false" wrap="square" lIns="0" rIns="0" tIns="25400" bIns="25400"/>
          <a:lstStyle/>
          <a:p>
            <a:pPr algn="r"/>
            <a:fld id="{50BDF6C6-16D9-4FF8-9BCC-1F336E7DCC28}" type="slidenum">
              <a:rPr lang="es-ES" sz="750">
                <a:solidFill>
                  <a:srgbClr val="6B7785"/>
                </a:solidFill>
                <a:latin typeface="Segoe UI"/>
              </a:rPr>
              <a:t>15</a:t>
            </a:fld>
            <a:endParaRPr sz="750" lang="es-ES"/>
          </a:p>
        </p:txBody>
      </p:sp>
      <p:sp>
        <p:nvSpPr>
          <p:cNvPr name="TextBox 8" id="8"/>
          <p:cNvSpPr txBox="true"/>
          <p:nvPr/>
        </p:nvSpPr>
        <p:spPr>
          <a:xfrm>
            <a:off x="508000" y="1016000"/>
            <a:ext cx="11176000" cy="254000"/>
          </a:xfrm>
          <a:prstGeom prst="rect">
            <a:avLst/>
          </a:prstGeom>
        </p:spPr>
        <p:txBody>
          <a:bodyPr anchor="t" rtlCol="false" wrap="square" lIns="0" rIns="0" tIns="25400" bIns="25400"/>
          <a:lstStyle/>
          <a:p>
            <a:pPr algn="l"/>
            <a:r>
              <a:rPr lang="es-ES" sz="1300" b="true" i="false">
                <a:solidFill>
                  <a:srgbClr val="243B53"/>
                </a:solidFill>
                <a:latin typeface="Segoe UI"/>
              </a:rPr>
              <a:t>Salida final: Cargar hechos_ventas</a:t>
            </a:r>
            <a:endParaRPr sz="1300" lang="es-ES"/>
          </a:p>
        </p:txBody>
      </p:sp>
      <p:graphicFrame>
        <p:nvGraphicFramePr>
          <p:cNvPr name="Table 9" id="9"/>
          <p:cNvGraphicFramePr>
            <a:graphicFrameLocks noGrp="true"/>
          </p:cNvGraphicFramePr>
          <p:nvPr/>
        </p:nvGraphicFramePr>
        <p:xfrm>
          <a:off x="508000" y="1295400"/>
          <a:ext cx="7226300" cy="2819400"/>
        </p:xfrm>
        <a:graphic>
          <a:graphicData uri="http://schemas.openxmlformats.org/drawingml/2006/table">
            <a:tbl>
              <a:tblPr/>
              <a:tblGrid>
                <a:gridCol w="1219200"/>
                <a:gridCol w="660400"/>
                <a:gridCol w="596900"/>
                <a:gridCol w="876300"/>
                <a:gridCol w="1016000"/>
                <a:gridCol w="1917700"/>
                <a:gridCol w="939800"/>
              </a:tblGrid>
              <a:tr h="281940">
                <a:tc>
                  <a:txBody>
                    <a:bodyPr anchor="t" rtlCol="false"/>
                    <a:lstStyle/>
                    <a:p>
                      <a:pPr algn="l"/>
                      <a:r>
                        <a:rPr lang="es-ES" sz="1000" b="true" i="false">
                          <a:solidFill>
                            <a:srgbClr val="FFFFFF"/>
                          </a:solidFill>
                          <a:latin typeface="Segoe UI"/>
                        </a:rPr>
                        <a:t>Campo</a:t>
                      </a:r>
                      <a:endParaRPr sz="10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l"/>
                      <a:r>
                        <a:rPr lang="es-ES" sz="1000" b="true" i="false">
                          <a:solidFill>
                            <a:srgbClr val="FFFFFF"/>
                          </a:solidFill>
                          <a:latin typeface="Segoe UI"/>
                        </a:rPr>
                        <a:t>Tipo</a:t>
                      </a:r>
                      <a:endParaRPr sz="10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r"/>
                      <a:r>
                        <a:rPr lang="es-ES" sz="1000" b="true" i="false">
                          <a:solidFill>
                            <a:srgbClr val="FFFFFF"/>
                          </a:solidFill>
                          <a:latin typeface="Segoe UI"/>
                        </a:rPr>
                        <a:t>Largo</a:t>
                      </a:r>
                      <a:endParaRPr sz="10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r"/>
                      <a:r>
                        <a:rPr lang="es-ES" sz="1000" b="true" i="false">
                          <a:solidFill>
                            <a:srgbClr val="FFFFFF"/>
                          </a:solidFill>
                          <a:latin typeface="Segoe UI"/>
                        </a:rPr>
                        <a:t>Precisión</a:t>
                      </a:r>
                      <a:endParaRPr sz="10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l"/>
                      <a:r>
                        <a:rPr lang="es-ES" sz="1000" b="true" i="false">
                          <a:solidFill>
                            <a:srgbClr val="FFFFFF"/>
                          </a:solidFill>
                          <a:latin typeface="Segoe UI"/>
                        </a:rPr>
                        <a:t>Máscara</a:t>
                      </a:r>
                      <a:endParaRPr sz="10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l"/>
                      <a:r>
                        <a:rPr lang="es-ES" sz="1000" b="true" i="false">
                          <a:solidFill>
                            <a:srgbClr val="FFFFFF"/>
                          </a:solidFill>
                          <a:latin typeface="Segoe UI"/>
                        </a:rPr>
                        <a:t>Origen</a:t>
                      </a:r>
                      <a:endParaRPr sz="10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l"/>
                      <a:r>
                        <a:rPr lang="es-ES" sz="1000" b="true" i="false">
                          <a:solidFill>
                            <a:srgbClr val="FFFFFF"/>
                          </a:solidFill>
                          <a:latin typeface="Segoe UI"/>
                        </a:rPr>
                        <a:t>Comentario</a:t>
                      </a:r>
                      <a:endParaRPr sz="10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r>
              <a:tr h="281940">
                <a:tc>
                  <a:txBody>
                    <a:bodyPr anchor="t" rtlCol="false"/>
                    <a:lstStyle/>
                    <a:p>
                      <a:pPr algn="l"/>
                      <a:r>
                        <a:rPr lang="es-ES" sz="1000" b="false" i="false">
                          <a:solidFill>
                            <a:srgbClr val="1F2933"/>
                          </a:solidFill>
                          <a:latin typeface="Segoe UI"/>
                        </a:rPr>
                        <a:t>id_ticket</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String</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Leer ventas (CSV)</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r>
              <a:tr h="281940">
                <a:tc>
                  <a:txBody>
                    <a:bodyPr anchor="t" rtlCol="false"/>
                    <a:lstStyle/>
                    <a:p>
                      <a:pPr algn="l"/>
                      <a:r>
                        <a:rPr lang="es-ES" sz="1000" b="false" i="false">
                          <a:solidFill>
                            <a:srgbClr val="1F2933"/>
                          </a:solidFill>
                          <a:latin typeface="Segoe UI"/>
                        </a:rPr>
                        <a:t>linea</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Integer</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Leer ventas (CSV)</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r>
              <a:tr h="281940">
                <a:tc>
                  <a:txBody>
                    <a:bodyPr anchor="t" rtlCol="false"/>
                    <a:lstStyle/>
                    <a:p>
                      <a:pPr algn="l"/>
                      <a:r>
                        <a:rPr lang="es-ES" sz="1000" b="false" i="false">
                          <a:solidFill>
                            <a:srgbClr val="1F2933"/>
                          </a:solidFill>
                          <a:latin typeface="Segoe UI"/>
                        </a:rPr>
                        <a:t>sk_fecha</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Integer</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9</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####0;-####0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Buscar fecha</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sk_fecha</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r>
              <a:tr h="281940">
                <a:tc>
                  <a:txBody>
                    <a:bodyPr anchor="t" rtlCol="false"/>
                    <a:lstStyle/>
                    <a:p>
                      <a:pPr algn="l"/>
                      <a:r>
                        <a:rPr lang="es-ES" sz="1000" b="false" i="false">
                          <a:solidFill>
                            <a:srgbClr val="1F2933"/>
                          </a:solidFill>
                          <a:latin typeface="Segoe UI"/>
                        </a:rPr>
                        <a:t>sk_tienda</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Integer</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9</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####0;-####0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Buscar tienda</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sk_tienda</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r>
              <a:tr h="281940">
                <a:tc>
                  <a:txBody>
                    <a:bodyPr anchor="t" rtlCol="false"/>
                    <a:lstStyle/>
                    <a:p>
                      <a:pPr algn="l"/>
                      <a:r>
                        <a:rPr lang="es-ES" sz="1000" b="false" i="false">
                          <a:solidFill>
                            <a:srgbClr val="1F2933"/>
                          </a:solidFill>
                          <a:latin typeface="Segoe UI"/>
                        </a:rPr>
                        <a:t>sk_producto</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Integer</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9</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####0;-####0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Buscar producto</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sk_producto</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r>
              <a:tr h="281940">
                <a:tc>
                  <a:txBody>
                    <a:bodyPr anchor="t" rtlCol="false"/>
                    <a:lstStyle/>
                    <a:p>
                      <a:pPr algn="l"/>
                      <a:r>
                        <a:rPr lang="es-ES" sz="1000" b="false" i="false">
                          <a:solidFill>
                            <a:srgbClr val="1F2933"/>
                          </a:solidFill>
                          <a:latin typeface="Segoe UI"/>
                        </a:rPr>
                        <a:t>cantidad</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Integer</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Leer ventas (CSV)</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r>
              <a:tr h="281940">
                <a:tc>
                  <a:txBody>
                    <a:bodyPr anchor="t" rtlCol="false"/>
                    <a:lstStyle/>
                    <a:p>
                      <a:pPr algn="l"/>
                      <a:r>
                        <a:rPr lang="es-ES" sz="1000" b="false" i="false">
                          <a:solidFill>
                            <a:srgbClr val="1F2933"/>
                          </a:solidFill>
                          <a:latin typeface="Segoe UI"/>
                        </a:rPr>
                        <a:t>precio_unitario</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Number</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Convertir precio a número</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r>
              <a:tr h="281940">
                <a:tc>
                  <a:txBody>
                    <a:bodyPr anchor="t" rtlCol="false"/>
                    <a:lstStyle/>
                    <a:p>
                      <a:pPr algn="l"/>
                      <a:r>
                        <a:rPr lang="es-ES" sz="1000" b="false" i="false">
                          <a:solidFill>
                            <a:srgbClr val="1F2933"/>
                          </a:solidFill>
                          <a:latin typeface="Segoe UI"/>
                        </a:rPr>
                        <a:t>importe</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Number</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2</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Calcular importe</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ROUND_STD_2</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r>
              <a:tr h="281940">
                <a:tc>
                  <a:txBody>
                    <a:bodyPr anchor="t" rtlCol="false"/>
                    <a:lstStyle/>
                    <a:p>
                      <a:pPr algn="l"/>
                      <a:r>
                        <a:rPr lang="es-ES" sz="1000" b="false" i="false">
                          <a:solidFill>
                            <a:srgbClr val="1F2933"/>
                          </a:solidFill>
                          <a:latin typeface="Segoe UI"/>
                        </a:rPr>
                        <a:t>metodo_pago</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String</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Leer ventas (CSV)</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r>
            </a:tbl>
          </a:graphicData>
        </a:graphic>
      </p:graphicFrame>
      <p:sp>
        <p:nvSpPr>
          <p:cNvPr name="TextBox 10" id="10"/>
          <p:cNvSpPr txBox="true"/>
          <p:nvPr/>
        </p:nvSpPr>
        <p:spPr>
          <a:xfrm>
            <a:off x="508000" y="4165600"/>
            <a:ext cx="11176000" cy="235458"/>
          </a:xfrm>
          <a:prstGeom prst="rect">
            <a:avLst/>
          </a:prstGeom>
        </p:spPr>
        <p:txBody>
          <a:bodyPr anchor="t" rtlCol="false" wrap="square" lIns="0" rIns="0" tIns="25400" bIns="25400"/>
          <a:lstStyle/>
          <a:p>
            <a:pPr algn="l"/>
            <a:r>
              <a:rPr lang="es-ES" sz="950" b="false" i="true">
                <a:solidFill>
                  <a:srgbClr val="6B7785"/>
                </a:solidFill>
                <a:latin typeface="Segoe UI"/>
              </a:rPr>
              <a:t>Nombres, orden, formato y largo como los escribe «Cargar hechos_ventas»; el tipo, el origen y el comentario vienen del flujo. Los largos vacíos significan «sin límite».</a:t>
            </a:r>
            <a:endParaRPr sz="950" lang="es-ES"/>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203200"/>
            <a:ext cx="11176000" cy="635000"/>
          </a:xfrm>
        </p:spPr>
        <p:txBody>
          <a:bodyPr lIns="0" rIns="0" wrap="square" anchor="ctr"/>
          <a:lstStyle/>
          <a:p>
            <a:pPr algn="l"/>
            <a:r>
              <a:rPr lang="es-ES" sz="2600" b="true" i="false">
                <a:solidFill>
                  <a:srgbClr val="243B53"/>
                </a:solidFill>
                <a:latin typeface="Segoe UI"/>
              </a:rPr>
              <a:t>Diccionario de datos (cont.)</a:t>
            </a:r>
            <a:endParaRPr sz="2600" lang="es-ES"/>
          </a:p>
        </p:txBody>
      </p:sp>
      <p:pic>
        <p:nvPicPr>
          <p:cNvPr name="Picture 3" id="3"/>
          <p:cNvPicPr>
            <a:picLocks noChangeAspect="true"/>
          </p:cNvPicPr>
          <p:nvPr/>
        </p:nvPicPr>
        <p:blipFill>
          <a:blip r:embed="rId2"/>
          <a:stretch>
            <a:fillRect/>
          </a:stretch>
        </p:blipFill>
        <p:spPr>
          <a:xfrm>
            <a:off x="10248900" y="5510084"/>
            <a:ext cx="1435100" cy="814516"/>
          </a:xfrm>
          <a:prstGeom prst="rect">
            <a:avLst/>
          </a:prstGeom>
        </p:spPr>
      </p:pic>
      <p:sp>
        <p:nvSpPr>
          <p:cNvPr name="AutoShape 4" id="4"/>
          <p:cNvSpPr/>
          <p:nvPr/>
        </p:nvSpPr>
        <p:spPr>
          <a:xfrm>
            <a:off x="0" y="0"/>
            <a:ext cx="12192000" cy="76200"/>
          </a:xfrm>
          <a:prstGeom prst="rect">
            <a:avLst/>
          </a:prstGeom>
          <a:solidFill>
            <a:srgbClr val="243B53"/>
          </a:solidFill>
          <a:ln>
            <a:noFill/>
          </a:ln>
        </p:spPr>
      </p:sp>
      <p:pic>
        <p:nvPicPr>
          <p:cNvPr name="Picture 5" id="5"/>
          <p:cNvPicPr>
            <a:picLocks noChangeAspect="true"/>
          </p:cNvPicPr>
          <p:nvPr/>
        </p:nvPicPr>
        <p:blipFill>
          <a:blip r:embed="rId3"/>
          <a:stretch>
            <a:fillRect/>
          </a:stretch>
        </p:blipFill>
        <p:spPr>
          <a:xfrm>
            <a:off x="508000" y="6508750"/>
            <a:ext cx="177800" cy="100914"/>
          </a:xfrm>
          <a:prstGeom prst="rect">
            <a:avLst/>
          </a:prstGeom>
        </p:spPr>
      </p:pic>
      <p:sp>
        <p:nvSpPr>
          <p:cNvPr name="TextBox 6" id="6"/>
          <p:cNvSpPr txBox="true"/>
          <p:nvPr/>
        </p:nvSpPr>
        <p:spPr>
          <a:xfrm>
            <a:off x="749300" y="6451600"/>
            <a:ext cx="5080000" cy="228600"/>
          </a:xfrm>
          <a:prstGeom prst="rect">
            <a:avLst/>
          </a:prstGeom>
        </p:spPr>
        <p:txBody>
          <a:bodyPr anchor="ctr" rtlCol="false" wrap="square" lIns="0" rIns="0" tIns="25400" bIns="25400"/>
          <a:lstStyle/>
          <a:p>
            <a:pPr algn="l"/>
            <a:r>
              <a:rPr lang="es-ES" sz="750" b="false" i="false">
                <a:solidFill>
                  <a:srgbClr val="6B7785"/>
                </a:solidFill>
                <a:latin typeface="Segoe UI"/>
              </a:rPr>
              <a:t>Pentaho Live · IDC Studios</a:t>
            </a:r>
            <a:endParaRPr sz="750" lang="es-ES"/>
          </a:p>
        </p:txBody>
      </p:sp>
      <p:sp>
        <p:nvSpPr>
          <p:cNvPr name="TextBox 7" id="7"/>
          <p:cNvSpPr txBox="true"/>
          <p:nvPr/>
        </p:nvSpPr>
        <p:spPr>
          <a:xfrm>
            <a:off x="10160000" y="6451600"/>
            <a:ext cx="1524000" cy="228600"/>
          </a:xfrm>
          <a:prstGeom prst="rect">
            <a:avLst/>
          </a:prstGeom>
        </p:spPr>
        <p:txBody>
          <a:bodyPr anchor="ctr" rtlCol="false" wrap="square" lIns="0" rIns="0" tIns="25400" bIns="25400"/>
          <a:lstStyle/>
          <a:p>
            <a:pPr algn="r"/>
            <a:fld id="{541DCACB-D467-4F56-9E59-6517DFD42A96}" type="slidenum">
              <a:rPr lang="es-ES" sz="750">
                <a:solidFill>
                  <a:srgbClr val="6B7785"/>
                </a:solidFill>
                <a:latin typeface="Segoe UI"/>
              </a:rPr>
              <a:t>16</a:t>
            </a:fld>
            <a:endParaRPr sz="750" lang="es-ES"/>
          </a:p>
        </p:txBody>
      </p:sp>
      <p:sp>
        <p:nvSpPr>
          <p:cNvPr name="TextBox 8" id="8"/>
          <p:cNvSpPr txBox="true"/>
          <p:nvPr/>
        </p:nvSpPr>
        <p:spPr>
          <a:xfrm>
            <a:off x="508000" y="1016000"/>
            <a:ext cx="11176000" cy="254000"/>
          </a:xfrm>
          <a:prstGeom prst="rect">
            <a:avLst/>
          </a:prstGeom>
        </p:spPr>
        <p:txBody>
          <a:bodyPr anchor="t" rtlCol="false" wrap="square" lIns="0" rIns="0" tIns="25400" bIns="25400"/>
          <a:lstStyle/>
          <a:p>
            <a:pPr algn="l"/>
            <a:r>
              <a:rPr lang="es-ES" sz="1300" b="true" i="false">
                <a:solidFill>
                  <a:srgbClr val="243B53"/>
                </a:solidFill>
                <a:latin typeface="Segoe UI"/>
              </a:rPr>
              <a:t>Salida final: Escribir rechazos</a:t>
            </a:r>
            <a:endParaRPr sz="1300" lang="es-ES"/>
          </a:p>
        </p:txBody>
      </p:sp>
      <p:graphicFrame>
        <p:nvGraphicFramePr>
          <p:cNvPr name="Table 9" id="9"/>
          <p:cNvGraphicFramePr>
            <a:graphicFrameLocks noGrp="true"/>
          </p:cNvGraphicFramePr>
          <p:nvPr/>
        </p:nvGraphicFramePr>
        <p:xfrm>
          <a:off x="508000" y="1295400"/>
          <a:ext cx="6946900" cy="2819400"/>
        </p:xfrm>
        <a:graphic>
          <a:graphicData uri="http://schemas.openxmlformats.org/drawingml/2006/table">
            <a:tbl>
              <a:tblPr/>
              <a:tblGrid>
                <a:gridCol w="1219200"/>
                <a:gridCol w="660400"/>
                <a:gridCol w="596900"/>
                <a:gridCol w="876300"/>
                <a:gridCol w="736600"/>
                <a:gridCol w="1917700"/>
                <a:gridCol w="939800"/>
              </a:tblGrid>
              <a:tr h="281940">
                <a:tc>
                  <a:txBody>
                    <a:bodyPr anchor="t" rtlCol="false"/>
                    <a:lstStyle/>
                    <a:p>
                      <a:pPr algn="l"/>
                      <a:r>
                        <a:rPr lang="es-ES" sz="1000" b="true" i="false">
                          <a:solidFill>
                            <a:srgbClr val="FFFFFF"/>
                          </a:solidFill>
                          <a:latin typeface="Segoe UI"/>
                        </a:rPr>
                        <a:t>Campo</a:t>
                      </a:r>
                      <a:endParaRPr sz="10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l"/>
                      <a:r>
                        <a:rPr lang="es-ES" sz="1000" b="true" i="false">
                          <a:solidFill>
                            <a:srgbClr val="FFFFFF"/>
                          </a:solidFill>
                          <a:latin typeface="Segoe UI"/>
                        </a:rPr>
                        <a:t>Tipo</a:t>
                      </a:r>
                      <a:endParaRPr sz="10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r"/>
                      <a:r>
                        <a:rPr lang="es-ES" sz="1000" b="true" i="false">
                          <a:solidFill>
                            <a:srgbClr val="FFFFFF"/>
                          </a:solidFill>
                          <a:latin typeface="Segoe UI"/>
                        </a:rPr>
                        <a:t>Largo</a:t>
                      </a:r>
                      <a:endParaRPr sz="10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r"/>
                      <a:r>
                        <a:rPr lang="es-ES" sz="1000" b="true" i="false">
                          <a:solidFill>
                            <a:srgbClr val="FFFFFF"/>
                          </a:solidFill>
                          <a:latin typeface="Segoe UI"/>
                        </a:rPr>
                        <a:t>Precisión</a:t>
                      </a:r>
                      <a:endParaRPr sz="10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l"/>
                      <a:r>
                        <a:rPr lang="es-ES" sz="1000" b="true" i="false">
                          <a:solidFill>
                            <a:srgbClr val="FFFFFF"/>
                          </a:solidFill>
                          <a:latin typeface="Segoe UI"/>
                        </a:rPr>
                        <a:t>Máscara</a:t>
                      </a:r>
                      <a:endParaRPr sz="10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l"/>
                      <a:r>
                        <a:rPr lang="es-ES" sz="1000" b="true" i="false">
                          <a:solidFill>
                            <a:srgbClr val="FFFFFF"/>
                          </a:solidFill>
                          <a:latin typeface="Segoe UI"/>
                        </a:rPr>
                        <a:t>Origen</a:t>
                      </a:r>
                      <a:endParaRPr sz="10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l"/>
                      <a:r>
                        <a:rPr lang="es-ES" sz="1000" b="true" i="false">
                          <a:solidFill>
                            <a:srgbClr val="FFFFFF"/>
                          </a:solidFill>
                          <a:latin typeface="Segoe UI"/>
                        </a:rPr>
                        <a:t>Comentario</a:t>
                      </a:r>
                      <a:endParaRPr sz="10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r>
              <a:tr h="281940">
                <a:tc>
                  <a:txBody>
                    <a:bodyPr anchor="t" rtlCol="false"/>
                    <a:lstStyle/>
                    <a:p>
                      <a:pPr algn="l"/>
                      <a:r>
                        <a:rPr lang="es-ES" sz="1000" b="false" i="false">
                          <a:solidFill>
                            <a:srgbClr val="1F2933"/>
                          </a:solidFill>
                          <a:latin typeface="Segoe UI"/>
                        </a:rPr>
                        <a:t>id_ticket</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String</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Leer ventas (CSV)</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r>
              <a:tr h="281940">
                <a:tc>
                  <a:txBody>
                    <a:bodyPr anchor="t" rtlCol="false"/>
                    <a:lstStyle/>
                    <a:p>
                      <a:pPr algn="l"/>
                      <a:r>
                        <a:rPr lang="es-ES" sz="1000" b="false" i="false">
                          <a:solidFill>
                            <a:srgbClr val="1F2933"/>
                          </a:solidFill>
                          <a:latin typeface="Segoe UI"/>
                        </a:rPr>
                        <a:t>linea</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Integer</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Leer ventas (CSV)</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r>
              <a:tr h="281940">
                <a:tc>
                  <a:txBody>
                    <a:bodyPr anchor="t" rtlCol="false"/>
                    <a:lstStyle/>
                    <a:p>
                      <a:pPr algn="l"/>
                      <a:r>
                        <a:rPr lang="es-ES" sz="1000" b="false" i="false">
                          <a:solidFill>
                            <a:srgbClr val="1F2933"/>
                          </a:solidFill>
                          <a:latin typeface="Segoe UI"/>
                        </a:rPr>
                        <a:t>fecha</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String</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Leer ventas (CSV)</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r>
              <a:tr h="281940">
                <a:tc>
                  <a:txBody>
                    <a:bodyPr anchor="t" rtlCol="false"/>
                    <a:lstStyle/>
                    <a:p>
                      <a:pPr algn="l"/>
                      <a:r>
                        <a:rPr lang="es-ES" sz="1000" b="false" i="false">
                          <a:solidFill>
                            <a:srgbClr val="1F2933"/>
                          </a:solidFill>
                          <a:latin typeface="Segoe UI"/>
                        </a:rPr>
                        <a:t>id_tienda</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String</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Leer ventas (CSV)</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r>
              <a:tr h="281940">
                <a:tc>
                  <a:txBody>
                    <a:bodyPr anchor="t" rtlCol="false"/>
                    <a:lstStyle/>
                    <a:p>
                      <a:pPr algn="l"/>
                      <a:r>
                        <a:rPr lang="es-ES" sz="1000" b="false" i="false">
                          <a:solidFill>
                            <a:srgbClr val="1F2933"/>
                          </a:solidFill>
                          <a:latin typeface="Segoe UI"/>
                        </a:rPr>
                        <a:t>codigo_producto</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String</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Leer ventas (CSV)</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r>
              <a:tr h="281940">
                <a:tc>
                  <a:txBody>
                    <a:bodyPr anchor="t" rtlCol="false"/>
                    <a:lstStyle/>
                    <a:p>
                      <a:pPr algn="l"/>
                      <a:r>
                        <a:rPr lang="es-ES" sz="1000" b="false" i="false">
                          <a:solidFill>
                            <a:srgbClr val="1F2933"/>
                          </a:solidFill>
                          <a:latin typeface="Segoe UI"/>
                        </a:rPr>
                        <a:t>cantidad</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Integer</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Leer ventas (CSV)</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r>
              <a:tr h="281940">
                <a:tc>
                  <a:txBody>
                    <a:bodyPr anchor="t" rtlCol="false"/>
                    <a:lstStyle/>
                    <a:p>
                      <a:pPr algn="l"/>
                      <a:r>
                        <a:rPr lang="es-ES" sz="1000" b="false" i="false">
                          <a:solidFill>
                            <a:srgbClr val="1F2933"/>
                          </a:solidFill>
                          <a:latin typeface="Segoe UI"/>
                        </a:rPr>
                        <a:t>precio_unitario</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Number</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0.00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Convertir precio a número</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r>
              <a:tr h="281940">
                <a:tc>
                  <a:txBody>
                    <a:bodyPr anchor="t" rtlCol="false"/>
                    <a:lstStyle/>
                    <a:p>
                      <a:pPr algn="l"/>
                      <a:r>
                        <a:rPr lang="es-ES" sz="1000" b="false" i="false">
                          <a:solidFill>
                            <a:srgbClr val="1F2933"/>
                          </a:solidFill>
                          <a:latin typeface="Segoe UI"/>
                        </a:rPr>
                        <a:t>metodo_pago</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String</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Leer ventas (CSV)</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r>
              <a:tr h="281940">
                <a:tc>
                  <a:txBody>
                    <a:bodyPr anchor="t" rtlCol="false"/>
                    <a:lstStyle/>
                    <a:p>
                      <a:pPr algn="l"/>
                      <a:r>
                        <a:rPr lang="es-ES" sz="1000" b="false" i="false">
                          <a:solidFill>
                            <a:srgbClr val="1F2933"/>
                          </a:solidFill>
                          <a:latin typeface="Segoe UI"/>
                        </a:rPr>
                        <a:t>motivo_rechazo</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String</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Marcar duplicado</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r>
            </a:tbl>
          </a:graphicData>
        </a:graphic>
      </p:graphicFrame>
      <p:sp>
        <p:nvSpPr>
          <p:cNvPr name="TextBox 10" id="10"/>
          <p:cNvSpPr txBox="true"/>
          <p:nvPr/>
        </p:nvSpPr>
        <p:spPr>
          <a:xfrm>
            <a:off x="508000" y="4165600"/>
            <a:ext cx="11176000" cy="235458"/>
          </a:xfrm>
          <a:prstGeom prst="rect">
            <a:avLst/>
          </a:prstGeom>
        </p:spPr>
        <p:txBody>
          <a:bodyPr anchor="t" rtlCol="false" wrap="square" lIns="0" rIns="0" tIns="25400" bIns="25400"/>
          <a:lstStyle/>
          <a:p>
            <a:pPr algn="l"/>
            <a:r>
              <a:rPr lang="es-ES" sz="950" b="false" i="true">
                <a:solidFill>
                  <a:srgbClr val="6B7785"/>
                </a:solidFill>
                <a:latin typeface="Segoe UI"/>
              </a:rPr>
              <a:t>Nombres, orden, formato y largo como los escribe «Escribir rechazos»; el tipo, el origen y el comentario vienen del flujo. Los largos vacíos significan «sin límite».</a:t>
            </a:r>
            <a:endParaRPr sz="950" lang="es-ES"/>
          </a:p>
        </p:txBody>
      </p:sp>
      <p:sp>
        <p:nvSpPr>
          <p:cNvPr name="TextBox 11" id="11"/>
          <p:cNvSpPr txBox="true"/>
          <p:nvPr/>
        </p:nvSpPr>
        <p:spPr>
          <a:xfrm>
            <a:off x="508000" y="4451858"/>
            <a:ext cx="11176000" cy="235458"/>
          </a:xfrm>
          <a:prstGeom prst="rect">
            <a:avLst/>
          </a:prstGeom>
        </p:spPr>
        <p:txBody>
          <a:bodyPr anchor="t" rtlCol="false" wrap="square" lIns="0" rIns="0" tIns="25400" bIns="25400"/>
          <a:lstStyle/>
          <a:p>
            <a:pPr algn="l"/>
            <a:r>
              <a:rPr lang="es-ES" sz="950" b="false" i="true">
                <a:solidFill>
                  <a:srgbClr val="6B7785"/>
                </a:solidFill>
                <a:latin typeface="Segoe UI"/>
              </a:rPr>
              <a:t>Detalle de consulta en el informe completo (HTML, PDF o Word): «Leer ventas (CSV)», «Estandarizar textos», «Normalizar fecha y precio» … (14).</a:t>
            </a:r>
            <a:endParaRPr sz="950" lang="es-ES"/>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203200"/>
            <a:ext cx="11176000" cy="635000"/>
          </a:xfrm>
        </p:spPr>
        <p:txBody>
          <a:bodyPr lIns="0" rIns="0" wrap="square" anchor="ctr"/>
          <a:lstStyle/>
          <a:p>
            <a:pPr algn="l"/>
            <a:r>
              <a:rPr lang="es-ES" sz="2600" b="true" i="false">
                <a:solidFill>
                  <a:srgbClr val="243B53"/>
                </a:solidFill>
                <a:latin typeface="Segoe UI"/>
              </a:rPr>
              <a:t>Modelo destino</a:t>
            </a:r>
            <a:endParaRPr sz="2600" lang="es-ES"/>
          </a:p>
        </p:txBody>
      </p:sp>
      <p:pic>
        <p:nvPicPr>
          <p:cNvPr name="Picture 3" id="3"/>
          <p:cNvPicPr>
            <a:picLocks noChangeAspect="true"/>
          </p:cNvPicPr>
          <p:nvPr/>
        </p:nvPicPr>
        <p:blipFill>
          <a:blip r:embed="rId2"/>
          <a:stretch>
            <a:fillRect/>
          </a:stretch>
        </p:blipFill>
        <p:spPr>
          <a:xfrm>
            <a:off x="10248900" y="5510084"/>
            <a:ext cx="1435100" cy="814516"/>
          </a:xfrm>
          <a:prstGeom prst="rect">
            <a:avLst/>
          </a:prstGeom>
        </p:spPr>
      </p:pic>
      <p:sp>
        <p:nvSpPr>
          <p:cNvPr name="AutoShape 4" id="4"/>
          <p:cNvSpPr/>
          <p:nvPr/>
        </p:nvSpPr>
        <p:spPr>
          <a:xfrm>
            <a:off x="0" y="0"/>
            <a:ext cx="12192000" cy="76200"/>
          </a:xfrm>
          <a:prstGeom prst="rect">
            <a:avLst/>
          </a:prstGeom>
          <a:solidFill>
            <a:srgbClr val="243B53"/>
          </a:solidFill>
          <a:ln>
            <a:noFill/>
          </a:ln>
        </p:spPr>
      </p:sp>
      <p:pic>
        <p:nvPicPr>
          <p:cNvPr name="Picture 5" id="5"/>
          <p:cNvPicPr>
            <a:picLocks noChangeAspect="true"/>
          </p:cNvPicPr>
          <p:nvPr/>
        </p:nvPicPr>
        <p:blipFill>
          <a:blip r:embed="rId3"/>
          <a:stretch>
            <a:fillRect/>
          </a:stretch>
        </p:blipFill>
        <p:spPr>
          <a:xfrm>
            <a:off x="508000" y="6508750"/>
            <a:ext cx="177800" cy="100914"/>
          </a:xfrm>
          <a:prstGeom prst="rect">
            <a:avLst/>
          </a:prstGeom>
        </p:spPr>
      </p:pic>
      <p:sp>
        <p:nvSpPr>
          <p:cNvPr name="TextBox 6" id="6"/>
          <p:cNvSpPr txBox="true"/>
          <p:nvPr/>
        </p:nvSpPr>
        <p:spPr>
          <a:xfrm>
            <a:off x="749300" y="6451600"/>
            <a:ext cx="5080000" cy="228600"/>
          </a:xfrm>
          <a:prstGeom prst="rect">
            <a:avLst/>
          </a:prstGeom>
        </p:spPr>
        <p:txBody>
          <a:bodyPr anchor="ctr" rtlCol="false" wrap="square" lIns="0" rIns="0" tIns="25400" bIns="25400"/>
          <a:lstStyle/>
          <a:p>
            <a:pPr algn="l"/>
            <a:r>
              <a:rPr lang="es-ES" sz="750" b="false" i="false">
                <a:solidFill>
                  <a:srgbClr val="6B7785"/>
                </a:solidFill>
                <a:latin typeface="Segoe UI"/>
              </a:rPr>
              <a:t>Pentaho Live · IDC Studios</a:t>
            </a:r>
            <a:endParaRPr sz="750" lang="es-ES"/>
          </a:p>
        </p:txBody>
      </p:sp>
      <p:sp>
        <p:nvSpPr>
          <p:cNvPr name="TextBox 7" id="7"/>
          <p:cNvSpPr txBox="true"/>
          <p:nvPr/>
        </p:nvSpPr>
        <p:spPr>
          <a:xfrm>
            <a:off x="10160000" y="6451600"/>
            <a:ext cx="1524000" cy="228600"/>
          </a:xfrm>
          <a:prstGeom prst="rect">
            <a:avLst/>
          </a:prstGeom>
        </p:spPr>
        <p:txBody>
          <a:bodyPr anchor="ctr" rtlCol="false" wrap="square" lIns="0" rIns="0" tIns="25400" bIns="25400"/>
          <a:lstStyle/>
          <a:p>
            <a:pPr algn="r"/>
            <a:fld id="{038B2F74-3E35-4E12-9C02-B8D2EB272BFD}" type="slidenum">
              <a:rPr lang="es-ES" sz="750">
                <a:solidFill>
                  <a:srgbClr val="6B7785"/>
                </a:solidFill>
                <a:latin typeface="Segoe UI"/>
              </a:rPr>
              <a:t>17</a:t>
            </a:fld>
            <a:endParaRPr sz="750" lang="es-ES"/>
          </a:p>
        </p:txBody>
      </p:sp>
      <p:pic>
        <p:nvPicPr>
          <p:cNvPr name="Picture 8" id="8"/>
          <p:cNvPicPr>
            <a:picLocks noChangeAspect="true"/>
          </p:cNvPicPr>
          <p:nvPr/>
        </p:nvPicPr>
        <p:blipFill>
          <a:blip r:embed="rId4"/>
          <a:stretch>
            <a:fillRect/>
          </a:stretch>
        </p:blipFill>
        <p:spPr>
          <a:xfrm>
            <a:off x="4492557" y="1016000"/>
            <a:ext cx="3206885" cy="5257800"/>
          </a:xfrm>
          <a:prstGeom prst="rect">
            <a:avLst/>
          </a:prstGeom>
        </p:spPr>
      </p:pic>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203200"/>
            <a:ext cx="11176000" cy="635000"/>
          </a:xfrm>
        </p:spPr>
        <p:txBody>
          <a:bodyPr lIns="0" rIns="0" wrap="square" anchor="ctr"/>
          <a:lstStyle/>
          <a:p>
            <a:pPr algn="l"/>
            <a:r>
              <a:rPr lang="es-ES" sz="2600" b="true" i="false">
                <a:solidFill>
                  <a:srgbClr val="243B53"/>
                </a:solidFill>
                <a:latin typeface="Segoe UI"/>
              </a:rPr>
              <a:t>Modelo destino (cont.)</a:t>
            </a:r>
            <a:endParaRPr sz="2600" lang="es-ES"/>
          </a:p>
        </p:txBody>
      </p:sp>
      <p:pic>
        <p:nvPicPr>
          <p:cNvPr name="Picture 3" id="3"/>
          <p:cNvPicPr>
            <a:picLocks noChangeAspect="true"/>
          </p:cNvPicPr>
          <p:nvPr/>
        </p:nvPicPr>
        <p:blipFill>
          <a:blip r:embed="rId2"/>
          <a:stretch>
            <a:fillRect/>
          </a:stretch>
        </p:blipFill>
        <p:spPr>
          <a:xfrm>
            <a:off x="10248900" y="5510084"/>
            <a:ext cx="1435100" cy="814516"/>
          </a:xfrm>
          <a:prstGeom prst="rect">
            <a:avLst/>
          </a:prstGeom>
        </p:spPr>
      </p:pic>
      <p:sp>
        <p:nvSpPr>
          <p:cNvPr name="AutoShape 4" id="4"/>
          <p:cNvSpPr/>
          <p:nvPr/>
        </p:nvSpPr>
        <p:spPr>
          <a:xfrm>
            <a:off x="0" y="0"/>
            <a:ext cx="12192000" cy="76200"/>
          </a:xfrm>
          <a:prstGeom prst="rect">
            <a:avLst/>
          </a:prstGeom>
          <a:solidFill>
            <a:srgbClr val="243B53"/>
          </a:solidFill>
          <a:ln>
            <a:noFill/>
          </a:ln>
        </p:spPr>
      </p:sp>
      <p:pic>
        <p:nvPicPr>
          <p:cNvPr name="Picture 5" id="5"/>
          <p:cNvPicPr>
            <a:picLocks noChangeAspect="true"/>
          </p:cNvPicPr>
          <p:nvPr/>
        </p:nvPicPr>
        <p:blipFill>
          <a:blip r:embed="rId3"/>
          <a:stretch>
            <a:fillRect/>
          </a:stretch>
        </p:blipFill>
        <p:spPr>
          <a:xfrm>
            <a:off x="508000" y="6508750"/>
            <a:ext cx="177800" cy="100914"/>
          </a:xfrm>
          <a:prstGeom prst="rect">
            <a:avLst/>
          </a:prstGeom>
        </p:spPr>
      </p:pic>
      <p:sp>
        <p:nvSpPr>
          <p:cNvPr name="TextBox 6" id="6"/>
          <p:cNvSpPr txBox="true"/>
          <p:nvPr/>
        </p:nvSpPr>
        <p:spPr>
          <a:xfrm>
            <a:off x="749300" y="6451600"/>
            <a:ext cx="5080000" cy="228600"/>
          </a:xfrm>
          <a:prstGeom prst="rect">
            <a:avLst/>
          </a:prstGeom>
        </p:spPr>
        <p:txBody>
          <a:bodyPr anchor="ctr" rtlCol="false" wrap="square" lIns="0" rIns="0" tIns="25400" bIns="25400"/>
          <a:lstStyle/>
          <a:p>
            <a:pPr algn="l"/>
            <a:r>
              <a:rPr lang="es-ES" sz="750" b="false" i="false">
                <a:solidFill>
                  <a:srgbClr val="6B7785"/>
                </a:solidFill>
                <a:latin typeface="Segoe UI"/>
              </a:rPr>
              <a:t>Pentaho Live · IDC Studios</a:t>
            </a:r>
            <a:endParaRPr sz="750" lang="es-ES"/>
          </a:p>
        </p:txBody>
      </p:sp>
      <p:sp>
        <p:nvSpPr>
          <p:cNvPr name="TextBox 7" id="7"/>
          <p:cNvSpPr txBox="true"/>
          <p:nvPr/>
        </p:nvSpPr>
        <p:spPr>
          <a:xfrm>
            <a:off x="10160000" y="6451600"/>
            <a:ext cx="1524000" cy="228600"/>
          </a:xfrm>
          <a:prstGeom prst="rect">
            <a:avLst/>
          </a:prstGeom>
        </p:spPr>
        <p:txBody>
          <a:bodyPr anchor="ctr" rtlCol="false" wrap="square" lIns="0" rIns="0" tIns="25400" bIns="25400"/>
          <a:lstStyle/>
          <a:p>
            <a:pPr algn="r"/>
            <a:fld id="{B01683B1-2A77-49BA-A185-E6B69749A050}" type="slidenum">
              <a:rPr lang="es-ES" sz="750">
                <a:solidFill>
                  <a:srgbClr val="6B7785"/>
                </a:solidFill>
                <a:latin typeface="Segoe UI"/>
              </a:rPr>
              <a:t>18</a:t>
            </a:fld>
            <a:endParaRPr sz="750" lang="es-ES"/>
          </a:p>
        </p:txBody>
      </p:sp>
      <p:sp>
        <p:nvSpPr>
          <p:cNvPr name="TextBox 8" id="8"/>
          <p:cNvSpPr txBox="true"/>
          <p:nvPr/>
        </p:nvSpPr>
        <p:spPr>
          <a:xfrm>
            <a:off x="508000" y="1016000"/>
            <a:ext cx="11176000" cy="254000"/>
          </a:xfrm>
          <a:prstGeom prst="rect">
            <a:avLst/>
          </a:prstGeom>
        </p:spPr>
        <p:txBody>
          <a:bodyPr anchor="t" rtlCol="false" wrap="square" lIns="0" rIns="0" tIns="25400" bIns="25400"/>
          <a:lstStyle/>
          <a:p>
            <a:pPr algn="l"/>
            <a:r>
              <a:rPr lang="es-ES" sz="1300" b="true" i="false">
                <a:solidFill>
                  <a:srgbClr val="243B53"/>
                </a:solidFill>
                <a:latin typeface="Segoe UI"/>
              </a:rPr>
              <a:t>dw_grano_de_oro › hechos_ventas — Cargar hechos_ventas (Salida a tabla, vacía la tabla)</a:t>
            </a:r>
            <a:endParaRPr sz="1300" lang="es-ES"/>
          </a:p>
        </p:txBody>
      </p:sp>
      <p:graphicFrame>
        <p:nvGraphicFramePr>
          <p:cNvPr name="Table 9" id="9"/>
          <p:cNvGraphicFramePr>
            <a:graphicFrameLocks noGrp="true"/>
          </p:cNvGraphicFramePr>
          <p:nvPr/>
        </p:nvGraphicFramePr>
        <p:xfrm>
          <a:off x="508000" y="1295400"/>
          <a:ext cx="6692900" cy="2987040"/>
        </p:xfrm>
        <a:graphic>
          <a:graphicData uri="http://schemas.openxmlformats.org/drawingml/2006/table">
            <a:tbl>
              <a:tblPr/>
              <a:tblGrid>
                <a:gridCol w="1320800"/>
                <a:gridCol w="1473200"/>
                <a:gridCol w="1092200"/>
                <a:gridCol w="1714500"/>
                <a:gridCol w="1092200"/>
              </a:tblGrid>
              <a:tr h="298704">
                <a:tc>
                  <a:txBody>
                    <a:bodyPr anchor="t" rtlCol="false"/>
                    <a:lstStyle/>
                    <a:p>
                      <a:pPr algn="l"/>
                      <a:r>
                        <a:rPr lang="es-ES" sz="1100" b="true" i="false">
                          <a:solidFill>
                            <a:srgbClr val="FFFFFF"/>
                          </a:solidFill>
                          <a:latin typeface="Segoe UI"/>
                        </a:rPr>
                        <a:t>Columna</a:t>
                      </a:r>
                      <a:endParaRPr sz="11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l"/>
                      <a:r>
                        <a:rPr lang="es-ES" sz="1100" b="true" i="false">
                          <a:solidFill>
                            <a:srgbClr val="FFFFFF"/>
                          </a:solidFill>
                          <a:latin typeface="Segoe UI"/>
                        </a:rPr>
                        <a:t>Campo del stream</a:t>
                      </a:r>
                      <a:endParaRPr sz="11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l"/>
                      <a:r>
                        <a:rPr lang="es-ES" sz="1100" b="true" i="false">
                          <a:solidFill>
                            <a:srgbClr val="FFFFFF"/>
                          </a:solidFill>
                          <a:latin typeface="Segoe UI"/>
                        </a:rPr>
                        <a:t>Tipo Kettle</a:t>
                      </a:r>
                      <a:endParaRPr sz="11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l"/>
                      <a:r>
                        <a:rPr lang="es-ES" sz="1100" b="true" i="false">
                          <a:solidFill>
                            <a:srgbClr val="FFFFFF"/>
                          </a:solidFill>
                          <a:latin typeface="Segoe UI"/>
                        </a:rPr>
                        <a:t>Tipo SQL (generado)</a:t>
                      </a:r>
                      <a:endParaRPr sz="11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l"/>
                      <a:r>
                        <a:rPr lang="es-ES" sz="1100" b="true" i="false">
                          <a:solidFill>
                            <a:srgbClr val="FFFFFF"/>
                          </a:solidFill>
                          <a:latin typeface="Segoe UI"/>
                        </a:rPr>
                        <a:t>Clave / uso</a:t>
                      </a:r>
                      <a:endParaRPr sz="11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r>
              <a:tr h="298704">
                <a:tc>
                  <a:txBody>
                    <a:bodyPr anchor="t" rtlCol="false"/>
                    <a:lstStyle/>
                    <a:p>
                      <a:pPr algn="l"/>
                      <a:r>
                        <a:rPr lang="es-ES" sz="1100" b="false" i="false">
                          <a:solidFill>
                            <a:srgbClr val="1F2933"/>
                          </a:solidFill>
                          <a:latin typeface="Segoe UI"/>
                        </a:rPr>
                        <a:t>id_ticket</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id_ticket</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String</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TEXT</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 </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r>
              <a:tr h="298704">
                <a:tc>
                  <a:txBody>
                    <a:bodyPr anchor="t" rtlCol="false"/>
                    <a:lstStyle/>
                    <a:p>
                      <a:pPr algn="l"/>
                      <a:r>
                        <a:rPr lang="es-ES" sz="1100" b="false" i="false">
                          <a:solidFill>
                            <a:srgbClr val="1F2933"/>
                          </a:solidFill>
                          <a:latin typeface="Segoe UI"/>
                        </a:rPr>
                        <a:t>linea</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100" b="false" i="false">
                          <a:solidFill>
                            <a:srgbClr val="1F2933"/>
                          </a:solidFill>
                          <a:latin typeface="Segoe UI"/>
                        </a:rPr>
                        <a:t>linea</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100" b="false" i="false">
                          <a:solidFill>
                            <a:srgbClr val="1F2933"/>
                          </a:solidFill>
                          <a:latin typeface="Segoe UI"/>
                        </a:rPr>
                        <a:t>Integer</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100" b="false" i="false">
                          <a:solidFill>
                            <a:srgbClr val="1F2933"/>
                          </a:solidFill>
                          <a:latin typeface="Segoe UI"/>
                        </a:rPr>
                        <a:t>NUMERIC</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100" b="false" i="false">
                          <a:solidFill>
                            <a:srgbClr val="1F2933"/>
                          </a:solidFill>
                          <a:latin typeface="Segoe UI"/>
                        </a:rPr>
                        <a:t> </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r>
              <a:tr h="298704">
                <a:tc>
                  <a:txBody>
                    <a:bodyPr anchor="t" rtlCol="false"/>
                    <a:lstStyle/>
                    <a:p>
                      <a:pPr algn="l"/>
                      <a:r>
                        <a:rPr lang="es-ES" sz="1100" b="false" i="false">
                          <a:solidFill>
                            <a:srgbClr val="1F2933"/>
                          </a:solidFill>
                          <a:latin typeface="Segoe UI"/>
                        </a:rPr>
                        <a:t>sk_fecha</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sk_fecha</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Integer</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INTEGER</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 </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r>
              <a:tr h="298704">
                <a:tc>
                  <a:txBody>
                    <a:bodyPr anchor="t" rtlCol="false"/>
                    <a:lstStyle/>
                    <a:p>
                      <a:pPr algn="l"/>
                      <a:r>
                        <a:rPr lang="es-ES" sz="1100" b="false" i="false">
                          <a:solidFill>
                            <a:srgbClr val="1F2933"/>
                          </a:solidFill>
                          <a:latin typeface="Segoe UI"/>
                        </a:rPr>
                        <a:t>sk_tienda</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100" b="false" i="false">
                          <a:solidFill>
                            <a:srgbClr val="1F2933"/>
                          </a:solidFill>
                          <a:latin typeface="Segoe UI"/>
                        </a:rPr>
                        <a:t>sk_tienda</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100" b="false" i="false">
                          <a:solidFill>
                            <a:srgbClr val="1F2933"/>
                          </a:solidFill>
                          <a:latin typeface="Segoe UI"/>
                        </a:rPr>
                        <a:t>Integer</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100" b="false" i="false">
                          <a:solidFill>
                            <a:srgbClr val="1F2933"/>
                          </a:solidFill>
                          <a:latin typeface="Segoe UI"/>
                        </a:rPr>
                        <a:t>INTEGER</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100" b="false" i="false">
                          <a:solidFill>
                            <a:srgbClr val="1F2933"/>
                          </a:solidFill>
                          <a:latin typeface="Segoe UI"/>
                        </a:rPr>
                        <a:t> </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r>
              <a:tr h="298704">
                <a:tc>
                  <a:txBody>
                    <a:bodyPr anchor="t" rtlCol="false"/>
                    <a:lstStyle/>
                    <a:p>
                      <a:pPr algn="l"/>
                      <a:r>
                        <a:rPr lang="es-ES" sz="1100" b="false" i="false">
                          <a:solidFill>
                            <a:srgbClr val="1F2933"/>
                          </a:solidFill>
                          <a:latin typeface="Segoe UI"/>
                        </a:rPr>
                        <a:t>sk_producto</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sk_producto</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Integer</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INTEGER</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 </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r>
              <a:tr h="298704">
                <a:tc>
                  <a:txBody>
                    <a:bodyPr anchor="t" rtlCol="false"/>
                    <a:lstStyle/>
                    <a:p>
                      <a:pPr algn="l"/>
                      <a:r>
                        <a:rPr lang="es-ES" sz="1100" b="false" i="false">
                          <a:solidFill>
                            <a:srgbClr val="1F2933"/>
                          </a:solidFill>
                          <a:latin typeface="Segoe UI"/>
                        </a:rPr>
                        <a:t>cantidad</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100" b="false" i="false">
                          <a:solidFill>
                            <a:srgbClr val="1F2933"/>
                          </a:solidFill>
                          <a:latin typeface="Segoe UI"/>
                        </a:rPr>
                        <a:t>cantidad</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100" b="false" i="false">
                          <a:solidFill>
                            <a:srgbClr val="1F2933"/>
                          </a:solidFill>
                          <a:latin typeface="Segoe UI"/>
                        </a:rPr>
                        <a:t>Integer</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100" b="false" i="false">
                          <a:solidFill>
                            <a:srgbClr val="1F2933"/>
                          </a:solidFill>
                          <a:latin typeface="Segoe UI"/>
                        </a:rPr>
                        <a:t>NUMERIC</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100" b="false" i="false">
                          <a:solidFill>
                            <a:srgbClr val="1F2933"/>
                          </a:solidFill>
                          <a:latin typeface="Segoe UI"/>
                        </a:rPr>
                        <a:t> </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r>
              <a:tr h="298704">
                <a:tc>
                  <a:txBody>
                    <a:bodyPr anchor="t" rtlCol="false"/>
                    <a:lstStyle/>
                    <a:p>
                      <a:pPr algn="l"/>
                      <a:r>
                        <a:rPr lang="es-ES" sz="1100" b="false" i="false">
                          <a:solidFill>
                            <a:srgbClr val="1F2933"/>
                          </a:solidFill>
                          <a:latin typeface="Segoe UI"/>
                        </a:rPr>
                        <a:t>precio_unitario</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precio_unitario</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Number</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NUMERIC</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 </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r>
              <a:tr h="298704">
                <a:tc>
                  <a:txBody>
                    <a:bodyPr anchor="t" rtlCol="false"/>
                    <a:lstStyle/>
                    <a:p>
                      <a:pPr algn="l"/>
                      <a:r>
                        <a:rPr lang="es-ES" sz="1100" b="false" i="false">
                          <a:solidFill>
                            <a:srgbClr val="1F2933"/>
                          </a:solidFill>
                          <a:latin typeface="Segoe UI"/>
                        </a:rPr>
                        <a:t>importe</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100" b="false" i="false">
                          <a:solidFill>
                            <a:srgbClr val="1F2933"/>
                          </a:solidFill>
                          <a:latin typeface="Segoe UI"/>
                        </a:rPr>
                        <a:t>importe</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100" b="false" i="false">
                          <a:solidFill>
                            <a:srgbClr val="1F2933"/>
                          </a:solidFill>
                          <a:latin typeface="Segoe UI"/>
                        </a:rPr>
                        <a:t>Number</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100" b="false" i="false">
                          <a:solidFill>
                            <a:srgbClr val="1F2933"/>
                          </a:solidFill>
                          <a:latin typeface="Segoe UI"/>
                        </a:rPr>
                        <a:t>NUMERIC</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100" b="false" i="false">
                          <a:solidFill>
                            <a:srgbClr val="1F2933"/>
                          </a:solidFill>
                          <a:latin typeface="Segoe UI"/>
                        </a:rPr>
                        <a:t> </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r>
              <a:tr h="298704">
                <a:tc>
                  <a:txBody>
                    <a:bodyPr anchor="t" rtlCol="false"/>
                    <a:lstStyle/>
                    <a:p>
                      <a:pPr algn="l"/>
                      <a:r>
                        <a:rPr lang="es-ES" sz="1100" b="false" i="false">
                          <a:solidFill>
                            <a:srgbClr val="1F2933"/>
                          </a:solidFill>
                          <a:latin typeface="Segoe UI"/>
                        </a:rPr>
                        <a:t>metodo_pago</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metodo_pago</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String</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TEXT</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 </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r>
            </a:tbl>
          </a:graphicData>
        </a:graphic>
      </p:graphicFrame>
      <p:sp>
        <p:nvSpPr>
          <p:cNvPr name="AutoShape 10" id="10"/>
          <p:cNvSpPr/>
          <p:nvPr/>
        </p:nvSpPr>
        <p:spPr>
          <a:xfrm>
            <a:off x="508000" y="4409440"/>
            <a:ext cx="38100" cy="562864"/>
          </a:xfrm>
          <a:prstGeom prst="rect">
            <a:avLst/>
          </a:prstGeom>
          <a:solidFill>
            <a:srgbClr val="243B53"/>
          </a:solidFill>
          <a:ln>
            <a:noFill/>
          </a:ln>
        </p:spPr>
      </p:sp>
      <p:sp>
        <p:nvSpPr>
          <p:cNvPr name="TextBox 11" id="11"/>
          <p:cNvSpPr txBox="true"/>
          <p:nvPr/>
        </p:nvSpPr>
        <p:spPr>
          <a:xfrm>
            <a:off x="660400" y="4409440"/>
            <a:ext cx="11023600" cy="562864"/>
          </a:xfrm>
          <a:prstGeom prst="rect">
            <a:avLst/>
          </a:prstGeom>
        </p:spPr>
        <p:txBody>
          <a:bodyPr anchor="ctr" rtlCol="false" wrap="square" lIns="0" rIns="0" tIns="25400" bIns="25400"/>
          <a:lstStyle/>
          <a:p>
            <a:pPr algn="l"/>
            <a:r>
              <a:rPr lang="es-ES" sz="1300" b="false" i="true">
                <a:solidFill>
                  <a:srgbClr val="243B53"/>
                </a:solidFill>
                <a:latin typeface="Segoe UI"/>
              </a:rPr>
              <a:t>No se consultó la base: no se muestran las claves primarias ni foráneas, y los tipos SQL son los que generaría Kettle. Con «Consultar la base» se leen.</a:t>
            </a:r>
            <a:endParaRPr sz="1300" lang="es-ES"/>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203200"/>
            <a:ext cx="11176000" cy="635000"/>
          </a:xfrm>
        </p:spPr>
        <p:txBody>
          <a:bodyPr lIns="0" rIns="0" wrap="square" anchor="ctr"/>
          <a:lstStyle/>
          <a:p>
            <a:pPr algn="l"/>
            <a:r>
              <a:rPr lang="es-ES" sz="2600" b="true" i="false">
                <a:solidFill>
                  <a:srgbClr val="243B53"/>
                </a:solidFill>
                <a:latin typeface="Segoe UI"/>
              </a:rPr>
              <a:t>Perfil de datos</a:t>
            </a:r>
            <a:endParaRPr sz="2600" lang="es-ES"/>
          </a:p>
        </p:txBody>
      </p:sp>
      <p:pic>
        <p:nvPicPr>
          <p:cNvPr name="Picture 3" id="3"/>
          <p:cNvPicPr>
            <a:picLocks noChangeAspect="true"/>
          </p:cNvPicPr>
          <p:nvPr/>
        </p:nvPicPr>
        <p:blipFill>
          <a:blip r:embed="rId2"/>
          <a:stretch>
            <a:fillRect/>
          </a:stretch>
        </p:blipFill>
        <p:spPr>
          <a:xfrm>
            <a:off x="10248900" y="5510084"/>
            <a:ext cx="1435100" cy="814516"/>
          </a:xfrm>
          <a:prstGeom prst="rect">
            <a:avLst/>
          </a:prstGeom>
        </p:spPr>
      </p:pic>
      <p:sp>
        <p:nvSpPr>
          <p:cNvPr name="AutoShape 4" id="4"/>
          <p:cNvSpPr/>
          <p:nvPr/>
        </p:nvSpPr>
        <p:spPr>
          <a:xfrm>
            <a:off x="0" y="0"/>
            <a:ext cx="12192000" cy="76200"/>
          </a:xfrm>
          <a:prstGeom prst="rect">
            <a:avLst/>
          </a:prstGeom>
          <a:solidFill>
            <a:srgbClr val="243B53"/>
          </a:solidFill>
          <a:ln>
            <a:noFill/>
          </a:ln>
        </p:spPr>
      </p:sp>
      <p:pic>
        <p:nvPicPr>
          <p:cNvPr name="Picture 5" id="5"/>
          <p:cNvPicPr>
            <a:picLocks noChangeAspect="true"/>
          </p:cNvPicPr>
          <p:nvPr/>
        </p:nvPicPr>
        <p:blipFill>
          <a:blip r:embed="rId3"/>
          <a:stretch>
            <a:fillRect/>
          </a:stretch>
        </p:blipFill>
        <p:spPr>
          <a:xfrm>
            <a:off x="508000" y="6508750"/>
            <a:ext cx="177800" cy="100914"/>
          </a:xfrm>
          <a:prstGeom prst="rect">
            <a:avLst/>
          </a:prstGeom>
        </p:spPr>
      </p:pic>
      <p:sp>
        <p:nvSpPr>
          <p:cNvPr name="TextBox 6" id="6"/>
          <p:cNvSpPr txBox="true"/>
          <p:nvPr/>
        </p:nvSpPr>
        <p:spPr>
          <a:xfrm>
            <a:off x="749300" y="6451600"/>
            <a:ext cx="5080000" cy="228600"/>
          </a:xfrm>
          <a:prstGeom prst="rect">
            <a:avLst/>
          </a:prstGeom>
        </p:spPr>
        <p:txBody>
          <a:bodyPr anchor="ctr" rtlCol="false" wrap="square" lIns="0" rIns="0" tIns="25400" bIns="25400"/>
          <a:lstStyle/>
          <a:p>
            <a:pPr algn="l"/>
            <a:r>
              <a:rPr lang="es-ES" sz="750" b="false" i="false">
                <a:solidFill>
                  <a:srgbClr val="6B7785"/>
                </a:solidFill>
                <a:latin typeface="Segoe UI"/>
              </a:rPr>
              <a:t>Pentaho Live · IDC Studios</a:t>
            </a:r>
            <a:endParaRPr sz="750" lang="es-ES"/>
          </a:p>
        </p:txBody>
      </p:sp>
      <p:sp>
        <p:nvSpPr>
          <p:cNvPr name="TextBox 7" id="7"/>
          <p:cNvSpPr txBox="true"/>
          <p:nvPr/>
        </p:nvSpPr>
        <p:spPr>
          <a:xfrm>
            <a:off x="10160000" y="6451600"/>
            <a:ext cx="1524000" cy="228600"/>
          </a:xfrm>
          <a:prstGeom prst="rect">
            <a:avLst/>
          </a:prstGeom>
        </p:spPr>
        <p:txBody>
          <a:bodyPr anchor="ctr" rtlCol="false" wrap="square" lIns="0" rIns="0" tIns="25400" bIns="25400"/>
          <a:lstStyle/>
          <a:p>
            <a:pPr algn="r"/>
            <a:fld id="{60C80FE1-24AA-41DF-827C-FAF86778BD97}" type="slidenum">
              <a:rPr lang="es-ES" sz="750">
                <a:solidFill>
                  <a:srgbClr val="6B7785"/>
                </a:solidFill>
                <a:latin typeface="Segoe UI"/>
              </a:rPr>
              <a:t>19</a:t>
            </a:fld>
            <a:endParaRPr sz="750" lang="es-ES"/>
          </a:p>
        </p:txBody>
      </p:sp>
      <p:sp>
        <p:nvSpPr>
          <p:cNvPr name="AutoShape 8" id="8"/>
          <p:cNvSpPr/>
          <p:nvPr/>
        </p:nvSpPr>
        <p:spPr>
          <a:xfrm>
            <a:off x="508000" y="1016000"/>
            <a:ext cx="38100" cy="344932"/>
          </a:xfrm>
          <a:prstGeom prst="rect">
            <a:avLst/>
          </a:prstGeom>
          <a:solidFill>
            <a:srgbClr val="243B53"/>
          </a:solidFill>
          <a:ln>
            <a:noFill/>
          </a:ln>
        </p:spPr>
      </p:sp>
      <p:sp>
        <p:nvSpPr>
          <p:cNvPr name="TextBox 9" id="9"/>
          <p:cNvSpPr txBox="true"/>
          <p:nvPr/>
        </p:nvSpPr>
        <p:spPr>
          <a:xfrm>
            <a:off x="660400" y="1016000"/>
            <a:ext cx="11023600" cy="344932"/>
          </a:xfrm>
          <a:prstGeom prst="rect">
            <a:avLst/>
          </a:prstGeom>
        </p:spPr>
        <p:txBody>
          <a:bodyPr anchor="ctr" rtlCol="false" wrap="square" lIns="0" rIns="0" tIns="25400" bIns="25400"/>
          <a:lstStyle/>
          <a:p>
            <a:pPr algn="l"/>
            <a:r>
              <a:rPr lang="es-ES" sz="1300" b="false" i="true">
                <a:solidFill>
                  <a:srgbClr val="243B53"/>
                </a:solidFill>
                <a:latin typeface="Segoe UI"/>
              </a:rPr>
              <a:t>Estadísticas de las 3.000 filas que salieron de «Convertir precio a número» (todas).</a:t>
            </a:r>
            <a:endParaRPr sz="1300" lang="es-ES"/>
          </a:p>
        </p:txBody>
      </p:sp>
      <p:sp>
        <p:nvSpPr>
          <p:cNvPr name="TextBox 10" id="10"/>
          <p:cNvSpPr txBox="true"/>
          <p:nvPr/>
        </p:nvSpPr>
        <p:spPr>
          <a:xfrm>
            <a:off x="508000" y="1487932"/>
            <a:ext cx="11176000" cy="254000"/>
          </a:xfrm>
          <a:prstGeom prst="rect">
            <a:avLst/>
          </a:prstGeom>
        </p:spPr>
        <p:txBody>
          <a:bodyPr anchor="t" rtlCol="false" wrap="square" lIns="0" rIns="0" tIns="25400" bIns="25400"/>
          <a:lstStyle/>
          <a:p>
            <a:pPr algn="l"/>
            <a:r>
              <a:rPr lang="es-ES" sz="1300" b="true" i="false">
                <a:solidFill>
                  <a:srgbClr val="243B53"/>
                </a:solidFill>
                <a:latin typeface="Segoe UI"/>
              </a:rPr>
              <a:t>Campos</a:t>
            </a:r>
            <a:endParaRPr sz="1300" lang="es-ES"/>
          </a:p>
        </p:txBody>
      </p:sp>
      <p:graphicFrame>
        <p:nvGraphicFramePr>
          <p:cNvPr name="Table 11" id="11"/>
          <p:cNvGraphicFramePr>
            <a:graphicFrameLocks noGrp="true"/>
          </p:cNvGraphicFramePr>
          <p:nvPr/>
        </p:nvGraphicFramePr>
        <p:xfrm>
          <a:off x="508000" y="1767332"/>
          <a:ext cx="6642100" cy="2537460"/>
        </p:xfrm>
        <a:graphic>
          <a:graphicData uri="http://schemas.openxmlformats.org/drawingml/2006/table">
            <a:tbl>
              <a:tblPr/>
              <a:tblGrid>
                <a:gridCol w="1219200"/>
                <a:gridCol w="660400"/>
                <a:gridCol w="876300"/>
                <a:gridCol w="660400"/>
                <a:gridCol w="876300"/>
                <a:gridCol w="596900"/>
                <a:gridCol w="876300"/>
                <a:gridCol w="876300"/>
              </a:tblGrid>
              <a:tr h="281940">
                <a:tc>
                  <a:txBody>
                    <a:bodyPr anchor="t" rtlCol="false"/>
                    <a:lstStyle/>
                    <a:p>
                      <a:pPr algn="l"/>
                      <a:r>
                        <a:rPr lang="es-ES" sz="1000" b="true" i="false">
                          <a:solidFill>
                            <a:srgbClr val="FFFFFF"/>
                          </a:solidFill>
                          <a:latin typeface="Segoe UI"/>
                        </a:rPr>
                        <a:t>Campo</a:t>
                      </a:r>
                      <a:endParaRPr sz="10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l"/>
                      <a:r>
                        <a:rPr lang="es-ES" sz="1000" b="true" i="false">
                          <a:solidFill>
                            <a:srgbClr val="FFFFFF"/>
                          </a:solidFill>
                          <a:latin typeface="Segoe UI"/>
                        </a:rPr>
                        <a:t>Tipo</a:t>
                      </a:r>
                      <a:endParaRPr sz="10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r"/>
                      <a:r>
                        <a:rPr lang="es-ES" sz="1000" b="true" i="false">
                          <a:solidFill>
                            <a:srgbClr val="FFFFFF"/>
                          </a:solidFill>
                          <a:latin typeface="Segoe UI"/>
                        </a:rPr>
                        <a:t>Nulos</a:t>
                      </a:r>
                      <a:endParaRPr sz="10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r"/>
                      <a:r>
                        <a:rPr lang="es-ES" sz="1000" b="true" i="false">
                          <a:solidFill>
                            <a:srgbClr val="FFFFFF"/>
                          </a:solidFill>
                          <a:latin typeface="Segoe UI"/>
                        </a:rPr>
                        <a:t>Vacíos</a:t>
                      </a:r>
                      <a:endParaRPr sz="10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r"/>
                      <a:r>
                        <a:rPr lang="es-ES" sz="1000" b="true" i="false">
                          <a:solidFill>
                            <a:srgbClr val="FFFFFF"/>
                          </a:solidFill>
                          <a:latin typeface="Segoe UI"/>
                        </a:rPr>
                        <a:t>Distintos</a:t>
                      </a:r>
                      <a:endParaRPr sz="10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r"/>
                      <a:r>
                        <a:rPr lang="es-ES" sz="1000" b="true" i="false">
                          <a:solidFill>
                            <a:srgbClr val="FFFFFF"/>
                          </a:solidFill>
                          <a:latin typeface="Segoe UI"/>
                        </a:rPr>
                        <a:t>Largo</a:t>
                      </a:r>
                      <a:endParaRPr sz="10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l"/>
                      <a:r>
                        <a:rPr lang="es-ES" sz="1000" b="true" i="false">
                          <a:solidFill>
                            <a:srgbClr val="FFFFFF"/>
                          </a:solidFill>
                          <a:latin typeface="Segoe UI"/>
                        </a:rPr>
                        <a:t>Mínimo</a:t>
                      </a:r>
                      <a:endParaRPr sz="10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l"/>
                      <a:r>
                        <a:rPr lang="es-ES" sz="1000" b="true" i="false">
                          <a:solidFill>
                            <a:srgbClr val="FFFFFF"/>
                          </a:solidFill>
                          <a:latin typeface="Segoe UI"/>
                        </a:rPr>
                        <a:t>Máximo</a:t>
                      </a:r>
                      <a:endParaRPr sz="10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r>
              <a:tr h="281940">
                <a:tc>
                  <a:txBody>
                    <a:bodyPr anchor="t" rtlCol="false"/>
                    <a:lstStyle/>
                    <a:p>
                      <a:pPr algn="l"/>
                      <a:r>
                        <a:rPr lang="es-ES" sz="1000" b="false" i="false">
                          <a:solidFill>
                            <a:srgbClr val="1F2933"/>
                          </a:solidFill>
                          <a:latin typeface="Segoe UI"/>
                        </a:rPr>
                        <a:t>id_ticket</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String</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0 (0,0 %)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1.507</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8</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TK000001</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TK001507</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r>
              <a:tr h="281940">
                <a:tc>
                  <a:txBody>
                    <a:bodyPr anchor="t" rtlCol="false"/>
                    <a:lstStyle/>
                    <a:p>
                      <a:pPr algn="l"/>
                      <a:r>
                        <a:rPr lang="es-ES" sz="1000" b="false" i="false">
                          <a:solidFill>
                            <a:srgbClr val="1F2933"/>
                          </a:solidFill>
                          <a:latin typeface="Segoe UI"/>
                        </a:rPr>
                        <a:t>linea</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Integer</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0 (0,0 %)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4</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1</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4</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r>
              <a:tr h="281940">
                <a:tc>
                  <a:txBody>
                    <a:bodyPr anchor="t" rtlCol="false"/>
                    <a:lstStyle/>
                    <a:p>
                      <a:pPr algn="l"/>
                      <a:r>
                        <a:rPr lang="es-ES" sz="1000" b="false" i="false">
                          <a:solidFill>
                            <a:srgbClr val="1F2933"/>
                          </a:solidFill>
                          <a:latin typeface="Segoe UI"/>
                        </a:rPr>
                        <a:t>fecha</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String</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0 (0,0 %)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30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10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2026-09-01</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2026-09-30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r>
              <a:tr h="281940">
                <a:tc>
                  <a:txBody>
                    <a:bodyPr anchor="t" rtlCol="false"/>
                    <a:lstStyle/>
                    <a:p>
                      <a:pPr algn="l"/>
                      <a:r>
                        <a:rPr lang="es-ES" sz="1000" b="false" i="false">
                          <a:solidFill>
                            <a:srgbClr val="1F2933"/>
                          </a:solidFill>
                          <a:latin typeface="Segoe UI"/>
                        </a:rPr>
                        <a:t>id_tienda</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String</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15 (0,5 %)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4</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3</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T01</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T04</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r>
              <a:tr h="281940">
                <a:tc>
                  <a:txBody>
                    <a:bodyPr anchor="t" rtlCol="false"/>
                    <a:lstStyle/>
                    <a:p>
                      <a:pPr algn="l"/>
                      <a:r>
                        <a:rPr lang="es-ES" sz="1000" b="false" i="false">
                          <a:solidFill>
                            <a:srgbClr val="1F2933"/>
                          </a:solidFill>
                          <a:latin typeface="Segoe UI"/>
                        </a:rPr>
                        <a:t>codigo_producto</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String</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0 (0,0 %)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34</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7–9</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BEB-001</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SAL-021</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r>
              <a:tr h="281940">
                <a:tc>
                  <a:txBody>
                    <a:bodyPr anchor="t" rtlCol="false"/>
                    <a:lstStyle/>
                    <a:p>
                      <a:pPr algn="l"/>
                      <a:r>
                        <a:rPr lang="es-ES" sz="1000" b="false" i="false">
                          <a:solidFill>
                            <a:srgbClr val="1F2933"/>
                          </a:solidFill>
                          <a:latin typeface="Segoe UI"/>
                        </a:rPr>
                        <a:t>cantidad</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Integer</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0 (0,0 %)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6</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-2</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3</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r>
              <a:tr h="281940">
                <a:tc>
                  <a:txBody>
                    <a:bodyPr anchor="t" rtlCol="false"/>
                    <a:lstStyle/>
                    <a:p>
                      <a:pPr algn="l"/>
                      <a:r>
                        <a:rPr lang="es-ES" sz="1000" b="false" i="false">
                          <a:solidFill>
                            <a:srgbClr val="1F2933"/>
                          </a:solidFill>
                          <a:latin typeface="Segoe UI"/>
                        </a:rPr>
                        <a:t>precio_unitario</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Number</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0 (0,0 %)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20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1,4</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4,5</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r>
              <a:tr h="281940">
                <a:tc>
                  <a:txBody>
                    <a:bodyPr anchor="t" rtlCol="false"/>
                    <a:lstStyle/>
                    <a:p>
                      <a:pPr algn="l"/>
                      <a:r>
                        <a:rPr lang="es-ES" sz="1000" b="false" i="false">
                          <a:solidFill>
                            <a:srgbClr val="1F2933"/>
                          </a:solidFill>
                          <a:latin typeface="Segoe UI"/>
                        </a:rPr>
                        <a:t>metodo_pago</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String</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0 (0,0 %)</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3</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5–8</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BIZUM</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TARJETA</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r>
            </a:tbl>
          </a:graphicData>
        </a:graphic>
      </p:graphicFrame>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203200"/>
            <a:ext cx="11176000" cy="635000"/>
          </a:xfrm>
        </p:spPr>
        <p:txBody>
          <a:bodyPr lIns="0" rIns="0" wrap="square" anchor="ctr"/>
          <a:lstStyle/>
          <a:p>
            <a:pPr algn="l"/>
            <a:r>
              <a:rPr lang="es-ES" sz="2600" b="true" i="false">
                <a:solidFill>
                  <a:srgbClr val="243B53"/>
                </a:solidFill>
                <a:latin typeface="Segoe UI"/>
              </a:rPr>
              <a:t>Perfil de datos (cont.)</a:t>
            </a:r>
            <a:endParaRPr sz="2600" lang="es-ES"/>
          </a:p>
        </p:txBody>
      </p:sp>
      <p:pic>
        <p:nvPicPr>
          <p:cNvPr name="Picture 3" id="3"/>
          <p:cNvPicPr>
            <a:picLocks noChangeAspect="true"/>
          </p:cNvPicPr>
          <p:nvPr/>
        </p:nvPicPr>
        <p:blipFill>
          <a:blip r:embed="rId2"/>
          <a:stretch>
            <a:fillRect/>
          </a:stretch>
        </p:blipFill>
        <p:spPr>
          <a:xfrm>
            <a:off x="10248900" y="5510084"/>
            <a:ext cx="1435100" cy="814516"/>
          </a:xfrm>
          <a:prstGeom prst="rect">
            <a:avLst/>
          </a:prstGeom>
        </p:spPr>
      </p:pic>
      <p:sp>
        <p:nvSpPr>
          <p:cNvPr name="AutoShape 4" id="4"/>
          <p:cNvSpPr/>
          <p:nvPr/>
        </p:nvSpPr>
        <p:spPr>
          <a:xfrm>
            <a:off x="0" y="0"/>
            <a:ext cx="12192000" cy="76200"/>
          </a:xfrm>
          <a:prstGeom prst="rect">
            <a:avLst/>
          </a:prstGeom>
          <a:solidFill>
            <a:srgbClr val="243B53"/>
          </a:solidFill>
          <a:ln>
            <a:noFill/>
          </a:ln>
        </p:spPr>
      </p:sp>
      <p:pic>
        <p:nvPicPr>
          <p:cNvPr name="Picture 5" id="5"/>
          <p:cNvPicPr>
            <a:picLocks noChangeAspect="true"/>
          </p:cNvPicPr>
          <p:nvPr/>
        </p:nvPicPr>
        <p:blipFill>
          <a:blip r:embed="rId3"/>
          <a:stretch>
            <a:fillRect/>
          </a:stretch>
        </p:blipFill>
        <p:spPr>
          <a:xfrm>
            <a:off x="508000" y="6508750"/>
            <a:ext cx="177800" cy="100914"/>
          </a:xfrm>
          <a:prstGeom prst="rect">
            <a:avLst/>
          </a:prstGeom>
        </p:spPr>
      </p:pic>
      <p:sp>
        <p:nvSpPr>
          <p:cNvPr name="TextBox 6" id="6"/>
          <p:cNvSpPr txBox="true"/>
          <p:nvPr/>
        </p:nvSpPr>
        <p:spPr>
          <a:xfrm>
            <a:off x="749300" y="6451600"/>
            <a:ext cx="5080000" cy="228600"/>
          </a:xfrm>
          <a:prstGeom prst="rect">
            <a:avLst/>
          </a:prstGeom>
        </p:spPr>
        <p:txBody>
          <a:bodyPr anchor="ctr" rtlCol="false" wrap="square" lIns="0" rIns="0" tIns="25400" bIns="25400"/>
          <a:lstStyle/>
          <a:p>
            <a:pPr algn="l"/>
            <a:r>
              <a:rPr lang="es-ES" sz="750" b="false" i="false">
                <a:solidFill>
                  <a:srgbClr val="6B7785"/>
                </a:solidFill>
                <a:latin typeface="Segoe UI"/>
              </a:rPr>
              <a:t>Pentaho Live · IDC Studios</a:t>
            </a:r>
            <a:endParaRPr sz="750" lang="es-ES"/>
          </a:p>
        </p:txBody>
      </p:sp>
      <p:sp>
        <p:nvSpPr>
          <p:cNvPr name="TextBox 7" id="7"/>
          <p:cNvSpPr txBox="true"/>
          <p:nvPr/>
        </p:nvSpPr>
        <p:spPr>
          <a:xfrm>
            <a:off x="10160000" y="6451600"/>
            <a:ext cx="1524000" cy="228600"/>
          </a:xfrm>
          <a:prstGeom prst="rect">
            <a:avLst/>
          </a:prstGeom>
        </p:spPr>
        <p:txBody>
          <a:bodyPr anchor="ctr" rtlCol="false" wrap="square" lIns="0" rIns="0" tIns="25400" bIns="25400"/>
          <a:lstStyle/>
          <a:p>
            <a:pPr algn="r"/>
            <a:fld id="{4D76BAC9-EBC6-4B05-ACAC-451704816F74}" type="slidenum">
              <a:rPr lang="es-ES" sz="750">
                <a:solidFill>
                  <a:srgbClr val="6B7785"/>
                </a:solidFill>
                <a:latin typeface="Segoe UI"/>
              </a:rPr>
              <a:t>20</a:t>
            </a:fld>
            <a:endParaRPr sz="750" lang="es-ES"/>
          </a:p>
        </p:txBody>
      </p:sp>
      <p:sp>
        <p:nvSpPr>
          <p:cNvPr name="TextBox 8" id="8"/>
          <p:cNvSpPr txBox="true"/>
          <p:nvPr/>
        </p:nvSpPr>
        <p:spPr>
          <a:xfrm>
            <a:off x="508000" y="1016000"/>
            <a:ext cx="11176000" cy="254000"/>
          </a:xfrm>
          <a:prstGeom prst="rect">
            <a:avLst/>
          </a:prstGeom>
        </p:spPr>
        <p:txBody>
          <a:bodyPr anchor="t" rtlCol="false" wrap="square" lIns="0" rIns="0" tIns="25400" bIns="25400"/>
          <a:lstStyle/>
          <a:p>
            <a:pPr algn="l"/>
            <a:r>
              <a:rPr lang="es-ES" sz="1300" b="true" i="false">
                <a:solidFill>
                  <a:srgbClr val="243B53"/>
                </a:solidFill>
                <a:latin typeface="Segoe UI"/>
              </a:rPr>
              <a:t>Nulos por campo (%)</a:t>
            </a:r>
            <a:endParaRPr sz="1300" lang="es-ES"/>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08000" y="1295400"/>
            <a:ext cx="11176000" cy="2743200"/>
          </a:xfrm>
          <a:prstGeom prst="rect">
            <a:avLst/>
          </a:prstGeom>
        </p:spPr>
      </p:pic>
      <p:sp>
        <p:nvSpPr>
          <p:cNvPr name="TextBox 10" id="10"/>
          <p:cNvSpPr txBox="true"/>
          <p:nvPr/>
        </p:nvSpPr>
        <p:spPr>
          <a:xfrm>
            <a:off x="508000" y="4089400"/>
            <a:ext cx="11176000" cy="235458"/>
          </a:xfrm>
          <a:prstGeom prst="rect">
            <a:avLst/>
          </a:prstGeom>
        </p:spPr>
        <p:txBody>
          <a:bodyPr anchor="t" rtlCol="false" wrap="square" lIns="0" rIns="0" tIns="25400" bIns="25400"/>
          <a:lstStyle/>
          <a:p>
            <a:pPr algn="l"/>
            <a:r>
              <a:rPr lang="es-ES" sz="950" b="false" i="true">
                <a:solidFill>
                  <a:srgbClr val="6B7785"/>
                </a:solidFill>
                <a:latin typeface="Segoe UI"/>
              </a:rPr>
              <a:t>Detalle de consulta en el informe completo (HTML, PDF o Word): «Campos numéricos», «Valores más frecuentes».</a:t>
            </a:r>
            <a:endParaRPr sz="950" lang="es-ES"/>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203200"/>
            <a:ext cx="11176000" cy="635000"/>
          </a:xfrm>
        </p:spPr>
        <p:txBody>
          <a:bodyPr lIns="0" rIns="0" wrap="square" anchor="ctr"/>
          <a:lstStyle/>
          <a:p>
            <a:pPr algn="l"/>
            <a:r>
              <a:rPr lang="es-ES" sz="2600" b="true" i="false">
                <a:solidFill>
                  <a:srgbClr val="243B53"/>
                </a:solidFill>
                <a:latin typeface="Segoe UI"/>
              </a:rPr>
              <a:t>Métricas de ejecución</a:t>
            </a:r>
            <a:endParaRPr sz="2600" lang="es-ES"/>
          </a:p>
        </p:txBody>
      </p:sp>
      <p:pic>
        <p:nvPicPr>
          <p:cNvPr name="Picture 3" id="3"/>
          <p:cNvPicPr>
            <a:picLocks noChangeAspect="true"/>
          </p:cNvPicPr>
          <p:nvPr/>
        </p:nvPicPr>
        <p:blipFill>
          <a:blip r:embed="rId2"/>
          <a:stretch>
            <a:fillRect/>
          </a:stretch>
        </p:blipFill>
        <p:spPr>
          <a:xfrm>
            <a:off x="10248900" y="5510084"/>
            <a:ext cx="1435100" cy="814516"/>
          </a:xfrm>
          <a:prstGeom prst="rect">
            <a:avLst/>
          </a:prstGeom>
        </p:spPr>
      </p:pic>
      <p:sp>
        <p:nvSpPr>
          <p:cNvPr name="AutoShape 4" id="4"/>
          <p:cNvSpPr/>
          <p:nvPr/>
        </p:nvSpPr>
        <p:spPr>
          <a:xfrm>
            <a:off x="0" y="0"/>
            <a:ext cx="12192000" cy="76200"/>
          </a:xfrm>
          <a:prstGeom prst="rect">
            <a:avLst/>
          </a:prstGeom>
          <a:solidFill>
            <a:srgbClr val="243B53"/>
          </a:solidFill>
          <a:ln>
            <a:noFill/>
          </a:ln>
        </p:spPr>
      </p:sp>
      <p:pic>
        <p:nvPicPr>
          <p:cNvPr name="Picture 5" id="5"/>
          <p:cNvPicPr>
            <a:picLocks noChangeAspect="true"/>
          </p:cNvPicPr>
          <p:nvPr/>
        </p:nvPicPr>
        <p:blipFill>
          <a:blip r:embed="rId3"/>
          <a:stretch>
            <a:fillRect/>
          </a:stretch>
        </p:blipFill>
        <p:spPr>
          <a:xfrm>
            <a:off x="508000" y="6508750"/>
            <a:ext cx="177800" cy="100914"/>
          </a:xfrm>
          <a:prstGeom prst="rect">
            <a:avLst/>
          </a:prstGeom>
        </p:spPr>
      </p:pic>
      <p:sp>
        <p:nvSpPr>
          <p:cNvPr name="TextBox 6" id="6"/>
          <p:cNvSpPr txBox="true"/>
          <p:nvPr/>
        </p:nvSpPr>
        <p:spPr>
          <a:xfrm>
            <a:off x="749300" y="6451600"/>
            <a:ext cx="5080000" cy="228600"/>
          </a:xfrm>
          <a:prstGeom prst="rect">
            <a:avLst/>
          </a:prstGeom>
        </p:spPr>
        <p:txBody>
          <a:bodyPr anchor="ctr" rtlCol="false" wrap="square" lIns="0" rIns="0" tIns="25400" bIns="25400"/>
          <a:lstStyle/>
          <a:p>
            <a:pPr algn="l"/>
            <a:r>
              <a:rPr lang="es-ES" sz="750" b="false" i="false">
                <a:solidFill>
                  <a:srgbClr val="6B7785"/>
                </a:solidFill>
                <a:latin typeface="Segoe UI"/>
              </a:rPr>
              <a:t>Pentaho Live · IDC Studios</a:t>
            </a:r>
            <a:endParaRPr sz="750" lang="es-ES"/>
          </a:p>
        </p:txBody>
      </p:sp>
      <p:sp>
        <p:nvSpPr>
          <p:cNvPr name="TextBox 7" id="7"/>
          <p:cNvSpPr txBox="true"/>
          <p:nvPr/>
        </p:nvSpPr>
        <p:spPr>
          <a:xfrm>
            <a:off x="10160000" y="6451600"/>
            <a:ext cx="1524000" cy="228600"/>
          </a:xfrm>
          <a:prstGeom prst="rect">
            <a:avLst/>
          </a:prstGeom>
        </p:spPr>
        <p:txBody>
          <a:bodyPr anchor="ctr" rtlCol="false" wrap="square" lIns="0" rIns="0" tIns="25400" bIns="25400"/>
          <a:lstStyle/>
          <a:p>
            <a:pPr algn="r"/>
            <a:fld id="{040E4A14-248E-4732-A2DC-06991EE5A35E}" type="slidenum">
              <a:rPr lang="es-ES" sz="750">
                <a:solidFill>
                  <a:srgbClr val="6B7785"/>
                </a:solidFill>
                <a:latin typeface="Segoe UI"/>
              </a:rPr>
              <a:t>21</a:t>
            </a:fld>
            <a:endParaRPr sz="750" lang="es-ES"/>
          </a:p>
        </p:txBody>
      </p:sp>
      <p:sp>
        <p:nvSpPr>
          <p:cNvPr name="AutoShape 8" id="8"/>
          <p:cNvSpPr/>
          <p:nvPr/>
        </p:nvSpPr>
        <p:spPr>
          <a:xfrm>
            <a:off x="508000" y="1016000"/>
            <a:ext cx="3302000" cy="965200"/>
          </a:xfrm>
          <a:prstGeom prst="roundRect">
            <a:avLst/>
          </a:prstGeom>
          <a:solidFill>
            <a:srgbClr val="F4F5F6"/>
          </a:solidFill>
          <a:ln w="9525">
            <a:solidFill>
              <a:srgbClr val="D9DEE5"/>
            </a:solidFill>
          </a:ln>
        </p:spPr>
      </p:sp>
      <p:sp>
        <p:nvSpPr>
          <p:cNvPr name="AutoShape 9" id="9"/>
          <p:cNvSpPr/>
          <p:nvPr/>
        </p:nvSpPr>
        <p:spPr>
          <a:xfrm>
            <a:off x="508000" y="1117600"/>
            <a:ext cx="38100" cy="762000"/>
          </a:xfrm>
          <a:prstGeom prst="rect">
            <a:avLst/>
          </a:prstGeom>
          <a:solidFill>
            <a:srgbClr val="3F74D8"/>
          </a:solidFill>
          <a:ln>
            <a:noFill/>
          </a:ln>
        </p:spPr>
      </p:sp>
      <p:sp>
        <p:nvSpPr>
          <p:cNvPr name="TextBox 10" id="10"/>
          <p:cNvSpPr txBox="true"/>
          <p:nvPr/>
        </p:nvSpPr>
        <p:spPr>
          <a:xfrm>
            <a:off x="685800" y="1092200"/>
            <a:ext cx="2997200" cy="812800"/>
          </a:xfrm>
          <a:prstGeom prst="rect">
            <a:avLst/>
          </a:prstGeom>
        </p:spPr>
        <p:txBody>
          <a:bodyPr anchor="ctr" rtlCol="false" wrap="square" lIns="0" rIns="0" tIns="25400" bIns="25400"/>
          <a:lstStyle/>
          <a:p>
            <a:pPr algn="l"/>
            <a:r>
              <a:rPr lang="es-ES" sz="1000" b="false" i="false">
                <a:solidFill>
                  <a:srgbClr val="6B7785"/>
                </a:solidFill>
                <a:latin typeface="Segoe UI"/>
              </a:rPr>
              <a:t>Duración</a:t>
            </a:r>
            <a:endParaRPr sz="1000" lang="es-ES"/>
          </a:p>
          <a:p>
            <a:pPr algn="l"/>
            <a:r>
              <a:rPr lang="es-ES" sz="2200" b="true" i="false">
                <a:solidFill>
                  <a:srgbClr val="1F2933"/>
                </a:solidFill>
                <a:latin typeface="Segoe UI"/>
              </a:rPr>
              <a:t>292 ms</a:t>
            </a:r>
            <a:endParaRPr sz="2200" lang="es-ES"/>
          </a:p>
          <a:p>
            <a:pPr algn="l"/>
            <a:r>
              <a:rPr lang="es-ES" sz="900" b="false" i="false">
                <a:solidFill>
                  <a:srgbClr val="6B7785"/>
                </a:solidFill>
                <a:latin typeface="Segoe UI"/>
              </a:rPr>
              <a:t>última ejecución en Spoon</a:t>
            </a:r>
            <a:endParaRPr sz="900" lang="es-ES"/>
          </a:p>
        </p:txBody>
      </p:sp>
      <p:sp>
        <p:nvSpPr>
          <p:cNvPr name="AutoShape 11" id="11"/>
          <p:cNvSpPr/>
          <p:nvPr/>
        </p:nvSpPr>
        <p:spPr>
          <a:xfrm>
            <a:off x="3962400" y="1016000"/>
            <a:ext cx="3302000" cy="965200"/>
          </a:xfrm>
          <a:prstGeom prst="roundRect">
            <a:avLst/>
          </a:prstGeom>
          <a:solidFill>
            <a:srgbClr val="F4F5F6"/>
          </a:solidFill>
          <a:ln w="9525">
            <a:solidFill>
              <a:srgbClr val="D9DEE5"/>
            </a:solidFill>
          </a:ln>
        </p:spPr>
      </p:sp>
      <p:sp>
        <p:nvSpPr>
          <p:cNvPr name="AutoShape 12" id="12"/>
          <p:cNvSpPr/>
          <p:nvPr/>
        </p:nvSpPr>
        <p:spPr>
          <a:xfrm>
            <a:off x="3962400" y="1117600"/>
            <a:ext cx="38100" cy="762000"/>
          </a:xfrm>
          <a:prstGeom prst="rect">
            <a:avLst/>
          </a:prstGeom>
          <a:solidFill>
            <a:srgbClr val="3F74D8"/>
          </a:solidFill>
          <a:ln>
            <a:noFill/>
          </a:ln>
        </p:spPr>
      </p:sp>
      <p:sp>
        <p:nvSpPr>
          <p:cNvPr name="TextBox 13" id="13"/>
          <p:cNvSpPr txBox="true"/>
          <p:nvPr/>
        </p:nvSpPr>
        <p:spPr>
          <a:xfrm>
            <a:off x="4140200" y="1092200"/>
            <a:ext cx="2997200" cy="812800"/>
          </a:xfrm>
          <a:prstGeom prst="rect">
            <a:avLst/>
          </a:prstGeom>
        </p:spPr>
        <p:txBody>
          <a:bodyPr anchor="ctr" rtlCol="false" wrap="square" lIns="0" rIns="0" tIns="25400" bIns="25400"/>
          <a:lstStyle/>
          <a:p>
            <a:pPr algn="l"/>
            <a:r>
              <a:rPr lang="es-ES" sz="1000" b="false" i="false">
                <a:solidFill>
                  <a:srgbClr val="6B7785"/>
                </a:solidFill>
                <a:latin typeface="Segoe UI"/>
              </a:rPr>
              <a:t>Filas leídas</a:t>
            </a:r>
            <a:endParaRPr sz="1000" lang="es-ES"/>
          </a:p>
          <a:p>
            <a:pPr algn="l"/>
            <a:r>
              <a:rPr lang="es-ES" sz="2200" b="true" i="false">
                <a:solidFill>
                  <a:srgbClr val="1F2933"/>
                </a:solidFill>
                <a:latin typeface="Segoe UI"/>
              </a:rPr>
              <a:t>3.000</a:t>
            </a:r>
            <a:endParaRPr sz="2200" lang="es-ES"/>
          </a:p>
          <a:p>
            <a:pPr algn="l"/>
            <a:r>
              <a:rPr lang="es-ES" sz="900" b="false" i="false">
                <a:solidFill>
                  <a:srgbClr val="6B7785"/>
                </a:solidFill>
                <a:latin typeface="Segoe UI"/>
              </a:rPr>
              <a:t>de las fuentes</a:t>
            </a:r>
            <a:endParaRPr sz="900" lang="es-ES"/>
          </a:p>
        </p:txBody>
      </p:sp>
      <p:sp>
        <p:nvSpPr>
          <p:cNvPr name="AutoShape 14" id="14"/>
          <p:cNvSpPr/>
          <p:nvPr/>
        </p:nvSpPr>
        <p:spPr>
          <a:xfrm>
            <a:off x="7416800" y="1016000"/>
            <a:ext cx="3302000" cy="965200"/>
          </a:xfrm>
          <a:prstGeom prst="roundRect">
            <a:avLst/>
          </a:prstGeom>
          <a:solidFill>
            <a:srgbClr val="F4F5F6"/>
          </a:solidFill>
          <a:ln w="9525">
            <a:solidFill>
              <a:srgbClr val="D9DEE5"/>
            </a:solidFill>
          </a:ln>
        </p:spPr>
      </p:sp>
      <p:sp>
        <p:nvSpPr>
          <p:cNvPr name="AutoShape 15" id="15"/>
          <p:cNvSpPr/>
          <p:nvPr/>
        </p:nvSpPr>
        <p:spPr>
          <a:xfrm>
            <a:off x="7416800" y="1117600"/>
            <a:ext cx="38100" cy="762000"/>
          </a:xfrm>
          <a:prstGeom prst="rect">
            <a:avLst/>
          </a:prstGeom>
          <a:solidFill>
            <a:srgbClr val="3F74D8"/>
          </a:solidFill>
          <a:ln>
            <a:noFill/>
          </a:ln>
        </p:spPr>
      </p:sp>
      <p:sp>
        <p:nvSpPr>
          <p:cNvPr name="TextBox 16" id="16"/>
          <p:cNvSpPr txBox="true"/>
          <p:nvPr/>
        </p:nvSpPr>
        <p:spPr>
          <a:xfrm>
            <a:off x="7594600" y="1092200"/>
            <a:ext cx="2997200" cy="812800"/>
          </a:xfrm>
          <a:prstGeom prst="rect">
            <a:avLst/>
          </a:prstGeom>
        </p:spPr>
        <p:txBody>
          <a:bodyPr anchor="ctr" rtlCol="false" wrap="square" lIns="0" rIns="0" tIns="25400" bIns="25400"/>
          <a:lstStyle/>
          <a:p>
            <a:pPr algn="l"/>
            <a:r>
              <a:rPr lang="es-ES" sz="1000" b="false" i="false">
                <a:solidFill>
                  <a:srgbClr val="6B7785"/>
                </a:solidFill>
                <a:latin typeface="Segoe UI"/>
              </a:rPr>
              <a:t>Filas escritas</a:t>
            </a:r>
            <a:endParaRPr sz="1000" lang="es-ES"/>
          </a:p>
          <a:p>
            <a:pPr algn="l"/>
            <a:r>
              <a:rPr lang="es-ES" sz="2200" b="true" i="false">
                <a:solidFill>
                  <a:srgbClr val="1F2933"/>
                </a:solidFill>
                <a:latin typeface="Segoe UI"/>
              </a:rPr>
              <a:t>3.000</a:t>
            </a:r>
            <a:endParaRPr sz="2200" lang="es-ES"/>
          </a:p>
          <a:p>
            <a:pPr algn="l"/>
            <a:r>
              <a:rPr lang="es-ES" sz="900" b="false" i="false">
                <a:solidFill>
                  <a:srgbClr val="6B7785"/>
                </a:solidFill>
                <a:latin typeface="Segoe UI"/>
              </a:rPr>
              <a:t>por los steps de salida</a:t>
            </a:r>
            <a:endParaRPr sz="900" lang="es-ES"/>
          </a:p>
        </p:txBody>
      </p:sp>
      <p:sp>
        <p:nvSpPr>
          <p:cNvPr name="AutoShape 17" id="17"/>
          <p:cNvSpPr/>
          <p:nvPr/>
        </p:nvSpPr>
        <p:spPr>
          <a:xfrm>
            <a:off x="508000" y="2108200"/>
            <a:ext cx="3302000" cy="965200"/>
          </a:xfrm>
          <a:prstGeom prst="roundRect">
            <a:avLst/>
          </a:prstGeom>
          <a:solidFill>
            <a:srgbClr val="F4F5F6"/>
          </a:solidFill>
          <a:ln w="9525">
            <a:solidFill>
              <a:srgbClr val="D9DEE5"/>
            </a:solidFill>
          </a:ln>
        </p:spPr>
      </p:sp>
      <p:sp>
        <p:nvSpPr>
          <p:cNvPr name="AutoShape 18" id="18"/>
          <p:cNvSpPr/>
          <p:nvPr/>
        </p:nvSpPr>
        <p:spPr>
          <a:xfrm>
            <a:off x="508000" y="2209800"/>
            <a:ext cx="38100" cy="762000"/>
          </a:xfrm>
          <a:prstGeom prst="rect">
            <a:avLst/>
          </a:prstGeom>
          <a:solidFill>
            <a:srgbClr val="2F855A"/>
          </a:solidFill>
          <a:ln>
            <a:noFill/>
          </a:ln>
        </p:spPr>
      </p:sp>
      <p:sp>
        <p:nvSpPr>
          <p:cNvPr name="TextBox 19" id="19"/>
          <p:cNvSpPr txBox="true"/>
          <p:nvPr/>
        </p:nvSpPr>
        <p:spPr>
          <a:xfrm>
            <a:off x="685800" y="2184400"/>
            <a:ext cx="2997200" cy="812800"/>
          </a:xfrm>
          <a:prstGeom prst="rect">
            <a:avLst/>
          </a:prstGeom>
        </p:spPr>
        <p:txBody>
          <a:bodyPr anchor="ctr" rtlCol="false" wrap="square" lIns="0" rIns="0" tIns="25400" bIns="25400"/>
          <a:lstStyle/>
          <a:p>
            <a:pPr algn="l"/>
            <a:r>
              <a:rPr lang="es-ES" sz="1000" b="false" i="false">
                <a:solidFill>
                  <a:srgbClr val="6B7785"/>
                </a:solidFill>
                <a:latin typeface="Segoe UI"/>
              </a:rPr>
              <a:t>Errores</a:t>
            </a:r>
            <a:endParaRPr sz="1000" lang="es-ES"/>
          </a:p>
          <a:p>
            <a:pPr algn="l"/>
            <a:r>
              <a:rPr lang="es-ES" sz="2200" b="true" i="false">
                <a:solidFill>
                  <a:srgbClr val="2F855A"/>
                </a:solidFill>
                <a:latin typeface="Segoe UI"/>
              </a:rPr>
              <a:t>0</a:t>
            </a:r>
            <a:endParaRPr sz="2200" lang="es-ES"/>
          </a:p>
        </p:txBody>
      </p:sp>
      <p:sp>
        <p:nvSpPr>
          <p:cNvPr name="AutoShape 20" id="20"/>
          <p:cNvSpPr/>
          <p:nvPr/>
        </p:nvSpPr>
        <p:spPr>
          <a:xfrm>
            <a:off x="3962400" y="2108200"/>
            <a:ext cx="3302000" cy="965200"/>
          </a:xfrm>
          <a:prstGeom prst="roundRect">
            <a:avLst/>
          </a:prstGeom>
          <a:solidFill>
            <a:srgbClr val="F4F5F6"/>
          </a:solidFill>
          <a:ln w="9525">
            <a:solidFill>
              <a:srgbClr val="D9DEE5"/>
            </a:solidFill>
          </a:ln>
        </p:spPr>
      </p:sp>
      <p:sp>
        <p:nvSpPr>
          <p:cNvPr name="AutoShape 21" id="21"/>
          <p:cNvSpPr/>
          <p:nvPr/>
        </p:nvSpPr>
        <p:spPr>
          <a:xfrm>
            <a:off x="3962400" y="2209800"/>
            <a:ext cx="38100" cy="762000"/>
          </a:xfrm>
          <a:prstGeom prst="rect">
            <a:avLst/>
          </a:prstGeom>
          <a:solidFill>
            <a:srgbClr val="3F74D8"/>
          </a:solidFill>
          <a:ln>
            <a:noFill/>
          </a:ln>
        </p:spPr>
      </p:sp>
      <p:sp>
        <p:nvSpPr>
          <p:cNvPr name="TextBox 22" id="22"/>
          <p:cNvSpPr txBox="true"/>
          <p:nvPr/>
        </p:nvSpPr>
        <p:spPr>
          <a:xfrm>
            <a:off x="4140200" y="2184400"/>
            <a:ext cx="2997200" cy="812800"/>
          </a:xfrm>
          <a:prstGeom prst="rect">
            <a:avLst/>
          </a:prstGeom>
        </p:spPr>
        <p:txBody>
          <a:bodyPr anchor="ctr" rtlCol="false" wrap="square" lIns="0" rIns="0" tIns="25400" bIns="25400"/>
          <a:lstStyle/>
          <a:p>
            <a:pPr algn="l"/>
            <a:r>
              <a:rPr lang="es-ES" sz="1000" b="false" i="false">
                <a:solidFill>
                  <a:srgbClr val="6B7785"/>
                </a:solidFill>
                <a:latin typeface="Segoe UI"/>
              </a:rPr>
              <a:t>Step más lento</a:t>
            </a:r>
            <a:endParaRPr sz="1000" lang="es-ES"/>
          </a:p>
          <a:p>
            <a:pPr algn="l"/>
            <a:r>
              <a:rPr lang="es-ES" sz="2100" b="true" i="false">
                <a:solidFill>
                  <a:srgbClr val="1F2933"/>
                </a:solidFill>
                <a:latin typeface="Segoe UI"/>
              </a:rPr>
              <a:t>Cargar hechos_ventas</a:t>
            </a:r>
            <a:endParaRPr sz="2100" lang="es-ES"/>
          </a:p>
          <a:p>
            <a:pPr algn="l"/>
            <a:r>
              <a:rPr lang="es-ES" sz="900" b="false" i="false">
                <a:solidFill>
                  <a:srgbClr val="6B7785"/>
                </a:solidFill>
                <a:latin typeface="Segoe UI"/>
              </a:rPr>
              <a:t>206 ms</a:t>
            </a:r>
            <a:endParaRPr sz="900" lang="es-ES"/>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203200"/>
            <a:ext cx="11176000" cy="635000"/>
          </a:xfrm>
        </p:spPr>
        <p:txBody>
          <a:bodyPr lIns="0" rIns="0" wrap="square" anchor="ctr"/>
          <a:lstStyle/>
          <a:p>
            <a:pPr algn="l"/>
            <a:r>
              <a:rPr lang="es-ES" sz="2600" b="true" i="false">
                <a:solidFill>
                  <a:srgbClr val="243B53"/>
                </a:solidFill>
                <a:latin typeface="Segoe UI"/>
              </a:rPr>
              <a:t>Métricas de ejecución (cont.)</a:t>
            </a:r>
            <a:endParaRPr sz="2600" lang="es-ES"/>
          </a:p>
        </p:txBody>
      </p:sp>
      <p:pic>
        <p:nvPicPr>
          <p:cNvPr name="Picture 3" id="3"/>
          <p:cNvPicPr>
            <a:picLocks noChangeAspect="true"/>
          </p:cNvPicPr>
          <p:nvPr/>
        </p:nvPicPr>
        <p:blipFill>
          <a:blip r:embed="rId2"/>
          <a:stretch>
            <a:fillRect/>
          </a:stretch>
        </p:blipFill>
        <p:spPr>
          <a:xfrm>
            <a:off x="10248900" y="5510084"/>
            <a:ext cx="1435100" cy="814516"/>
          </a:xfrm>
          <a:prstGeom prst="rect">
            <a:avLst/>
          </a:prstGeom>
        </p:spPr>
      </p:pic>
      <p:sp>
        <p:nvSpPr>
          <p:cNvPr name="AutoShape 4" id="4"/>
          <p:cNvSpPr/>
          <p:nvPr/>
        </p:nvSpPr>
        <p:spPr>
          <a:xfrm>
            <a:off x="0" y="0"/>
            <a:ext cx="12192000" cy="76200"/>
          </a:xfrm>
          <a:prstGeom prst="rect">
            <a:avLst/>
          </a:prstGeom>
          <a:solidFill>
            <a:srgbClr val="243B53"/>
          </a:solidFill>
          <a:ln>
            <a:noFill/>
          </a:ln>
        </p:spPr>
      </p:sp>
      <p:pic>
        <p:nvPicPr>
          <p:cNvPr name="Picture 5" id="5"/>
          <p:cNvPicPr>
            <a:picLocks noChangeAspect="true"/>
          </p:cNvPicPr>
          <p:nvPr/>
        </p:nvPicPr>
        <p:blipFill>
          <a:blip r:embed="rId3"/>
          <a:stretch>
            <a:fillRect/>
          </a:stretch>
        </p:blipFill>
        <p:spPr>
          <a:xfrm>
            <a:off x="508000" y="6508750"/>
            <a:ext cx="177800" cy="100914"/>
          </a:xfrm>
          <a:prstGeom prst="rect">
            <a:avLst/>
          </a:prstGeom>
        </p:spPr>
      </p:pic>
      <p:sp>
        <p:nvSpPr>
          <p:cNvPr name="TextBox 6" id="6"/>
          <p:cNvSpPr txBox="true"/>
          <p:nvPr/>
        </p:nvSpPr>
        <p:spPr>
          <a:xfrm>
            <a:off x="749300" y="6451600"/>
            <a:ext cx="5080000" cy="228600"/>
          </a:xfrm>
          <a:prstGeom prst="rect">
            <a:avLst/>
          </a:prstGeom>
        </p:spPr>
        <p:txBody>
          <a:bodyPr anchor="ctr" rtlCol="false" wrap="square" lIns="0" rIns="0" tIns="25400" bIns="25400"/>
          <a:lstStyle/>
          <a:p>
            <a:pPr algn="l"/>
            <a:r>
              <a:rPr lang="es-ES" sz="750" b="false" i="false">
                <a:solidFill>
                  <a:srgbClr val="6B7785"/>
                </a:solidFill>
                <a:latin typeface="Segoe UI"/>
              </a:rPr>
              <a:t>Pentaho Live · IDC Studios</a:t>
            </a:r>
            <a:endParaRPr sz="750" lang="es-ES"/>
          </a:p>
        </p:txBody>
      </p:sp>
      <p:sp>
        <p:nvSpPr>
          <p:cNvPr name="TextBox 7" id="7"/>
          <p:cNvSpPr txBox="true"/>
          <p:nvPr/>
        </p:nvSpPr>
        <p:spPr>
          <a:xfrm>
            <a:off x="10160000" y="6451600"/>
            <a:ext cx="1524000" cy="228600"/>
          </a:xfrm>
          <a:prstGeom prst="rect">
            <a:avLst/>
          </a:prstGeom>
        </p:spPr>
        <p:txBody>
          <a:bodyPr anchor="ctr" rtlCol="false" wrap="square" lIns="0" rIns="0" tIns="25400" bIns="25400"/>
          <a:lstStyle/>
          <a:p>
            <a:pPr algn="r"/>
            <a:fld id="{BAF481EF-5E59-4025-9B81-D36AB3C41A5A}" type="slidenum">
              <a:rPr lang="es-ES" sz="750">
                <a:solidFill>
                  <a:srgbClr val="6B7785"/>
                </a:solidFill>
                <a:latin typeface="Segoe UI"/>
              </a:rPr>
              <a:t>22</a:t>
            </a:fld>
            <a:endParaRPr sz="750" lang="es-ES"/>
          </a:p>
        </p:txBody>
      </p:sp>
      <p:sp>
        <p:nvSpPr>
          <p:cNvPr name="TextBox 8" id="8"/>
          <p:cNvSpPr txBox="true"/>
          <p:nvPr/>
        </p:nvSpPr>
        <p:spPr>
          <a:xfrm>
            <a:off x="508000" y="1016000"/>
            <a:ext cx="11176000" cy="254000"/>
          </a:xfrm>
          <a:prstGeom prst="rect">
            <a:avLst/>
          </a:prstGeom>
        </p:spPr>
        <p:txBody>
          <a:bodyPr anchor="t" rtlCol="false" wrap="square" lIns="0" rIns="0" tIns="25400" bIns="25400"/>
          <a:lstStyle/>
          <a:p>
            <a:pPr algn="l"/>
            <a:r>
              <a:rPr lang="es-ES" sz="1300" b="true" i="false">
                <a:solidFill>
                  <a:srgbClr val="243B53"/>
                </a:solidFill>
                <a:latin typeface="Segoe UI"/>
              </a:rPr>
              <a:t>Filas escritas y tiempo por step</a:t>
            </a:r>
            <a:endParaRPr sz="1300" lang="es-ES"/>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883508" y="1295400"/>
            <a:ext cx="8424985" cy="4978400"/>
          </a:xfrm>
          <a:prstGeom prst="rect">
            <a:avLst/>
          </a:prstGeom>
        </p:spPr>
      </p:pic>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203200"/>
            <a:ext cx="11176000" cy="635000"/>
          </a:xfrm>
        </p:spPr>
        <p:txBody>
          <a:bodyPr lIns="0" rIns="0" wrap="square" anchor="ctr"/>
          <a:lstStyle/>
          <a:p>
            <a:pPr algn="l"/>
            <a:r>
              <a:rPr lang="es-ES" sz="2600" b="true" i="false">
                <a:solidFill>
                  <a:srgbClr val="243B53"/>
                </a:solidFill>
                <a:latin typeface="Segoe UI"/>
              </a:rPr>
              <a:t>Métricas de ejecución (cont.)</a:t>
            </a:r>
            <a:endParaRPr sz="2600" lang="es-ES"/>
          </a:p>
        </p:txBody>
      </p:sp>
      <p:pic>
        <p:nvPicPr>
          <p:cNvPr name="Picture 3" id="3"/>
          <p:cNvPicPr>
            <a:picLocks noChangeAspect="true"/>
          </p:cNvPicPr>
          <p:nvPr/>
        </p:nvPicPr>
        <p:blipFill>
          <a:blip r:embed="rId2"/>
          <a:stretch>
            <a:fillRect/>
          </a:stretch>
        </p:blipFill>
        <p:spPr>
          <a:xfrm>
            <a:off x="10248900" y="5510084"/>
            <a:ext cx="1435100" cy="814516"/>
          </a:xfrm>
          <a:prstGeom prst="rect">
            <a:avLst/>
          </a:prstGeom>
        </p:spPr>
      </p:pic>
      <p:sp>
        <p:nvSpPr>
          <p:cNvPr name="AutoShape 4" id="4"/>
          <p:cNvSpPr/>
          <p:nvPr/>
        </p:nvSpPr>
        <p:spPr>
          <a:xfrm>
            <a:off x="0" y="0"/>
            <a:ext cx="12192000" cy="76200"/>
          </a:xfrm>
          <a:prstGeom prst="rect">
            <a:avLst/>
          </a:prstGeom>
          <a:solidFill>
            <a:srgbClr val="243B53"/>
          </a:solidFill>
          <a:ln>
            <a:noFill/>
          </a:ln>
        </p:spPr>
      </p:sp>
      <p:pic>
        <p:nvPicPr>
          <p:cNvPr name="Picture 5" id="5"/>
          <p:cNvPicPr>
            <a:picLocks noChangeAspect="true"/>
          </p:cNvPicPr>
          <p:nvPr/>
        </p:nvPicPr>
        <p:blipFill>
          <a:blip r:embed="rId3"/>
          <a:stretch>
            <a:fillRect/>
          </a:stretch>
        </p:blipFill>
        <p:spPr>
          <a:xfrm>
            <a:off x="508000" y="6508750"/>
            <a:ext cx="177800" cy="100914"/>
          </a:xfrm>
          <a:prstGeom prst="rect">
            <a:avLst/>
          </a:prstGeom>
        </p:spPr>
      </p:pic>
      <p:sp>
        <p:nvSpPr>
          <p:cNvPr name="TextBox 6" id="6"/>
          <p:cNvSpPr txBox="true"/>
          <p:nvPr/>
        </p:nvSpPr>
        <p:spPr>
          <a:xfrm>
            <a:off x="749300" y="6451600"/>
            <a:ext cx="5080000" cy="228600"/>
          </a:xfrm>
          <a:prstGeom prst="rect">
            <a:avLst/>
          </a:prstGeom>
        </p:spPr>
        <p:txBody>
          <a:bodyPr anchor="ctr" rtlCol="false" wrap="square" lIns="0" rIns="0" tIns="25400" bIns="25400"/>
          <a:lstStyle/>
          <a:p>
            <a:pPr algn="l"/>
            <a:r>
              <a:rPr lang="es-ES" sz="750" b="false" i="false">
                <a:solidFill>
                  <a:srgbClr val="6B7785"/>
                </a:solidFill>
                <a:latin typeface="Segoe UI"/>
              </a:rPr>
              <a:t>Pentaho Live · IDC Studios</a:t>
            </a:r>
            <a:endParaRPr sz="750" lang="es-ES"/>
          </a:p>
        </p:txBody>
      </p:sp>
      <p:sp>
        <p:nvSpPr>
          <p:cNvPr name="TextBox 7" id="7"/>
          <p:cNvSpPr txBox="true"/>
          <p:nvPr/>
        </p:nvSpPr>
        <p:spPr>
          <a:xfrm>
            <a:off x="10160000" y="6451600"/>
            <a:ext cx="1524000" cy="228600"/>
          </a:xfrm>
          <a:prstGeom prst="rect">
            <a:avLst/>
          </a:prstGeom>
        </p:spPr>
        <p:txBody>
          <a:bodyPr anchor="ctr" rtlCol="false" wrap="square" lIns="0" rIns="0" tIns="25400" bIns="25400"/>
          <a:lstStyle/>
          <a:p>
            <a:pPr algn="r"/>
            <a:fld id="{6036C817-6C22-4074-A8EE-AF10AA6AFF08}" type="slidenum">
              <a:rPr lang="es-ES" sz="750">
                <a:solidFill>
                  <a:srgbClr val="6B7785"/>
                </a:solidFill>
                <a:latin typeface="Segoe UI"/>
              </a:rPr>
              <a:t>23</a:t>
            </a:fld>
            <a:endParaRPr sz="750" lang="es-ES"/>
          </a:p>
        </p:txBody>
      </p:sp>
      <p:sp>
        <p:nvSpPr>
          <p:cNvPr name="TextBox 8" id="8"/>
          <p:cNvSpPr txBox="true"/>
          <p:nvPr/>
        </p:nvSpPr>
        <p:spPr>
          <a:xfrm>
            <a:off x="508000" y="1016000"/>
            <a:ext cx="11176000" cy="254000"/>
          </a:xfrm>
          <a:prstGeom prst="rect">
            <a:avLst/>
          </a:prstGeom>
        </p:spPr>
        <p:txBody>
          <a:bodyPr anchor="t" rtlCol="false" wrap="square" lIns="0" rIns="0" tIns="25400" bIns="25400"/>
          <a:lstStyle/>
          <a:p>
            <a:pPr algn="l"/>
            <a:r>
              <a:rPr lang="es-ES" sz="1300" b="true" i="false">
                <a:solidFill>
                  <a:srgbClr val="243B53"/>
                </a:solidFill>
                <a:latin typeface="Segoe UI"/>
              </a:rPr>
              <a:t>Línea de tiempo de los steps</a:t>
            </a:r>
            <a:endParaRPr sz="1300" lang="es-ES"/>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13946" y="1295400"/>
            <a:ext cx="10764108" cy="4978400"/>
          </a:xfrm>
          <a:prstGeom prst="rect">
            <a:avLst/>
          </a:prstGeom>
        </p:spPr>
      </p:pic>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203200"/>
            <a:ext cx="11176000" cy="635000"/>
          </a:xfrm>
        </p:spPr>
        <p:txBody>
          <a:bodyPr lIns="0" rIns="0" wrap="square" anchor="ctr"/>
          <a:lstStyle/>
          <a:p>
            <a:pPr algn="l"/>
            <a:r>
              <a:rPr lang="es-ES" sz="2600" b="true" i="false">
                <a:solidFill>
                  <a:srgbClr val="243B53"/>
                </a:solidFill>
                <a:latin typeface="Segoe UI"/>
              </a:rPr>
              <a:t>Métricas de ejecución (cont.)</a:t>
            </a:r>
            <a:endParaRPr sz="2600" lang="es-ES"/>
          </a:p>
        </p:txBody>
      </p:sp>
      <p:pic>
        <p:nvPicPr>
          <p:cNvPr name="Picture 3" id="3"/>
          <p:cNvPicPr>
            <a:picLocks noChangeAspect="true"/>
          </p:cNvPicPr>
          <p:nvPr/>
        </p:nvPicPr>
        <p:blipFill>
          <a:blip r:embed="rId2"/>
          <a:stretch>
            <a:fillRect/>
          </a:stretch>
        </p:blipFill>
        <p:spPr>
          <a:xfrm>
            <a:off x="10248900" y="5510084"/>
            <a:ext cx="1435100" cy="814516"/>
          </a:xfrm>
          <a:prstGeom prst="rect">
            <a:avLst/>
          </a:prstGeom>
        </p:spPr>
      </p:pic>
      <p:sp>
        <p:nvSpPr>
          <p:cNvPr name="AutoShape 4" id="4"/>
          <p:cNvSpPr/>
          <p:nvPr/>
        </p:nvSpPr>
        <p:spPr>
          <a:xfrm>
            <a:off x="0" y="0"/>
            <a:ext cx="12192000" cy="76200"/>
          </a:xfrm>
          <a:prstGeom prst="rect">
            <a:avLst/>
          </a:prstGeom>
          <a:solidFill>
            <a:srgbClr val="243B53"/>
          </a:solidFill>
          <a:ln>
            <a:noFill/>
          </a:ln>
        </p:spPr>
      </p:sp>
      <p:pic>
        <p:nvPicPr>
          <p:cNvPr name="Picture 5" id="5"/>
          <p:cNvPicPr>
            <a:picLocks noChangeAspect="true"/>
          </p:cNvPicPr>
          <p:nvPr/>
        </p:nvPicPr>
        <p:blipFill>
          <a:blip r:embed="rId3"/>
          <a:stretch>
            <a:fillRect/>
          </a:stretch>
        </p:blipFill>
        <p:spPr>
          <a:xfrm>
            <a:off x="508000" y="6508750"/>
            <a:ext cx="177800" cy="100914"/>
          </a:xfrm>
          <a:prstGeom prst="rect">
            <a:avLst/>
          </a:prstGeom>
        </p:spPr>
      </p:pic>
      <p:sp>
        <p:nvSpPr>
          <p:cNvPr name="TextBox 6" id="6"/>
          <p:cNvSpPr txBox="true"/>
          <p:nvPr/>
        </p:nvSpPr>
        <p:spPr>
          <a:xfrm>
            <a:off x="749300" y="6451600"/>
            <a:ext cx="5080000" cy="228600"/>
          </a:xfrm>
          <a:prstGeom prst="rect">
            <a:avLst/>
          </a:prstGeom>
        </p:spPr>
        <p:txBody>
          <a:bodyPr anchor="ctr" rtlCol="false" wrap="square" lIns="0" rIns="0" tIns="25400" bIns="25400"/>
          <a:lstStyle/>
          <a:p>
            <a:pPr algn="l"/>
            <a:r>
              <a:rPr lang="es-ES" sz="750" b="false" i="false">
                <a:solidFill>
                  <a:srgbClr val="6B7785"/>
                </a:solidFill>
                <a:latin typeface="Segoe UI"/>
              </a:rPr>
              <a:t>Pentaho Live · IDC Studios</a:t>
            </a:r>
            <a:endParaRPr sz="750" lang="es-ES"/>
          </a:p>
        </p:txBody>
      </p:sp>
      <p:sp>
        <p:nvSpPr>
          <p:cNvPr name="TextBox 7" id="7"/>
          <p:cNvSpPr txBox="true"/>
          <p:nvPr/>
        </p:nvSpPr>
        <p:spPr>
          <a:xfrm>
            <a:off x="10160000" y="6451600"/>
            <a:ext cx="1524000" cy="228600"/>
          </a:xfrm>
          <a:prstGeom prst="rect">
            <a:avLst/>
          </a:prstGeom>
        </p:spPr>
        <p:txBody>
          <a:bodyPr anchor="ctr" rtlCol="false" wrap="square" lIns="0" rIns="0" tIns="25400" bIns="25400"/>
          <a:lstStyle/>
          <a:p>
            <a:pPr algn="r"/>
            <a:fld id="{C6B1B113-3907-4D53-9B85-933E2148882F}" type="slidenum">
              <a:rPr lang="es-ES" sz="750">
                <a:solidFill>
                  <a:srgbClr val="6B7785"/>
                </a:solidFill>
                <a:latin typeface="Segoe UI"/>
              </a:rPr>
              <a:t>24</a:t>
            </a:fld>
            <a:endParaRPr sz="750" lang="es-ES"/>
          </a:p>
        </p:txBody>
      </p:sp>
      <p:sp>
        <p:nvSpPr>
          <p:cNvPr name="TextBox 8" id="8"/>
          <p:cNvSpPr txBox="true"/>
          <p:nvPr/>
        </p:nvSpPr>
        <p:spPr>
          <a:xfrm>
            <a:off x="508000" y="1016000"/>
            <a:ext cx="11176000" cy="254000"/>
          </a:xfrm>
          <a:prstGeom prst="rect">
            <a:avLst/>
          </a:prstGeom>
        </p:spPr>
        <p:txBody>
          <a:bodyPr anchor="t" rtlCol="false" wrap="square" lIns="0" rIns="0" tIns="25400" bIns="25400"/>
          <a:lstStyle/>
          <a:p>
            <a:pPr algn="l"/>
            <a:r>
              <a:rPr lang="es-ES" sz="1300" b="true" i="false">
                <a:solidFill>
                  <a:srgbClr val="243B53"/>
                </a:solidFill>
                <a:latin typeface="Segoe UI"/>
              </a:rPr>
              <a:t>Métricas por step</a:t>
            </a:r>
            <a:endParaRPr sz="1300" lang="es-ES"/>
          </a:p>
        </p:txBody>
      </p:sp>
      <p:graphicFrame>
        <p:nvGraphicFramePr>
          <p:cNvPr name="Table 9" id="9"/>
          <p:cNvGraphicFramePr>
            <a:graphicFrameLocks noGrp="true"/>
          </p:cNvGraphicFramePr>
          <p:nvPr/>
        </p:nvGraphicFramePr>
        <p:xfrm>
          <a:off x="508000" y="1295400"/>
          <a:ext cx="8724900" cy="3101340"/>
        </p:xfrm>
        <a:graphic>
          <a:graphicData uri="http://schemas.openxmlformats.org/drawingml/2006/table">
            <a:tbl>
              <a:tblPr/>
              <a:tblGrid>
                <a:gridCol w="1993900"/>
                <a:gridCol w="660400"/>
                <a:gridCol w="800100"/>
                <a:gridCol w="736600"/>
                <a:gridCol w="660400"/>
                <a:gridCol w="939800"/>
                <a:gridCol w="736600"/>
                <a:gridCol w="800100"/>
                <a:gridCol w="660400"/>
                <a:gridCol w="736600"/>
              </a:tblGrid>
              <a:tr h="281940">
                <a:tc>
                  <a:txBody>
                    <a:bodyPr anchor="t" rtlCol="false"/>
                    <a:lstStyle/>
                    <a:p>
                      <a:pPr algn="l"/>
                      <a:r>
                        <a:rPr lang="es-ES" sz="1000" b="true" i="false">
                          <a:solidFill>
                            <a:srgbClr val="FFFFFF"/>
                          </a:solidFill>
                          <a:latin typeface="Segoe UI"/>
                        </a:rPr>
                        <a:t>Step</a:t>
                      </a:r>
                      <a:endParaRPr sz="10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r"/>
                      <a:r>
                        <a:rPr lang="es-ES" sz="1000" b="true" i="false">
                          <a:solidFill>
                            <a:srgbClr val="FFFFFF"/>
                          </a:solidFill>
                          <a:latin typeface="Segoe UI"/>
                        </a:rPr>
                        <a:t>Leídas</a:t>
                      </a:r>
                      <a:endParaRPr sz="10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r"/>
                      <a:r>
                        <a:rPr lang="es-ES" sz="1000" b="true" i="false">
                          <a:solidFill>
                            <a:srgbClr val="FFFFFF"/>
                          </a:solidFill>
                          <a:latin typeface="Segoe UI"/>
                        </a:rPr>
                        <a:t>Escritas</a:t>
                      </a:r>
                      <a:endParaRPr sz="10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r"/>
                      <a:r>
                        <a:rPr lang="es-ES" sz="1000" b="true" i="false">
                          <a:solidFill>
                            <a:srgbClr val="FFFFFF"/>
                          </a:solidFill>
                          <a:latin typeface="Segoe UI"/>
                        </a:rPr>
                        <a:t>Entrada</a:t>
                      </a:r>
                      <a:endParaRPr sz="10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r"/>
                      <a:r>
                        <a:rPr lang="es-ES" sz="1000" b="true" i="false">
                          <a:solidFill>
                            <a:srgbClr val="FFFFFF"/>
                          </a:solidFill>
                          <a:latin typeface="Segoe UI"/>
                        </a:rPr>
                        <a:t>Salida</a:t>
                      </a:r>
                      <a:endParaRPr sz="10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r"/>
                      <a:r>
                        <a:rPr lang="es-ES" sz="1000" b="true" i="false">
                          <a:solidFill>
                            <a:srgbClr val="FFFFFF"/>
                          </a:solidFill>
                          <a:latin typeface="Segoe UI"/>
                        </a:rPr>
                        <a:t>Rechazadas</a:t>
                      </a:r>
                      <a:endParaRPr sz="10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r"/>
                      <a:r>
                        <a:rPr lang="es-ES" sz="1000" b="true" i="false">
                          <a:solidFill>
                            <a:srgbClr val="FFFFFF"/>
                          </a:solidFill>
                          <a:latin typeface="Segoe UI"/>
                        </a:rPr>
                        <a:t>Errores</a:t>
                      </a:r>
                      <a:endParaRPr sz="10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l"/>
                      <a:r>
                        <a:rPr lang="es-ES" sz="1000" b="true" i="false">
                          <a:solidFill>
                            <a:srgbClr val="FFFFFF"/>
                          </a:solidFill>
                          <a:latin typeface="Segoe UI"/>
                        </a:rPr>
                        <a:t>Estado</a:t>
                      </a:r>
                      <a:endParaRPr sz="10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r"/>
                      <a:r>
                        <a:rPr lang="es-ES" sz="1000" b="true" i="false">
                          <a:solidFill>
                            <a:srgbClr val="FFFFFF"/>
                          </a:solidFill>
                          <a:latin typeface="Segoe UI"/>
                        </a:rPr>
                        <a:t>Tiempo</a:t>
                      </a:r>
                      <a:endParaRPr sz="10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r"/>
                      <a:r>
                        <a:rPr lang="es-ES" sz="1000" b="true" i="false">
                          <a:solidFill>
                            <a:srgbClr val="FFFFFF"/>
                          </a:solidFill>
                          <a:latin typeface="Segoe UI"/>
                        </a:rPr>
                        <a:t>Filas/s</a:t>
                      </a:r>
                      <a:endParaRPr sz="10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r>
              <a:tr h="281940">
                <a:tc>
                  <a:txBody>
                    <a:bodyPr anchor="t" rtlCol="false"/>
                    <a:lstStyle/>
                    <a:p>
                      <a:pPr algn="l"/>
                      <a:r>
                        <a:rPr lang="es-ES" sz="1000" b="false" i="false">
                          <a:solidFill>
                            <a:srgbClr val="1F2933"/>
                          </a:solidFill>
                          <a:latin typeface="Segoe UI"/>
                        </a:rPr>
                        <a:t>Leer ventas (CSV)</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3.000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3.001</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Terminado</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54 ms</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55.574</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r>
              <a:tr h="281940">
                <a:tc>
                  <a:txBody>
                    <a:bodyPr anchor="t" rtlCol="false"/>
                    <a:lstStyle/>
                    <a:p>
                      <a:pPr algn="l"/>
                      <a:r>
                        <a:rPr lang="es-ES" sz="1000" b="false" i="false">
                          <a:solidFill>
                            <a:srgbClr val="1F2933"/>
                          </a:solidFill>
                          <a:latin typeface="Segoe UI"/>
                        </a:rPr>
                        <a:t>Estandarizar textos</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3.000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3.000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Terminado</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64 ms</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46.875</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r>
              <a:tr h="281940">
                <a:tc>
                  <a:txBody>
                    <a:bodyPr anchor="t" rtlCol="false"/>
                    <a:lstStyle/>
                    <a:p>
                      <a:pPr algn="l"/>
                      <a:r>
                        <a:rPr lang="es-ES" sz="1000" b="false" i="false">
                          <a:solidFill>
                            <a:srgbClr val="1F2933"/>
                          </a:solidFill>
                          <a:latin typeface="Segoe UI"/>
                        </a:rPr>
                        <a:t>Normalizar fecha y precio</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3.000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3.000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Terminado</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69 ms</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43.478</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r>
              <a:tr h="281940">
                <a:tc>
                  <a:txBody>
                    <a:bodyPr anchor="t" rtlCol="false"/>
                    <a:lstStyle/>
                    <a:p>
                      <a:pPr algn="l"/>
                      <a:r>
                        <a:rPr lang="es-ES" sz="1000" b="false" i="false">
                          <a:solidFill>
                            <a:srgbClr val="1F2933"/>
                          </a:solidFill>
                          <a:latin typeface="Segoe UI"/>
                        </a:rPr>
                        <a:t>Convertir precio a número</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3.000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3.000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Terminado</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73 ms</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41.096</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r>
              <a:tr h="281940">
                <a:tc>
                  <a:txBody>
                    <a:bodyPr anchor="t" rtlCol="false"/>
                    <a:lstStyle/>
                    <a:p>
                      <a:pPr algn="l"/>
                      <a:r>
                        <a:rPr lang="es-ES" sz="1000" b="false" i="false">
                          <a:solidFill>
                            <a:srgbClr val="1F2933"/>
                          </a:solidFill>
                          <a:latin typeface="Segoe UI"/>
                        </a:rPr>
                        <a:t>Ordenar por ticket y línea</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3.000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3.000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Terminado</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86 ms</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34.884</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r>
              <a:tr h="281940">
                <a:tc>
                  <a:txBody>
                    <a:bodyPr anchor="t" rtlCol="false"/>
                    <a:lstStyle/>
                    <a:p>
                      <a:pPr algn="l"/>
                      <a:r>
                        <a:rPr lang="es-ES" sz="1000" b="false" i="false">
                          <a:solidFill>
                            <a:srgbClr val="1F2933"/>
                          </a:solidFill>
                          <a:latin typeface="Segoe UI"/>
                        </a:rPr>
                        <a:t>Eliminar duplicados</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3.000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2.940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60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Terminado</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100 ms</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30.000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r>
              <a:tr h="281940">
                <a:tc>
                  <a:txBody>
                    <a:bodyPr anchor="t" rtlCol="false"/>
                    <a:lstStyle/>
                    <a:p>
                      <a:pPr algn="l"/>
                      <a:r>
                        <a:rPr lang="es-ES" sz="1000" b="false" i="false">
                          <a:solidFill>
                            <a:srgbClr val="1F2933"/>
                          </a:solidFill>
                          <a:latin typeface="Segoe UI"/>
                        </a:rPr>
                        <a:t>Buscar tienda</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2.940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2.940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4</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Terminado</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109 ms</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26.972</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r>
              <a:tr h="281940">
                <a:tc>
                  <a:txBody>
                    <a:bodyPr anchor="t" rtlCol="false"/>
                    <a:lstStyle/>
                    <a:p>
                      <a:pPr algn="l"/>
                      <a:r>
                        <a:rPr lang="es-ES" sz="1000" b="false" i="false">
                          <a:solidFill>
                            <a:srgbClr val="1F2933"/>
                          </a:solidFill>
                          <a:latin typeface="Segoe UI"/>
                        </a:rPr>
                        <a:t>Buscar producto</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2.940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2.940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28</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Terminado</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115 ms</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25.565</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r>
              <a:tr h="281940">
                <a:tc>
                  <a:txBody>
                    <a:bodyPr anchor="t" rtlCol="false"/>
                    <a:lstStyle/>
                    <a:p>
                      <a:pPr algn="l"/>
                      <a:r>
                        <a:rPr lang="es-ES" sz="1000" b="false" i="false">
                          <a:solidFill>
                            <a:srgbClr val="1F2933"/>
                          </a:solidFill>
                          <a:latin typeface="Segoe UI"/>
                        </a:rPr>
                        <a:t>Buscar fecha</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2.940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2.940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30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Terminado</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122 ms</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24.098</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r>
              <a:tr h="281940">
                <a:tc>
                  <a:txBody>
                    <a:bodyPr anchor="t" rtlCol="false"/>
                    <a:lstStyle/>
                    <a:p>
                      <a:pPr algn="l"/>
                      <a:r>
                        <a:rPr lang="es-ES" sz="1000" b="false" i="false">
                          <a:solidFill>
                            <a:srgbClr val="1F2933"/>
                          </a:solidFill>
                          <a:latin typeface="Segoe UI"/>
                        </a:rPr>
                        <a:t>Clasificar línea</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2.940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2.940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Terminado</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144 ms</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20.417</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r>
            </a:tbl>
          </a:graphicData>
        </a:graphic>
      </p:graphicFrame>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203200"/>
            <a:ext cx="11176000" cy="635000"/>
          </a:xfrm>
        </p:spPr>
        <p:txBody>
          <a:bodyPr lIns="0" rIns="0" wrap="square" anchor="ctr"/>
          <a:lstStyle/>
          <a:p>
            <a:pPr algn="l"/>
            <a:r>
              <a:rPr lang="es-ES" sz="2600" b="true" i="false">
                <a:solidFill>
                  <a:srgbClr val="243B53"/>
                </a:solidFill>
                <a:latin typeface="Segoe UI"/>
              </a:rPr>
              <a:t>Métricas de ejecución (cont.)</a:t>
            </a:r>
            <a:endParaRPr sz="2600" lang="es-ES"/>
          </a:p>
        </p:txBody>
      </p:sp>
      <p:pic>
        <p:nvPicPr>
          <p:cNvPr name="Picture 3" id="3"/>
          <p:cNvPicPr>
            <a:picLocks noChangeAspect="true"/>
          </p:cNvPicPr>
          <p:nvPr/>
        </p:nvPicPr>
        <p:blipFill>
          <a:blip r:embed="rId2"/>
          <a:stretch>
            <a:fillRect/>
          </a:stretch>
        </p:blipFill>
        <p:spPr>
          <a:xfrm>
            <a:off x="10248900" y="5510084"/>
            <a:ext cx="1435100" cy="814516"/>
          </a:xfrm>
          <a:prstGeom prst="rect">
            <a:avLst/>
          </a:prstGeom>
        </p:spPr>
      </p:pic>
      <p:sp>
        <p:nvSpPr>
          <p:cNvPr name="AutoShape 4" id="4"/>
          <p:cNvSpPr/>
          <p:nvPr/>
        </p:nvSpPr>
        <p:spPr>
          <a:xfrm>
            <a:off x="0" y="0"/>
            <a:ext cx="12192000" cy="76200"/>
          </a:xfrm>
          <a:prstGeom prst="rect">
            <a:avLst/>
          </a:prstGeom>
          <a:solidFill>
            <a:srgbClr val="243B53"/>
          </a:solidFill>
          <a:ln>
            <a:noFill/>
          </a:ln>
        </p:spPr>
      </p:sp>
      <p:pic>
        <p:nvPicPr>
          <p:cNvPr name="Picture 5" id="5"/>
          <p:cNvPicPr>
            <a:picLocks noChangeAspect="true"/>
          </p:cNvPicPr>
          <p:nvPr/>
        </p:nvPicPr>
        <p:blipFill>
          <a:blip r:embed="rId3"/>
          <a:stretch>
            <a:fillRect/>
          </a:stretch>
        </p:blipFill>
        <p:spPr>
          <a:xfrm>
            <a:off x="508000" y="6508750"/>
            <a:ext cx="177800" cy="100914"/>
          </a:xfrm>
          <a:prstGeom prst="rect">
            <a:avLst/>
          </a:prstGeom>
        </p:spPr>
      </p:pic>
      <p:sp>
        <p:nvSpPr>
          <p:cNvPr name="TextBox 6" id="6"/>
          <p:cNvSpPr txBox="true"/>
          <p:nvPr/>
        </p:nvSpPr>
        <p:spPr>
          <a:xfrm>
            <a:off x="749300" y="6451600"/>
            <a:ext cx="5080000" cy="228600"/>
          </a:xfrm>
          <a:prstGeom prst="rect">
            <a:avLst/>
          </a:prstGeom>
        </p:spPr>
        <p:txBody>
          <a:bodyPr anchor="ctr" rtlCol="false" wrap="square" lIns="0" rIns="0" tIns="25400" bIns="25400"/>
          <a:lstStyle/>
          <a:p>
            <a:pPr algn="l"/>
            <a:r>
              <a:rPr lang="es-ES" sz="750" b="false" i="false">
                <a:solidFill>
                  <a:srgbClr val="6B7785"/>
                </a:solidFill>
                <a:latin typeface="Segoe UI"/>
              </a:rPr>
              <a:t>Pentaho Live · IDC Studios</a:t>
            </a:r>
            <a:endParaRPr sz="750" lang="es-ES"/>
          </a:p>
        </p:txBody>
      </p:sp>
      <p:sp>
        <p:nvSpPr>
          <p:cNvPr name="TextBox 7" id="7"/>
          <p:cNvSpPr txBox="true"/>
          <p:nvPr/>
        </p:nvSpPr>
        <p:spPr>
          <a:xfrm>
            <a:off x="10160000" y="6451600"/>
            <a:ext cx="1524000" cy="228600"/>
          </a:xfrm>
          <a:prstGeom prst="rect">
            <a:avLst/>
          </a:prstGeom>
        </p:spPr>
        <p:txBody>
          <a:bodyPr anchor="ctr" rtlCol="false" wrap="square" lIns="0" rIns="0" tIns="25400" bIns="25400"/>
          <a:lstStyle/>
          <a:p>
            <a:pPr algn="r"/>
            <a:fld id="{82AED178-DF59-461F-B003-83F7604BC435}" type="slidenum">
              <a:rPr lang="es-ES" sz="750">
                <a:solidFill>
                  <a:srgbClr val="6B7785"/>
                </a:solidFill>
                <a:latin typeface="Segoe UI"/>
              </a:rPr>
              <a:t>25</a:t>
            </a:fld>
            <a:endParaRPr sz="750" lang="es-ES"/>
          </a:p>
        </p:txBody>
      </p:sp>
      <p:sp>
        <p:nvSpPr>
          <p:cNvPr name="TextBox 8" id="8"/>
          <p:cNvSpPr txBox="true"/>
          <p:nvPr/>
        </p:nvSpPr>
        <p:spPr>
          <a:xfrm>
            <a:off x="508000" y="1016000"/>
            <a:ext cx="11176000" cy="254000"/>
          </a:xfrm>
          <a:prstGeom prst="rect">
            <a:avLst/>
          </a:prstGeom>
        </p:spPr>
        <p:txBody>
          <a:bodyPr anchor="t" rtlCol="false" wrap="square" lIns="0" rIns="0" tIns="25400" bIns="25400"/>
          <a:lstStyle/>
          <a:p>
            <a:pPr algn="l"/>
            <a:r>
              <a:rPr lang="es-ES" sz="1300" b="true" i="false">
                <a:solidFill>
                  <a:srgbClr val="243B53"/>
                </a:solidFill>
                <a:latin typeface="Segoe UI"/>
              </a:rPr>
              <a:t>Métricas por step (cont.)</a:t>
            </a:r>
            <a:endParaRPr sz="1300" lang="es-ES"/>
          </a:p>
        </p:txBody>
      </p:sp>
      <p:graphicFrame>
        <p:nvGraphicFramePr>
          <p:cNvPr name="Table 9" id="9"/>
          <p:cNvGraphicFramePr>
            <a:graphicFrameLocks noGrp="true"/>
          </p:cNvGraphicFramePr>
          <p:nvPr/>
        </p:nvGraphicFramePr>
        <p:xfrm>
          <a:off x="508000" y="1295400"/>
          <a:ext cx="8724900" cy="1973580"/>
        </p:xfrm>
        <a:graphic>
          <a:graphicData uri="http://schemas.openxmlformats.org/drawingml/2006/table">
            <a:tbl>
              <a:tblPr/>
              <a:tblGrid>
                <a:gridCol w="1993900"/>
                <a:gridCol w="660400"/>
                <a:gridCol w="800100"/>
                <a:gridCol w="736600"/>
                <a:gridCol w="660400"/>
                <a:gridCol w="939800"/>
                <a:gridCol w="736600"/>
                <a:gridCol w="800100"/>
                <a:gridCol w="660400"/>
                <a:gridCol w="736600"/>
              </a:tblGrid>
              <a:tr h="281940">
                <a:tc>
                  <a:txBody>
                    <a:bodyPr anchor="t" rtlCol="false"/>
                    <a:lstStyle/>
                    <a:p>
                      <a:pPr algn="l"/>
                      <a:r>
                        <a:rPr lang="es-ES" sz="1000" b="true" i="false">
                          <a:solidFill>
                            <a:srgbClr val="FFFFFF"/>
                          </a:solidFill>
                          <a:latin typeface="Segoe UI"/>
                        </a:rPr>
                        <a:t>Step</a:t>
                      </a:r>
                      <a:endParaRPr sz="10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r"/>
                      <a:r>
                        <a:rPr lang="es-ES" sz="1000" b="true" i="false">
                          <a:solidFill>
                            <a:srgbClr val="FFFFFF"/>
                          </a:solidFill>
                          <a:latin typeface="Segoe UI"/>
                        </a:rPr>
                        <a:t>Leídas</a:t>
                      </a:r>
                      <a:endParaRPr sz="10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r"/>
                      <a:r>
                        <a:rPr lang="es-ES" sz="1000" b="true" i="false">
                          <a:solidFill>
                            <a:srgbClr val="FFFFFF"/>
                          </a:solidFill>
                          <a:latin typeface="Segoe UI"/>
                        </a:rPr>
                        <a:t>Escritas</a:t>
                      </a:r>
                      <a:endParaRPr sz="10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r"/>
                      <a:r>
                        <a:rPr lang="es-ES" sz="1000" b="true" i="false">
                          <a:solidFill>
                            <a:srgbClr val="FFFFFF"/>
                          </a:solidFill>
                          <a:latin typeface="Segoe UI"/>
                        </a:rPr>
                        <a:t>Entrada</a:t>
                      </a:r>
                      <a:endParaRPr sz="10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r"/>
                      <a:r>
                        <a:rPr lang="es-ES" sz="1000" b="true" i="false">
                          <a:solidFill>
                            <a:srgbClr val="FFFFFF"/>
                          </a:solidFill>
                          <a:latin typeface="Segoe UI"/>
                        </a:rPr>
                        <a:t>Salida</a:t>
                      </a:r>
                      <a:endParaRPr sz="10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r"/>
                      <a:r>
                        <a:rPr lang="es-ES" sz="1000" b="true" i="false">
                          <a:solidFill>
                            <a:srgbClr val="FFFFFF"/>
                          </a:solidFill>
                          <a:latin typeface="Segoe UI"/>
                        </a:rPr>
                        <a:t>Rechazadas</a:t>
                      </a:r>
                      <a:endParaRPr sz="10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r"/>
                      <a:r>
                        <a:rPr lang="es-ES" sz="1000" b="true" i="false">
                          <a:solidFill>
                            <a:srgbClr val="FFFFFF"/>
                          </a:solidFill>
                          <a:latin typeface="Segoe UI"/>
                        </a:rPr>
                        <a:t>Errores</a:t>
                      </a:r>
                      <a:endParaRPr sz="10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l"/>
                      <a:r>
                        <a:rPr lang="es-ES" sz="1000" b="true" i="false">
                          <a:solidFill>
                            <a:srgbClr val="FFFFFF"/>
                          </a:solidFill>
                          <a:latin typeface="Segoe UI"/>
                        </a:rPr>
                        <a:t>Estado</a:t>
                      </a:r>
                      <a:endParaRPr sz="10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r"/>
                      <a:r>
                        <a:rPr lang="es-ES" sz="1000" b="true" i="false">
                          <a:solidFill>
                            <a:srgbClr val="FFFFFF"/>
                          </a:solidFill>
                          <a:latin typeface="Segoe UI"/>
                        </a:rPr>
                        <a:t>Tiempo</a:t>
                      </a:r>
                      <a:endParaRPr sz="10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r"/>
                      <a:r>
                        <a:rPr lang="es-ES" sz="1000" b="true" i="false">
                          <a:solidFill>
                            <a:srgbClr val="FFFFFF"/>
                          </a:solidFill>
                          <a:latin typeface="Segoe UI"/>
                        </a:rPr>
                        <a:t>Filas/s</a:t>
                      </a:r>
                      <a:endParaRPr sz="10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r>
              <a:tr h="281940">
                <a:tc>
                  <a:txBody>
                    <a:bodyPr anchor="t" rtlCol="false"/>
                    <a:lstStyle/>
                    <a:p>
                      <a:pPr algn="l"/>
                      <a:r>
                        <a:rPr lang="es-ES" sz="1000" b="false" i="false">
                          <a:solidFill>
                            <a:srgbClr val="1F2933"/>
                          </a:solidFill>
                          <a:latin typeface="Segoe UI"/>
                        </a:rPr>
                        <a:t>Marcar duplicado</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60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60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Terminado</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103 ms</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583</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r>
              <a:tr h="281940">
                <a:tc>
                  <a:txBody>
                    <a:bodyPr anchor="t" rtlCol="false"/>
                    <a:lstStyle/>
                    <a:p>
                      <a:pPr algn="l"/>
                      <a:r>
                        <a:rPr lang="es-ES" sz="1000" b="false" i="false">
                          <a:solidFill>
                            <a:srgbClr val="1F2933"/>
                          </a:solidFill>
                          <a:latin typeface="Segoe UI"/>
                        </a:rPr>
                        <a:t>¿Línea válida?</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2.940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2.940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Terminado</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148 ms</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19.865</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r>
              <a:tr h="281940">
                <a:tc>
                  <a:txBody>
                    <a:bodyPr anchor="t" rtlCol="false"/>
                    <a:lstStyle/>
                    <a:p>
                      <a:pPr algn="l"/>
                      <a:r>
                        <a:rPr lang="es-ES" sz="1000" b="false" i="false">
                          <a:solidFill>
                            <a:srgbClr val="1F2933"/>
                          </a:solidFill>
                          <a:latin typeface="Segoe UI"/>
                        </a:rPr>
                        <a:t>Calcular importe</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2.885</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2.885</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Terminado</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187 ms</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15.428</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r>
              <a:tr h="281940">
                <a:tc>
                  <a:txBody>
                    <a:bodyPr anchor="t" rtlCol="false"/>
                    <a:lstStyle/>
                    <a:p>
                      <a:pPr algn="l"/>
                      <a:r>
                        <a:rPr lang="es-ES" sz="1000" b="false" i="false">
                          <a:solidFill>
                            <a:srgbClr val="1F2933"/>
                          </a:solidFill>
                          <a:latin typeface="Segoe UI"/>
                        </a:rPr>
                        <a:t>Cargar hechos_ventas</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2.885</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2.885</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2.885</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Terminado</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206 ms</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14.005</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r>
              <a:tr h="281940">
                <a:tc>
                  <a:txBody>
                    <a:bodyPr anchor="t" rtlCol="false"/>
                    <a:lstStyle/>
                    <a:p>
                      <a:pPr algn="l"/>
                      <a:r>
                        <a:rPr lang="es-ES" sz="1000" b="false" i="false">
                          <a:solidFill>
                            <a:srgbClr val="1F2933"/>
                          </a:solidFill>
                          <a:latin typeface="Segoe UI"/>
                        </a:rPr>
                        <a:t>Preparar rechazo</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55</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55</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000" b="false" i="false">
                          <a:solidFill>
                            <a:srgbClr val="1F2933"/>
                          </a:solidFill>
                          <a:latin typeface="Segoe UI"/>
                        </a:rPr>
                        <a:t>Terminado</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153 ms</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r"/>
                      <a:r>
                        <a:rPr lang="es-ES" sz="1000" b="false" i="false">
                          <a:solidFill>
                            <a:srgbClr val="1F2933"/>
                          </a:solidFill>
                          <a:latin typeface="Segoe UI"/>
                        </a:rPr>
                        <a:t>359</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r>
              <a:tr h="281940">
                <a:tc>
                  <a:txBody>
                    <a:bodyPr anchor="t" rtlCol="false"/>
                    <a:lstStyle/>
                    <a:p>
                      <a:pPr algn="l"/>
                      <a:r>
                        <a:rPr lang="es-ES" sz="1000" b="false" i="false">
                          <a:solidFill>
                            <a:srgbClr val="1F2933"/>
                          </a:solidFill>
                          <a:latin typeface="Segoe UI"/>
                        </a:rPr>
                        <a:t>Escribir rechazos</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115</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115</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116</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0</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l"/>
                      <a:r>
                        <a:rPr lang="es-ES" sz="1000" b="false" i="false">
                          <a:solidFill>
                            <a:srgbClr val="1F2933"/>
                          </a:solidFill>
                          <a:latin typeface="Segoe UI"/>
                        </a:rPr>
                        <a:t>Terminado</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155 ms</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c>
                  <a:txBody>
                    <a:bodyPr anchor="t" rtlCol="false"/>
                    <a:lstStyle/>
                    <a:p>
                      <a:pPr algn="r"/>
                      <a:r>
                        <a:rPr lang="es-ES" sz="1000" b="false" i="false">
                          <a:solidFill>
                            <a:srgbClr val="1F2933"/>
                          </a:solidFill>
                          <a:latin typeface="Segoe UI"/>
                        </a:rPr>
                        <a:t>748</a:t>
                      </a:r>
                      <a:endParaRPr sz="10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0F1F3"/>
                    </a:solidFill>
                  </a:tcPr>
                </a:tc>
              </a:tr>
            </a:tbl>
          </a:graphicData>
        </a:graphic>
      </p:graphicFrame>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203200"/>
            <a:ext cx="11176000" cy="635000"/>
          </a:xfrm>
        </p:spPr>
        <p:txBody>
          <a:bodyPr lIns="0" rIns="0" wrap="square" anchor="ctr"/>
          <a:lstStyle/>
          <a:p>
            <a:pPr algn="l"/>
            <a:r>
              <a:rPr lang="es-ES" sz="2600" b="true" i="false">
                <a:solidFill>
                  <a:srgbClr val="243B53"/>
                </a:solidFill>
                <a:latin typeface="Segoe UI"/>
              </a:rPr>
              <a:t>Validación</a:t>
            </a:r>
            <a:endParaRPr sz="2600" lang="es-ES"/>
          </a:p>
        </p:txBody>
      </p:sp>
      <p:pic>
        <p:nvPicPr>
          <p:cNvPr name="Picture 3" id="3"/>
          <p:cNvPicPr>
            <a:picLocks noChangeAspect="true"/>
          </p:cNvPicPr>
          <p:nvPr/>
        </p:nvPicPr>
        <p:blipFill>
          <a:blip r:embed="rId2"/>
          <a:stretch>
            <a:fillRect/>
          </a:stretch>
        </p:blipFill>
        <p:spPr>
          <a:xfrm>
            <a:off x="10248900" y="5510084"/>
            <a:ext cx="1435100" cy="814516"/>
          </a:xfrm>
          <a:prstGeom prst="rect">
            <a:avLst/>
          </a:prstGeom>
        </p:spPr>
      </p:pic>
      <p:sp>
        <p:nvSpPr>
          <p:cNvPr name="AutoShape 4" id="4"/>
          <p:cNvSpPr/>
          <p:nvPr/>
        </p:nvSpPr>
        <p:spPr>
          <a:xfrm>
            <a:off x="0" y="0"/>
            <a:ext cx="12192000" cy="76200"/>
          </a:xfrm>
          <a:prstGeom prst="rect">
            <a:avLst/>
          </a:prstGeom>
          <a:solidFill>
            <a:srgbClr val="243B53"/>
          </a:solidFill>
          <a:ln>
            <a:noFill/>
          </a:ln>
        </p:spPr>
      </p:sp>
      <p:pic>
        <p:nvPicPr>
          <p:cNvPr name="Picture 5" id="5"/>
          <p:cNvPicPr>
            <a:picLocks noChangeAspect="true"/>
          </p:cNvPicPr>
          <p:nvPr/>
        </p:nvPicPr>
        <p:blipFill>
          <a:blip r:embed="rId3"/>
          <a:stretch>
            <a:fillRect/>
          </a:stretch>
        </p:blipFill>
        <p:spPr>
          <a:xfrm>
            <a:off x="508000" y="6508750"/>
            <a:ext cx="177800" cy="100914"/>
          </a:xfrm>
          <a:prstGeom prst="rect">
            <a:avLst/>
          </a:prstGeom>
        </p:spPr>
      </p:pic>
      <p:sp>
        <p:nvSpPr>
          <p:cNvPr name="TextBox 6" id="6"/>
          <p:cNvSpPr txBox="true"/>
          <p:nvPr/>
        </p:nvSpPr>
        <p:spPr>
          <a:xfrm>
            <a:off x="749300" y="6451600"/>
            <a:ext cx="5080000" cy="228600"/>
          </a:xfrm>
          <a:prstGeom prst="rect">
            <a:avLst/>
          </a:prstGeom>
        </p:spPr>
        <p:txBody>
          <a:bodyPr anchor="ctr" rtlCol="false" wrap="square" lIns="0" rIns="0" tIns="25400" bIns="25400"/>
          <a:lstStyle/>
          <a:p>
            <a:pPr algn="l"/>
            <a:r>
              <a:rPr lang="es-ES" sz="750" b="false" i="false">
                <a:solidFill>
                  <a:srgbClr val="6B7785"/>
                </a:solidFill>
                <a:latin typeface="Segoe UI"/>
              </a:rPr>
              <a:t>Pentaho Live · IDC Studios</a:t>
            </a:r>
            <a:endParaRPr sz="750" lang="es-ES"/>
          </a:p>
        </p:txBody>
      </p:sp>
      <p:sp>
        <p:nvSpPr>
          <p:cNvPr name="TextBox 7" id="7"/>
          <p:cNvSpPr txBox="true"/>
          <p:nvPr/>
        </p:nvSpPr>
        <p:spPr>
          <a:xfrm>
            <a:off x="10160000" y="6451600"/>
            <a:ext cx="1524000" cy="228600"/>
          </a:xfrm>
          <a:prstGeom prst="rect">
            <a:avLst/>
          </a:prstGeom>
        </p:spPr>
        <p:txBody>
          <a:bodyPr anchor="ctr" rtlCol="false" wrap="square" lIns="0" rIns="0" tIns="25400" bIns="25400"/>
          <a:lstStyle/>
          <a:p>
            <a:pPr algn="r"/>
            <a:fld id="{DF3CB6C2-1DC1-43F9-BC96-E174CE9ACE54}" type="slidenum">
              <a:rPr lang="es-ES" sz="750">
                <a:solidFill>
                  <a:srgbClr val="6B7785"/>
                </a:solidFill>
                <a:latin typeface="Segoe UI"/>
              </a:rPr>
              <a:t>26</a:t>
            </a:fld>
            <a:endParaRPr sz="750" lang="es-ES"/>
          </a:p>
        </p:txBody>
      </p:sp>
      <p:sp>
        <p:nvSpPr>
          <p:cNvPr name="AutoShape 8" id="8"/>
          <p:cNvSpPr/>
          <p:nvPr/>
        </p:nvSpPr>
        <p:spPr>
          <a:xfrm>
            <a:off x="508000" y="1016000"/>
            <a:ext cx="3302000" cy="965200"/>
          </a:xfrm>
          <a:prstGeom prst="roundRect">
            <a:avLst/>
          </a:prstGeom>
          <a:solidFill>
            <a:srgbClr val="F4F5F6"/>
          </a:solidFill>
          <a:ln w="9525">
            <a:solidFill>
              <a:srgbClr val="D9DEE5"/>
            </a:solidFill>
          </a:ln>
        </p:spPr>
      </p:sp>
      <p:sp>
        <p:nvSpPr>
          <p:cNvPr name="AutoShape 9" id="9"/>
          <p:cNvSpPr/>
          <p:nvPr/>
        </p:nvSpPr>
        <p:spPr>
          <a:xfrm>
            <a:off x="508000" y="1117600"/>
            <a:ext cx="38100" cy="762000"/>
          </a:xfrm>
          <a:prstGeom prst="rect">
            <a:avLst/>
          </a:prstGeom>
          <a:solidFill>
            <a:srgbClr val="2F855A"/>
          </a:solidFill>
          <a:ln>
            <a:noFill/>
          </a:ln>
        </p:spPr>
      </p:sp>
      <p:sp>
        <p:nvSpPr>
          <p:cNvPr name="TextBox 10" id="10"/>
          <p:cNvSpPr txBox="true"/>
          <p:nvPr/>
        </p:nvSpPr>
        <p:spPr>
          <a:xfrm>
            <a:off x="685800" y="1092200"/>
            <a:ext cx="2997200" cy="812800"/>
          </a:xfrm>
          <a:prstGeom prst="rect">
            <a:avLst/>
          </a:prstGeom>
        </p:spPr>
        <p:txBody>
          <a:bodyPr anchor="ctr" rtlCol="false" wrap="square" lIns="0" rIns="0" tIns="25400" bIns="25400"/>
          <a:lstStyle/>
          <a:p>
            <a:pPr algn="l"/>
            <a:r>
              <a:rPr lang="es-ES" sz="1000" b="false" i="false">
                <a:solidFill>
                  <a:srgbClr val="6B7785"/>
                </a:solidFill>
                <a:latin typeface="Segoe UI"/>
              </a:rPr>
              <a:t>Errores</a:t>
            </a:r>
            <a:endParaRPr sz="1000" lang="es-ES"/>
          </a:p>
          <a:p>
            <a:pPr algn="l"/>
            <a:r>
              <a:rPr lang="es-ES" sz="2200" b="true" i="false">
                <a:solidFill>
                  <a:srgbClr val="2F855A"/>
                </a:solidFill>
                <a:latin typeface="Segoe UI"/>
              </a:rPr>
              <a:t>0</a:t>
            </a:r>
            <a:endParaRPr sz="2200" lang="es-ES"/>
          </a:p>
        </p:txBody>
      </p:sp>
      <p:sp>
        <p:nvSpPr>
          <p:cNvPr name="AutoShape 11" id="11"/>
          <p:cNvSpPr/>
          <p:nvPr/>
        </p:nvSpPr>
        <p:spPr>
          <a:xfrm>
            <a:off x="3962400" y="1016000"/>
            <a:ext cx="3302000" cy="965200"/>
          </a:xfrm>
          <a:prstGeom prst="roundRect">
            <a:avLst/>
          </a:prstGeom>
          <a:solidFill>
            <a:srgbClr val="F4F5F6"/>
          </a:solidFill>
          <a:ln w="9525">
            <a:solidFill>
              <a:srgbClr val="D9DEE5"/>
            </a:solidFill>
          </a:ln>
        </p:spPr>
      </p:sp>
      <p:sp>
        <p:nvSpPr>
          <p:cNvPr name="AutoShape 12" id="12"/>
          <p:cNvSpPr/>
          <p:nvPr/>
        </p:nvSpPr>
        <p:spPr>
          <a:xfrm>
            <a:off x="3962400" y="1117600"/>
            <a:ext cx="38100" cy="762000"/>
          </a:xfrm>
          <a:prstGeom prst="rect">
            <a:avLst/>
          </a:prstGeom>
          <a:solidFill>
            <a:srgbClr val="2F855A"/>
          </a:solidFill>
          <a:ln>
            <a:noFill/>
          </a:ln>
        </p:spPr>
      </p:sp>
      <p:sp>
        <p:nvSpPr>
          <p:cNvPr name="TextBox 13" id="13"/>
          <p:cNvSpPr txBox="true"/>
          <p:nvPr/>
        </p:nvSpPr>
        <p:spPr>
          <a:xfrm>
            <a:off x="4140200" y="1092200"/>
            <a:ext cx="2997200" cy="812800"/>
          </a:xfrm>
          <a:prstGeom prst="rect">
            <a:avLst/>
          </a:prstGeom>
        </p:spPr>
        <p:txBody>
          <a:bodyPr anchor="ctr" rtlCol="false" wrap="square" lIns="0" rIns="0" tIns="25400" bIns="25400"/>
          <a:lstStyle/>
          <a:p>
            <a:pPr algn="l"/>
            <a:r>
              <a:rPr lang="es-ES" sz="1000" b="false" i="false">
                <a:solidFill>
                  <a:srgbClr val="6B7785"/>
                </a:solidFill>
                <a:latin typeface="Segoe UI"/>
              </a:rPr>
              <a:t>Advertencias</a:t>
            </a:r>
            <a:endParaRPr sz="1000" lang="es-ES"/>
          </a:p>
          <a:p>
            <a:pPr algn="l"/>
            <a:r>
              <a:rPr lang="es-ES" sz="2200" b="true" i="false">
                <a:solidFill>
                  <a:srgbClr val="2F855A"/>
                </a:solidFill>
                <a:latin typeface="Segoe UI"/>
              </a:rPr>
              <a:t>0</a:t>
            </a:r>
            <a:endParaRPr sz="2200" lang="es-ES"/>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203200"/>
            <a:ext cx="11176000" cy="635000"/>
          </a:xfrm>
        </p:spPr>
        <p:txBody>
          <a:bodyPr lIns="0" rIns="0" wrap="square" anchor="ctr"/>
          <a:lstStyle/>
          <a:p>
            <a:pPr algn="l"/>
            <a:r>
              <a:rPr lang="es-ES" sz="2600" b="true" i="false">
                <a:solidFill>
                  <a:srgbClr val="243B53"/>
                </a:solidFill>
                <a:latin typeface="Segoe UI"/>
              </a:rPr>
              <a:t>Conexiones y parámetros</a:t>
            </a:r>
            <a:endParaRPr sz="2600" lang="es-ES"/>
          </a:p>
        </p:txBody>
      </p:sp>
      <p:pic>
        <p:nvPicPr>
          <p:cNvPr name="Picture 3" id="3"/>
          <p:cNvPicPr>
            <a:picLocks noChangeAspect="true"/>
          </p:cNvPicPr>
          <p:nvPr/>
        </p:nvPicPr>
        <p:blipFill>
          <a:blip r:embed="rId2"/>
          <a:stretch>
            <a:fillRect/>
          </a:stretch>
        </p:blipFill>
        <p:spPr>
          <a:xfrm>
            <a:off x="10248900" y="5510084"/>
            <a:ext cx="1435100" cy="814516"/>
          </a:xfrm>
          <a:prstGeom prst="rect">
            <a:avLst/>
          </a:prstGeom>
        </p:spPr>
      </p:pic>
      <p:sp>
        <p:nvSpPr>
          <p:cNvPr name="AutoShape 4" id="4"/>
          <p:cNvSpPr/>
          <p:nvPr/>
        </p:nvSpPr>
        <p:spPr>
          <a:xfrm>
            <a:off x="0" y="0"/>
            <a:ext cx="12192000" cy="76200"/>
          </a:xfrm>
          <a:prstGeom prst="rect">
            <a:avLst/>
          </a:prstGeom>
          <a:solidFill>
            <a:srgbClr val="243B53"/>
          </a:solidFill>
          <a:ln>
            <a:noFill/>
          </a:ln>
        </p:spPr>
      </p:sp>
      <p:pic>
        <p:nvPicPr>
          <p:cNvPr name="Picture 5" id="5"/>
          <p:cNvPicPr>
            <a:picLocks noChangeAspect="true"/>
          </p:cNvPicPr>
          <p:nvPr/>
        </p:nvPicPr>
        <p:blipFill>
          <a:blip r:embed="rId3"/>
          <a:stretch>
            <a:fillRect/>
          </a:stretch>
        </p:blipFill>
        <p:spPr>
          <a:xfrm>
            <a:off x="508000" y="6508750"/>
            <a:ext cx="177800" cy="100914"/>
          </a:xfrm>
          <a:prstGeom prst="rect">
            <a:avLst/>
          </a:prstGeom>
        </p:spPr>
      </p:pic>
      <p:sp>
        <p:nvSpPr>
          <p:cNvPr name="TextBox 6" id="6"/>
          <p:cNvSpPr txBox="true"/>
          <p:nvPr/>
        </p:nvSpPr>
        <p:spPr>
          <a:xfrm>
            <a:off x="749300" y="6451600"/>
            <a:ext cx="5080000" cy="228600"/>
          </a:xfrm>
          <a:prstGeom prst="rect">
            <a:avLst/>
          </a:prstGeom>
        </p:spPr>
        <p:txBody>
          <a:bodyPr anchor="ctr" rtlCol="false" wrap="square" lIns="0" rIns="0" tIns="25400" bIns="25400"/>
          <a:lstStyle/>
          <a:p>
            <a:pPr algn="l"/>
            <a:r>
              <a:rPr lang="es-ES" sz="750" b="false" i="false">
                <a:solidFill>
                  <a:srgbClr val="6B7785"/>
                </a:solidFill>
                <a:latin typeface="Segoe UI"/>
              </a:rPr>
              <a:t>Pentaho Live · IDC Studios</a:t>
            </a:r>
            <a:endParaRPr sz="750" lang="es-ES"/>
          </a:p>
        </p:txBody>
      </p:sp>
      <p:sp>
        <p:nvSpPr>
          <p:cNvPr name="TextBox 7" id="7"/>
          <p:cNvSpPr txBox="true"/>
          <p:nvPr/>
        </p:nvSpPr>
        <p:spPr>
          <a:xfrm>
            <a:off x="10160000" y="6451600"/>
            <a:ext cx="1524000" cy="228600"/>
          </a:xfrm>
          <a:prstGeom prst="rect">
            <a:avLst/>
          </a:prstGeom>
        </p:spPr>
        <p:txBody>
          <a:bodyPr anchor="ctr" rtlCol="false" wrap="square" lIns="0" rIns="0" tIns="25400" bIns="25400"/>
          <a:lstStyle/>
          <a:p>
            <a:pPr algn="r"/>
            <a:fld id="{6CAA0B30-DC80-4BFE-96F3-EECDC5D5C2DF}" type="slidenum">
              <a:rPr lang="es-ES" sz="750">
                <a:solidFill>
                  <a:srgbClr val="6B7785"/>
                </a:solidFill>
                <a:latin typeface="Segoe UI"/>
              </a:rPr>
              <a:t>27</a:t>
            </a:fld>
            <a:endParaRPr sz="750" lang="es-ES"/>
          </a:p>
        </p:txBody>
      </p:sp>
      <p:sp>
        <p:nvSpPr>
          <p:cNvPr name="TextBox 8" id="8"/>
          <p:cNvSpPr txBox="true"/>
          <p:nvPr/>
        </p:nvSpPr>
        <p:spPr>
          <a:xfrm>
            <a:off x="508000" y="1016000"/>
            <a:ext cx="11176000" cy="254000"/>
          </a:xfrm>
          <a:prstGeom prst="rect">
            <a:avLst/>
          </a:prstGeom>
        </p:spPr>
        <p:txBody>
          <a:bodyPr anchor="t" rtlCol="false" wrap="square" lIns="0" rIns="0" tIns="25400" bIns="25400"/>
          <a:lstStyle/>
          <a:p>
            <a:pPr algn="l"/>
            <a:r>
              <a:rPr lang="es-ES" sz="1300" b="true" i="false">
                <a:solidFill>
                  <a:srgbClr val="243B53"/>
                </a:solidFill>
                <a:latin typeface="Segoe UI"/>
              </a:rPr>
              <a:t>Conexiones a bases de datos</a:t>
            </a:r>
            <a:endParaRPr sz="1300" lang="es-ES"/>
          </a:p>
        </p:txBody>
      </p:sp>
      <p:graphicFrame>
        <p:nvGraphicFramePr>
          <p:cNvPr name="Table 9" id="9"/>
          <p:cNvGraphicFramePr>
            <a:graphicFrameLocks noGrp="true"/>
          </p:cNvGraphicFramePr>
          <p:nvPr/>
        </p:nvGraphicFramePr>
        <p:xfrm>
          <a:off x="508000" y="1295400"/>
          <a:ext cx="10947400" cy="781812"/>
        </p:xfrm>
        <a:graphic>
          <a:graphicData uri="http://schemas.openxmlformats.org/drawingml/2006/table">
            <a:tbl>
              <a:tblPr/>
              <a:tblGrid>
                <a:gridCol w="1320800"/>
                <a:gridCol w="635000"/>
                <a:gridCol w="711200"/>
                <a:gridCol w="558800"/>
                <a:gridCol w="3860800"/>
                <a:gridCol w="3860800"/>
              </a:tblGrid>
              <a:tr h="298704">
                <a:tc>
                  <a:txBody>
                    <a:bodyPr anchor="t" rtlCol="false"/>
                    <a:lstStyle/>
                    <a:p>
                      <a:pPr algn="l"/>
                      <a:r>
                        <a:rPr lang="es-ES" sz="1100" b="true" i="false">
                          <a:solidFill>
                            <a:srgbClr val="FFFFFF"/>
                          </a:solidFill>
                          <a:latin typeface="Segoe UI"/>
                        </a:rPr>
                        <a:t>Nombre</a:t>
                      </a:r>
                      <a:endParaRPr sz="11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l"/>
                      <a:r>
                        <a:rPr lang="es-ES" sz="1100" b="true" i="false">
                          <a:solidFill>
                            <a:srgbClr val="FFFFFF"/>
                          </a:solidFill>
                          <a:latin typeface="Segoe UI"/>
                        </a:rPr>
                        <a:t>Tipo</a:t>
                      </a:r>
                      <a:endParaRPr sz="11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l"/>
                      <a:r>
                        <a:rPr lang="es-ES" sz="1100" b="true" i="false">
                          <a:solidFill>
                            <a:srgbClr val="FFFFFF"/>
                          </a:solidFill>
                          <a:latin typeface="Segoe UI"/>
                        </a:rPr>
                        <a:t>Acceso</a:t>
                      </a:r>
                      <a:endParaRPr sz="11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l"/>
                      <a:r>
                        <a:rPr lang="es-ES" sz="1100" b="true" i="false">
                          <a:solidFill>
                            <a:srgbClr val="FFFFFF"/>
                          </a:solidFill>
                          <a:latin typeface="Segoe UI"/>
                        </a:rPr>
                        <a:t>Host</a:t>
                      </a:r>
                      <a:endParaRPr sz="11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l"/>
                      <a:r>
                        <a:rPr lang="es-ES" sz="1100" b="true" i="false">
                          <a:solidFill>
                            <a:srgbClr val="FFFFFF"/>
                          </a:solidFill>
                          <a:latin typeface="Segoe UI"/>
                        </a:rPr>
                        <a:t>Base</a:t>
                      </a:r>
                      <a:endParaRPr sz="11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c>
                  <a:txBody>
                    <a:bodyPr anchor="t" rtlCol="false"/>
                    <a:lstStyle/>
                    <a:p>
                      <a:pPr algn="l"/>
                      <a:r>
                        <a:rPr lang="es-ES" sz="1100" b="true" i="false">
                          <a:solidFill>
                            <a:srgbClr val="FFFFFF"/>
                          </a:solidFill>
                          <a:latin typeface="Segoe UI"/>
                        </a:rPr>
                        <a:t>Usada por</a:t>
                      </a:r>
                      <a:endParaRPr sz="1100" lang="es-ES"/>
                    </a:p>
                  </a:txBody>
                  <a:tcPr marL="76200" marR="76200" marT="38100" marB="38100" anchor="ctr">
                    <a:lnL>
                      <a:noFill/>
                    </a:lnL>
                    <a:lnR>
                      <a:noFill/>
                    </a:lnR>
                    <a:lnT>
                      <a:noFill/>
                    </a:lnT>
                    <a:lnB cmpd="sng" algn="ctr" cap="flat" w="9525">
                      <a:solidFill>
                        <a:srgbClr val="243B53"/>
                      </a:solidFill>
                      <a:prstDash val="solid"/>
                      <a:round/>
                      <a:headEnd type="none" w="med" len="med"/>
                      <a:tailEnd type="none" w="med" len="med"/>
                    </a:lnB>
                    <a:solidFill>
                      <a:srgbClr val="243B53"/>
                    </a:solidFill>
                  </a:tcPr>
                </a:tc>
              </a:tr>
              <a:tr h="483108">
                <a:tc>
                  <a:txBody>
                    <a:bodyPr anchor="t" rtlCol="false"/>
                    <a:lstStyle/>
                    <a:p>
                      <a:pPr algn="l"/>
                      <a:r>
                        <a:rPr lang="es-ES" sz="1100" b="false" i="false">
                          <a:solidFill>
                            <a:srgbClr val="1F2933"/>
                          </a:solidFill>
                          <a:latin typeface="Segoe UI"/>
                        </a:rPr>
                        <a:t>dw_grano_de_oro</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SQLite</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Native</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 </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${Internal.Entry.Current.Directory}/../salida/grano_de_oro_dw.sqlite</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c>
                  <a:txBody>
                    <a:bodyPr anchor="t" rtlCol="false"/>
                    <a:lstStyle/>
                    <a:p>
                      <a:pPr algn="l"/>
                      <a:r>
                        <a:rPr lang="es-ES" sz="1100" b="false" i="false">
                          <a:solidFill>
                            <a:srgbClr val="1F2933"/>
                          </a:solidFill>
                          <a:latin typeface="Segoe UI"/>
                        </a:rPr>
                        <a:t>Buscar fecha, Buscar producto, Buscar tienda, Cargar hechos_ventas</a:t>
                      </a:r>
                      <a:endParaRPr sz="1100" lang="es-ES"/>
                    </a:p>
                  </a:txBody>
                  <a:tcPr marL="76200" marR="76200" marT="38100" marB="38100" anchor="ctr">
                    <a:lnL>
                      <a:noFill/>
                    </a:lnL>
                    <a:lnR>
                      <a:noFill/>
                    </a:lnR>
                    <a:lnT>
                      <a:noFill/>
                    </a:lnT>
                    <a:lnB cmpd="sng" algn="ctr" cap="flat" w="9525">
                      <a:solidFill>
                        <a:srgbClr val="D9DEE5"/>
                      </a:solidFill>
                      <a:prstDash val="solid"/>
                      <a:round/>
                      <a:headEnd type="none" w="med" len="med"/>
                      <a:tailEnd type="none" w="med" len="med"/>
                    </a:lnB>
                    <a:solidFill>
                      <a:srgbClr val="FFFFFF"/>
                    </a:solidFill>
                  </a:tcPr>
                </a:tc>
              </a:tr>
            </a:tbl>
          </a:graphicData>
        </a:graphic>
      </p:graphicFrame>
      <p:sp>
        <p:nvSpPr>
          <p:cNvPr name="TextBox 10" id="10"/>
          <p:cNvSpPr txBox="true"/>
          <p:nvPr/>
        </p:nvSpPr>
        <p:spPr>
          <a:xfrm>
            <a:off x="508000" y="2128012"/>
            <a:ext cx="11176000" cy="235458"/>
          </a:xfrm>
          <a:prstGeom prst="rect">
            <a:avLst/>
          </a:prstGeom>
        </p:spPr>
        <p:txBody>
          <a:bodyPr anchor="t" rtlCol="false" wrap="square" lIns="0" rIns="0" tIns="25400" bIns="25400"/>
          <a:lstStyle/>
          <a:p>
            <a:pPr algn="l"/>
            <a:r>
              <a:rPr lang="es-ES" sz="950" b="false" i="true">
                <a:solidFill>
                  <a:srgbClr val="6B7785"/>
                </a:solidFill>
                <a:latin typeface="Segoe UI"/>
              </a:rPr>
              <a:t>Nunca se incluyen contraseñas.</a:t>
            </a:r>
            <a:endParaRPr sz="950" lang="es-ES"/>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203200"/>
            <a:ext cx="11176000" cy="635000"/>
          </a:xfrm>
        </p:spPr>
        <p:txBody>
          <a:bodyPr lIns="0" rIns="0" wrap="square" anchor="ctr"/>
          <a:lstStyle/>
          <a:p>
            <a:pPr algn="l"/>
            <a:r>
              <a:rPr lang="es-ES" sz="2600" b="true" i="false">
                <a:solidFill>
                  <a:srgbClr val="243B53"/>
                </a:solidFill>
                <a:latin typeface="Segoe UI"/>
              </a:rPr>
              <a:t>Conclusiones</a:t>
            </a:r>
            <a:endParaRPr sz="2600" lang="es-ES"/>
          </a:p>
        </p:txBody>
      </p:sp>
      <p:pic>
        <p:nvPicPr>
          <p:cNvPr name="Picture 3" id="3"/>
          <p:cNvPicPr>
            <a:picLocks noChangeAspect="true"/>
          </p:cNvPicPr>
          <p:nvPr/>
        </p:nvPicPr>
        <p:blipFill>
          <a:blip r:embed="rId2"/>
          <a:stretch>
            <a:fillRect/>
          </a:stretch>
        </p:blipFill>
        <p:spPr>
          <a:xfrm>
            <a:off x="10248900" y="5510084"/>
            <a:ext cx="1435100" cy="814516"/>
          </a:xfrm>
          <a:prstGeom prst="rect">
            <a:avLst/>
          </a:prstGeom>
        </p:spPr>
      </p:pic>
      <p:sp>
        <p:nvSpPr>
          <p:cNvPr name="AutoShape 4" id="4"/>
          <p:cNvSpPr/>
          <p:nvPr/>
        </p:nvSpPr>
        <p:spPr>
          <a:xfrm>
            <a:off x="0" y="0"/>
            <a:ext cx="12192000" cy="76200"/>
          </a:xfrm>
          <a:prstGeom prst="rect">
            <a:avLst/>
          </a:prstGeom>
          <a:solidFill>
            <a:srgbClr val="243B53"/>
          </a:solidFill>
          <a:ln>
            <a:noFill/>
          </a:ln>
        </p:spPr>
      </p:sp>
      <p:pic>
        <p:nvPicPr>
          <p:cNvPr name="Picture 5" id="5"/>
          <p:cNvPicPr>
            <a:picLocks noChangeAspect="true"/>
          </p:cNvPicPr>
          <p:nvPr/>
        </p:nvPicPr>
        <p:blipFill>
          <a:blip r:embed="rId3"/>
          <a:stretch>
            <a:fillRect/>
          </a:stretch>
        </p:blipFill>
        <p:spPr>
          <a:xfrm>
            <a:off x="508000" y="6508750"/>
            <a:ext cx="177800" cy="100914"/>
          </a:xfrm>
          <a:prstGeom prst="rect">
            <a:avLst/>
          </a:prstGeom>
        </p:spPr>
      </p:pic>
      <p:sp>
        <p:nvSpPr>
          <p:cNvPr name="TextBox 6" id="6"/>
          <p:cNvSpPr txBox="true"/>
          <p:nvPr/>
        </p:nvSpPr>
        <p:spPr>
          <a:xfrm>
            <a:off x="749300" y="6451600"/>
            <a:ext cx="5080000" cy="228600"/>
          </a:xfrm>
          <a:prstGeom prst="rect">
            <a:avLst/>
          </a:prstGeom>
        </p:spPr>
        <p:txBody>
          <a:bodyPr anchor="ctr" rtlCol="false" wrap="square" lIns="0" rIns="0" tIns="25400" bIns="25400"/>
          <a:lstStyle/>
          <a:p>
            <a:pPr algn="l"/>
            <a:r>
              <a:rPr lang="es-ES" sz="750" b="false" i="false">
                <a:solidFill>
                  <a:srgbClr val="6B7785"/>
                </a:solidFill>
                <a:latin typeface="Segoe UI"/>
              </a:rPr>
              <a:t>Pentaho Live · IDC Studios</a:t>
            </a:r>
            <a:endParaRPr sz="750" lang="es-ES"/>
          </a:p>
        </p:txBody>
      </p:sp>
      <p:sp>
        <p:nvSpPr>
          <p:cNvPr name="TextBox 7" id="7"/>
          <p:cNvSpPr txBox="true"/>
          <p:nvPr/>
        </p:nvSpPr>
        <p:spPr>
          <a:xfrm>
            <a:off x="10160000" y="6451600"/>
            <a:ext cx="1524000" cy="228600"/>
          </a:xfrm>
          <a:prstGeom prst="rect">
            <a:avLst/>
          </a:prstGeom>
        </p:spPr>
        <p:txBody>
          <a:bodyPr anchor="ctr" rtlCol="false" wrap="square" lIns="0" rIns="0" tIns="25400" bIns="25400"/>
          <a:lstStyle/>
          <a:p>
            <a:pPr algn="r"/>
            <a:fld id="{3ECC0152-C326-4F48-955E-B08E5DDC072B}" type="slidenum">
              <a:rPr lang="es-ES" sz="750">
                <a:solidFill>
                  <a:srgbClr val="6B7785"/>
                </a:solidFill>
                <a:latin typeface="Segoe UI"/>
              </a:rPr>
              <a:t>28</a:t>
            </a:fld>
            <a:endParaRPr sz="750" lang="es-ES"/>
          </a:p>
        </p:txBody>
      </p:sp>
      <p:sp>
        <p:nvSpPr>
          <p:cNvPr name="TextBox 8" id="8"/>
          <p:cNvSpPr txBox="true"/>
          <p:nvPr/>
        </p:nvSpPr>
        <p:spPr>
          <a:xfrm>
            <a:off x="508000" y="1016000"/>
            <a:ext cx="11176000" cy="1588770"/>
          </a:xfrm>
          <a:prstGeom prst="rect">
            <a:avLst/>
          </a:prstGeom>
        </p:spPr>
        <p:txBody>
          <a:bodyPr anchor="t" rtlCol="false" wrap="square" lIns="0" rIns="0" tIns="25400" bIns="25400"/>
          <a:lstStyle/>
          <a:p>
            <a:pPr algn="l" marL="203200" indent="-152400">
              <a:spcAft>
                <a:spcPts val="489"/>
              </a:spcAft>
              <a:buClr>
                <a:srgbClr val="3F74D8"/>
              </a:buClr>
              <a:buFont typeface="Arial"/>
              <a:buChar char="•"/>
            </a:pPr>
            <a:r>
              <a:rPr lang="es-ES" sz="1400" b="false" i="false">
                <a:solidFill>
                  <a:srgbClr val="1F2933"/>
                </a:solidFill>
                <a:latin typeface="Segoe UI"/>
              </a:rPr>
              <a:t>La carga es completa y trazable: cada línea del fichero termina en `hechos_ventas` o en el fichero de rechazos, con el motivo.</a:t>
            </a:r>
            <a:endParaRPr sz="1400" lang="es-ES"/>
          </a:p>
          <a:p>
            <a:pPr algn="l" marL="203200" indent="-152400">
              <a:spcAft>
                <a:spcPts val="489"/>
              </a:spcAft>
              <a:buClr>
                <a:srgbClr val="3F74D8"/>
              </a:buClr>
              <a:buFont typeface="Arial"/>
              <a:buChar char="•"/>
            </a:pPr>
            <a:r>
              <a:rPr lang="es-ES" sz="1400" b="false" i="false">
                <a:solidFill>
                  <a:srgbClr val="1F2933"/>
                </a:solidFill>
                <a:latin typeface="Segoe UI"/>
              </a:rPr>
              <a:t>La validación de Spoon no encuentra errores ni advertencias.</a:t>
            </a:r>
            <a:endParaRPr sz="1400" lang="es-ES"/>
          </a:p>
          <a:p>
            <a:pPr algn="l" marL="203200" indent="-152400">
              <a:spcAft>
                <a:spcPts val="489"/>
              </a:spcAft>
              <a:buClr>
                <a:srgbClr val="3F74D8"/>
              </a:buClr>
              <a:buFont typeface="Arial"/>
              <a:buChar char="•"/>
            </a:pPr>
            <a:r>
              <a:rPr lang="es-ES" sz="1400" b="false" i="false">
                <a:solidFill>
                  <a:srgbClr val="1F2933"/>
                </a:solidFill>
                <a:latin typeface="Segoe UI"/>
              </a:rPr>
              <a:t>El paso más lento es la escritura en SQLite («Cargar hechos_ventas»), lo esperable en una carga de este tamaño.</a:t>
            </a:r>
            <a:endParaRPr sz="1400" lang="es-ES"/>
          </a:p>
        </p:txBody>
      </p:sp>
      <p:sp>
        <p:nvSpPr>
          <p:cNvPr name="TextBox 9" id="9"/>
          <p:cNvSpPr txBox="true"/>
          <p:nvPr/>
        </p:nvSpPr>
        <p:spPr>
          <a:xfrm>
            <a:off x="508000" y="2655570"/>
            <a:ext cx="11176000" cy="235458"/>
          </a:xfrm>
          <a:prstGeom prst="rect">
            <a:avLst/>
          </a:prstGeom>
        </p:spPr>
        <p:txBody>
          <a:bodyPr anchor="t" rtlCol="false" wrap="square" lIns="0" rIns="0" tIns="25400" bIns="25400"/>
          <a:lstStyle/>
          <a:p>
            <a:pPr algn="l"/>
            <a:r>
              <a:rPr lang="es-ES" sz="950" b="false" i="true">
                <a:solidFill>
                  <a:srgbClr val="6B7785"/>
                </a:solidFill>
                <a:latin typeface="Segoe UI"/>
              </a:rPr>
              <a:t>Texto redactado con asistencia de IA</a:t>
            </a:r>
            <a:endParaRPr sz="950"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terms="http://purl.org/dc/terms/" xmlns:dc="http://purl.org/dc/elements/1.1/" xmlns:xsi="http://www.w3.org/2001/XMLSchema-instance">
  <dcterms:created xsi:type="dcterms:W3CDTF">2006-08-16T00:00:00Z</dcterms:created>
  <dc:creator>Iván Castaño</dc:creator>
  <dc:description>Informe de la transformación 04_hechos_ventas</dc:description>
  <dc:language>es-ES</dc:language>
  <dcterms:modified xsi:type="dcterms:W3CDTF">2011-08-01T06:04:30Z</dcterms:modified>
  <cp:revision>1</cp:revision>
  <dc:title>Carga de hechos de ventas · Grano de Oro</dc:title>
</cp:coreProperties>
</file>