
<file path=[Content_Types].xml><?xml version="1.0" encoding="utf-8"?>
<Types xmlns="http://schemas.openxmlformats.org/package/2006/content-types">
  <Default ContentType="image/jpeg" Extension="jpeg"/>
  <Default ContentType="image/png" Extension="png"/>
  <Default ContentType="application/vnd.openxmlformats-package.relationships+xml" Extension="rels"/>
  <Default ContentType="image/svg+xml" Extension="svg"/>
  <Default ContentType="application/xml" Extension="xml"/>
  <Override ContentType="application/vnd.openxmlformats-officedocument.extended-properties+xml" PartName="/docProps/app.xml"/>
  <Override ContentType="application/vnd.openxmlformats-package.core-properties+xml" PartName="/docProps/core.xml"/>
  <Override ContentType="application/vnd.openxmlformats-officedocument.presentationml.notesMaster+xml" PartName="/ppt/notesMasters/notesMaster1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0.xml"/>
  <Override ContentType="application/vnd.openxmlformats-officedocument.presentationml.notesSlide+xml" PartName="/ppt/notesSlides/notesSlide1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11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4.xml"/>
  <Override ContentType="application/vnd.openxmlformats-officedocument.presentationml.slide+xml" PartName="/ppt/slides/slide5.xml"/>
  <Override ContentType="application/vnd.openxmlformats-officedocument.presentationml.slide+xml" PartName="/ppt/slides/slide6.xml"/>
  <Override ContentType="application/vnd.openxmlformats-officedocument.presentationml.slide+xml" PartName="/ppt/slides/slide7.xml"/>
  <Override ContentType="application/vnd.openxmlformats-officedocument.presentationml.slide+xml" PartName="/ppt/slides/slide8.xml"/>
  <Override ContentType="application/vnd.openxmlformats-officedocument.presentationml.slide+xml" PartName="/ppt/slides/slide9.xml"/>
  <Override ContentType="application/vnd.openxmlformats-officedocument.presentationml.slide+xml" PartName="/ppt/slides/slide10.xml"/>
  <Override ContentType="application/vnd.openxmlformats-officedocument.presentationml.slide+xml" PartName="/ppt/slides/slide11.xml"/>
  <Override ContentType="application/vnd.openxmlformats-officedocument.presentationml.slide+xml" PartName="/ppt/slides/slide12.xml"/>
  <Override ContentType="application/vnd.openxmlformats-officedocument.presentationml.slide+xml" PartName="/ppt/slides/slide13.xml"/>
  <Override ContentType="application/vnd.openxmlformats-officedocument.presentationml.slide+xml" PartName="/ppt/slides/slide14.xml"/>
  <Override ContentType="application/vnd.openxmlformats-officedocument.presentationml.slide+xml" PartName="/ppt/slides/slide15.xml"/>
  <Override ContentType="application/vnd.openxmlformats-officedocument.presentationml.slide+xml" PartName="/ppt/slides/slide16.xml"/>
  <Override ContentType="application/vnd.openxmlformats-officedocument.presentationml.slide+xml" PartName="/ppt/slides/slide17.xml"/>
  <Override ContentType="application/vnd.openxmlformats-officedocument.presentationml.slide+xml" PartName="/ppt/slides/slide18.xml"/>
  <Override ContentType="application/vnd.openxmlformats-officedocument.presentationml.slide+xml" PartName="/ppt/slides/slide19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22.xml"/>
  <Override ContentType="application/vnd.openxmlformats-officedocument.presentationml.slide+xml" PartName="/ppt/slides/slide23.xml"/>
  <Override ContentType="application/vnd.openxmlformats-officedocument.presentationml.slide+xml" PartName="/ppt/slides/slide24.xml"/>
  <Override ContentType="application/vnd.openxmlformats-officedocument.presentationml.slide+xml" PartName="/ppt/slides/slide25.xml"/>
  <Override ContentType="application/vnd.openxmlformats-officedocument.presentationml.slide+xml" PartName="/ppt/slides/slide26.xml"/>
  <Override ContentType="application/vnd.openxmlformats-officedocument.presentationml.slide+xml" PartName="/ppt/slides/slide27.xml"/>
  <Override ContentType="application/vnd.openxmlformats-officedocument.presentationml.slide+xml" PartName="/ppt/slides/slide28.xml"/>
  <Override ContentType="application/vnd.openxmlformats-officedocument.presentationml.slide+xml" PartName="/ppt/slides/slide29.xml"/>
  <Override ContentType="application/vnd.openxmlformats-officedocument.presentationml.slide+xml" PartName="/ppt/slides/slide30.xml"/>
  <Override ContentType="application/vnd.openxmlformats-officedocument.presentationml.slide+xml" PartName="/ppt/slides/slide31.xml"/>
  <Override ContentType="application/vnd.openxmlformats-officedocument.presentationml.slide+xml" PartName="/ppt/slides/slide32.xml"/>
  <Override ContentType="application/vnd.openxmlformats-officedocument.presentationml.slide+xml" PartName="/ppt/slides/slide33.xml"/>
  <Override ContentType="application/vnd.openxmlformats-officedocument.presentationml.slide+xml" PartName="/ppt/slides/slide34.xml"/>
  <Override ContentType="application/vnd.openxmlformats-officedocument.presentationml.slide+xml" PartName="/ppt/slides/slide35.xml"/>
  <Override ContentType="application/vnd.openxmlformats-officedocument.presentationml.slide+xml" PartName="/ppt/slides/slide36.xml"/>
  <Override ContentType="application/vnd.openxmlformats-officedocument.presentationml.slide+xml" PartName="/ppt/slides/slide37.xml"/>
  <Override ContentType="application/vnd.openxmlformats-officedocument.presentationml.slide+xml" PartName="/ppt/slides/slide38.xml"/>
  <Override ContentType="application/vnd.openxmlformats-officedocument.presentationml.slide+xml" PartName="/ppt/slides/slide39.xml"/>
  <Override ContentType="application/vnd.openxmlformats-officedocument.presentationml.slide+xml" PartName="/ppt/slides/slide40.xml"/>
  <Override ContentType="application/vnd.openxmlformats-officedocument.presentationml.slide+xml" PartName="/ppt/slides/slide41.xml"/>
  <Override ContentType="application/vnd.openxmlformats-officedocument.presentationml.slide+xml" PartName="/ppt/slides/slide42.xml"/>
  <Override ContentType="application/vnd.openxmlformats-officedocument.presentationml.tableStyles+xml" PartName="/ppt/tableStyles.xml"/>
  <Override ContentType="application/vnd.openxmlformats-officedocument.theme+xml" PartName="/ppt/theme/theme1.xml"/>
  <Override ContentType="application/vnd.openxmlformats-officedocument.theme+xml" PartName="/ppt/theme/theme2.xml"/>
  <Override ContentType="application/vnd.openxmlformats-officedocument.presentationml.viewProps+xml" PartName="/ppt/viewProps.xml"/>
</Types>
</file>

<file path=_rels/.rels><?xml version="1.0" encoding="UTF-8" standalone="yes"?><Relationships xmlns="http://schemas.openxmlformats.org/package/2006/relationships"><Relationship Id="rId1" Target="ppt/presentation.xml" Type="http://schemas.openxmlformats.org/officeDocument/2006/relationships/officeDocument"/><Relationship Id="rId2" Target="docProps/thumbnail.jpeg" Type="http://schemas.openxmlformats.org/package/2006/relationships/metadata/thumbnail"/><Relationship Id="rId3" Target="docProps/core.xml" Type="http://schemas.openxmlformats.org/package/2006/relationships/metadata/core-properties"/><Relationship Id="rId4" Target="docProps/app.xml" Type="http://schemas.openxmlformats.org/officeDocument/2006/relationships/extended-properties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7"/>
  </p:notesMasterIdLst>
  <p:sldIdLst>
    <p:sldId id="256" r:id="rId6"/>
    <p:sldId id="257" r:id="rId10"/>
    <p:sldId id="258" r:id="rId11"/>
    <p:sldId id="259" r:id="rId12"/>
    <p:sldId id="260" r:id="rId14"/>
    <p:sldId id="261" r:id="rId15"/>
    <p:sldId id="262" r:id="rId16"/>
    <p:sldId id="263" r:id="rId18"/>
    <p:sldId id="264" r:id="rId19"/>
    <p:sldId id="265" r:id="rId20"/>
    <p:sldId id="266" r:id="rId21"/>
    <p:sldId id="267" r:id="rId22"/>
    <p:sldId id="268" r:id="rId23"/>
    <p:sldId id="269" r:id="rId25"/>
    <p:sldId id="270" r:id="rId26"/>
    <p:sldId id="271" r:id="rId27"/>
    <p:sldId id="272" r:id="rId28"/>
    <p:sldId id="273" r:id="rId29"/>
    <p:sldId id="274" r:id="rId30"/>
    <p:sldId id="275" r:id="rId31"/>
    <p:sldId id="276" r:id="rId32"/>
    <p:sldId id="277" r:id="rId33"/>
    <p:sldId id="278" r:id="rId34"/>
    <p:sldId id="279" r:id="rId35"/>
    <p:sldId id="280" r:id="rId36"/>
    <p:sldId id="281" r:id="rId37"/>
    <p:sldId id="282" r:id="rId38"/>
    <p:sldId id="283" r:id="rId39"/>
    <p:sldId id="284" r:id="rId40"/>
    <p:sldId id="285" r:id="rId42"/>
    <p:sldId id="286" r:id="rId43"/>
    <p:sldId id="287" r:id="rId45"/>
    <p:sldId id="288" r:id="rId46"/>
    <p:sldId id="289" r:id="rId47"/>
    <p:sldId id="290" r:id="rId49"/>
    <p:sldId id="291" r:id="rId50"/>
    <p:sldId id="292" r:id="rId51"/>
    <p:sldId id="293" r:id="rId52"/>
    <p:sldId id="294" r:id="rId53"/>
    <p:sldId id="295" r:id="rId55"/>
    <p:sldId id="296" r:id="rId57"/>
    <p:sldId id="297" r:id="rId59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 autoAdjust="0"/>
    <p:restoredTop sz="94622" autoAdjust="0"/>
  </p:normalViewPr>
  <p:slideViewPr>
    <p:cSldViewPr>
      <p:cViewPr varScale="1">
        <p:scale>
          <a:sx n="74" d="100"/>
          <a:sy n="74" d="100"/>
        </p:scale>
        <p:origin x="-1092" y="-90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<Relationships xmlns="http://schemas.openxmlformats.org/package/2006/relationships"><Relationship Id="rId1" Target="slideMasters/slideMaster1.xml" Type="http://schemas.openxmlformats.org/officeDocument/2006/relationships/slideMaster"/><Relationship Id="rId10" Target="slides/slide2.xml" Type="http://schemas.openxmlformats.org/officeDocument/2006/relationships/slide"/><Relationship Id="rId11" Target="slides/slide3.xml" Type="http://schemas.openxmlformats.org/officeDocument/2006/relationships/slide"/><Relationship Id="rId12" Target="slides/slide4.xml" Type="http://schemas.openxmlformats.org/officeDocument/2006/relationships/slide"/><Relationship Id="rId13" Target="notesSlides/notesSlide2.xml" Type="http://schemas.openxmlformats.org/officeDocument/2006/relationships/notesSlide"/><Relationship Id="rId14" Target="slides/slide5.xml" Type="http://schemas.openxmlformats.org/officeDocument/2006/relationships/slide"/><Relationship Id="rId15" Target="slides/slide6.xml" Type="http://schemas.openxmlformats.org/officeDocument/2006/relationships/slide"/><Relationship Id="rId16" Target="slides/slide7.xml" Type="http://schemas.openxmlformats.org/officeDocument/2006/relationships/slide"/><Relationship Id="rId17" Target="notesSlides/notesSlide3.xml" Type="http://schemas.openxmlformats.org/officeDocument/2006/relationships/notesSlide"/><Relationship Id="rId18" Target="slides/slide8.xml" Type="http://schemas.openxmlformats.org/officeDocument/2006/relationships/slide"/><Relationship Id="rId19" Target="slides/slide9.xml" Type="http://schemas.openxmlformats.org/officeDocument/2006/relationships/slide"/><Relationship Id="rId2" Target="presProps.xml" Type="http://schemas.openxmlformats.org/officeDocument/2006/relationships/presProps"/><Relationship Id="rId20" Target="slides/slide10.xml" Type="http://schemas.openxmlformats.org/officeDocument/2006/relationships/slide"/><Relationship Id="rId21" Target="slides/slide11.xml" Type="http://schemas.openxmlformats.org/officeDocument/2006/relationships/slide"/><Relationship Id="rId22" Target="slides/slide12.xml" Type="http://schemas.openxmlformats.org/officeDocument/2006/relationships/slide"/><Relationship Id="rId23" Target="slides/slide13.xml" Type="http://schemas.openxmlformats.org/officeDocument/2006/relationships/slide"/><Relationship Id="rId24" Target="notesSlides/notesSlide4.xml" Type="http://schemas.openxmlformats.org/officeDocument/2006/relationships/notesSlide"/><Relationship Id="rId25" Target="slides/slide14.xml" Type="http://schemas.openxmlformats.org/officeDocument/2006/relationships/slide"/><Relationship Id="rId26" Target="slides/slide15.xml" Type="http://schemas.openxmlformats.org/officeDocument/2006/relationships/slide"/><Relationship Id="rId27" Target="slides/slide16.xml" Type="http://schemas.openxmlformats.org/officeDocument/2006/relationships/slide"/><Relationship Id="rId28" Target="slides/slide17.xml" Type="http://schemas.openxmlformats.org/officeDocument/2006/relationships/slide"/><Relationship Id="rId29" Target="slides/slide18.xml" Type="http://schemas.openxmlformats.org/officeDocument/2006/relationships/slide"/><Relationship Id="rId3" Target="viewProps.xml" Type="http://schemas.openxmlformats.org/officeDocument/2006/relationships/viewProps"/><Relationship Id="rId30" Target="slides/slide19.xml" Type="http://schemas.openxmlformats.org/officeDocument/2006/relationships/slide"/><Relationship Id="rId31" Target="slides/slide20.xml" Type="http://schemas.openxmlformats.org/officeDocument/2006/relationships/slide"/><Relationship Id="rId32" Target="slides/slide21.xml" Type="http://schemas.openxmlformats.org/officeDocument/2006/relationships/slide"/><Relationship Id="rId33" Target="slides/slide22.xml" Type="http://schemas.openxmlformats.org/officeDocument/2006/relationships/slide"/><Relationship Id="rId34" Target="slides/slide23.xml" Type="http://schemas.openxmlformats.org/officeDocument/2006/relationships/slide"/><Relationship Id="rId35" Target="slides/slide24.xml" Type="http://schemas.openxmlformats.org/officeDocument/2006/relationships/slide"/><Relationship Id="rId36" Target="slides/slide25.xml" Type="http://schemas.openxmlformats.org/officeDocument/2006/relationships/slide"/><Relationship Id="rId37" Target="slides/slide26.xml" Type="http://schemas.openxmlformats.org/officeDocument/2006/relationships/slide"/><Relationship Id="rId38" Target="slides/slide27.xml" Type="http://schemas.openxmlformats.org/officeDocument/2006/relationships/slide"/><Relationship Id="rId39" Target="slides/slide28.xml" Type="http://schemas.openxmlformats.org/officeDocument/2006/relationships/slide"/><Relationship Id="rId4" Target="theme/theme1.xml" Type="http://schemas.openxmlformats.org/officeDocument/2006/relationships/theme"/><Relationship Id="rId40" Target="slides/slide29.xml" Type="http://schemas.openxmlformats.org/officeDocument/2006/relationships/slide"/><Relationship Id="rId41" Target="notesSlides/notesSlide5.xml" Type="http://schemas.openxmlformats.org/officeDocument/2006/relationships/notesSlide"/><Relationship Id="rId42" Target="slides/slide30.xml" Type="http://schemas.openxmlformats.org/officeDocument/2006/relationships/slide"/><Relationship Id="rId43" Target="slides/slide31.xml" Type="http://schemas.openxmlformats.org/officeDocument/2006/relationships/slide"/><Relationship Id="rId44" Target="notesSlides/notesSlide6.xml" Type="http://schemas.openxmlformats.org/officeDocument/2006/relationships/notesSlide"/><Relationship Id="rId45" Target="slides/slide32.xml" Type="http://schemas.openxmlformats.org/officeDocument/2006/relationships/slide"/><Relationship Id="rId46" Target="slides/slide33.xml" Type="http://schemas.openxmlformats.org/officeDocument/2006/relationships/slide"/><Relationship Id="rId47" Target="slides/slide34.xml" Type="http://schemas.openxmlformats.org/officeDocument/2006/relationships/slide"/><Relationship Id="rId48" Target="notesSlides/notesSlide7.xml" Type="http://schemas.openxmlformats.org/officeDocument/2006/relationships/notesSlide"/><Relationship Id="rId49" Target="slides/slide35.xml" Type="http://schemas.openxmlformats.org/officeDocument/2006/relationships/slide"/><Relationship Id="rId5" Target="tableStyles.xml" Type="http://schemas.openxmlformats.org/officeDocument/2006/relationships/tableStyles"/><Relationship Id="rId50" Target="slides/slide36.xml" Type="http://schemas.openxmlformats.org/officeDocument/2006/relationships/slide"/><Relationship Id="rId51" Target="slides/slide37.xml" Type="http://schemas.openxmlformats.org/officeDocument/2006/relationships/slide"/><Relationship Id="rId52" Target="slides/slide38.xml" Type="http://schemas.openxmlformats.org/officeDocument/2006/relationships/slide"/><Relationship Id="rId53" Target="slides/slide39.xml" Type="http://schemas.openxmlformats.org/officeDocument/2006/relationships/slide"/><Relationship Id="rId54" Target="notesSlides/notesSlide8.xml" Type="http://schemas.openxmlformats.org/officeDocument/2006/relationships/notesSlide"/><Relationship Id="rId55" Target="slides/slide40.xml" Type="http://schemas.openxmlformats.org/officeDocument/2006/relationships/slide"/><Relationship Id="rId56" Target="notesSlides/notesSlide9.xml" Type="http://schemas.openxmlformats.org/officeDocument/2006/relationships/notesSlide"/><Relationship Id="rId57" Target="slides/slide41.xml" Type="http://schemas.openxmlformats.org/officeDocument/2006/relationships/slide"/><Relationship Id="rId58" Target="notesSlides/notesSlide10.xml" Type="http://schemas.openxmlformats.org/officeDocument/2006/relationships/notesSlide"/><Relationship Id="rId59" Target="slides/slide42.xml" Type="http://schemas.openxmlformats.org/officeDocument/2006/relationships/slide"/><Relationship Id="rId6" Target="slides/slide1.xml" Type="http://schemas.openxmlformats.org/officeDocument/2006/relationships/slide"/><Relationship Id="rId60" Target="notesSlides/notesSlide11.xml" Type="http://schemas.openxmlformats.org/officeDocument/2006/relationships/notesSlide"/><Relationship Id="rId7" Target="notesMasters/notesMaster1.xml" Type="http://schemas.openxmlformats.org/officeDocument/2006/relationships/notesMaster"/><Relationship Id="rId8" Target="theme/theme2.xml" Type="http://schemas.openxmlformats.org/officeDocument/2006/relationships/theme"/><Relationship Id="rId9" Target="notesSlides/notesSlide1.xml" Type="http://schemas.openxmlformats.org/officeDocument/2006/relationships/notesSlide"/></Relationships>
</file>

<file path=ppt/notesMasters/_rels/notesMaster1.xml.rels><?xml version="1.0" encoding="UTF-8" standalone="yes"?><Relationships xmlns="http://schemas.openxmlformats.org/package/2006/relationships"><Relationship Id="rId1" Target="../theme/theme2.xml" Type="http://schemas.openxmlformats.org/officeDocument/2006/relationships/theme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cs-CZ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7268E1E-0E44-426D-905E-8AD9B19D2182}" type="datetimeFigureOut">
              <a:rPr lang="cs-CZ" smtClean="0"/>
              <a:t>1.7.2013</a:t>
            </a:fld>
            <a:endParaRPr lang="cs-CZ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cs-CZ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cs-CZ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cs-CZ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71B2431-D351-4C6E-A3CF-9DFAC0E3E050}" type="slidenum">
              <a:rPr lang="cs-CZ" smtClean="0"/>
              <a:t>‹#›</a:t>
            </a:fld>
            <a:endParaRPr lang="cs-CZ"/>
          </a:p>
        </p:txBody>
      </p:sp>
    </p:spTree>
    <p:extLst>
      <p:ext uri="{BB962C8B-B14F-4D97-AF65-F5344CB8AC3E}">
        <p14:creationId xmlns:p14="http://schemas.microsoft.com/office/powerpoint/2010/main" val="179888911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<Relationships xmlns="http://schemas.openxmlformats.org/package/2006/relationships"><Relationship Id="rId1" Target="../notesMasters/notesMaster1.xml" Type="http://schemas.openxmlformats.org/officeDocument/2006/relationships/notesMaster"/><Relationship Id="rId2" Target="../slides/slide1.xml" Type="http://schemas.openxmlformats.org/officeDocument/2006/relationships/slide"/></Relationships>
</file>

<file path=ppt/notesSlides/_rels/notesSlide2.xml.rels><?xml version="1.0" encoding="UTF-8" standalone="yes"?><Relationships xmlns="http://schemas.openxmlformats.org/package/2006/relationships"><Relationship Id="rId1" Target="../notesMasters/notesMaster1.xml" Type="http://schemas.openxmlformats.org/officeDocument/2006/relationships/notesMaster"/><Relationship Id="rId2" Target="../slides/slide3.xml" Type="http://schemas.openxmlformats.org/officeDocument/2006/relationships/slide"/></Relationships>
</file>

<file path=ppt/notesSlides/_rels/notesSlide3.xml.rels><?xml version="1.0" encoding="UTF-8" standalone="yes"?><Relationships xmlns="http://schemas.openxmlformats.org/package/2006/relationships"><Relationship Id="rId1" Target="../notesMasters/notesMaster1.xml" Type="http://schemas.openxmlformats.org/officeDocument/2006/relationships/notesMaster"/><Relationship Id="rId2" Target="../slides/slide5.xml" Type="http://schemas.openxmlformats.org/officeDocument/2006/relationships/slide"/></Relationships>
</file>

<file path=ppt/notesSlides/_rels/notesSlide4.xml.rels><?xml version="1.0" encoding="UTF-8" standalone="yes"?><Relationships xmlns="http://schemas.openxmlformats.org/package/2006/relationships"><Relationship Id="rId1" Target="../notesMasters/notesMaster1.xml" Type="http://schemas.openxmlformats.org/officeDocument/2006/relationships/notesMaster"/><Relationship Id="rId2" Target="../slides/slide8.xml" Type="http://schemas.openxmlformats.org/officeDocument/2006/relationships/slide"/></Relationships>
</file>

<file path=ppt/notesSlides/_rels/notesSlide5.xml.rels><?xml version="1.0" encoding="UTF-8" standalone="yes"?><Relationships xmlns="http://schemas.openxmlformats.org/package/2006/relationships"><Relationship Id="rId1" Target="../notesMasters/notesMaster1.xml" Type="http://schemas.openxmlformats.org/officeDocument/2006/relationships/notesMaster"/><Relationship Id="rId2" Target="../slides/slide14.xml" Type="http://schemas.openxmlformats.org/officeDocument/2006/relationships/slide"/></Relationships>
</file>

<file path=ppt/notesSlides/_rels/notesSlide6.xml.rels><?xml version="1.0" encoding="UTF-8" standalone="yes"?><Relationships xmlns="http://schemas.openxmlformats.org/package/2006/relationships"><Relationship Id="rId1" Target="../notesMasters/notesMaster1.xml" Type="http://schemas.openxmlformats.org/officeDocument/2006/relationships/notesMaster"/><Relationship Id="rId2" Target="../slides/slide30.xml" Type="http://schemas.openxmlformats.org/officeDocument/2006/relationships/slide"/></Relationships>
</file>

<file path=ppt/notesSlides/_rels/notesSlide7.xml.rels><?xml version="1.0" encoding="UTF-8" standalone="yes"?><Relationships xmlns="http://schemas.openxmlformats.org/package/2006/relationships"><Relationship Id="rId1" Target="../notesMasters/notesMaster1.xml" Type="http://schemas.openxmlformats.org/officeDocument/2006/relationships/notesMaster"/><Relationship Id="rId2" Target="../slides/slide32.xml" Type="http://schemas.openxmlformats.org/officeDocument/2006/relationships/slide"/></Relationships>
</file>

<file path=ppt/notesSlides/_rels/notesSlide8.xml.rels><?xml version="1.0" encoding="UTF-8" standalone="yes"?><Relationships xmlns="http://schemas.openxmlformats.org/package/2006/relationships"><Relationship Id="rId1" Target="../notesMasters/notesMaster1.xml" Type="http://schemas.openxmlformats.org/officeDocument/2006/relationships/notesMaster"/><Relationship Id="rId2" Target="../slides/slide35.xml" Type="http://schemas.openxmlformats.org/officeDocument/2006/relationships/slide"/></Relationships>
</file>

<file path=ppt/notesSlides/_rels/notesSlide9.xml.rels><?xml version="1.0" encoding="UTF-8" standalone="yes"?><Relationships xmlns="http://schemas.openxmlformats.org/package/2006/relationships"><Relationship Id="rId1" Target="../notesMasters/notesMaster1.xml" Type="http://schemas.openxmlformats.org/officeDocument/2006/relationships/notesMaster"/><Relationship Id="rId2" Target="../slides/slide40.xml" Type="http://schemas.openxmlformats.org/officeDocument/2006/relationships/slide"/></Relationships>
</file>

<file path=ppt/notesSlides/_rels/notesSlide10.xml.rels><?xml version="1.0" encoding="UTF-8" standalone="yes"?><Relationships xmlns="http://schemas.openxmlformats.org/package/2006/relationships"><Relationship Id="rId1" Target="../notesMasters/notesMaster1.xml" Type="http://schemas.openxmlformats.org/officeDocument/2006/relationships/notesMaster"/><Relationship Id="rId2" Target="../slides/slide41.xml" Type="http://schemas.openxmlformats.org/officeDocument/2006/relationships/slide"/></Relationships>
</file>

<file path=ppt/notesSlides/_rels/notesSlide11.xml.rels><?xml version="1.0" encoding="UTF-8" standalone="yes"?><Relationships xmlns="http://schemas.openxmlformats.org/package/2006/relationships"><Relationship Id="rId1" Target="../notesMasters/notesMaster1.xml" Type="http://schemas.openxmlformats.org/officeDocument/2006/relationships/notesMaster"/><Relationship Id="rId2" Target="../slides/slide42.xml" Type="http://schemas.openxmlformats.org/officeDocument/2006/relationships/slide"/></Relationships>
</file>

<file path=ppt/notesSlides/notesSlide1.xml><?xml version="1.0" encoding="utf-8"?>
<p:notes xmlns:p="http://schemas.openxmlformats.org/presentationml/2006/main">
  <p:cSld>
    <p:spTree xmlns:a="http://schemas.openxmlformats.org/drawingml/2006/main" xmlns:r="http://schemas.openxmlformats.org/officeDocument/2006/relationships"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s-E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s-ES" sz="1200"/>
              <a:t>Transformación 04_hechos_ventas.</a:t>
            </a:r>
          </a:p>
        </p:txBody>
      </p:sp>
    </p:spTree>
  </p:cSld>
</p:notes>
</file>

<file path=ppt/notesSlides/notesSlide2.xml><?xml version="1.0" encoding="utf-8"?>
<p:notes xmlns:p="http://schemas.openxmlformats.org/presentationml/2006/main">
  <p:cSld>
    <p:spTree xmlns:a="http://schemas.openxmlformats.org/drawingml/2006/main" xmlns:r="http://schemas.openxmlformats.org/officeDocument/2006/relationships"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s-E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s-ES" sz="1200"/>
              <a:t>Lee 1 archivo (ventas_2026_09.csv), calcula, selecciona campos, ordena, quita duplicados, busca valores, agrega constantes, filtra y separa las filas con error, escribe 1 archivo (rechazos_ventas.csv), y escribe en 1 tabla (hechos_ventas). 16 steps y 16 hops.</a:t>
            </a:r>
          </a:p>
          <a:p>
            <a:r>
              <a:rPr lang="es-ES" sz="1200"/>
              <a:t/>
            </a:r>
          </a:p>
          <a:p>
            <a:r>
              <a:rPr lang="es-ES" sz="1200"/>
              <a:t>Esta transformación carga la tabla de hechos del modelo estrella de Grano de Oro a partir del fichero de ventas de septiembre de 2026. En la última ejecución leyó 3.000 líneas: 60 eran duplicados exactos, que salen por el hop de error de «Eliminar duplicados» y reciben el motivo DUPLICADO en «Marcar duplicado»; 55 no superaron las reglas de «¿Línea válida?», y las 2.885 restantes se cargaron en `hechos_ventas`. Las 115 líneas descartadas quedan en `rechazos_ventas.csv` con su motivo, de modo que 2.885 + 115 = 3.000: no se pierde ninguna línea.</a:t>
            </a:r>
          </a:p>
        </p:txBody>
      </p:sp>
    </p:spTree>
  </p:cSld>
</p:notes>
</file>

<file path=ppt/notesSlides/notesSlide3.xml><?xml version="1.0" encoding="utf-8"?>
<p:notes xmlns:p="http://schemas.openxmlformats.org/presentationml/2006/main">
  <p:cSld>
    <p:spTree xmlns:a="http://schemas.openxmlformats.org/drawingml/2006/main" xmlns:r="http://schemas.openxmlformats.org/officeDocument/2006/relationships"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s-E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s-ES" sz="1200"/>
              <a:t>16 steps y 16 hops. Tiene 1 hop de error.</a:t>
            </a:r>
          </a:p>
        </p:txBody>
      </p:sp>
    </p:spTree>
  </p:cSld>
</p:notes>
</file>

<file path=ppt/notesSlides/notesSlide4.xml><?xml version="1.0" encoding="utf-8"?>
<p:notes xmlns:p="http://schemas.openxmlformats.org/presentationml/2006/main">
  <p:cSld>
    <p:spTree xmlns:a="http://schemas.openxmlformats.org/drawingml/2006/main" xmlns:r="http://schemas.openxmlformats.org/officeDocument/2006/relationships"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s-E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s-ES" sz="1200"/>
              <a:t>Traza 22 campos de 2 steps destino hasta «Leer ventas (CSV)» (ventas_2026_09.csv). Operaciones: 6 cálculos, 1 conversión de tipo o formato y 5 campos creados en la transformación.</a:t>
            </a:r>
          </a:p>
        </p:txBody>
      </p:sp>
    </p:spTree>
  </p:cSld>
</p:notes>
</file>

<file path=ppt/notesSlides/notesSlide5.xml><?xml version="1.0" encoding="utf-8"?>
<p:notes xmlns:p="http://schemas.openxmlformats.org/presentationml/2006/main">
  <p:cSld>
    <p:spTree xmlns:a="http://schemas.openxmlformats.org/drawingml/2006/main" xmlns:r="http://schemas.openxmlformats.org/officeDocument/2006/relationships"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s-E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s-ES" sz="1200"/>
              <a:t>2 salidas finales con 18 campos en total.</a:t>
            </a:r>
          </a:p>
        </p:txBody>
      </p:sp>
    </p:spTree>
  </p:cSld>
</p:notes>
</file>

<file path=ppt/notesSlides/notesSlide6.xml><?xml version="1.0" encoding="utf-8"?>
<p:notes xmlns:p="http://schemas.openxmlformats.org/presentationml/2006/main">
  <p:cSld>
    <p:spTree xmlns:a="http://schemas.openxmlformats.org/drawingml/2006/main" xmlns:r="http://schemas.openxmlformats.org/officeDocument/2006/relationships"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s-E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s-ES" sz="1200"/>
              <a:t>Escribe en 1 tabla (hechos_ventas) por la conexión dw_grano_de_oro: 9 columnas. Las claves y los tipos salen de los steps, sin consultar la base.</a:t>
            </a:r>
          </a:p>
        </p:txBody>
      </p:sp>
    </p:spTree>
  </p:cSld>
</p:notes>
</file>

<file path=ppt/notesSlides/notesSlide7.xml><?xml version="1.0" encoding="utf-8"?>
<p:notes xmlns:p="http://schemas.openxmlformats.org/presentationml/2006/main">
  <p:cSld>
    <p:spTree xmlns:a="http://schemas.openxmlformats.org/drawingml/2006/main" xmlns:r="http://schemas.openxmlformats.org/officeDocument/2006/relationships"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s-E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s-ES" sz="1200"/>
              <a:t>Perfil de «Convertir precio a número» sobre todas sus 3.000 filas: 8 campos. El campo con más nulos es «id_tienda» (0,5 %).</a:t>
            </a:r>
          </a:p>
        </p:txBody>
      </p:sp>
    </p:spTree>
  </p:cSld>
</p:notes>
</file>

<file path=ppt/notesSlides/notesSlide8.xml><?xml version="1.0" encoding="utf-8"?>
<p:notes xmlns:p="http://schemas.openxmlformats.org/presentationml/2006/main">
  <p:cSld>
    <p:spTree xmlns:a="http://schemas.openxmlformats.org/drawingml/2006/main" xmlns:r="http://schemas.openxmlformats.org/officeDocument/2006/relationships"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s-E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s-ES" sz="1200"/>
              <a:t>La última ejecución procesó 3.000 filas en 239 ms. El step más lento fue «Cargar hechos_ventas» (177 ms).</a:t>
            </a:r>
          </a:p>
        </p:txBody>
      </p:sp>
    </p:spTree>
  </p:cSld>
</p:notes>
</file>

<file path=ppt/notesSlides/notesSlide9.xml><?xml version="1.0" encoding="utf-8"?>
<p:notes xmlns:p="http://schemas.openxmlformats.org/presentationml/2006/main">
  <p:cSld>
    <p:spTree xmlns:a="http://schemas.openxmlformats.org/drawingml/2006/main" xmlns:r="http://schemas.openxmlformats.org/officeDocument/2006/relationships"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s-E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s-ES" sz="1200"/>
              <a:t>Sin errores ni advertencias.</a:t>
            </a:r>
          </a:p>
        </p:txBody>
      </p:sp>
    </p:spTree>
  </p:cSld>
</p:notes>
</file>

<file path=ppt/notesSlides/notesSlide10.xml><?xml version="1.0" encoding="utf-8"?>
<p:notes xmlns:p="http://schemas.openxmlformats.org/presentationml/2006/main">
  <p:cSld>
    <p:spTree xmlns:a="http://schemas.openxmlformats.org/drawingml/2006/main" xmlns:r="http://schemas.openxmlformats.org/officeDocument/2006/relationships"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s-E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s-ES" sz="1200"/>
              <a:t>1 conexión y 0 parámetros.</a:t>
            </a:r>
          </a:p>
        </p:txBody>
      </p:sp>
    </p:spTree>
  </p:cSld>
</p:notes>
</file>

<file path=ppt/notesSlides/notesSlide11.xml><?xml version="1.0" encoding="utf-8"?>
<p:notes xmlns:p="http://schemas.openxmlformats.org/presentationml/2006/main">
  <p:cSld>
    <p:spTree xmlns:a="http://schemas.openxmlformats.org/drawingml/2006/main" xmlns:r="http://schemas.openxmlformats.org/officeDocument/2006/relationships"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s-E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s-ES" sz="1200"/>
              <a:t>- La carga es completa y trazable: cada línea del fichero termina en `hechos_ventas` o en el fichero de rechazos, con el motivo.</a:t>
            </a:r>
          </a:p>
          <a:p>
            <a:r>
              <a:rPr lang="es-ES" sz="1200"/>
              <a:t>- La validación de Spoon no encuentra errores ni advertencias.</a:t>
            </a:r>
          </a:p>
          <a:p>
            <a:r>
              <a:rPr lang="es-ES" sz="1200"/>
              <a:t>- El paso más lento es la escritura en SQLite («Cargar hechos_ventas»), lo esperable en una carga de este tamaño.</a:t>
            </a:r>
          </a:p>
        </p:txBody>
      </p:sp>
    </p:spTree>
  </p:cSld>
</p:notes>
</file>

<file path=ppt/slideLayouts/_rels/slideLayout1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2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3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4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5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6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7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8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9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10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11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914400" y="2130425"/>
            <a:ext cx="103632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28800" y="3886200"/>
            <a:ext cx="85344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63084" y="4406900"/>
            <a:ext cx="103632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63084" y="2906713"/>
            <a:ext cx="103632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09600" y="1600200"/>
            <a:ext cx="53848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97600" y="1600200"/>
            <a:ext cx="53848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600" y="1535113"/>
            <a:ext cx="5386917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09600" y="2174875"/>
            <a:ext cx="5386917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93367" y="1535113"/>
            <a:ext cx="5389033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93367" y="2174875"/>
            <a:ext cx="5389033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600" y="273050"/>
            <a:ext cx="4011084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66733" y="273050"/>
            <a:ext cx="6815667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09600" y="1435100"/>
            <a:ext cx="4011084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89717" y="4800600"/>
            <a:ext cx="73152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2389717" y="612775"/>
            <a:ext cx="73152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389717" y="5367338"/>
            <a:ext cx="73152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839200" y="274638"/>
            <a:ext cx="27432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09600" y="274638"/>
            <a:ext cx="80264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<Relationships xmlns="http://schemas.openxmlformats.org/package/2006/relationships"><Relationship Id="rId1" Target="../slideLayouts/slideLayout1.xml" Type="http://schemas.openxmlformats.org/officeDocument/2006/relationships/slideLayout"/><Relationship Id="rId10" Target="../slideLayouts/slideLayout10.xml" Type="http://schemas.openxmlformats.org/officeDocument/2006/relationships/slideLayout"/><Relationship Id="rId11" Target="../slideLayouts/slideLayout11.xml" Type="http://schemas.openxmlformats.org/officeDocument/2006/relationships/slideLayout"/><Relationship Id="rId12" Target="../theme/theme1.xml" Type="http://schemas.openxmlformats.org/officeDocument/2006/relationships/theme"/><Relationship Id="rId2" Target="../slideLayouts/slideLayout2.xml" Type="http://schemas.openxmlformats.org/officeDocument/2006/relationships/slideLayout"/><Relationship Id="rId3" Target="../slideLayouts/slideLayout3.xml" Type="http://schemas.openxmlformats.org/officeDocument/2006/relationships/slideLayout"/><Relationship Id="rId4" Target="../slideLayouts/slideLayout4.xml" Type="http://schemas.openxmlformats.org/officeDocument/2006/relationships/slideLayout"/><Relationship Id="rId5" Target="../slideLayouts/slideLayout5.xml" Type="http://schemas.openxmlformats.org/officeDocument/2006/relationships/slideLayout"/><Relationship Id="rId6" Target="../slideLayouts/slideLayout6.xml" Type="http://schemas.openxmlformats.org/officeDocument/2006/relationships/slideLayout"/><Relationship Id="rId7" Target="../slideLayouts/slideLayout7.xml" Type="http://schemas.openxmlformats.org/officeDocument/2006/relationships/slideLayout"/><Relationship Id="rId8" Target="../slideLayouts/slideLayout8.xml" Type="http://schemas.openxmlformats.org/officeDocument/2006/relationships/slideLayout"/><Relationship Id="rId9" Target="../slideLayouts/slideLayout9.xml" Type="http://schemas.openxmlformats.org/officeDocument/2006/relationships/slideLayout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600" y="1600200"/>
            <a:ext cx="109728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09600" y="6356350"/>
            <a:ext cx="284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165600" y="6356350"/>
            <a:ext cx="3860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737600" y="6356350"/>
            <a:ext cx="284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<Relationships xmlns="http://schemas.openxmlformats.org/package/2006/relationships"><Relationship Id="rId1" Target="../slideLayouts/slideLayout1.xml" Type="http://schemas.openxmlformats.org/officeDocument/2006/relationships/slideLayout"/><Relationship Id="rId2" Target="../media/image2.png" Type="http://schemas.openxmlformats.org/officeDocument/2006/relationships/image"/><Relationship Id="rId3" Target="../notesSlides/notesSlide1.xml" Type="http://schemas.openxmlformats.org/officeDocument/2006/relationships/notesSlide"/></Relationships>
</file>

<file path=ppt/slides/_rels/slide2.xml.rels><?xml version="1.0" encoding="UTF-8" standalone="yes"?><Relationships xmlns="http://schemas.openxmlformats.org/package/2006/relationships"><Relationship Id="rId1" Target="../slideLayouts/slideLayout6.xml" Type="http://schemas.openxmlformats.org/officeDocument/2006/relationships/slideLayout"/><Relationship Id="rId2" Target="../media/image2.png" Type="http://schemas.openxmlformats.org/officeDocument/2006/relationships/image"/><Relationship Id="rId3" Target="../media/image1.png" Type="http://schemas.openxmlformats.org/officeDocument/2006/relationships/image"/></Relationships>
</file>

<file path=ppt/slides/_rels/slide3.xml.rels><?xml version="1.0" encoding="UTF-8" standalone="yes"?><Relationships xmlns="http://schemas.openxmlformats.org/package/2006/relationships"><Relationship Id="rId1" Target="../slideLayouts/slideLayout6.xml" Type="http://schemas.openxmlformats.org/officeDocument/2006/relationships/slideLayout"/><Relationship Id="rId2" Target="../media/image2.png" Type="http://schemas.openxmlformats.org/officeDocument/2006/relationships/image"/><Relationship Id="rId3" Target="../media/image1.png" Type="http://schemas.openxmlformats.org/officeDocument/2006/relationships/image"/><Relationship Id="rId4" Target="../notesSlides/notesSlide2.xml" Type="http://schemas.openxmlformats.org/officeDocument/2006/relationships/notesSlide"/></Relationships>
</file>

<file path=ppt/slides/_rels/slide4.xml.rels><?xml version="1.0" encoding="UTF-8" standalone="yes"?><Relationships xmlns="http://schemas.openxmlformats.org/package/2006/relationships"><Relationship Id="rId1" Target="../slideLayouts/slideLayout6.xml" Type="http://schemas.openxmlformats.org/officeDocument/2006/relationships/slideLayout"/><Relationship Id="rId2" Target="../media/image2.png" Type="http://schemas.openxmlformats.org/officeDocument/2006/relationships/image"/><Relationship Id="rId3" Target="../media/image1.png" Type="http://schemas.openxmlformats.org/officeDocument/2006/relationships/image"/></Relationships>
</file>

<file path=ppt/slides/_rels/slide5.xml.rels><?xml version="1.0" encoding="UTF-8" standalone="yes"?><Relationships xmlns="http://schemas.openxmlformats.org/package/2006/relationships"><Relationship Id="rId1" Target="../slideLayouts/slideLayout6.xml" Type="http://schemas.openxmlformats.org/officeDocument/2006/relationships/slideLayout"/><Relationship Id="rId2" Target="../media/image2.png" Type="http://schemas.openxmlformats.org/officeDocument/2006/relationships/image"/><Relationship Id="rId3" Target="../media/image1.png" Type="http://schemas.openxmlformats.org/officeDocument/2006/relationships/image"/><Relationship Id="rId4" Target="../media/image3.png" Type="http://schemas.openxmlformats.org/officeDocument/2006/relationships/image"/><Relationship Id="rId5" Target="../notesSlides/notesSlide3.xml" Type="http://schemas.openxmlformats.org/officeDocument/2006/relationships/notesSlide"/></Relationships>
</file>

<file path=ppt/slides/_rels/slide6.xml.rels><?xml version="1.0" encoding="UTF-8" standalone="yes"?><Relationships xmlns="http://schemas.openxmlformats.org/package/2006/relationships"><Relationship Id="rId1" Target="../slideLayouts/slideLayout6.xml" Type="http://schemas.openxmlformats.org/officeDocument/2006/relationships/slideLayout"/><Relationship Id="rId2" Target="../media/image2.png" Type="http://schemas.openxmlformats.org/officeDocument/2006/relationships/image"/><Relationship Id="rId3" Target="../media/image1.png" Type="http://schemas.openxmlformats.org/officeDocument/2006/relationships/image"/></Relationships>
</file>

<file path=ppt/slides/_rels/slide7.xml.rels><?xml version="1.0" encoding="UTF-8" standalone="yes"?><Relationships xmlns="http://schemas.openxmlformats.org/package/2006/relationships"><Relationship Id="rId1" Target="../slideLayouts/slideLayout6.xml" Type="http://schemas.openxmlformats.org/officeDocument/2006/relationships/slideLayout"/><Relationship Id="rId2" Target="../media/image2.png" Type="http://schemas.openxmlformats.org/officeDocument/2006/relationships/image"/><Relationship Id="rId3" Target="../media/image1.png" Type="http://schemas.openxmlformats.org/officeDocument/2006/relationships/image"/></Relationships>
</file>

<file path=ppt/slides/_rels/slide8.xml.rels><?xml version="1.0" encoding="UTF-8" standalone="yes"?><Relationships xmlns="http://schemas.openxmlformats.org/package/2006/relationships"><Relationship Id="rId1" Target="../slideLayouts/slideLayout6.xml" Type="http://schemas.openxmlformats.org/officeDocument/2006/relationships/slideLayout"/><Relationship Id="rId2" Target="../media/image2.png" Type="http://schemas.openxmlformats.org/officeDocument/2006/relationships/image"/><Relationship Id="rId3" Target="../media/image1.png" Type="http://schemas.openxmlformats.org/officeDocument/2006/relationships/image"/><Relationship Id="rId4" Target="../media/image4.png" Type="http://schemas.openxmlformats.org/officeDocument/2006/relationships/image"/><Relationship Id="rId5" Target="../notesSlides/notesSlide4.xml" Type="http://schemas.openxmlformats.org/officeDocument/2006/relationships/notesSlide"/></Relationships>
</file>

<file path=ppt/slides/_rels/slide9.xml.rels><?xml version="1.0" encoding="UTF-8" standalone="yes"?><Relationships xmlns="http://schemas.openxmlformats.org/package/2006/relationships"><Relationship Id="rId1" Target="../slideLayouts/slideLayout6.xml" Type="http://schemas.openxmlformats.org/officeDocument/2006/relationships/slideLayout"/><Relationship Id="rId2" Target="../media/image2.png" Type="http://schemas.openxmlformats.org/officeDocument/2006/relationships/image"/><Relationship Id="rId3" Target="../media/image1.png" Type="http://schemas.openxmlformats.org/officeDocument/2006/relationships/image"/></Relationships>
</file>

<file path=ppt/slides/_rels/slide10.xml.rels><?xml version="1.0" encoding="UTF-8" standalone="yes"?><Relationships xmlns="http://schemas.openxmlformats.org/package/2006/relationships"><Relationship Id="rId1" Target="../slideLayouts/slideLayout6.xml" Type="http://schemas.openxmlformats.org/officeDocument/2006/relationships/slideLayout"/><Relationship Id="rId2" Target="../media/image2.png" Type="http://schemas.openxmlformats.org/officeDocument/2006/relationships/image"/><Relationship Id="rId3" Target="../media/image1.png" Type="http://schemas.openxmlformats.org/officeDocument/2006/relationships/image"/></Relationships>
</file>

<file path=ppt/slides/_rels/slide11.xml.rels><?xml version="1.0" encoding="UTF-8" standalone="yes"?><Relationships xmlns="http://schemas.openxmlformats.org/package/2006/relationships"><Relationship Id="rId1" Target="../slideLayouts/slideLayout6.xml" Type="http://schemas.openxmlformats.org/officeDocument/2006/relationships/slideLayout"/><Relationship Id="rId2" Target="../media/image2.png" Type="http://schemas.openxmlformats.org/officeDocument/2006/relationships/image"/><Relationship Id="rId3" Target="../media/image1.png" Type="http://schemas.openxmlformats.org/officeDocument/2006/relationships/image"/><Relationship Id="rId4" Target="../media/image5.png" Type="http://schemas.openxmlformats.org/officeDocument/2006/relationships/image"/></Relationships>
</file>

<file path=ppt/slides/_rels/slide12.xml.rels><?xml version="1.0" encoding="UTF-8" standalone="yes"?><Relationships xmlns="http://schemas.openxmlformats.org/package/2006/relationships"><Relationship Id="rId1" Target="../slideLayouts/slideLayout6.xml" Type="http://schemas.openxmlformats.org/officeDocument/2006/relationships/slideLayout"/><Relationship Id="rId2" Target="../media/image2.png" Type="http://schemas.openxmlformats.org/officeDocument/2006/relationships/image"/><Relationship Id="rId3" Target="../media/image1.png" Type="http://schemas.openxmlformats.org/officeDocument/2006/relationships/image"/></Relationships>
</file>

<file path=ppt/slides/_rels/slide13.xml.rels><?xml version="1.0" encoding="UTF-8" standalone="yes"?><Relationships xmlns="http://schemas.openxmlformats.org/package/2006/relationships"><Relationship Id="rId1" Target="../slideLayouts/slideLayout6.xml" Type="http://schemas.openxmlformats.org/officeDocument/2006/relationships/slideLayout"/><Relationship Id="rId2" Target="../media/image2.png" Type="http://schemas.openxmlformats.org/officeDocument/2006/relationships/image"/><Relationship Id="rId3" Target="../media/image1.png" Type="http://schemas.openxmlformats.org/officeDocument/2006/relationships/image"/></Relationships>
</file>

<file path=ppt/slides/_rels/slide14.xml.rels><?xml version="1.0" encoding="UTF-8" standalone="yes"?><Relationships xmlns="http://schemas.openxmlformats.org/package/2006/relationships"><Relationship Id="rId1" Target="../slideLayouts/slideLayout6.xml" Type="http://schemas.openxmlformats.org/officeDocument/2006/relationships/slideLayout"/><Relationship Id="rId2" Target="../media/image2.png" Type="http://schemas.openxmlformats.org/officeDocument/2006/relationships/image"/><Relationship Id="rId3" Target="../media/image1.png" Type="http://schemas.openxmlformats.org/officeDocument/2006/relationships/image"/><Relationship Id="rId4" Target="../notesSlides/notesSlide5.xml" Type="http://schemas.openxmlformats.org/officeDocument/2006/relationships/notesSlide"/></Relationships>
</file>

<file path=ppt/slides/_rels/slide15.xml.rels><?xml version="1.0" encoding="UTF-8" standalone="yes"?><Relationships xmlns="http://schemas.openxmlformats.org/package/2006/relationships"><Relationship Id="rId1" Target="../slideLayouts/slideLayout6.xml" Type="http://schemas.openxmlformats.org/officeDocument/2006/relationships/slideLayout"/><Relationship Id="rId2" Target="../media/image2.png" Type="http://schemas.openxmlformats.org/officeDocument/2006/relationships/image"/><Relationship Id="rId3" Target="../media/image1.png" Type="http://schemas.openxmlformats.org/officeDocument/2006/relationships/image"/></Relationships>
</file>

<file path=ppt/slides/_rels/slide16.xml.rels><?xml version="1.0" encoding="UTF-8" standalone="yes"?><Relationships xmlns="http://schemas.openxmlformats.org/package/2006/relationships"><Relationship Id="rId1" Target="../slideLayouts/slideLayout6.xml" Type="http://schemas.openxmlformats.org/officeDocument/2006/relationships/slideLayout"/><Relationship Id="rId2" Target="../media/image2.png" Type="http://schemas.openxmlformats.org/officeDocument/2006/relationships/image"/><Relationship Id="rId3" Target="../media/image1.png" Type="http://schemas.openxmlformats.org/officeDocument/2006/relationships/image"/></Relationships>
</file>

<file path=ppt/slides/_rels/slide17.xml.rels><?xml version="1.0" encoding="UTF-8" standalone="yes"?><Relationships xmlns="http://schemas.openxmlformats.org/package/2006/relationships"><Relationship Id="rId1" Target="../slideLayouts/slideLayout6.xml" Type="http://schemas.openxmlformats.org/officeDocument/2006/relationships/slideLayout"/><Relationship Id="rId2" Target="../media/image2.png" Type="http://schemas.openxmlformats.org/officeDocument/2006/relationships/image"/><Relationship Id="rId3" Target="../media/image1.png" Type="http://schemas.openxmlformats.org/officeDocument/2006/relationships/image"/></Relationships>
</file>

<file path=ppt/slides/_rels/slide18.xml.rels><?xml version="1.0" encoding="UTF-8" standalone="yes"?><Relationships xmlns="http://schemas.openxmlformats.org/package/2006/relationships"><Relationship Id="rId1" Target="../slideLayouts/slideLayout6.xml" Type="http://schemas.openxmlformats.org/officeDocument/2006/relationships/slideLayout"/><Relationship Id="rId2" Target="../media/image2.png" Type="http://schemas.openxmlformats.org/officeDocument/2006/relationships/image"/><Relationship Id="rId3" Target="../media/image1.png" Type="http://schemas.openxmlformats.org/officeDocument/2006/relationships/image"/></Relationships>
</file>

<file path=ppt/slides/_rels/slide19.xml.rels><?xml version="1.0" encoding="UTF-8" standalone="yes"?><Relationships xmlns="http://schemas.openxmlformats.org/package/2006/relationships"><Relationship Id="rId1" Target="../slideLayouts/slideLayout6.xml" Type="http://schemas.openxmlformats.org/officeDocument/2006/relationships/slideLayout"/><Relationship Id="rId2" Target="../media/image2.png" Type="http://schemas.openxmlformats.org/officeDocument/2006/relationships/image"/><Relationship Id="rId3" Target="../media/image1.png" Type="http://schemas.openxmlformats.org/officeDocument/2006/relationships/image"/></Relationships>
</file>

<file path=ppt/slides/_rels/slide20.xml.rels><?xml version="1.0" encoding="UTF-8" standalone="yes"?><Relationships xmlns="http://schemas.openxmlformats.org/package/2006/relationships"><Relationship Id="rId1" Target="../slideLayouts/slideLayout6.xml" Type="http://schemas.openxmlformats.org/officeDocument/2006/relationships/slideLayout"/><Relationship Id="rId2" Target="../media/image2.png" Type="http://schemas.openxmlformats.org/officeDocument/2006/relationships/image"/><Relationship Id="rId3" Target="../media/image1.png" Type="http://schemas.openxmlformats.org/officeDocument/2006/relationships/image"/></Relationships>
</file>

<file path=ppt/slides/_rels/slide21.xml.rels><?xml version="1.0" encoding="UTF-8" standalone="yes"?><Relationships xmlns="http://schemas.openxmlformats.org/package/2006/relationships"><Relationship Id="rId1" Target="../slideLayouts/slideLayout6.xml" Type="http://schemas.openxmlformats.org/officeDocument/2006/relationships/slideLayout"/><Relationship Id="rId2" Target="../media/image2.png" Type="http://schemas.openxmlformats.org/officeDocument/2006/relationships/image"/><Relationship Id="rId3" Target="../media/image1.png" Type="http://schemas.openxmlformats.org/officeDocument/2006/relationships/image"/></Relationships>
</file>

<file path=ppt/slides/_rels/slide22.xml.rels><?xml version="1.0" encoding="UTF-8" standalone="yes"?><Relationships xmlns="http://schemas.openxmlformats.org/package/2006/relationships"><Relationship Id="rId1" Target="../slideLayouts/slideLayout6.xml" Type="http://schemas.openxmlformats.org/officeDocument/2006/relationships/slideLayout"/><Relationship Id="rId2" Target="../media/image2.png" Type="http://schemas.openxmlformats.org/officeDocument/2006/relationships/image"/><Relationship Id="rId3" Target="../media/image1.png" Type="http://schemas.openxmlformats.org/officeDocument/2006/relationships/image"/></Relationships>
</file>

<file path=ppt/slides/_rels/slide23.xml.rels><?xml version="1.0" encoding="UTF-8" standalone="yes"?><Relationships xmlns="http://schemas.openxmlformats.org/package/2006/relationships"><Relationship Id="rId1" Target="../slideLayouts/slideLayout6.xml" Type="http://schemas.openxmlformats.org/officeDocument/2006/relationships/slideLayout"/><Relationship Id="rId2" Target="../media/image2.png" Type="http://schemas.openxmlformats.org/officeDocument/2006/relationships/image"/><Relationship Id="rId3" Target="../media/image1.png" Type="http://schemas.openxmlformats.org/officeDocument/2006/relationships/image"/></Relationships>
</file>

<file path=ppt/slides/_rels/slide24.xml.rels><?xml version="1.0" encoding="UTF-8" standalone="yes"?><Relationships xmlns="http://schemas.openxmlformats.org/package/2006/relationships"><Relationship Id="rId1" Target="../slideLayouts/slideLayout6.xml" Type="http://schemas.openxmlformats.org/officeDocument/2006/relationships/slideLayout"/><Relationship Id="rId2" Target="../media/image2.png" Type="http://schemas.openxmlformats.org/officeDocument/2006/relationships/image"/><Relationship Id="rId3" Target="../media/image1.png" Type="http://schemas.openxmlformats.org/officeDocument/2006/relationships/image"/></Relationships>
</file>

<file path=ppt/slides/_rels/slide25.xml.rels><?xml version="1.0" encoding="UTF-8" standalone="yes"?><Relationships xmlns="http://schemas.openxmlformats.org/package/2006/relationships"><Relationship Id="rId1" Target="../slideLayouts/slideLayout6.xml" Type="http://schemas.openxmlformats.org/officeDocument/2006/relationships/slideLayout"/><Relationship Id="rId2" Target="../media/image2.png" Type="http://schemas.openxmlformats.org/officeDocument/2006/relationships/image"/><Relationship Id="rId3" Target="../media/image1.png" Type="http://schemas.openxmlformats.org/officeDocument/2006/relationships/image"/></Relationships>
</file>

<file path=ppt/slides/_rels/slide26.xml.rels><?xml version="1.0" encoding="UTF-8" standalone="yes"?><Relationships xmlns="http://schemas.openxmlformats.org/package/2006/relationships"><Relationship Id="rId1" Target="../slideLayouts/slideLayout6.xml" Type="http://schemas.openxmlformats.org/officeDocument/2006/relationships/slideLayout"/><Relationship Id="rId2" Target="../media/image2.png" Type="http://schemas.openxmlformats.org/officeDocument/2006/relationships/image"/><Relationship Id="rId3" Target="../media/image1.png" Type="http://schemas.openxmlformats.org/officeDocument/2006/relationships/image"/></Relationships>
</file>

<file path=ppt/slides/_rels/slide27.xml.rels><?xml version="1.0" encoding="UTF-8" standalone="yes"?><Relationships xmlns="http://schemas.openxmlformats.org/package/2006/relationships"><Relationship Id="rId1" Target="../slideLayouts/slideLayout6.xml" Type="http://schemas.openxmlformats.org/officeDocument/2006/relationships/slideLayout"/><Relationship Id="rId2" Target="../media/image2.png" Type="http://schemas.openxmlformats.org/officeDocument/2006/relationships/image"/><Relationship Id="rId3" Target="../media/image1.png" Type="http://schemas.openxmlformats.org/officeDocument/2006/relationships/image"/></Relationships>
</file>

<file path=ppt/slides/_rels/slide28.xml.rels><?xml version="1.0" encoding="UTF-8" standalone="yes"?><Relationships xmlns="http://schemas.openxmlformats.org/package/2006/relationships"><Relationship Id="rId1" Target="../slideLayouts/slideLayout6.xml" Type="http://schemas.openxmlformats.org/officeDocument/2006/relationships/slideLayout"/><Relationship Id="rId2" Target="../media/image2.png" Type="http://schemas.openxmlformats.org/officeDocument/2006/relationships/image"/><Relationship Id="rId3" Target="../media/image1.png" Type="http://schemas.openxmlformats.org/officeDocument/2006/relationships/image"/></Relationships>
</file>

<file path=ppt/slides/_rels/slide29.xml.rels><?xml version="1.0" encoding="UTF-8" standalone="yes"?><Relationships xmlns="http://schemas.openxmlformats.org/package/2006/relationships"><Relationship Id="rId1" Target="../slideLayouts/slideLayout6.xml" Type="http://schemas.openxmlformats.org/officeDocument/2006/relationships/slideLayout"/><Relationship Id="rId2" Target="../media/image2.png" Type="http://schemas.openxmlformats.org/officeDocument/2006/relationships/image"/><Relationship Id="rId3" Target="../media/image1.png" Type="http://schemas.openxmlformats.org/officeDocument/2006/relationships/image"/></Relationships>
</file>

<file path=ppt/slides/_rels/slide30.xml.rels><?xml version="1.0" encoding="UTF-8" standalone="yes"?><Relationships xmlns="http://schemas.openxmlformats.org/package/2006/relationships"><Relationship Id="rId1" Target="../slideLayouts/slideLayout6.xml" Type="http://schemas.openxmlformats.org/officeDocument/2006/relationships/slideLayout"/><Relationship Id="rId2" Target="../media/image2.png" Type="http://schemas.openxmlformats.org/officeDocument/2006/relationships/image"/><Relationship Id="rId3" Target="../media/image1.png" Type="http://schemas.openxmlformats.org/officeDocument/2006/relationships/image"/><Relationship Id="rId4" Target="../media/image6.png" Type="http://schemas.openxmlformats.org/officeDocument/2006/relationships/image"/><Relationship Id="rId5" Target="../notesSlides/notesSlide6.xml" Type="http://schemas.openxmlformats.org/officeDocument/2006/relationships/notesSlide"/></Relationships>
</file>

<file path=ppt/slides/_rels/slide31.xml.rels><?xml version="1.0" encoding="UTF-8" standalone="yes"?><Relationships xmlns="http://schemas.openxmlformats.org/package/2006/relationships"><Relationship Id="rId1" Target="../slideLayouts/slideLayout6.xml" Type="http://schemas.openxmlformats.org/officeDocument/2006/relationships/slideLayout"/><Relationship Id="rId2" Target="../media/image2.png" Type="http://schemas.openxmlformats.org/officeDocument/2006/relationships/image"/><Relationship Id="rId3" Target="../media/image1.png" Type="http://schemas.openxmlformats.org/officeDocument/2006/relationships/image"/></Relationships>
</file>

<file path=ppt/slides/_rels/slide32.xml.rels><?xml version="1.0" encoding="UTF-8" standalone="yes"?><Relationships xmlns="http://schemas.openxmlformats.org/package/2006/relationships"><Relationship Id="rId1" Target="../slideLayouts/slideLayout6.xml" Type="http://schemas.openxmlformats.org/officeDocument/2006/relationships/slideLayout"/><Relationship Id="rId2" Target="../media/image2.png" Type="http://schemas.openxmlformats.org/officeDocument/2006/relationships/image"/><Relationship Id="rId3" Target="../media/image1.png" Type="http://schemas.openxmlformats.org/officeDocument/2006/relationships/image"/><Relationship Id="rId4" Target="../notesSlides/notesSlide7.xml" Type="http://schemas.openxmlformats.org/officeDocument/2006/relationships/notesSlide"/></Relationships>
</file>

<file path=ppt/slides/_rels/slide33.xml.rels><?xml version="1.0" encoding="UTF-8" standalone="yes"?><Relationships xmlns="http://schemas.openxmlformats.org/package/2006/relationships"><Relationship Id="rId1" Target="../slideLayouts/slideLayout6.xml" Type="http://schemas.openxmlformats.org/officeDocument/2006/relationships/slideLayout"/><Relationship Id="rId2" Target="../media/image2.png" Type="http://schemas.openxmlformats.org/officeDocument/2006/relationships/image"/><Relationship Id="rId3" Target="../media/image1.png" Type="http://schemas.openxmlformats.org/officeDocument/2006/relationships/image"/><Relationship Id="rId4" Target="../media/image8.png" Type="http://schemas.openxmlformats.org/officeDocument/2006/relationships/image"/><Relationship Id="rId5" Target="../media/image7.svg" Type="http://schemas.openxmlformats.org/officeDocument/2006/relationships/image"/></Relationships>
</file>

<file path=ppt/slides/_rels/slide34.xml.rels><?xml version="1.0" encoding="UTF-8" standalone="yes"?><Relationships xmlns="http://schemas.openxmlformats.org/package/2006/relationships"><Relationship Id="rId1" Target="../slideLayouts/slideLayout6.xml" Type="http://schemas.openxmlformats.org/officeDocument/2006/relationships/slideLayout"/><Relationship Id="rId2" Target="../media/image2.png" Type="http://schemas.openxmlformats.org/officeDocument/2006/relationships/image"/><Relationship Id="rId3" Target="../media/image1.png" Type="http://schemas.openxmlformats.org/officeDocument/2006/relationships/image"/></Relationships>
</file>

<file path=ppt/slides/_rels/slide35.xml.rels><?xml version="1.0" encoding="UTF-8" standalone="yes"?><Relationships xmlns="http://schemas.openxmlformats.org/package/2006/relationships"><Relationship Id="rId1" Target="../slideLayouts/slideLayout6.xml" Type="http://schemas.openxmlformats.org/officeDocument/2006/relationships/slideLayout"/><Relationship Id="rId2" Target="../media/image2.png" Type="http://schemas.openxmlformats.org/officeDocument/2006/relationships/image"/><Relationship Id="rId3" Target="../media/image1.png" Type="http://schemas.openxmlformats.org/officeDocument/2006/relationships/image"/><Relationship Id="rId4" Target="../notesSlides/notesSlide8.xml" Type="http://schemas.openxmlformats.org/officeDocument/2006/relationships/notesSlide"/></Relationships>
</file>

<file path=ppt/slides/_rels/slide36.xml.rels><?xml version="1.0" encoding="UTF-8" standalone="yes"?><Relationships xmlns="http://schemas.openxmlformats.org/package/2006/relationships"><Relationship Id="rId1" Target="../slideLayouts/slideLayout6.xml" Type="http://schemas.openxmlformats.org/officeDocument/2006/relationships/slideLayout"/><Relationship Id="rId2" Target="../media/image2.png" Type="http://schemas.openxmlformats.org/officeDocument/2006/relationships/image"/><Relationship Id="rId3" Target="../media/image1.png" Type="http://schemas.openxmlformats.org/officeDocument/2006/relationships/image"/><Relationship Id="rId4" Target="../media/image10.png" Type="http://schemas.openxmlformats.org/officeDocument/2006/relationships/image"/><Relationship Id="rId5" Target="../media/image9.svg" Type="http://schemas.openxmlformats.org/officeDocument/2006/relationships/image"/></Relationships>
</file>

<file path=ppt/slides/_rels/slide37.xml.rels><?xml version="1.0" encoding="UTF-8" standalone="yes"?><Relationships xmlns="http://schemas.openxmlformats.org/package/2006/relationships"><Relationship Id="rId1" Target="../slideLayouts/slideLayout6.xml" Type="http://schemas.openxmlformats.org/officeDocument/2006/relationships/slideLayout"/><Relationship Id="rId2" Target="../media/image2.png" Type="http://schemas.openxmlformats.org/officeDocument/2006/relationships/image"/><Relationship Id="rId3" Target="../media/image1.png" Type="http://schemas.openxmlformats.org/officeDocument/2006/relationships/image"/><Relationship Id="rId4" Target="../media/image12.png" Type="http://schemas.openxmlformats.org/officeDocument/2006/relationships/image"/><Relationship Id="rId5" Target="../media/image11.svg" Type="http://schemas.openxmlformats.org/officeDocument/2006/relationships/image"/></Relationships>
</file>

<file path=ppt/slides/_rels/slide38.xml.rels><?xml version="1.0" encoding="UTF-8" standalone="yes"?><Relationships xmlns="http://schemas.openxmlformats.org/package/2006/relationships"><Relationship Id="rId1" Target="../slideLayouts/slideLayout6.xml" Type="http://schemas.openxmlformats.org/officeDocument/2006/relationships/slideLayout"/><Relationship Id="rId2" Target="../media/image2.png" Type="http://schemas.openxmlformats.org/officeDocument/2006/relationships/image"/><Relationship Id="rId3" Target="../media/image1.png" Type="http://schemas.openxmlformats.org/officeDocument/2006/relationships/image"/></Relationships>
</file>

<file path=ppt/slides/_rels/slide39.xml.rels><?xml version="1.0" encoding="UTF-8" standalone="yes"?><Relationships xmlns="http://schemas.openxmlformats.org/package/2006/relationships"><Relationship Id="rId1" Target="../slideLayouts/slideLayout6.xml" Type="http://schemas.openxmlformats.org/officeDocument/2006/relationships/slideLayout"/><Relationship Id="rId2" Target="../media/image2.png" Type="http://schemas.openxmlformats.org/officeDocument/2006/relationships/image"/><Relationship Id="rId3" Target="../media/image1.png" Type="http://schemas.openxmlformats.org/officeDocument/2006/relationships/image"/></Relationships>
</file>

<file path=ppt/slides/_rels/slide40.xml.rels><?xml version="1.0" encoding="UTF-8" standalone="yes"?><Relationships xmlns="http://schemas.openxmlformats.org/package/2006/relationships"><Relationship Id="rId1" Target="../slideLayouts/slideLayout6.xml" Type="http://schemas.openxmlformats.org/officeDocument/2006/relationships/slideLayout"/><Relationship Id="rId2" Target="../media/image2.png" Type="http://schemas.openxmlformats.org/officeDocument/2006/relationships/image"/><Relationship Id="rId3" Target="../media/image1.png" Type="http://schemas.openxmlformats.org/officeDocument/2006/relationships/image"/><Relationship Id="rId4" Target="../notesSlides/notesSlide9.xml" Type="http://schemas.openxmlformats.org/officeDocument/2006/relationships/notesSlide"/></Relationships>
</file>

<file path=ppt/slides/_rels/slide41.xml.rels><?xml version="1.0" encoding="UTF-8" standalone="yes"?><Relationships xmlns="http://schemas.openxmlformats.org/package/2006/relationships"><Relationship Id="rId1" Target="../slideLayouts/slideLayout6.xml" Type="http://schemas.openxmlformats.org/officeDocument/2006/relationships/slideLayout"/><Relationship Id="rId2" Target="../media/image2.png" Type="http://schemas.openxmlformats.org/officeDocument/2006/relationships/image"/><Relationship Id="rId3" Target="../media/image1.png" Type="http://schemas.openxmlformats.org/officeDocument/2006/relationships/image"/><Relationship Id="rId4" Target="../notesSlides/notesSlide10.xml" Type="http://schemas.openxmlformats.org/officeDocument/2006/relationships/notesSlide"/></Relationships>
</file>

<file path=ppt/slides/_rels/slide42.xml.rels><?xml version="1.0" encoding="UTF-8" standalone="yes"?><Relationships xmlns="http://schemas.openxmlformats.org/package/2006/relationships"><Relationship Id="rId1" Target="../slideLayouts/slideLayout6.xml" Type="http://schemas.openxmlformats.org/officeDocument/2006/relationships/slideLayout"/><Relationship Id="rId2" Target="../media/image2.png" Type="http://schemas.openxmlformats.org/officeDocument/2006/relationships/image"/><Relationship Id="rId3" Target="../media/image1.png" Type="http://schemas.openxmlformats.org/officeDocument/2006/relationships/image"/><Relationship Id="rId4" Target="../notesSlides/notesSlide11.xml" Type="http://schemas.openxmlformats.org/officeDocument/2006/relationships/notesSlide"/></Relationships>
</file>

<file path=ppt/slides/slide1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0"/>
            <a:ext cx="12192000" cy="2489200"/>
          </a:xfrm>
          <a:solidFill>
            <a:srgbClr val="243B53"/>
          </a:solidFill>
        </p:spPr>
        <p:txBody>
          <a:bodyPr lIns="762000" rIns="762000" wrap="square" anchor="b" tIns="76200" bIns="76200"/>
          <a:lstStyle/>
          <a:p>
            <a:pPr algn="l"/>
            <a:r>
              <a:rPr lang="es-ES" sz="3600" b="true" i="false">
                <a:solidFill>
                  <a:srgbClr val="FFFFFF"/>
                </a:solidFill>
                <a:latin typeface="Segoe UI"/>
              </a:rPr>
              <a:t>Carga de hechos de ventas · Grano de Oro</a:t>
            </a:r>
            <a:endParaRPr sz="3600" lang="es-E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0" y="2476500"/>
            <a:ext cx="12192000" cy="698500"/>
          </a:xfrm>
          <a:solidFill>
            <a:srgbClr val="243B53"/>
          </a:solidFill>
        </p:spPr>
        <p:txBody>
          <a:bodyPr lIns="762000" rIns="762000" wrap="square" anchor="t" tIns="76200" bIns="0"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algn="l"/>
            <a:r>
              <a:rPr lang="es-ES" sz="1600" b="false" i="false">
                <a:solidFill>
                  <a:srgbClr val="D8DCE0"/>
                </a:solidFill>
                <a:latin typeface="Segoe UI"/>
              </a:rPr>
              <a:t>Informe de la transformación 04_hechos_ventas</a:t>
            </a:r>
            <a:endParaRPr sz="1600" lang="es-ES"/>
          </a:p>
        </p:txBody>
      </p:sp>
      <p:pic>
        <p:nvPicPr>
          <p:cNvPr name="Picture 4" id="4"/>
          <p:cNvPicPr>
            <a:picLocks noChangeAspect="true"/>
          </p:cNvPicPr>
          <p:nvPr/>
        </p:nvPicPr>
        <p:blipFill>
          <a:blip r:embed="rId2"/>
          <a:stretch>
            <a:fillRect/>
          </a:stretch>
        </p:blipFill>
        <p:spPr>
          <a:xfrm>
            <a:off x="10248900" y="5510084"/>
            <a:ext cx="1435100" cy="814516"/>
          </a:xfrm>
          <a:prstGeom prst="rect">
            <a:avLst/>
          </a:prstGeom>
        </p:spPr>
      </p:pic>
      <p:sp>
        <p:nvSpPr>
          <p:cNvPr name="AutoShape 5" id="5"/>
          <p:cNvSpPr/>
          <p:nvPr/>
        </p:nvSpPr>
        <p:spPr>
          <a:xfrm>
            <a:off x="0" y="3175000"/>
            <a:ext cx="12192000" cy="50800"/>
          </a:xfrm>
          <a:prstGeom prst="rect">
            <a:avLst/>
          </a:prstGeom>
          <a:solidFill>
            <a:srgbClr val="3F74D8"/>
          </a:solidFill>
          <a:ln>
            <a:noFill/>
          </a:ln>
        </p:spPr>
      </p:sp>
      <p:sp>
        <p:nvSpPr>
          <p:cNvPr name="TextBox 6" id="6"/>
          <p:cNvSpPr txBox="true"/>
          <p:nvPr/>
        </p:nvSpPr>
        <p:spPr>
          <a:xfrm>
            <a:off x="762000" y="3530600"/>
            <a:ext cx="7620000" cy="2052320"/>
          </a:xfrm>
          <a:prstGeom prst="rect">
            <a:avLst/>
          </a:prstGeom>
        </p:spPr>
        <p:txBody>
          <a:bodyPr anchor="t" rtlCol="false" wrap="square" lIns="0" rIns="0" tIns="25400" bIns="25400"/>
          <a:lstStyle/>
          <a:p>
            <a:pPr algn="l">
              <a:spcAft>
                <a:spcPts val="400"/>
              </a:spcAft>
            </a:pPr>
            <a:r>
              <a:rPr lang="es-ES" sz="1200" b="false" i="false">
                <a:solidFill>
                  <a:srgbClr val="6B7785"/>
                </a:solidFill>
                <a:latin typeface="Segoe UI"/>
              </a:rPr>
              <a:t>Documento: </a:t>
            </a:r>
            <a:r>
              <a:rPr lang="es-ES" sz="1200" b="false" i="false">
                <a:solidFill>
                  <a:srgbClr val="1F2933"/>
                </a:solidFill>
                <a:latin typeface="Segoe UI"/>
              </a:rPr>
              <a:t>04_hechos_ventas.ktr</a:t>
            </a:r>
            <a:endParaRPr sz="1200" lang="es-ES"/>
          </a:p>
          <a:p>
            <a:pPr algn="l">
              <a:spcAft>
                <a:spcPts val="400"/>
              </a:spcAft>
            </a:pPr>
            <a:r>
              <a:rPr lang="es-ES" sz="1200" b="false" i="false">
                <a:solidFill>
                  <a:srgbClr val="6B7785"/>
                </a:solidFill>
                <a:latin typeface="Segoe UI"/>
              </a:rPr>
              <a:t>Tipo: </a:t>
            </a:r>
            <a:r>
              <a:rPr lang="es-ES" sz="1200" b="false" i="false">
                <a:solidFill>
                  <a:srgbClr val="1F2933"/>
                </a:solidFill>
                <a:latin typeface="Segoe UI"/>
              </a:rPr>
              <a:t>Transformación</a:t>
            </a:r>
            <a:endParaRPr sz="1200" lang="es-ES"/>
          </a:p>
          <a:p>
            <a:pPr algn="l">
              <a:spcAft>
                <a:spcPts val="400"/>
              </a:spcAft>
            </a:pPr>
            <a:r>
              <a:rPr lang="es-ES" sz="1200" b="false" i="false">
                <a:solidFill>
                  <a:srgbClr val="6B7785"/>
                </a:solidFill>
                <a:latin typeface="Segoe UI"/>
              </a:rPr>
              <a:t>Autor: </a:t>
            </a:r>
            <a:r>
              <a:rPr lang="es-ES" sz="1200" b="false" i="false">
                <a:solidFill>
                  <a:srgbClr val="1F2933"/>
                </a:solidFill>
                <a:latin typeface="Segoe UI"/>
              </a:rPr>
              <a:t>Iván Castaño</a:t>
            </a:r>
            <a:endParaRPr sz="1200" lang="es-ES"/>
          </a:p>
          <a:p>
            <a:pPr algn="l">
              <a:spcAft>
                <a:spcPts val="400"/>
              </a:spcAft>
            </a:pPr>
            <a:r>
              <a:rPr lang="es-ES" sz="1200" b="false" i="false">
                <a:solidFill>
                  <a:srgbClr val="6B7785"/>
                </a:solidFill>
                <a:latin typeface="Segoe UI"/>
              </a:rPr>
              <a:t>Institución: </a:t>
            </a:r>
            <a:r>
              <a:rPr lang="es-ES" sz="1200" b="false" i="false">
                <a:solidFill>
                  <a:srgbClr val="1F2933"/>
                </a:solidFill>
                <a:latin typeface="Segoe UI"/>
              </a:rPr>
              <a:t>Universidad Europea de Madrid</a:t>
            </a:r>
            <a:endParaRPr sz="1200" lang="es-ES"/>
          </a:p>
          <a:p>
            <a:pPr algn="l">
              <a:spcAft>
                <a:spcPts val="400"/>
              </a:spcAft>
            </a:pPr>
            <a:r>
              <a:rPr lang="es-ES" sz="1200" b="false" i="false">
                <a:solidFill>
                  <a:srgbClr val="6B7785"/>
                </a:solidFill>
                <a:latin typeface="Segoe UI"/>
              </a:rPr>
              <a:t>Curso: </a:t>
            </a:r>
            <a:r>
              <a:rPr lang="es-ES" sz="1200" b="false" i="false">
                <a:solidFill>
                  <a:srgbClr val="1F2933"/>
                </a:solidFill>
                <a:latin typeface="Segoe UI"/>
              </a:rPr>
              <a:t>Proyecto de Big Data 1 · Práctica de ejemplo</a:t>
            </a:r>
            <a:endParaRPr sz="1200" lang="es-ES"/>
          </a:p>
          <a:p>
            <a:pPr algn="l">
              <a:spcAft>
                <a:spcPts val="400"/>
              </a:spcAft>
            </a:pPr>
            <a:r>
              <a:rPr lang="es-ES" sz="1200" b="false" i="false">
                <a:solidFill>
                  <a:srgbClr val="6B7785"/>
                </a:solidFill>
                <a:latin typeface="Segoe UI"/>
              </a:rPr>
              <a:t>Creado: </a:t>
            </a:r>
            <a:r>
              <a:rPr lang="es-ES" sz="1200" b="false" i="false">
                <a:solidFill>
                  <a:srgbClr val="1F2933"/>
                </a:solidFill>
                <a:latin typeface="Segoe UI"/>
              </a:rPr>
              <a:t>2026-10-20 23:20</a:t>
            </a:r>
            <a:endParaRPr sz="1200" lang="es-ES"/>
          </a:p>
          <a:p>
            <a:pPr algn="l">
              <a:spcAft>
                <a:spcPts val="400"/>
              </a:spcAft>
            </a:pPr>
            <a:r>
              <a:rPr lang="es-ES" sz="1200" b="false" i="false">
                <a:solidFill>
                  <a:srgbClr val="6B7785"/>
                </a:solidFill>
                <a:latin typeface="Segoe UI"/>
              </a:rPr>
              <a:t>Modificado: </a:t>
            </a:r>
            <a:r>
              <a:rPr lang="es-ES" sz="1200" b="false" i="false">
                <a:solidFill>
                  <a:srgbClr val="1F2933"/>
                </a:solidFill>
                <a:latin typeface="Segoe UI"/>
              </a:rPr>
              <a:t>2026-10-20 23:20</a:t>
            </a:r>
            <a:endParaRPr sz="1200" lang="es-ES"/>
          </a:p>
          <a:p>
            <a:pPr algn="l">
              <a:spcAft>
                <a:spcPts val="400"/>
              </a:spcAft>
            </a:pPr>
            <a:r>
              <a:rPr lang="es-ES" sz="1200" b="false" i="false">
                <a:solidFill>
                  <a:srgbClr val="1F2933"/>
                </a:solidFill>
                <a:latin typeface="Segoe UI"/>
              </a:rPr>
              <a:t>Generado el 20 de octubre de 2026, 23:29</a:t>
            </a:r>
            <a:endParaRPr sz="1200" lang="es-ES"/>
          </a:p>
        </p:txBody>
      </p:sp>
    </p:spTree>
  </p:cSld>
  <p:clrMapOvr>
    <a:masterClrMapping/>
  </p:clrMapOvr>
</p:sld>
</file>

<file path=ppt/slides/slide2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8000" y="203200"/>
            <a:ext cx="11176000" cy="635000"/>
          </a:xfrm>
        </p:spPr>
        <p:txBody>
          <a:bodyPr lIns="0" rIns="0" wrap="square" anchor="ctr"/>
          <a:lstStyle/>
          <a:p>
            <a:pPr algn="l"/>
            <a:r>
              <a:rPr lang="es-ES" sz="2600" b="true" i="false">
                <a:solidFill>
                  <a:srgbClr val="243B53"/>
                </a:solidFill>
                <a:latin typeface="Segoe UI"/>
              </a:rPr>
              <a:t>Contenido</a:t>
            </a:r>
            <a:endParaRPr sz="2600" lang="es-ES"/>
          </a:p>
        </p:txBody>
      </p:sp>
      <p:pic>
        <p:nvPicPr>
          <p:cNvPr name="Picture 3" id="3"/>
          <p:cNvPicPr>
            <a:picLocks noChangeAspect="true"/>
          </p:cNvPicPr>
          <p:nvPr/>
        </p:nvPicPr>
        <p:blipFill>
          <a:blip r:embed="rId2"/>
          <a:stretch>
            <a:fillRect/>
          </a:stretch>
        </p:blipFill>
        <p:spPr>
          <a:xfrm>
            <a:off x="10248900" y="5510084"/>
            <a:ext cx="1435100" cy="814516"/>
          </a:xfrm>
          <a:prstGeom prst="rect">
            <a:avLst/>
          </a:prstGeom>
        </p:spPr>
      </p:pic>
      <p:sp>
        <p:nvSpPr>
          <p:cNvPr name="AutoShape 4" id="4"/>
          <p:cNvSpPr/>
          <p:nvPr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243B53"/>
          </a:solidFill>
          <a:ln>
            <a:noFill/>
          </a:ln>
        </p:spPr>
      </p:sp>
      <p:pic>
        <p:nvPicPr>
          <p:cNvPr name="Picture 5" id="5"/>
          <p:cNvPicPr>
            <a:picLocks noChangeAspect="true"/>
          </p:cNvPicPr>
          <p:nvPr/>
        </p:nvPicPr>
        <p:blipFill>
          <a:blip r:embed="rId3"/>
          <a:stretch>
            <a:fillRect/>
          </a:stretch>
        </p:blipFill>
        <p:spPr>
          <a:xfrm>
            <a:off x="508000" y="6508750"/>
            <a:ext cx="177800" cy="100914"/>
          </a:xfrm>
          <a:prstGeom prst="rect">
            <a:avLst/>
          </a:prstGeom>
        </p:spPr>
      </p:pic>
      <p:sp>
        <p:nvSpPr>
          <p:cNvPr name="TextBox 6" id="6"/>
          <p:cNvSpPr txBox="true"/>
          <p:nvPr/>
        </p:nvSpPr>
        <p:spPr>
          <a:xfrm>
            <a:off x="749300" y="6451600"/>
            <a:ext cx="5080000" cy="228600"/>
          </a:xfrm>
          <a:prstGeom prst="rect">
            <a:avLst/>
          </a:prstGeom>
        </p:spPr>
        <p:txBody>
          <a:bodyPr anchor="ctr" rtlCol="false" wrap="square" lIns="0" rIns="0" tIns="25400" bIns="25400"/>
          <a:lstStyle/>
          <a:p>
            <a:pPr algn="l"/>
            <a:r>
              <a:rPr lang="es-ES" sz="750" b="false" i="false">
                <a:solidFill>
                  <a:srgbClr val="6B7785"/>
                </a:solidFill>
                <a:latin typeface="Segoe UI"/>
              </a:rPr>
              <a:t>Pentaho Live · IDC Studios</a:t>
            </a:r>
            <a:endParaRPr sz="750" lang="es-ES"/>
          </a:p>
        </p:txBody>
      </p:sp>
      <p:sp>
        <p:nvSpPr>
          <p:cNvPr name="TextBox 7" id="7"/>
          <p:cNvSpPr txBox="true"/>
          <p:nvPr/>
        </p:nvSpPr>
        <p:spPr>
          <a:xfrm>
            <a:off x="10160000" y="6451600"/>
            <a:ext cx="1524000" cy="228600"/>
          </a:xfrm>
          <a:prstGeom prst="rect">
            <a:avLst/>
          </a:prstGeom>
        </p:spPr>
        <p:txBody>
          <a:bodyPr anchor="ctr" rtlCol="false" wrap="square" lIns="0" rIns="0" tIns="25400" bIns="25400"/>
          <a:lstStyle/>
          <a:p>
            <a:pPr algn="r"/>
            <a:fld id="{4E17040D-599A-4E5B-984F-27292ECD7698}" type="slidenum">
              <a:rPr lang="es-ES" sz="750">
                <a:solidFill>
                  <a:srgbClr val="6B7785"/>
                </a:solidFill>
                <a:latin typeface="Segoe UI"/>
              </a:rPr>
              <a:t>2</a:t>
            </a:fld>
            <a:endParaRPr sz="750" lang="es-ES"/>
          </a:p>
        </p:txBody>
      </p:sp>
      <p:sp>
        <p:nvSpPr>
          <p:cNvPr name="TextBox 8" id="8"/>
          <p:cNvSpPr txBox="true"/>
          <p:nvPr/>
        </p:nvSpPr>
        <p:spPr>
          <a:xfrm>
            <a:off x="762000" y="1143000"/>
            <a:ext cx="7874000" cy="5130800"/>
          </a:xfrm>
          <a:prstGeom prst="rect">
            <a:avLst/>
          </a:prstGeom>
        </p:spPr>
        <p:txBody>
          <a:bodyPr anchor="t" rtlCol="false" wrap="square" lIns="0" rIns="0" tIns="25400" bIns="25400"/>
          <a:lstStyle/>
          <a:p>
            <a:pPr algn="l">
              <a:spcAft>
                <a:spcPts val="675"/>
              </a:spcAft>
              <a:tabLst>
                <a:tab pos="431800" algn="l"/>
                <a:tab pos="7620000" algn="r"/>
              </a:tabLst>
            </a:pPr>
            <a:r>
              <a:rPr lang="es-ES" sz="1500" b="true" i="false">
                <a:solidFill>
                  <a:srgbClr val="3F74D8"/>
                </a:solidFill>
                <a:latin typeface="Segoe UI"/>
              </a:rPr>
              <a:t>1</a:t>
            </a:r>
            <a:r>
              <a:rPr lang="es-ES" sz="1500" b="false" i="false">
                <a:solidFill>
                  <a:srgbClr val="1F2933"/>
                </a:solidFill>
                <a:latin typeface="Segoe UI"/>
              </a:rPr>
              <a:t>	Resumen</a:t>
            </a:r>
            <a:r>
              <a:rPr lang="es-ES" sz="1500" b="false" i="false">
                <a:solidFill>
                  <a:srgbClr val="6B7785"/>
                </a:solidFill>
                <a:latin typeface="Segoe UI"/>
              </a:rPr>
              <a:t>	3</a:t>
            </a:r>
            <a:endParaRPr sz="1500" lang="es-ES"/>
          </a:p>
          <a:p>
            <a:pPr algn="l">
              <a:spcAft>
                <a:spcPts val="675"/>
              </a:spcAft>
              <a:tabLst>
                <a:tab pos="431800" algn="l"/>
                <a:tab pos="7620000" algn="r"/>
              </a:tabLst>
            </a:pPr>
            <a:r>
              <a:rPr lang="es-ES" sz="1500" b="true" i="false">
                <a:solidFill>
                  <a:srgbClr val="3F74D8"/>
                </a:solidFill>
                <a:latin typeface="Segoe UI"/>
              </a:rPr>
              <a:t>2</a:t>
            </a:r>
            <a:r>
              <a:rPr lang="es-ES" sz="1500" b="false" i="false">
                <a:solidFill>
                  <a:srgbClr val="1F2933"/>
                </a:solidFill>
                <a:latin typeface="Segoe UI"/>
              </a:rPr>
              <a:t>	Diagrama de flujo</a:t>
            </a:r>
            <a:r>
              <a:rPr lang="es-ES" sz="1500" b="false" i="false">
                <a:solidFill>
                  <a:srgbClr val="6B7785"/>
                </a:solidFill>
                <a:latin typeface="Segoe UI"/>
              </a:rPr>
              <a:t>	5</a:t>
            </a:r>
            <a:endParaRPr sz="1500" lang="es-ES"/>
          </a:p>
          <a:p>
            <a:pPr algn="l">
              <a:spcAft>
                <a:spcPts val="675"/>
              </a:spcAft>
              <a:tabLst>
                <a:tab pos="431800" algn="l"/>
                <a:tab pos="7620000" algn="r"/>
              </a:tabLst>
            </a:pPr>
            <a:r>
              <a:rPr lang="es-ES" sz="1500" b="true" i="false">
                <a:solidFill>
                  <a:srgbClr val="3F74D8"/>
                </a:solidFill>
                <a:latin typeface="Segoe UI"/>
              </a:rPr>
              <a:t>3</a:t>
            </a:r>
            <a:r>
              <a:rPr lang="es-ES" sz="1500" b="false" i="false">
                <a:solidFill>
                  <a:srgbClr val="1F2933"/>
                </a:solidFill>
                <a:latin typeface="Segoe UI"/>
              </a:rPr>
              <a:t>	Linaje de campos</a:t>
            </a:r>
            <a:r>
              <a:rPr lang="es-ES" sz="1500" b="false" i="false">
                <a:solidFill>
                  <a:srgbClr val="6B7785"/>
                </a:solidFill>
                <a:latin typeface="Segoe UI"/>
              </a:rPr>
              <a:t>	8</a:t>
            </a:r>
            <a:endParaRPr sz="1500" lang="es-ES"/>
          </a:p>
          <a:p>
            <a:pPr algn="l">
              <a:spcAft>
                <a:spcPts val="675"/>
              </a:spcAft>
              <a:tabLst>
                <a:tab pos="431800" algn="l"/>
                <a:tab pos="7620000" algn="r"/>
              </a:tabLst>
            </a:pPr>
            <a:r>
              <a:rPr lang="es-ES" sz="1500" b="true" i="false">
                <a:solidFill>
                  <a:srgbClr val="3F74D8"/>
                </a:solidFill>
                <a:latin typeface="Segoe UI"/>
              </a:rPr>
              <a:t>4</a:t>
            </a:r>
            <a:r>
              <a:rPr lang="es-ES" sz="1500" b="false" i="false">
                <a:solidFill>
                  <a:srgbClr val="1F2933"/>
                </a:solidFill>
                <a:latin typeface="Segoe UI"/>
              </a:rPr>
              <a:t>	Diccionario de datos</a:t>
            </a:r>
            <a:r>
              <a:rPr lang="es-ES" sz="1500" b="false" i="false">
                <a:solidFill>
                  <a:srgbClr val="6B7785"/>
                </a:solidFill>
                <a:latin typeface="Segoe UI"/>
              </a:rPr>
              <a:t>	14</a:t>
            </a:r>
            <a:endParaRPr sz="1500" lang="es-ES"/>
          </a:p>
          <a:p>
            <a:pPr algn="l">
              <a:spcAft>
                <a:spcPts val="675"/>
              </a:spcAft>
              <a:tabLst>
                <a:tab pos="431800" algn="l"/>
                <a:tab pos="7620000" algn="r"/>
              </a:tabLst>
            </a:pPr>
            <a:r>
              <a:rPr lang="es-ES" sz="1500" b="true" i="false">
                <a:solidFill>
                  <a:srgbClr val="3F74D8"/>
                </a:solidFill>
                <a:latin typeface="Segoe UI"/>
              </a:rPr>
              <a:t>5</a:t>
            </a:r>
            <a:r>
              <a:rPr lang="es-ES" sz="1500" b="false" i="false">
                <a:solidFill>
                  <a:srgbClr val="1F2933"/>
                </a:solidFill>
                <a:latin typeface="Segoe UI"/>
              </a:rPr>
              <a:t>	Modelo destino</a:t>
            </a:r>
            <a:r>
              <a:rPr lang="es-ES" sz="1500" b="false" i="false">
                <a:solidFill>
                  <a:srgbClr val="6B7785"/>
                </a:solidFill>
                <a:latin typeface="Segoe UI"/>
              </a:rPr>
              <a:t>	30</a:t>
            </a:r>
            <a:endParaRPr sz="1500" lang="es-ES"/>
          </a:p>
          <a:p>
            <a:pPr algn="l">
              <a:spcAft>
                <a:spcPts val="675"/>
              </a:spcAft>
              <a:tabLst>
                <a:tab pos="431800" algn="l"/>
                <a:tab pos="7620000" algn="r"/>
              </a:tabLst>
            </a:pPr>
            <a:r>
              <a:rPr lang="es-ES" sz="1500" b="true" i="false">
                <a:solidFill>
                  <a:srgbClr val="3F74D8"/>
                </a:solidFill>
                <a:latin typeface="Segoe UI"/>
              </a:rPr>
              <a:t>6</a:t>
            </a:r>
            <a:r>
              <a:rPr lang="es-ES" sz="1500" b="false" i="false">
                <a:solidFill>
                  <a:srgbClr val="1F2933"/>
                </a:solidFill>
                <a:latin typeface="Segoe UI"/>
              </a:rPr>
              <a:t>	Perfil de datos</a:t>
            </a:r>
            <a:r>
              <a:rPr lang="es-ES" sz="1500" b="false" i="false">
                <a:solidFill>
                  <a:srgbClr val="6B7785"/>
                </a:solidFill>
                <a:latin typeface="Segoe UI"/>
              </a:rPr>
              <a:t>	32</a:t>
            </a:r>
            <a:endParaRPr sz="1500" lang="es-ES"/>
          </a:p>
          <a:p>
            <a:pPr algn="l">
              <a:spcAft>
                <a:spcPts val="675"/>
              </a:spcAft>
              <a:tabLst>
                <a:tab pos="431800" algn="l"/>
                <a:tab pos="7620000" algn="r"/>
              </a:tabLst>
            </a:pPr>
            <a:r>
              <a:rPr lang="es-ES" sz="1500" b="true" i="false">
                <a:solidFill>
                  <a:srgbClr val="3F74D8"/>
                </a:solidFill>
                <a:latin typeface="Segoe UI"/>
              </a:rPr>
              <a:t>7</a:t>
            </a:r>
            <a:r>
              <a:rPr lang="es-ES" sz="1500" b="false" i="false">
                <a:solidFill>
                  <a:srgbClr val="1F2933"/>
                </a:solidFill>
                <a:latin typeface="Segoe UI"/>
              </a:rPr>
              <a:t>	Métricas de ejecución</a:t>
            </a:r>
            <a:r>
              <a:rPr lang="es-ES" sz="1500" b="false" i="false">
                <a:solidFill>
                  <a:srgbClr val="6B7785"/>
                </a:solidFill>
                <a:latin typeface="Segoe UI"/>
              </a:rPr>
              <a:t>	35</a:t>
            </a:r>
            <a:endParaRPr sz="1500" lang="es-ES"/>
          </a:p>
          <a:p>
            <a:pPr algn="l">
              <a:spcAft>
                <a:spcPts val="675"/>
              </a:spcAft>
              <a:tabLst>
                <a:tab pos="431800" algn="l"/>
                <a:tab pos="7620000" algn="r"/>
              </a:tabLst>
            </a:pPr>
            <a:r>
              <a:rPr lang="es-ES" sz="1500" b="true" i="false">
                <a:solidFill>
                  <a:srgbClr val="3F74D8"/>
                </a:solidFill>
                <a:latin typeface="Segoe UI"/>
              </a:rPr>
              <a:t>8</a:t>
            </a:r>
            <a:r>
              <a:rPr lang="es-ES" sz="1500" b="false" i="false">
                <a:solidFill>
                  <a:srgbClr val="1F2933"/>
                </a:solidFill>
                <a:latin typeface="Segoe UI"/>
              </a:rPr>
              <a:t>	Validación</a:t>
            </a:r>
            <a:r>
              <a:rPr lang="es-ES" sz="1500" b="false" i="false">
                <a:solidFill>
                  <a:srgbClr val="6B7785"/>
                </a:solidFill>
                <a:latin typeface="Segoe UI"/>
              </a:rPr>
              <a:t>	40</a:t>
            </a:r>
            <a:endParaRPr sz="1500" lang="es-ES"/>
          </a:p>
          <a:p>
            <a:pPr algn="l">
              <a:spcAft>
                <a:spcPts val="675"/>
              </a:spcAft>
              <a:tabLst>
                <a:tab pos="431800" algn="l"/>
                <a:tab pos="7620000" algn="r"/>
              </a:tabLst>
            </a:pPr>
            <a:r>
              <a:rPr lang="es-ES" sz="1500" b="true" i="false">
                <a:solidFill>
                  <a:srgbClr val="3F74D8"/>
                </a:solidFill>
                <a:latin typeface="Segoe UI"/>
              </a:rPr>
              <a:t>9</a:t>
            </a:r>
            <a:r>
              <a:rPr lang="es-ES" sz="1500" b="false" i="false">
                <a:solidFill>
                  <a:srgbClr val="1F2933"/>
                </a:solidFill>
                <a:latin typeface="Segoe UI"/>
              </a:rPr>
              <a:t>	Conexiones y parámetros</a:t>
            </a:r>
            <a:r>
              <a:rPr lang="es-ES" sz="1500" b="false" i="false">
                <a:solidFill>
                  <a:srgbClr val="6B7785"/>
                </a:solidFill>
                <a:latin typeface="Segoe UI"/>
              </a:rPr>
              <a:t>	41</a:t>
            </a:r>
            <a:endParaRPr sz="1500" lang="es-ES"/>
          </a:p>
          <a:p>
            <a:pPr algn="l">
              <a:spcAft>
                <a:spcPts val="675"/>
              </a:spcAft>
              <a:tabLst>
                <a:tab pos="431800" algn="l"/>
                <a:tab pos="7620000" algn="r"/>
              </a:tabLst>
            </a:pPr>
            <a:r>
              <a:rPr lang="es-ES" sz="1500" b="true" i="false">
                <a:solidFill>
                  <a:srgbClr val="3F74D8"/>
                </a:solidFill>
                <a:latin typeface="Segoe UI"/>
              </a:rPr>
              <a:t>10</a:t>
            </a:r>
            <a:r>
              <a:rPr lang="es-ES" sz="1500" b="false" i="false">
                <a:solidFill>
                  <a:srgbClr val="1F2933"/>
                </a:solidFill>
                <a:latin typeface="Segoe UI"/>
              </a:rPr>
              <a:t>	Conclusiones</a:t>
            </a:r>
            <a:r>
              <a:rPr lang="es-ES" sz="1500" b="false" i="false">
                <a:solidFill>
                  <a:srgbClr val="6B7785"/>
                </a:solidFill>
                <a:latin typeface="Segoe UI"/>
              </a:rPr>
              <a:t>	42</a:t>
            </a:r>
            <a:endParaRPr sz="1500" lang="es-ES"/>
          </a:p>
        </p:txBody>
      </p:sp>
    </p:spTree>
  </p:cSld>
  <p:clrMapOvr>
    <a:masterClrMapping/>
  </p:clrMapOvr>
</p:sld>
</file>

<file path=ppt/slides/slide3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8000" y="203200"/>
            <a:ext cx="11176000" cy="635000"/>
          </a:xfrm>
        </p:spPr>
        <p:txBody>
          <a:bodyPr lIns="0" rIns="0" wrap="square" anchor="ctr"/>
          <a:lstStyle/>
          <a:p>
            <a:pPr algn="l"/>
            <a:r>
              <a:rPr lang="es-ES" sz="2600" b="true" i="false">
                <a:solidFill>
                  <a:srgbClr val="243B53"/>
                </a:solidFill>
                <a:latin typeface="Segoe UI"/>
              </a:rPr>
              <a:t>Resumen</a:t>
            </a:r>
            <a:endParaRPr sz="2600" lang="es-ES"/>
          </a:p>
        </p:txBody>
      </p:sp>
      <p:pic>
        <p:nvPicPr>
          <p:cNvPr name="Picture 3" id="3"/>
          <p:cNvPicPr>
            <a:picLocks noChangeAspect="true"/>
          </p:cNvPicPr>
          <p:nvPr/>
        </p:nvPicPr>
        <p:blipFill>
          <a:blip r:embed="rId2"/>
          <a:stretch>
            <a:fillRect/>
          </a:stretch>
        </p:blipFill>
        <p:spPr>
          <a:xfrm>
            <a:off x="10248900" y="5510084"/>
            <a:ext cx="1435100" cy="814516"/>
          </a:xfrm>
          <a:prstGeom prst="rect">
            <a:avLst/>
          </a:prstGeom>
        </p:spPr>
      </p:pic>
      <p:sp>
        <p:nvSpPr>
          <p:cNvPr name="AutoShape 4" id="4"/>
          <p:cNvSpPr/>
          <p:nvPr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243B53"/>
          </a:solidFill>
          <a:ln>
            <a:noFill/>
          </a:ln>
        </p:spPr>
      </p:sp>
      <p:pic>
        <p:nvPicPr>
          <p:cNvPr name="Picture 5" id="5"/>
          <p:cNvPicPr>
            <a:picLocks noChangeAspect="true"/>
          </p:cNvPicPr>
          <p:nvPr/>
        </p:nvPicPr>
        <p:blipFill>
          <a:blip r:embed="rId3"/>
          <a:stretch>
            <a:fillRect/>
          </a:stretch>
        </p:blipFill>
        <p:spPr>
          <a:xfrm>
            <a:off x="508000" y="6508750"/>
            <a:ext cx="177800" cy="100914"/>
          </a:xfrm>
          <a:prstGeom prst="rect">
            <a:avLst/>
          </a:prstGeom>
        </p:spPr>
      </p:pic>
      <p:sp>
        <p:nvSpPr>
          <p:cNvPr name="TextBox 6" id="6"/>
          <p:cNvSpPr txBox="true"/>
          <p:nvPr/>
        </p:nvSpPr>
        <p:spPr>
          <a:xfrm>
            <a:off x="749300" y="6451600"/>
            <a:ext cx="5080000" cy="228600"/>
          </a:xfrm>
          <a:prstGeom prst="rect">
            <a:avLst/>
          </a:prstGeom>
        </p:spPr>
        <p:txBody>
          <a:bodyPr anchor="ctr" rtlCol="false" wrap="square" lIns="0" rIns="0" tIns="25400" bIns="25400"/>
          <a:lstStyle/>
          <a:p>
            <a:pPr algn="l"/>
            <a:r>
              <a:rPr lang="es-ES" sz="750" b="false" i="false">
                <a:solidFill>
                  <a:srgbClr val="6B7785"/>
                </a:solidFill>
                <a:latin typeface="Segoe UI"/>
              </a:rPr>
              <a:t>Pentaho Live · IDC Studios</a:t>
            </a:r>
            <a:endParaRPr sz="750" lang="es-ES"/>
          </a:p>
        </p:txBody>
      </p:sp>
      <p:sp>
        <p:nvSpPr>
          <p:cNvPr name="TextBox 7" id="7"/>
          <p:cNvSpPr txBox="true"/>
          <p:nvPr/>
        </p:nvSpPr>
        <p:spPr>
          <a:xfrm>
            <a:off x="10160000" y="6451600"/>
            <a:ext cx="1524000" cy="228600"/>
          </a:xfrm>
          <a:prstGeom prst="rect">
            <a:avLst/>
          </a:prstGeom>
        </p:spPr>
        <p:txBody>
          <a:bodyPr anchor="ctr" rtlCol="false" wrap="square" lIns="0" rIns="0" tIns="25400" bIns="25400"/>
          <a:lstStyle/>
          <a:p>
            <a:pPr algn="r"/>
            <a:fld id="{4BDEB0A2-9176-43A2-A8B5-32795A002FD0}" type="slidenum">
              <a:rPr lang="es-ES" sz="750">
                <a:solidFill>
                  <a:srgbClr val="6B7785"/>
                </a:solidFill>
                <a:latin typeface="Segoe UI"/>
              </a:rPr>
              <a:t>3</a:t>
            </a:fld>
            <a:endParaRPr sz="750" lang="es-ES"/>
          </a:p>
        </p:txBody>
      </p:sp>
      <p:sp>
        <p:nvSpPr>
          <p:cNvPr name="TextBox 8" id="8"/>
          <p:cNvSpPr txBox="true"/>
          <p:nvPr/>
        </p:nvSpPr>
        <p:spPr>
          <a:xfrm>
            <a:off x="508000" y="1016000"/>
            <a:ext cx="11176000" cy="1311910"/>
          </a:xfrm>
          <a:prstGeom prst="rect">
            <a:avLst/>
          </a:prstGeom>
        </p:spPr>
        <p:txBody>
          <a:bodyPr anchor="t" rtlCol="false" wrap="square" lIns="0" rIns="0" tIns="25400" bIns="25400"/>
          <a:lstStyle/>
          <a:p>
            <a:pPr algn="l">
              <a:spcAft>
                <a:spcPts val="489"/>
              </a:spcAft>
            </a:pPr>
            <a:r>
              <a:rPr lang="es-ES" sz="1400" b="false" i="false">
                <a:solidFill>
                  <a:srgbClr val="1F2933"/>
                </a:solidFill>
                <a:latin typeface="Segoe UI"/>
              </a:rPr>
              <a:t>Esta transformación carga la tabla de hechos del modelo estrella de </a:t>
            </a:r>
            <a:r>
              <a:rPr lang="es-ES" sz="1400" b="true" i="false">
                <a:solidFill>
                  <a:srgbClr val="1F2933"/>
                </a:solidFill>
                <a:latin typeface="Segoe UI"/>
              </a:rPr>
              <a:t>Grano de Oro</a:t>
            </a:r>
            <a:r>
              <a:rPr lang="es-ES" sz="1400" b="false" i="false">
                <a:solidFill>
                  <a:srgbClr val="1F2933"/>
                </a:solidFill>
                <a:latin typeface="Segoe UI"/>
              </a:rPr>
              <a:t> a partir del fichero de ventas de septiembre de 2026. En la última ejecución leyó </a:t>
            </a:r>
            <a:r>
              <a:rPr lang="es-ES" sz="1400" b="true" i="false">
                <a:solidFill>
                  <a:srgbClr val="1F2933"/>
                </a:solidFill>
                <a:latin typeface="Segoe UI"/>
              </a:rPr>
              <a:t>3.000 líneas</a:t>
            </a:r>
            <a:r>
              <a:rPr lang="es-ES" sz="1400" b="false" i="false">
                <a:solidFill>
                  <a:srgbClr val="1F2933"/>
                </a:solidFill>
                <a:latin typeface="Segoe UI"/>
              </a:rPr>
              <a:t>: 60 eran duplicados exactos, que salen por el hop de error de «Eliminar duplicados» y reciben el motivo DUPLICADO en «Marcar duplicado»; 55 no superaron las reglas de «¿Línea válida?», y las </a:t>
            </a:r>
            <a:r>
              <a:rPr lang="es-ES" sz="1400" b="true" i="false">
                <a:solidFill>
                  <a:srgbClr val="1F2933"/>
                </a:solidFill>
                <a:latin typeface="Segoe UI"/>
              </a:rPr>
              <a:t>2.885 restantes</a:t>
            </a:r>
            <a:r>
              <a:rPr lang="es-ES" sz="1400" b="false" i="false">
                <a:solidFill>
                  <a:srgbClr val="1F2933"/>
                </a:solidFill>
                <a:latin typeface="Segoe UI"/>
              </a:rPr>
              <a:t> se cargaron en `hechos_ventas`. Las 115 líneas descartadas quedan en `rechazos_ventas.csv` con su motivo, de modo que 2.885 + 115 = 3.000: no se pierde ninguna línea.</a:t>
            </a:r>
            <a:endParaRPr sz="1400" lang="es-ES"/>
          </a:p>
        </p:txBody>
      </p:sp>
      <p:sp>
        <p:nvSpPr>
          <p:cNvPr name="TextBox 9" id="9"/>
          <p:cNvSpPr txBox="true"/>
          <p:nvPr/>
        </p:nvSpPr>
        <p:spPr>
          <a:xfrm>
            <a:off x="508000" y="2378710"/>
            <a:ext cx="11176000" cy="235458"/>
          </a:xfrm>
          <a:prstGeom prst="rect">
            <a:avLst/>
          </a:prstGeom>
        </p:spPr>
        <p:txBody>
          <a:bodyPr anchor="t" rtlCol="false" wrap="square" lIns="0" rIns="0" tIns="25400" bIns="25400"/>
          <a:lstStyle/>
          <a:p>
            <a:pPr algn="l"/>
            <a:r>
              <a:rPr lang="es-ES" sz="950" b="false" i="true">
                <a:solidFill>
                  <a:srgbClr val="6B7785"/>
                </a:solidFill>
                <a:latin typeface="Segoe UI"/>
              </a:rPr>
              <a:t>Texto redactado con asistencia de IA</a:t>
            </a:r>
            <a:endParaRPr sz="950" lang="es-ES"/>
          </a:p>
        </p:txBody>
      </p:sp>
      <p:sp>
        <p:nvSpPr>
          <p:cNvPr name="AutoShape 10" id="10"/>
          <p:cNvSpPr/>
          <p:nvPr/>
        </p:nvSpPr>
        <p:spPr>
          <a:xfrm>
            <a:off x="508000" y="2741168"/>
            <a:ext cx="3302000" cy="965200"/>
          </a:xfrm>
          <a:prstGeom prst="roundRect">
            <a:avLst/>
          </a:prstGeom>
          <a:solidFill>
            <a:srgbClr val="F4F5F6"/>
          </a:solidFill>
          <a:ln w="9525">
            <a:solidFill>
              <a:srgbClr val="D9DEE5"/>
            </a:solidFill>
          </a:ln>
        </p:spPr>
      </p:sp>
      <p:sp>
        <p:nvSpPr>
          <p:cNvPr name="AutoShape 11" id="11"/>
          <p:cNvSpPr/>
          <p:nvPr/>
        </p:nvSpPr>
        <p:spPr>
          <a:xfrm>
            <a:off x="508000" y="2842768"/>
            <a:ext cx="38100" cy="762000"/>
          </a:xfrm>
          <a:prstGeom prst="rect">
            <a:avLst/>
          </a:prstGeom>
          <a:solidFill>
            <a:srgbClr val="3F74D8"/>
          </a:solidFill>
          <a:ln>
            <a:noFill/>
          </a:ln>
        </p:spPr>
      </p:sp>
      <p:sp>
        <p:nvSpPr>
          <p:cNvPr name="TextBox 12" id="12"/>
          <p:cNvSpPr txBox="true"/>
          <p:nvPr/>
        </p:nvSpPr>
        <p:spPr>
          <a:xfrm>
            <a:off x="685800" y="2817368"/>
            <a:ext cx="2997200" cy="812800"/>
          </a:xfrm>
          <a:prstGeom prst="rect">
            <a:avLst/>
          </a:prstGeom>
        </p:spPr>
        <p:txBody>
          <a:bodyPr anchor="ctr" rtlCol="false" wrap="square" lIns="0" rIns="0" tIns="25400" bIns="25400"/>
          <a:lstStyle/>
          <a:p>
            <a:pPr algn="l"/>
            <a:r>
              <a:rPr lang="es-ES" sz="1000" b="false" i="false">
                <a:solidFill>
                  <a:srgbClr val="6B7785"/>
                </a:solidFill>
                <a:latin typeface="Segoe UI"/>
              </a:rPr>
              <a:t>Steps</a:t>
            </a:r>
            <a:endParaRPr sz="1000" lang="es-ES"/>
          </a:p>
          <a:p>
            <a:pPr algn="l"/>
            <a:r>
              <a:rPr lang="es-ES" sz="2200" b="true" i="false">
                <a:solidFill>
                  <a:srgbClr val="1F2933"/>
                </a:solidFill>
                <a:latin typeface="Segoe UI"/>
              </a:rPr>
              <a:t>16</a:t>
            </a:r>
            <a:endParaRPr sz="2200" lang="es-ES"/>
          </a:p>
        </p:txBody>
      </p:sp>
      <p:sp>
        <p:nvSpPr>
          <p:cNvPr name="AutoShape 13" id="13"/>
          <p:cNvSpPr/>
          <p:nvPr/>
        </p:nvSpPr>
        <p:spPr>
          <a:xfrm>
            <a:off x="3962400" y="2741168"/>
            <a:ext cx="3302000" cy="965200"/>
          </a:xfrm>
          <a:prstGeom prst="roundRect">
            <a:avLst/>
          </a:prstGeom>
          <a:solidFill>
            <a:srgbClr val="F4F5F6"/>
          </a:solidFill>
          <a:ln w="9525">
            <a:solidFill>
              <a:srgbClr val="D9DEE5"/>
            </a:solidFill>
          </a:ln>
        </p:spPr>
      </p:sp>
      <p:sp>
        <p:nvSpPr>
          <p:cNvPr name="AutoShape 14" id="14"/>
          <p:cNvSpPr/>
          <p:nvPr/>
        </p:nvSpPr>
        <p:spPr>
          <a:xfrm>
            <a:off x="3962400" y="2842768"/>
            <a:ext cx="38100" cy="762000"/>
          </a:xfrm>
          <a:prstGeom prst="rect">
            <a:avLst/>
          </a:prstGeom>
          <a:solidFill>
            <a:srgbClr val="3F74D8"/>
          </a:solidFill>
          <a:ln>
            <a:noFill/>
          </a:ln>
        </p:spPr>
      </p:sp>
      <p:sp>
        <p:nvSpPr>
          <p:cNvPr name="TextBox 15" id="15"/>
          <p:cNvSpPr txBox="true"/>
          <p:nvPr/>
        </p:nvSpPr>
        <p:spPr>
          <a:xfrm>
            <a:off x="4140200" y="2817368"/>
            <a:ext cx="2997200" cy="812800"/>
          </a:xfrm>
          <a:prstGeom prst="rect">
            <a:avLst/>
          </a:prstGeom>
        </p:spPr>
        <p:txBody>
          <a:bodyPr anchor="ctr" rtlCol="false" wrap="square" lIns="0" rIns="0" tIns="25400" bIns="25400"/>
          <a:lstStyle/>
          <a:p>
            <a:pPr algn="l"/>
            <a:r>
              <a:rPr lang="es-ES" sz="1000" b="false" i="false">
                <a:solidFill>
                  <a:srgbClr val="6B7785"/>
                </a:solidFill>
                <a:latin typeface="Segoe UI"/>
              </a:rPr>
              <a:t>Hops</a:t>
            </a:r>
            <a:endParaRPr sz="1000" lang="es-ES"/>
          </a:p>
          <a:p>
            <a:pPr algn="l"/>
            <a:r>
              <a:rPr lang="es-ES" sz="2200" b="true" i="false">
                <a:solidFill>
                  <a:srgbClr val="1F2933"/>
                </a:solidFill>
                <a:latin typeface="Segoe UI"/>
              </a:rPr>
              <a:t>16</a:t>
            </a:r>
            <a:endParaRPr sz="2200" lang="es-ES"/>
          </a:p>
        </p:txBody>
      </p:sp>
      <p:sp>
        <p:nvSpPr>
          <p:cNvPr name="AutoShape 16" id="16"/>
          <p:cNvSpPr/>
          <p:nvPr/>
        </p:nvSpPr>
        <p:spPr>
          <a:xfrm>
            <a:off x="7416800" y="2741168"/>
            <a:ext cx="3302000" cy="965200"/>
          </a:xfrm>
          <a:prstGeom prst="roundRect">
            <a:avLst/>
          </a:prstGeom>
          <a:solidFill>
            <a:srgbClr val="F4F5F6"/>
          </a:solidFill>
          <a:ln w="9525">
            <a:solidFill>
              <a:srgbClr val="D9DEE5"/>
            </a:solidFill>
          </a:ln>
        </p:spPr>
      </p:sp>
      <p:sp>
        <p:nvSpPr>
          <p:cNvPr name="AutoShape 17" id="17"/>
          <p:cNvSpPr/>
          <p:nvPr/>
        </p:nvSpPr>
        <p:spPr>
          <a:xfrm>
            <a:off x="7416800" y="2842768"/>
            <a:ext cx="38100" cy="762000"/>
          </a:xfrm>
          <a:prstGeom prst="rect">
            <a:avLst/>
          </a:prstGeom>
          <a:solidFill>
            <a:srgbClr val="3F74D8"/>
          </a:solidFill>
          <a:ln>
            <a:noFill/>
          </a:ln>
        </p:spPr>
      </p:sp>
      <p:sp>
        <p:nvSpPr>
          <p:cNvPr name="TextBox 18" id="18"/>
          <p:cNvSpPr txBox="true"/>
          <p:nvPr/>
        </p:nvSpPr>
        <p:spPr>
          <a:xfrm>
            <a:off x="7594600" y="2817368"/>
            <a:ext cx="2997200" cy="812800"/>
          </a:xfrm>
          <a:prstGeom prst="rect">
            <a:avLst/>
          </a:prstGeom>
        </p:spPr>
        <p:txBody>
          <a:bodyPr anchor="ctr" rtlCol="false" wrap="square" lIns="0" rIns="0" tIns="25400" bIns="25400"/>
          <a:lstStyle/>
          <a:p>
            <a:pPr algn="l"/>
            <a:r>
              <a:rPr lang="es-ES" sz="1000" b="false" i="false">
                <a:solidFill>
                  <a:srgbClr val="6B7785"/>
                </a:solidFill>
                <a:latin typeface="Segoe UI"/>
              </a:rPr>
              <a:t>Archivos leídos</a:t>
            </a:r>
            <a:endParaRPr sz="1000" lang="es-ES"/>
          </a:p>
          <a:p>
            <a:pPr algn="l"/>
            <a:r>
              <a:rPr lang="es-ES" sz="2200" b="true" i="false">
                <a:solidFill>
                  <a:srgbClr val="1F2933"/>
                </a:solidFill>
                <a:latin typeface="Segoe UI"/>
              </a:rPr>
              <a:t>1</a:t>
            </a:r>
            <a:endParaRPr sz="2200" lang="es-ES"/>
          </a:p>
          <a:p>
            <a:pPr algn="l"/>
            <a:r>
              <a:rPr lang="es-ES" sz="900" b="false" i="false">
                <a:solidFill>
                  <a:srgbClr val="6B7785"/>
                </a:solidFill>
                <a:latin typeface="Segoe UI"/>
              </a:rPr>
              <a:t>ventas_2026_09.csv</a:t>
            </a:r>
            <a:endParaRPr sz="900" lang="es-ES"/>
          </a:p>
        </p:txBody>
      </p:sp>
      <p:sp>
        <p:nvSpPr>
          <p:cNvPr name="AutoShape 19" id="19"/>
          <p:cNvSpPr/>
          <p:nvPr/>
        </p:nvSpPr>
        <p:spPr>
          <a:xfrm>
            <a:off x="508000" y="3833368"/>
            <a:ext cx="3302000" cy="965200"/>
          </a:xfrm>
          <a:prstGeom prst="roundRect">
            <a:avLst/>
          </a:prstGeom>
          <a:solidFill>
            <a:srgbClr val="F4F5F6"/>
          </a:solidFill>
          <a:ln w="9525">
            <a:solidFill>
              <a:srgbClr val="D9DEE5"/>
            </a:solidFill>
          </a:ln>
        </p:spPr>
      </p:sp>
      <p:sp>
        <p:nvSpPr>
          <p:cNvPr name="AutoShape 20" id="20"/>
          <p:cNvSpPr/>
          <p:nvPr/>
        </p:nvSpPr>
        <p:spPr>
          <a:xfrm>
            <a:off x="508000" y="3934968"/>
            <a:ext cx="38100" cy="762000"/>
          </a:xfrm>
          <a:prstGeom prst="rect">
            <a:avLst/>
          </a:prstGeom>
          <a:solidFill>
            <a:srgbClr val="3F74D8"/>
          </a:solidFill>
          <a:ln>
            <a:noFill/>
          </a:ln>
        </p:spPr>
      </p:sp>
      <p:sp>
        <p:nvSpPr>
          <p:cNvPr name="TextBox 21" id="21"/>
          <p:cNvSpPr txBox="true"/>
          <p:nvPr/>
        </p:nvSpPr>
        <p:spPr>
          <a:xfrm>
            <a:off x="685800" y="3909568"/>
            <a:ext cx="2997200" cy="812800"/>
          </a:xfrm>
          <a:prstGeom prst="rect">
            <a:avLst/>
          </a:prstGeom>
        </p:spPr>
        <p:txBody>
          <a:bodyPr anchor="ctr" rtlCol="false" wrap="square" lIns="0" rIns="0" tIns="25400" bIns="25400"/>
          <a:lstStyle/>
          <a:p>
            <a:pPr algn="l"/>
            <a:r>
              <a:rPr lang="es-ES" sz="1000" b="false" i="false">
                <a:solidFill>
                  <a:srgbClr val="6B7785"/>
                </a:solidFill>
                <a:latin typeface="Segoe UI"/>
              </a:rPr>
              <a:t>Archivos escritos</a:t>
            </a:r>
            <a:endParaRPr sz="1000" lang="es-ES"/>
          </a:p>
          <a:p>
            <a:pPr algn="l"/>
            <a:r>
              <a:rPr lang="es-ES" sz="2200" b="true" i="false">
                <a:solidFill>
                  <a:srgbClr val="1F2933"/>
                </a:solidFill>
                <a:latin typeface="Segoe UI"/>
              </a:rPr>
              <a:t>1</a:t>
            </a:r>
            <a:endParaRPr sz="2200" lang="es-ES"/>
          </a:p>
          <a:p>
            <a:pPr algn="l"/>
            <a:r>
              <a:rPr lang="es-ES" sz="900" b="false" i="false">
                <a:solidFill>
                  <a:srgbClr val="6B7785"/>
                </a:solidFill>
                <a:latin typeface="Segoe UI"/>
              </a:rPr>
              <a:t>rechazos_ventas.csv</a:t>
            </a:r>
            <a:endParaRPr sz="900" lang="es-ES"/>
          </a:p>
        </p:txBody>
      </p:sp>
      <p:sp>
        <p:nvSpPr>
          <p:cNvPr name="AutoShape 22" id="22"/>
          <p:cNvSpPr/>
          <p:nvPr/>
        </p:nvSpPr>
        <p:spPr>
          <a:xfrm>
            <a:off x="3962400" y="3833368"/>
            <a:ext cx="3302000" cy="965200"/>
          </a:xfrm>
          <a:prstGeom prst="roundRect">
            <a:avLst/>
          </a:prstGeom>
          <a:solidFill>
            <a:srgbClr val="F4F5F6"/>
          </a:solidFill>
          <a:ln w="9525">
            <a:solidFill>
              <a:srgbClr val="D9DEE5"/>
            </a:solidFill>
          </a:ln>
        </p:spPr>
      </p:sp>
      <p:sp>
        <p:nvSpPr>
          <p:cNvPr name="AutoShape 23" id="23"/>
          <p:cNvSpPr/>
          <p:nvPr/>
        </p:nvSpPr>
        <p:spPr>
          <a:xfrm>
            <a:off x="3962400" y="3934968"/>
            <a:ext cx="38100" cy="762000"/>
          </a:xfrm>
          <a:prstGeom prst="rect">
            <a:avLst/>
          </a:prstGeom>
          <a:solidFill>
            <a:srgbClr val="3F74D8"/>
          </a:solidFill>
          <a:ln>
            <a:noFill/>
          </a:ln>
        </p:spPr>
      </p:sp>
      <p:sp>
        <p:nvSpPr>
          <p:cNvPr name="TextBox 24" id="24"/>
          <p:cNvSpPr txBox="true"/>
          <p:nvPr/>
        </p:nvSpPr>
        <p:spPr>
          <a:xfrm>
            <a:off x="4140200" y="3909568"/>
            <a:ext cx="2997200" cy="812800"/>
          </a:xfrm>
          <a:prstGeom prst="rect">
            <a:avLst/>
          </a:prstGeom>
        </p:spPr>
        <p:txBody>
          <a:bodyPr anchor="ctr" rtlCol="false" wrap="square" lIns="0" rIns="0" tIns="25400" bIns="25400"/>
          <a:lstStyle/>
          <a:p>
            <a:pPr algn="l"/>
            <a:r>
              <a:rPr lang="es-ES" sz="1000" b="false" i="false">
                <a:solidFill>
                  <a:srgbClr val="6B7785"/>
                </a:solidFill>
                <a:latin typeface="Segoe UI"/>
              </a:rPr>
              <a:t>Tablas escritas</a:t>
            </a:r>
            <a:endParaRPr sz="1000" lang="es-ES"/>
          </a:p>
          <a:p>
            <a:pPr algn="l"/>
            <a:r>
              <a:rPr lang="es-ES" sz="2200" b="true" i="false">
                <a:solidFill>
                  <a:srgbClr val="1F2933"/>
                </a:solidFill>
                <a:latin typeface="Segoe UI"/>
              </a:rPr>
              <a:t>1</a:t>
            </a:r>
            <a:endParaRPr sz="2200" lang="es-ES"/>
          </a:p>
          <a:p>
            <a:pPr algn="l"/>
            <a:r>
              <a:rPr lang="es-ES" sz="900" b="false" i="false">
                <a:solidFill>
                  <a:srgbClr val="6B7785"/>
                </a:solidFill>
                <a:latin typeface="Segoe UI"/>
              </a:rPr>
              <a:t>hechos_ventas</a:t>
            </a:r>
            <a:endParaRPr sz="900" lang="es-ES"/>
          </a:p>
        </p:txBody>
      </p:sp>
      <p:sp>
        <p:nvSpPr>
          <p:cNvPr name="AutoShape 25" id="25"/>
          <p:cNvSpPr/>
          <p:nvPr/>
        </p:nvSpPr>
        <p:spPr>
          <a:xfrm>
            <a:off x="7416800" y="3833368"/>
            <a:ext cx="3302000" cy="965200"/>
          </a:xfrm>
          <a:prstGeom prst="roundRect">
            <a:avLst/>
          </a:prstGeom>
          <a:solidFill>
            <a:srgbClr val="F4F5F6"/>
          </a:solidFill>
          <a:ln w="9525">
            <a:solidFill>
              <a:srgbClr val="D9DEE5"/>
            </a:solidFill>
          </a:ln>
        </p:spPr>
      </p:sp>
      <p:sp>
        <p:nvSpPr>
          <p:cNvPr name="AutoShape 26" id="26"/>
          <p:cNvSpPr/>
          <p:nvPr/>
        </p:nvSpPr>
        <p:spPr>
          <a:xfrm>
            <a:off x="7416800" y="3934968"/>
            <a:ext cx="38100" cy="762000"/>
          </a:xfrm>
          <a:prstGeom prst="rect">
            <a:avLst/>
          </a:prstGeom>
          <a:solidFill>
            <a:srgbClr val="3F74D8"/>
          </a:solidFill>
          <a:ln>
            <a:noFill/>
          </a:ln>
        </p:spPr>
      </p:sp>
      <p:sp>
        <p:nvSpPr>
          <p:cNvPr name="TextBox 27" id="27"/>
          <p:cNvSpPr txBox="true"/>
          <p:nvPr/>
        </p:nvSpPr>
        <p:spPr>
          <a:xfrm>
            <a:off x="7594600" y="3909568"/>
            <a:ext cx="2997200" cy="812800"/>
          </a:xfrm>
          <a:prstGeom prst="rect">
            <a:avLst/>
          </a:prstGeom>
        </p:spPr>
        <p:txBody>
          <a:bodyPr anchor="ctr" rtlCol="false" wrap="square" lIns="0" rIns="0" tIns="25400" bIns="25400"/>
          <a:lstStyle/>
          <a:p>
            <a:pPr algn="l"/>
            <a:r>
              <a:rPr lang="es-ES" sz="1000" b="false" i="false">
                <a:solidFill>
                  <a:srgbClr val="6B7785"/>
                </a:solidFill>
                <a:latin typeface="Segoe UI"/>
              </a:rPr>
              <a:t>Conexiones</a:t>
            </a:r>
            <a:endParaRPr sz="1000" lang="es-ES"/>
          </a:p>
          <a:p>
            <a:pPr algn="l"/>
            <a:r>
              <a:rPr lang="es-ES" sz="2200" b="true" i="false">
                <a:solidFill>
                  <a:srgbClr val="1F2933"/>
                </a:solidFill>
                <a:latin typeface="Segoe UI"/>
              </a:rPr>
              <a:t>1</a:t>
            </a:r>
            <a:endParaRPr sz="2200" lang="es-ES"/>
          </a:p>
        </p:txBody>
      </p:sp>
      <p:sp>
        <p:nvSpPr>
          <p:cNvPr name="TextBox 28" id="28"/>
          <p:cNvSpPr txBox="true"/>
          <p:nvPr/>
        </p:nvSpPr>
        <p:spPr>
          <a:xfrm>
            <a:off x="508000" y="4925568"/>
            <a:ext cx="11176000" cy="1215644"/>
          </a:xfrm>
          <a:prstGeom prst="rect">
            <a:avLst/>
          </a:prstGeom>
        </p:spPr>
        <p:txBody>
          <a:bodyPr anchor="t" rtlCol="false" wrap="square" lIns="0" rIns="0" tIns="25400" bIns="25400"/>
          <a:lstStyle/>
          <a:p>
            <a:pPr algn="l">
              <a:spcAft>
                <a:spcPts val="489"/>
              </a:spcAft>
            </a:pPr>
            <a:r>
              <a:rPr lang="es-ES" sz="1400" b="false" i="false">
                <a:solidFill>
                  <a:srgbClr val="1F2933"/>
                </a:solidFill>
                <a:latin typeface="Segoe UI"/>
              </a:rPr>
              <a:t>Lee 1 archivo (ventas_2026_09.csv), calcula, selecciona campos, ordena, quita duplicados, busca valores, agrega constantes, filtra y separa las filas con error, escribe 1 archivo (rechazos_ventas.csv), y escribe en 1 tabla (hechos_ventas). 16 steps y 16 hops.</a:t>
            </a:r>
            <a:endParaRPr sz="1400" lang="es-ES"/>
          </a:p>
          <a:p>
            <a:pPr algn="l">
              <a:spcAft>
                <a:spcPts val="489"/>
              </a:spcAft>
            </a:pPr>
            <a:r>
              <a:rPr lang="es-ES" sz="1400" b="false" i="false">
                <a:solidFill>
                  <a:srgbClr val="1F2933"/>
                </a:solidFill>
                <a:latin typeface="Segoe UI"/>
              </a:rPr>
              <a:t>La última ejecución procesó 3.000 filas en 239 ms. El step más lento fue «Cargar hechos_ventas» (177 ms).</a:t>
            </a:r>
            <a:endParaRPr sz="1400" lang="es-ES"/>
          </a:p>
        </p:txBody>
      </p:sp>
    </p:spTree>
  </p:cSld>
  <p:clrMapOvr>
    <a:masterClrMapping/>
  </p:clrMapOvr>
</p:sld>
</file>

<file path=ppt/slides/slide4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8000" y="203200"/>
            <a:ext cx="11176000" cy="635000"/>
          </a:xfrm>
        </p:spPr>
        <p:txBody>
          <a:bodyPr lIns="0" rIns="0" wrap="square" anchor="ctr"/>
          <a:lstStyle/>
          <a:p>
            <a:pPr algn="l"/>
            <a:r>
              <a:rPr lang="es-ES" sz="2600" b="true" i="false">
                <a:solidFill>
                  <a:srgbClr val="243B53"/>
                </a:solidFill>
                <a:latin typeface="Segoe UI"/>
              </a:rPr>
              <a:t>Resumen (cont.)</a:t>
            </a:r>
            <a:endParaRPr sz="2600" lang="es-ES"/>
          </a:p>
        </p:txBody>
      </p:sp>
      <p:pic>
        <p:nvPicPr>
          <p:cNvPr name="Picture 3" id="3"/>
          <p:cNvPicPr>
            <a:picLocks noChangeAspect="true"/>
          </p:cNvPicPr>
          <p:nvPr/>
        </p:nvPicPr>
        <p:blipFill>
          <a:blip r:embed="rId2"/>
          <a:stretch>
            <a:fillRect/>
          </a:stretch>
        </p:blipFill>
        <p:spPr>
          <a:xfrm>
            <a:off x="10248900" y="5510084"/>
            <a:ext cx="1435100" cy="814516"/>
          </a:xfrm>
          <a:prstGeom prst="rect">
            <a:avLst/>
          </a:prstGeom>
        </p:spPr>
      </p:pic>
      <p:sp>
        <p:nvSpPr>
          <p:cNvPr name="AutoShape 4" id="4"/>
          <p:cNvSpPr/>
          <p:nvPr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243B53"/>
          </a:solidFill>
          <a:ln>
            <a:noFill/>
          </a:ln>
        </p:spPr>
      </p:sp>
      <p:pic>
        <p:nvPicPr>
          <p:cNvPr name="Picture 5" id="5"/>
          <p:cNvPicPr>
            <a:picLocks noChangeAspect="true"/>
          </p:cNvPicPr>
          <p:nvPr/>
        </p:nvPicPr>
        <p:blipFill>
          <a:blip r:embed="rId3"/>
          <a:stretch>
            <a:fillRect/>
          </a:stretch>
        </p:blipFill>
        <p:spPr>
          <a:xfrm>
            <a:off x="508000" y="6508750"/>
            <a:ext cx="177800" cy="100914"/>
          </a:xfrm>
          <a:prstGeom prst="rect">
            <a:avLst/>
          </a:prstGeom>
        </p:spPr>
      </p:pic>
      <p:sp>
        <p:nvSpPr>
          <p:cNvPr name="TextBox 6" id="6"/>
          <p:cNvSpPr txBox="true"/>
          <p:nvPr/>
        </p:nvSpPr>
        <p:spPr>
          <a:xfrm>
            <a:off x="749300" y="6451600"/>
            <a:ext cx="5080000" cy="228600"/>
          </a:xfrm>
          <a:prstGeom prst="rect">
            <a:avLst/>
          </a:prstGeom>
        </p:spPr>
        <p:txBody>
          <a:bodyPr anchor="ctr" rtlCol="false" wrap="square" lIns="0" rIns="0" tIns="25400" bIns="25400"/>
          <a:lstStyle/>
          <a:p>
            <a:pPr algn="l"/>
            <a:r>
              <a:rPr lang="es-ES" sz="750" b="false" i="false">
                <a:solidFill>
                  <a:srgbClr val="6B7785"/>
                </a:solidFill>
                <a:latin typeface="Segoe UI"/>
              </a:rPr>
              <a:t>Pentaho Live · IDC Studios</a:t>
            </a:r>
            <a:endParaRPr sz="750" lang="es-ES"/>
          </a:p>
        </p:txBody>
      </p:sp>
      <p:sp>
        <p:nvSpPr>
          <p:cNvPr name="TextBox 7" id="7"/>
          <p:cNvSpPr txBox="true"/>
          <p:nvPr/>
        </p:nvSpPr>
        <p:spPr>
          <a:xfrm>
            <a:off x="10160000" y="6451600"/>
            <a:ext cx="1524000" cy="228600"/>
          </a:xfrm>
          <a:prstGeom prst="rect">
            <a:avLst/>
          </a:prstGeom>
        </p:spPr>
        <p:txBody>
          <a:bodyPr anchor="ctr" rtlCol="false" wrap="square" lIns="0" rIns="0" tIns="25400" bIns="25400"/>
          <a:lstStyle/>
          <a:p>
            <a:pPr algn="r"/>
            <a:fld id="{BC113F45-B92F-4025-8F6C-A0A832067C64}" type="slidenum">
              <a:rPr lang="es-ES" sz="750">
                <a:solidFill>
                  <a:srgbClr val="6B7785"/>
                </a:solidFill>
                <a:latin typeface="Segoe UI"/>
              </a:rPr>
              <a:t>4</a:t>
            </a:fld>
            <a:endParaRPr sz="750" lang="es-ES"/>
          </a:p>
        </p:txBody>
      </p:sp>
      <p:sp>
        <p:nvSpPr>
          <p:cNvPr name="TextBox 8" id="8"/>
          <p:cNvSpPr txBox="true"/>
          <p:nvPr/>
        </p:nvSpPr>
        <p:spPr>
          <a:xfrm>
            <a:off x="508000" y="1016000"/>
            <a:ext cx="11176000" cy="254000"/>
          </a:xfrm>
          <a:prstGeom prst="rect">
            <a:avLst/>
          </a:prstGeom>
        </p:spPr>
        <p:txBody>
          <a:bodyPr anchor="t" rtlCol="false" wrap="square" lIns="0" rIns="0" tIns="25400" bIns="25400"/>
          <a:lstStyle/>
          <a:p>
            <a:pPr algn="l"/>
            <a:r>
              <a:rPr lang="es-ES" sz="1300" b="true" i="false">
                <a:solidFill>
                  <a:srgbClr val="243B53"/>
                </a:solidFill>
                <a:latin typeface="Segoe UI"/>
              </a:rPr>
              <a:t>Lo más importante</a:t>
            </a:r>
            <a:endParaRPr sz="1300" lang="es-ES"/>
          </a:p>
        </p:txBody>
      </p:sp>
      <p:sp>
        <p:nvSpPr>
          <p:cNvPr name="TextBox 9" id="9"/>
          <p:cNvSpPr txBox="true"/>
          <p:nvPr/>
        </p:nvSpPr>
        <p:spPr>
          <a:xfrm>
            <a:off x="508000" y="1295400"/>
            <a:ext cx="11176000" cy="3315970"/>
          </a:xfrm>
          <a:prstGeom prst="rect">
            <a:avLst/>
          </a:prstGeom>
        </p:spPr>
        <p:txBody>
          <a:bodyPr anchor="t" rtlCol="false" wrap="square" lIns="0" rIns="0" tIns="25400" bIns="25400"/>
          <a:lstStyle/>
          <a:p>
            <a:pPr algn="l" marL="203200" indent="-152400">
              <a:spcAft>
                <a:spcPts val="489"/>
              </a:spcAft>
              <a:buClr>
                <a:srgbClr val="3F74D8"/>
              </a:buClr>
              <a:buFont typeface="Arial"/>
              <a:buChar char="•"/>
            </a:pPr>
            <a:r>
              <a:rPr lang="es-ES" sz="1400" b="true" i="false">
                <a:solidFill>
                  <a:srgbClr val="1F2933"/>
                </a:solidFill>
                <a:latin typeface="Segoe UI"/>
              </a:rPr>
              <a:t>Diagrama de flujo:</a:t>
            </a:r>
            <a:r>
              <a:rPr lang="es-ES" sz="1400" b="false" i="false">
                <a:solidFill>
                  <a:srgbClr val="1F2933"/>
                </a:solidFill>
                <a:latin typeface="Segoe UI"/>
              </a:rPr>
              <a:t> 16 steps y 16 hops. Tiene 1 hop de error.</a:t>
            </a:r>
            <a:endParaRPr sz="1400" lang="es-ES"/>
          </a:p>
          <a:p>
            <a:pPr algn="l" marL="203200" indent="-152400">
              <a:spcAft>
                <a:spcPts val="489"/>
              </a:spcAft>
              <a:buClr>
                <a:srgbClr val="3F74D8"/>
              </a:buClr>
              <a:buFont typeface="Arial"/>
              <a:buChar char="•"/>
            </a:pPr>
            <a:r>
              <a:rPr lang="es-ES" sz="1400" b="true" i="false">
                <a:solidFill>
                  <a:srgbClr val="1F2933"/>
                </a:solidFill>
                <a:latin typeface="Segoe UI"/>
              </a:rPr>
              <a:t>Linaje de campos:</a:t>
            </a:r>
            <a:r>
              <a:rPr lang="es-ES" sz="1400" b="false" i="false">
                <a:solidFill>
                  <a:srgbClr val="1F2933"/>
                </a:solidFill>
                <a:latin typeface="Segoe UI"/>
              </a:rPr>
              <a:t> Traza 22 campos de 2 steps destino hasta «Leer ventas (CSV)» (ventas_2026_09.csv). Operaciones: 6 cálculos, 1 conversión de tipo o formato y 5 campos creados en la transformación.</a:t>
            </a:r>
            <a:endParaRPr sz="1400" lang="es-ES"/>
          </a:p>
          <a:p>
            <a:pPr algn="l" marL="203200" indent="-152400">
              <a:spcAft>
                <a:spcPts val="489"/>
              </a:spcAft>
              <a:buClr>
                <a:srgbClr val="3F74D8"/>
              </a:buClr>
              <a:buFont typeface="Arial"/>
              <a:buChar char="•"/>
            </a:pPr>
            <a:r>
              <a:rPr lang="es-ES" sz="1400" b="true" i="false">
                <a:solidFill>
                  <a:srgbClr val="1F2933"/>
                </a:solidFill>
                <a:latin typeface="Segoe UI"/>
              </a:rPr>
              <a:t>Diccionario de datos:</a:t>
            </a:r>
            <a:r>
              <a:rPr lang="es-ES" sz="1400" b="false" i="false">
                <a:solidFill>
                  <a:srgbClr val="1F2933"/>
                </a:solidFill>
                <a:latin typeface="Segoe UI"/>
              </a:rPr>
              <a:t> 2 salidas finales con 18 campos en total.</a:t>
            </a:r>
            <a:endParaRPr sz="1400" lang="es-ES"/>
          </a:p>
          <a:p>
            <a:pPr algn="l" marL="203200" indent="-152400">
              <a:spcAft>
                <a:spcPts val="489"/>
              </a:spcAft>
              <a:buClr>
                <a:srgbClr val="3F74D8"/>
              </a:buClr>
              <a:buFont typeface="Arial"/>
              <a:buChar char="•"/>
            </a:pPr>
            <a:r>
              <a:rPr lang="es-ES" sz="1400" b="true" i="false">
                <a:solidFill>
                  <a:srgbClr val="1F2933"/>
                </a:solidFill>
                <a:latin typeface="Segoe UI"/>
              </a:rPr>
              <a:t>Modelo destino:</a:t>
            </a:r>
            <a:r>
              <a:rPr lang="es-ES" sz="1400" b="false" i="false">
                <a:solidFill>
                  <a:srgbClr val="1F2933"/>
                </a:solidFill>
                <a:latin typeface="Segoe UI"/>
              </a:rPr>
              <a:t> Escribe en 1 tabla (hechos_ventas) por la conexión dw_grano_de_oro: 9 columnas. Las claves y los tipos salen de los steps, sin consultar la base.</a:t>
            </a:r>
            <a:endParaRPr sz="1400" lang="es-ES"/>
          </a:p>
          <a:p>
            <a:pPr algn="l" marL="203200" indent="-152400">
              <a:spcAft>
                <a:spcPts val="489"/>
              </a:spcAft>
              <a:buClr>
                <a:srgbClr val="3F74D8"/>
              </a:buClr>
              <a:buFont typeface="Arial"/>
              <a:buChar char="•"/>
            </a:pPr>
            <a:r>
              <a:rPr lang="es-ES" sz="1400" b="true" i="false">
                <a:solidFill>
                  <a:srgbClr val="1F2933"/>
                </a:solidFill>
                <a:latin typeface="Segoe UI"/>
              </a:rPr>
              <a:t>Perfil de datos:</a:t>
            </a:r>
            <a:r>
              <a:rPr lang="es-ES" sz="1400" b="false" i="false">
                <a:solidFill>
                  <a:srgbClr val="1F2933"/>
                </a:solidFill>
                <a:latin typeface="Segoe UI"/>
              </a:rPr>
              <a:t> Perfil de «Convertir precio a número» sobre todas sus 3.000 filas: 8 campos. El campo con más nulos es «id_tienda» (0,5 %).</a:t>
            </a:r>
            <a:endParaRPr sz="1400" lang="es-ES"/>
          </a:p>
          <a:p>
            <a:pPr algn="l" marL="203200" indent="-152400">
              <a:spcAft>
                <a:spcPts val="489"/>
              </a:spcAft>
              <a:buClr>
                <a:srgbClr val="3F74D8"/>
              </a:buClr>
              <a:buFont typeface="Arial"/>
              <a:buChar char="•"/>
            </a:pPr>
            <a:r>
              <a:rPr lang="es-ES" sz="1400" b="true" i="false">
                <a:solidFill>
                  <a:srgbClr val="1F2933"/>
                </a:solidFill>
                <a:latin typeface="Segoe UI"/>
              </a:rPr>
              <a:t>Validación:</a:t>
            </a:r>
            <a:r>
              <a:rPr lang="es-ES" sz="1400" b="false" i="false">
                <a:solidFill>
                  <a:srgbClr val="1F2933"/>
                </a:solidFill>
                <a:latin typeface="Segoe UI"/>
              </a:rPr>
              <a:t> Sin errores ni advertencias.</a:t>
            </a:r>
            <a:endParaRPr sz="1400" lang="es-ES"/>
          </a:p>
          <a:p>
            <a:pPr algn="l" marL="203200" indent="-152400">
              <a:spcAft>
                <a:spcPts val="489"/>
              </a:spcAft>
              <a:buClr>
                <a:srgbClr val="3F74D8"/>
              </a:buClr>
              <a:buFont typeface="Arial"/>
              <a:buChar char="•"/>
            </a:pPr>
            <a:r>
              <a:rPr lang="es-ES" sz="1400" b="true" i="false">
                <a:solidFill>
                  <a:srgbClr val="1F2933"/>
                </a:solidFill>
                <a:latin typeface="Segoe UI"/>
              </a:rPr>
              <a:t>Conexiones y parámetros:</a:t>
            </a:r>
            <a:r>
              <a:rPr lang="es-ES" sz="1400" b="false" i="false">
                <a:solidFill>
                  <a:srgbClr val="1F2933"/>
                </a:solidFill>
                <a:latin typeface="Segoe UI"/>
              </a:rPr>
              <a:t> 1 conexión y 0 parámetros.</a:t>
            </a:r>
            <a:endParaRPr sz="1400" lang="es-ES"/>
          </a:p>
        </p:txBody>
      </p:sp>
    </p:spTree>
  </p:cSld>
  <p:clrMapOvr>
    <a:masterClrMapping/>
  </p:clrMapOvr>
</p:sld>
</file>

<file path=ppt/slides/slide5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8000" y="203200"/>
            <a:ext cx="11176000" cy="635000"/>
          </a:xfrm>
        </p:spPr>
        <p:txBody>
          <a:bodyPr lIns="0" rIns="0" wrap="square" anchor="ctr"/>
          <a:lstStyle/>
          <a:p>
            <a:pPr algn="l"/>
            <a:r>
              <a:rPr lang="es-ES" sz="2600" b="true" i="false">
                <a:solidFill>
                  <a:srgbClr val="243B53"/>
                </a:solidFill>
                <a:latin typeface="Segoe UI"/>
              </a:rPr>
              <a:t>Diagrama de flujo</a:t>
            </a:r>
            <a:endParaRPr sz="2600" lang="es-ES"/>
          </a:p>
        </p:txBody>
      </p:sp>
      <p:pic>
        <p:nvPicPr>
          <p:cNvPr name="Picture 3" id="3"/>
          <p:cNvPicPr>
            <a:picLocks noChangeAspect="true"/>
          </p:cNvPicPr>
          <p:nvPr/>
        </p:nvPicPr>
        <p:blipFill>
          <a:blip r:embed="rId2"/>
          <a:stretch>
            <a:fillRect/>
          </a:stretch>
        </p:blipFill>
        <p:spPr>
          <a:xfrm>
            <a:off x="10248900" y="5510084"/>
            <a:ext cx="1435100" cy="814516"/>
          </a:xfrm>
          <a:prstGeom prst="rect">
            <a:avLst/>
          </a:prstGeom>
        </p:spPr>
      </p:pic>
      <p:sp>
        <p:nvSpPr>
          <p:cNvPr name="AutoShape 4" id="4"/>
          <p:cNvSpPr/>
          <p:nvPr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243B53"/>
          </a:solidFill>
          <a:ln>
            <a:noFill/>
          </a:ln>
        </p:spPr>
      </p:sp>
      <p:pic>
        <p:nvPicPr>
          <p:cNvPr name="Picture 5" id="5"/>
          <p:cNvPicPr>
            <a:picLocks noChangeAspect="true"/>
          </p:cNvPicPr>
          <p:nvPr/>
        </p:nvPicPr>
        <p:blipFill>
          <a:blip r:embed="rId3"/>
          <a:stretch>
            <a:fillRect/>
          </a:stretch>
        </p:blipFill>
        <p:spPr>
          <a:xfrm>
            <a:off x="508000" y="6508750"/>
            <a:ext cx="177800" cy="100914"/>
          </a:xfrm>
          <a:prstGeom prst="rect">
            <a:avLst/>
          </a:prstGeom>
        </p:spPr>
      </p:pic>
      <p:sp>
        <p:nvSpPr>
          <p:cNvPr name="TextBox 6" id="6"/>
          <p:cNvSpPr txBox="true"/>
          <p:nvPr/>
        </p:nvSpPr>
        <p:spPr>
          <a:xfrm>
            <a:off x="749300" y="6451600"/>
            <a:ext cx="5080000" cy="228600"/>
          </a:xfrm>
          <a:prstGeom prst="rect">
            <a:avLst/>
          </a:prstGeom>
        </p:spPr>
        <p:txBody>
          <a:bodyPr anchor="ctr" rtlCol="false" wrap="square" lIns="0" rIns="0" tIns="25400" bIns="25400"/>
          <a:lstStyle/>
          <a:p>
            <a:pPr algn="l"/>
            <a:r>
              <a:rPr lang="es-ES" sz="750" b="false" i="false">
                <a:solidFill>
                  <a:srgbClr val="6B7785"/>
                </a:solidFill>
                <a:latin typeface="Segoe UI"/>
              </a:rPr>
              <a:t>Pentaho Live · IDC Studios</a:t>
            </a:r>
            <a:endParaRPr sz="750" lang="es-ES"/>
          </a:p>
        </p:txBody>
      </p:sp>
      <p:sp>
        <p:nvSpPr>
          <p:cNvPr name="TextBox 7" id="7"/>
          <p:cNvSpPr txBox="true"/>
          <p:nvPr/>
        </p:nvSpPr>
        <p:spPr>
          <a:xfrm>
            <a:off x="10160000" y="6451600"/>
            <a:ext cx="1524000" cy="228600"/>
          </a:xfrm>
          <a:prstGeom prst="rect">
            <a:avLst/>
          </a:prstGeom>
        </p:spPr>
        <p:txBody>
          <a:bodyPr anchor="ctr" rtlCol="false" wrap="square" lIns="0" rIns="0" tIns="25400" bIns="25400"/>
          <a:lstStyle/>
          <a:p>
            <a:pPr algn="r"/>
            <a:fld id="{1EFB5B3C-2835-410A-8AF4-AE7476C90A02}" type="slidenum">
              <a:rPr lang="es-ES" sz="750">
                <a:solidFill>
                  <a:srgbClr val="6B7785"/>
                </a:solidFill>
                <a:latin typeface="Segoe UI"/>
              </a:rPr>
              <a:t>5</a:t>
            </a:fld>
            <a:endParaRPr sz="750" lang="es-ES"/>
          </a:p>
        </p:txBody>
      </p:sp>
      <p:pic>
        <p:nvPicPr>
          <p:cNvPr name="Picture 8" id="8"/>
          <p:cNvPicPr>
            <a:picLocks noChangeAspect="true"/>
          </p:cNvPicPr>
          <p:nvPr/>
        </p:nvPicPr>
        <p:blipFill>
          <a:blip r:embed="rId4"/>
          <a:stretch>
            <a:fillRect/>
          </a:stretch>
        </p:blipFill>
        <p:spPr>
          <a:xfrm>
            <a:off x="508000" y="1016000"/>
            <a:ext cx="11176000" cy="3107306"/>
          </a:xfrm>
          <a:prstGeom prst="rect">
            <a:avLst/>
          </a:prstGeom>
        </p:spPr>
      </p:pic>
      <p:sp>
        <p:nvSpPr>
          <p:cNvPr name="TextBox 9" id="9"/>
          <p:cNvSpPr txBox="true"/>
          <p:nvPr/>
        </p:nvSpPr>
        <p:spPr>
          <a:xfrm>
            <a:off x="508000" y="4174106"/>
            <a:ext cx="11176000" cy="235458"/>
          </a:xfrm>
          <a:prstGeom prst="rect">
            <a:avLst/>
          </a:prstGeom>
        </p:spPr>
        <p:txBody>
          <a:bodyPr anchor="t" rtlCol="false" wrap="square" lIns="0" rIns="0" tIns="25400" bIns="25400"/>
          <a:lstStyle/>
          <a:p>
            <a:pPr algn="l"/>
            <a:r>
              <a:rPr lang="es-ES" sz="950" b="false" i="true">
                <a:solidFill>
                  <a:srgbClr val="6B7785"/>
                </a:solidFill>
                <a:latin typeface="Segoe UI"/>
              </a:rPr>
              <a:t>Diagrama reducido para que entre en la diapositiva: se ve completo en el HTML o el PDF.</a:t>
            </a:r>
            <a:endParaRPr sz="950" lang="es-ES"/>
          </a:p>
        </p:txBody>
      </p:sp>
      <p:sp>
        <p:nvSpPr>
          <p:cNvPr name="TextBox 10" id="10"/>
          <p:cNvSpPr txBox="true"/>
          <p:nvPr/>
        </p:nvSpPr>
        <p:spPr>
          <a:xfrm>
            <a:off x="508000" y="4460364"/>
            <a:ext cx="11176000" cy="235458"/>
          </a:xfrm>
          <a:prstGeom prst="rect">
            <a:avLst/>
          </a:prstGeom>
        </p:spPr>
        <p:txBody>
          <a:bodyPr anchor="t" rtlCol="false" wrap="square" lIns="0" rIns="0" tIns="25400" bIns="25400"/>
          <a:lstStyle/>
          <a:p>
            <a:pPr algn="l"/>
            <a:r>
              <a:rPr lang="es-ES" sz="950" b="false" i="true">
                <a:solidFill>
                  <a:srgbClr val="6B7785"/>
                </a:solidFill>
                <a:latin typeface="Segoe UI"/>
              </a:rPr>
              <a:t>Las flechas llenas llevan filas; las punteadas rojas son hops de error; las que terminan en x están deshabilitadas.</a:t>
            </a:r>
            <a:endParaRPr sz="950" lang="es-ES"/>
          </a:p>
        </p:txBody>
      </p:sp>
    </p:spTree>
  </p:cSld>
  <p:clrMapOvr>
    <a:masterClrMapping/>
  </p:clrMapOvr>
</p:sld>
</file>

<file path=ppt/slides/slide6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8000" y="203200"/>
            <a:ext cx="11176000" cy="635000"/>
          </a:xfrm>
        </p:spPr>
        <p:txBody>
          <a:bodyPr lIns="0" rIns="0" wrap="square" anchor="ctr"/>
          <a:lstStyle/>
          <a:p>
            <a:pPr algn="l"/>
            <a:r>
              <a:rPr lang="es-ES" sz="2600" b="true" i="false">
                <a:solidFill>
                  <a:srgbClr val="243B53"/>
                </a:solidFill>
                <a:latin typeface="Segoe UI"/>
              </a:rPr>
              <a:t>Diagrama de flujo (cont.)</a:t>
            </a:r>
            <a:endParaRPr sz="2600" lang="es-ES"/>
          </a:p>
        </p:txBody>
      </p:sp>
      <p:pic>
        <p:nvPicPr>
          <p:cNvPr name="Picture 3" id="3"/>
          <p:cNvPicPr>
            <a:picLocks noChangeAspect="true"/>
          </p:cNvPicPr>
          <p:nvPr/>
        </p:nvPicPr>
        <p:blipFill>
          <a:blip r:embed="rId2"/>
          <a:stretch>
            <a:fillRect/>
          </a:stretch>
        </p:blipFill>
        <p:spPr>
          <a:xfrm>
            <a:off x="10248900" y="5510084"/>
            <a:ext cx="1435100" cy="814516"/>
          </a:xfrm>
          <a:prstGeom prst="rect">
            <a:avLst/>
          </a:prstGeom>
        </p:spPr>
      </p:pic>
      <p:sp>
        <p:nvSpPr>
          <p:cNvPr name="AutoShape 4" id="4"/>
          <p:cNvSpPr/>
          <p:nvPr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243B53"/>
          </a:solidFill>
          <a:ln>
            <a:noFill/>
          </a:ln>
        </p:spPr>
      </p:sp>
      <p:pic>
        <p:nvPicPr>
          <p:cNvPr name="Picture 5" id="5"/>
          <p:cNvPicPr>
            <a:picLocks noChangeAspect="true"/>
          </p:cNvPicPr>
          <p:nvPr/>
        </p:nvPicPr>
        <p:blipFill>
          <a:blip r:embed="rId3"/>
          <a:stretch>
            <a:fillRect/>
          </a:stretch>
        </p:blipFill>
        <p:spPr>
          <a:xfrm>
            <a:off x="508000" y="6508750"/>
            <a:ext cx="177800" cy="100914"/>
          </a:xfrm>
          <a:prstGeom prst="rect">
            <a:avLst/>
          </a:prstGeom>
        </p:spPr>
      </p:pic>
      <p:sp>
        <p:nvSpPr>
          <p:cNvPr name="TextBox 6" id="6"/>
          <p:cNvSpPr txBox="true"/>
          <p:nvPr/>
        </p:nvSpPr>
        <p:spPr>
          <a:xfrm>
            <a:off x="749300" y="6451600"/>
            <a:ext cx="5080000" cy="228600"/>
          </a:xfrm>
          <a:prstGeom prst="rect">
            <a:avLst/>
          </a:prstGeom>
        </p:spPr>
        <p:txBody>
          <a:bodyPr anchor="ctr" rtlCol="false" wrap="square" lIns="0" rIns="0" tIns="25400" bIns="25400"/>
          <a:lstStyle/>
          <a:p>
            <a:pPr algn="l"/>
            <a:r>
              <a:rPr lang="es-ES" sz="750" b="false" i="false">
                <a:solidFill>
                  <a:srgbClr val="6B7785"/>
                </a:solidFill>
                <a:latin typeface="Segoe UI"/>
              </a:rPr>
              <a:t>Pentaho Live · IDC Studios</a:t>
            </a:r>
            <a:endParaRPr sz="750" lang="es-ES"/>
          </a:p>
        </p:txBody>
      </p:sp>
      <p:sp>
        <p:nvSpPr>
          <p:cNvPr name="TextBox 7" id="7"/>
          <p:cNvSpPr txBox="true"/>
          <p:nvPr/>
        </p:nvSpPr>
        <p:spPr>
          <a:xfrm>
            <a:off x="10160000" y="6451600"/>
            <a:ext cx="1524000" cy="228600"/>
          </a:xfrm>
          <a:prstGeom prst="rect">
            <a:avLst/>
          </a:prstGeom>
        </p:spPr>
        <p:txBody>
          <a:bodyPr anchor="ctr" rtlCol="false" wrap="square" lIns="0" rIns="0" tIns="25400" bIns="25400"/>
          <a:lstStyle/>
          <a:p>
            <a:pPr algn="r"/>
            <a:fld id="{2B0E2DEC-3394-42F1-AD32-D09647A2B87C}" type="slidenum">
              <a:rPr lang="es-ES" sz="750">
                <a:solidFill>
                  <a:srgbClr val="6B7785"/>
                </a:solidFill>
                <a:latin typeface="Segoe UI"/>
              </a:rPr>
              <a:t>6</a:t>
            </a:fld>
            <a:endParaRPr sz="750" lang="es-ES"/>
          </a:p>
        </p:txBody>
      </p:sp>
      <p:sp>
        <p:nvSpPr>
          <p:cNvPr name="TextBox 8" id="8"/>
          <p:cNvSpPr txBox="true"/>
          <p:nvPr/>
        </p:nvSpPr>
        <p:spPr>
          <a:xfrm>
            <a:off x="508000" y="1016000"/>
            <a:ext cx="11176000" cy="254000"/>
          </a:xfrm>
          <a:prstGeom prst="rect">
            <a:avLst/>
          </a:prstGeom>
        </p:spPr>
        <p:txBody>
          <a:bodyPr anchor="t" rtlCol="false" wrap="square" lIns="0" rIns="0" tIns="25400" bIns="25400"/>
          <a:lstStyle/>
          <a:p>
            <a:pPr algn="l"/>
            <a:r>
              <a:rPr lang="es-ES" sz="1300" b="true" i="false">
                <a:solidFill>
                  <a:srgbClr val="243B53"/>
                </a:solidFill>
                <a:latin typeface="Segoe UI"/>
              </a:rPr>
              <a:t>Qué hace cada step</a:t>
            </a:r>
            <a:endParaRPr sz="1300" lang="es-ES"/>
          </a:p>
        </p:txBody>
      </p:sp>
      <p:graphicFrame>
        <p:nvGraphicFramePr>
          <p:cNvPr name="Table 9" id="9"/>
          <p:cNvGraphicFramePr>
            <a:graphicFrameLocks noGrp="true"/>
          </p:cNvGraphicFramePr>
          <p:nvPr/>
        </p:nvGraphicFramePr>
        <p:xfrm>
          <a:off x="508000" y="1295400"/>
          <a:ext cx="9842500" cy="4831080"/>
        </p:xfrm>
        <a:graphic>
          <a:graphicData uri="http://schemas.openxmlformats.org/drawingml/2006/table">
            <a:tbl>
              <a:tblPr/>
              <a:tblGrid>
                <a:gridCol w="406400"/>
                <a:gridCol w="2171700"/>
                <a:gridCol w="3403600"/>
                <a:gridCol w="3860800"/>
              </a:tblGrid>
              <a:tr h="298704">
                <a:tc>
                  <a:txBody>
                    <a:bodyPr anchor="t" rtlCol="false"/>
                    <a:lstStyle/>
                    <a:p>
                      <a:pPr algn="r"/>
                      <a:r>
                        <a:rPr lang="es-ES" sz="1100" b="true" i="false">
                          <a:solidFill>
                            <a:srgbClr val="FFFFFF"/>
                          </a:solidFill>
                          <a:latin typeface="Segoe UI"/>
                        </a:rPr>
                        <a:t>#</a:t>
                      </a:r>
                      <a:endParaRPr sz="1100" lang="es-ES"/>
                    </a:p>
                  </a:txBody>
                  <a:tcPr marL="76200" marR="76200" marT="38100" marB="381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cmpd="sng" algn="ctr" cap="flat" w="9525">
                      <a:solidFill>
                        <a:srgbClr val="243B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3B53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l"/>
                      <a:r>
                        <a:rPr lang="es-ES" sz="1100" b="true" i="false">
                          <a:solidFill>
                            <a:srgbClr val="FFFFFF"/>
                          </a:solidFill>
                          <a:latin typeface="Segoe UI"/>
                        </a:rPr>
                        <a:t>Step</a:t>
                      </a:r>
                      <a:endParaRPr sz="1100" lang="es-ES"/>
                    </a:p>
                  </a:txBody>
                  <a:tcPr marL="76200" marR="76200" marT="38100" marB="381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cmpd="sng" algn="ctr" cap="flat" w="9525">
                      <a:solidFill>
                        <a:srgbClr val="243B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3B53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l"/>
                      <a:r>
                        <a:rPr lang="es-ES" sz="1100" b="true" i="false">
                          <a:solidFill>
                            <a:srgbClr val="FFFFFF"/>
                          </a:solidFill>
                          <a:latin typeface="Segoe UI"/>
                        </a:rPr>
                        <a:t>Tipo</a:t>
                      </a:r>
                      <a:endParaRPr sz="1100" lang="es-ES"/>
                    </a:p>
                  </a:txBody>
                  <a:tcPr marL="76200" marR="76200" marT="38100" marB="381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cmpd="sng" algn="ctr" cap="flat" w="9525">
                      <a:solidFill>
                        <a:srgbClr val="243B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3B53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l"/>
                      <a:r>
                        <a:rPr lang="es-ES" sz="1100" b="true" i="false">
                          <a:solidFill>
                            <a:srgbClr val="FFFFFF"/>
                          </a:solidFill>
                          <a:latin typeface="Segoe UI"/>
                        </a:rPr>
                        <a:t>Qué hace</a:t>
                      </a:r>
                      <a:endParaRPr sz="1100" lang="es-ES"/>
                    </a:p>
                  </a:txBody>
                  <a:tcPr marL="76200" marR="76200" marT="38100" marB="381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cmpd="sng" algn="ctr" cap="flat" w="9525">
                      <a:solidFill>
                        <a:srgbClr val="243B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3B53"/>
                    </a:solidFill>
                  </a:tcPr>
                </a:tc>
              </a:tr>
              <a:tr h="483108">
                <a:tc>
                  <a:txBody>
                    <a:bodyPr anchor="t" rtlCol="false"/>
                    <a:lstStyle/>
                    <a:p>
                      <a:pPr algn="r"/>
                      <a:r>
                        <a:rPr lang="es-ES" sz="1100" b="false" i="false">
                          <a:solidFill>
                            <a:srgbClr val="1F2933"/>
                          </a:solidFill>
                          <a:latin typeface="Segoe UI"/>
                        </a:rPr>
                        <a:t>1</a:t>
                      </a:r>
                      <a:endParaRPr sz="1100" lang="es-ES"/>
                    </a:p>
                  </a:txBody>
                  <a:tcPr marL="76200" marR="76200" marT="38100" marB="381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cmpd="sng" algn="ctr" cap="flat" w="9525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l"/>
                      <a:r>
                        <a:rPr lang="es-ES" sz="1100" b="false" i="false">
                          <a:solidFill>
                            <a:srgbClr val="1F2933"/>
                          </a:solidFill>
                          <a:latin typeface="Segoe UI"/>
                        </a:rPr>
                        <a:t>Leer ventas (CSV)</a:t>
                      </a:r>
                      <a:endParaRPr sz="1100" lang="es-ES"/>
                    </a:p>
                  </a:txBody>
                  <a:tcPr marL="76200" marR="76200" marT="38100" marB="381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cmpd="sng" algn="ctr" cap="flat" w="9525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l"/>
                      <a:r>
                        <a:rPr lang="es-ES" sz="1100" b="false" i="false">
                          <a:solidFill>
                            <a:srgbClr val="1F2933"/>
                          </a:solidFill>
                          <a:latin typeface="Segoe UI"/>
                        </a:rPr>
                        <a:t>CsvInput</a:t>
                      </a:r>
                      <a:endParaRPr sz="1100" lang="es-ES"/>
                    </a:p>
                  </a:txBody>
                  <a:tcPr marL="76200" marR="76200" marT="38100" marB="381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cmpd="sng" algn="ctr" cap="flat" w="9525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l"/>
                      <a:r>
                        <a:rPr lang="es-ES" sz="1100" b="false" i="false">
                          <a:solidFill>
                            <a:srgbClr val="1F2933"/>
                          </a:solidFill>
                          <a:latin typeface="Segoe UI"/>
                        </a:rPr>
                        <a:t>Lee: ${Internal.Entry.Current.Directory}/../datos/ventas_2026_09.csv</a:t>
                      </a:r>
                      <a:endParaRPr sz="1100" lang="es-ES"/>
                    </a:p>
                  </a:txBody>
                  <a:tcPr marL="76200" marR="76200" marT="38100" marB="381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cmpd="sng" algn="ctr" cap="flat" w="9525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8704">
                <a:tc>
                  <a:txBody>
                    <a:bodyPr anchor="t" rtlCol="false"/>
                    <a:lstStyle/>
                    <a:p>
                      <a:pPr algn="r"/>
                      <a:r>
                        <a:rPr lang="es-ES" sz="1100" b="false" i="false">
                          <a:solidFill>
                            <a:srgbClr val="1F2933"/>
                          </a:solidFill>
                          <a:latin typeface="Segoe UI"/>
                        </a:rPr>
                        <a:t>2</a:t>
                      </a:r>
                      <a:endParaRPr sz="1100" lang="es-ES"/>
                    </a:p>
                  </a:txBody>
                  <a:tcPr marL="76200" marR="76200" marT="38100" marB="381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cmpd="sng" algn="ctr" cap="flat" w="9525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1F3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l"/>
                      <a:r>
                        <a:rPr lang="es-ES" sz="1100" b="false" i="false">
                          <a:solidFill>
                            <a:srgbClr val="1F2933"/>
                          </a:solidFill>
                          <a:latin typeface="Segoe UI"/>
                        </a:rPr>
                        <a:t>Estandarizar textos</a:t>
                      </a:r>
                      <a:endParaRPr sz="1100" lang="es-ES"/>
                    </a:p>
                  </a:txBody>
                  <a:tcPr marL="76200" marR="76200" marT="38100" marB="381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cmpd="sng" algn="ctr" cap="flat" w="9525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1F3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l"/>
                      <a:r>
                        <a:rPr lang="es-ES" sz="1100" b="false" i="false">
                          <a:solidFill>
                            <a:srgbClr val="1F2933"/>
                          </a:solidFill>
                          <a:latin typeface="Segoe UI"/>
                        </a:rPr>
                        <a:t>StringOperations</a:t>
                      </a:r>
                      <a:endParaRPr sz="1100" lang="es-ES"/>
                    </a:p>
                  </a:txBody>
                  <a:tcPr marL="76200" marR="76200" marT="38100" marB="381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cmpd="sng" algn="ctr" cap="flat" w="9525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1F3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l"/>
                      <a:r>
                        <a:rPr lang="es-ES" sz="1100" b="false" i="false">
                          <a:solidFill>
                            <a:srgbClr val="1F2933"/>
                          </a:solidFill>
                          <a:latin typeface="Segoe UI"/>
                        </a:rPr>
                        <a:t>StringOperations</a:t>
                      </a:r>
                      <a:endParaRPr sz="1100" lang="es-ES"/>
                    </a:p>
                  </a:txBody>
                  <a:tcPr marL="76200" marR="76200" marT="38100" marB="381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cmpd="sng" algn="ctr" cap="flat" w="9525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1F3"/>
                    </a:solidFill>
                  </a:tcPr>
                </a:tc>
              </a:tr>
              <a:tr h="298704">
                <a:tc>
                  <a:txBody>
                    <a:bodyPr anchor="t" rtlCol="false"/>
                    <a:lstStyle/>
                    <a:p>
                      <a:pPr algn="r"/>
                      <a:r>
                        <a:rPr lang="es-ES" sz="1100" b="false" i="false">
                          <a:solidFill>
                            <a:srgbClr val="1F2933"/>
                          </a:solidFill>
                          <a:latin typeface="Segoe UI"/>
                        </a:rPr>
                        <a:t>3</a:t>
                      </a:r>
                      <a:endParaRPr sz="1100" lang="es-ES"/>
                    </a:p>
                  </a:txBody>
                  <a:tcPr marL="76200" marR="76200" marT="38100" marB="381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cmpd="sng" algn="ctr" cap="flat" w="9525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l"/>
                      <a:r>
                        <a:rPr lang="es-ES" sz="1100" b="false" i="false">
                          <a:solidFill>
                            <a:srgbClr val="1F2933"/>
                          </a:solidFill>
                          <a:latin typeface="Segoe UI"/>
                        </a:rPr>
                        <a:t>Normalizar fecha y precio</a:t>
                      </a:r>
                      <a:endParaRPr sz="1100" lang="es-ES"/>
                    </a:p>
                  </a:txBody>
                  <a:tcPr marL="76200" marR="76200" marT="38100" marB="381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cmpd="sng" algn="ctr" cap="flat" w="9525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l"/>
                      <a:r>
                        <a:rPr lang="es-ES" sz="1100" b="false" i="false">
                          <a:solidFill>
                            <a:srgbClr val="1F2933"/>
                          </a:solidFill>
                          <a:latin typeface="Segoe UI"/>
                        </a:rPr>
                        <a:t>ReplaceString</a:t>
                      </a:r>
                      <a:endParaRPr sz="1100" lang="es-ES"/>
                    </a:p>
                  </a:txBody>
                  <a:tcPr marL="76200" marR="76200" marT="38100" marB="381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cmpd="sng" algn="ctr" cap="flat" w="9525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l"/>
                      <a:r>
                        <a:rPr lang="es-ES" sz="1100" b="false" i="false">
                          <a:solidFill>
                            <a:srgbClr val="1F2933"/>
                          </a:solidFill>
                          <a:latin typeface="Segoe UI"/>
                        </a:rPr>
                        <a:t>ReplaceString</a:t>
                      </a:r>
                      <a:endParaRPr sz="1100" lang="es-ES"/>
                    </a:p>
                  </a:txBody>
                  <a:tcPr marL="76200" marR="76200" marT="38100" marB="381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cmpd="sng" algn="ctr" cap="flat" w="9525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67512">
                <a:tc>
                  <a:txBody>
                    <a:bodyPr anchor="t" rtlCol="false"/>
                    <a:lstStyle/>
                    <a:p>
                      <a:pPr algn="r"/>
                      <a:r>
                        <a:rPr lang="es-ES" sz="1100" b="false" i="false">
                          <a:solidFill>
                            <a:srgbClr val="1F2933"/>
                          </a:solidFill>
                          <a:latin typeface="Segoe UI"/>
                        </a:rPr>
                        <a:t>4</a:t>
                      </a:r>
                      <a:endParaRPr sz="1100" lang="es-ES"/>
                    </a:p>
                  </a:txBody>
                  <a:tcPr marL="76200" marR="76200" marT="38100" marB="381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cmpd="sng" algn="ctr" cap="flat" w="9525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1F3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l"/>
                      <a:r>
                        <a:rPr lang="es-ES" sz="1100" b="false" i="false">
                          <a:solidFill>
                            <a:srgbClr val="1F2933"/>
                          </a:solidFill>
                          <a:latin typeface="Segoe UI"/>
                        </a:rPr>
                        <a:t>Convertir precio a número</a:t>
                      </a:r>
                      <a:endParaRPr sz="1100" lang="es-ES"/>
                    </a:p>
                  </a:txBody>
                  <a:tcPr marL="76200" marR="76200" marT="38100" marB="381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cmpd="sng" algn="ctr" cap="flat" w="9525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1F3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l"/>
                      <a:r>
                        <a:rPr lang="es-ES" sz="1100" b="false" i="false">
                          <a:solidFill>
                            <a:srgbClr val="1F2933"/>
                          </a:solidFill>
                          <a:latin typeface="Segoe UI"/>
                        </a:rPr>
                        <a:t>Selecciona/Renombra valores (SelectValues)</a:t>
                      </a:r>
                      <a:endParaRPr sz="1100" lang="es-ES"/>
                    </a:p>
                  </a:txBody>
                  <a:tcPr marL="76200" marR="76200" marT="38100" marB="381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cmpd="sng" algn="ctr" cap="flat" w="9525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1F3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l"/>
                      <a:r>
                        <a:rPr lang="es-ES" sz="1100" b="false" i="false">
                          <a:solidFill>
                            <a:srgbClr val="1F2933"/>
                          </a:solidFill>
                          <a:latin typeface="Segoe UI"/>
                        </a:rPr>
                        <a:t>Seleccionar o eliminar campos de una fila. Opcionalmente, se puede establecer la meta-información del campo: tipo, longitud y precisión.</a:t>
                      </a:r>
                      <a:endParaRPr sz="1100" lang="es-ES"/>
                    </a:p>
                  </a:txBody>
                  <a:tcPr marL="76200" marR="76200" marT="38100" marB="381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cmpd="sng" algn="ctr" cap="flat" w="9525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1F3"/>
                    </a:solidFill>
                  </a:tcPr>
                </a:tc>
              </a:tr>
              <a:tr h="298704">
                <a:tc>
                  <a:txBody>
                    <a:bodyPr anchor="t" rtlCol="false"/>
                    <a:lstStyle/>
                    <a:p>
                      <a:pPr algn="r"/>
                      <a:r>
                        <a:rPr lang="es-ES" sz="1100" b="false" i="false">
                          <a:solidFill>
                            <a:srgbClr val="1F2933"/>
                          </a:solidFill>
                          <a:latin typeface="Segoe UI"/>
                        </a:rPr>
                        <a:t>5</a:t>
                      </a:r>
                      <a:endParaRPr sz="1100" lang="es-ES"/>
                    </a:p>
                  </a:txBody>
                  <a:tcPr marL="76200" marR="76200" marT="38100" marB="381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cmpd="sng" algn="ctr" cap="flat" w="9525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l"/>
                      <a:r>
                        <a:rPr lang="es-ES" sz="1100" b="false" i="false">
                          <a:solidFill>
                            <a:srgbClr val="1F2933"/>
                          </a:solidFill>
                          <a:latin typeface="Segoe UI"/>
                        </a:rPr>
                        <a:t>Ordenar por ticket y línea</a:t>
                      </a:r>
                      <a:endParaRPr sz="1100" lang="es-ES"/>
                    </a:p>
                  </a:txBody>
                  <a:tcPr marL="76200" marR="76200" marT="38100" marB="381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cmpd="sng" algn="ctr" cap="flat" w="9525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l"/>
                      <a:r>
                        <a:rPr lang="es-ES" sz="1100" b="false" i="false">
                          <a:solidFill>
                            <a:srgbClr val="1F2933"/>
                          </a:solidFill>
                          <a:latin typeface="Segoe UI"/>
                        </a:rPr>
                        <a:t>Ordenar filas (SortRows)</a:t>
                      </a:r>
                      <a:endParaRPr sz="1100" lang="es-ES"/>
                    </a:p>
                  </a:txBody>
                  <a:tcPr marL="76200" marR="76200" marT="38100" marB="381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cmpd="sng" algn="ctr" cap="flat" w="9525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l"/>
                      <a:r>
                        <a:rPr lang="es-ES" sz="1100" b="false" i="false">
                          <a:solidFill>
                            <a:srgbClr val="1F2933"/>
                          </a:solidFill>
                          <a:latin typeface="Segoe UI"/>
                        </a:rPr>
                        <a:t>Ordena por: id_ticket, linea</a:t>
                      </a:r>
                      <a:endParaRPr sz="1100" lang="es-ES"/>
                    </a:p>
                  </a:txBody>
                  <a:tcPr marL="76200" marR="76200" marT="38100" marB="381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cmpd="sng" algn="ctr" cap="flat" w="9525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036320">
                <a:tc>
                  <a:txBody>
                    <a:bodyPr anchor="t" rtlCol="false"/>
                    <a:lstStyle/>
                    <a:p>
                      <a:pPr algn="r"/>
                      <a:r>
                        <a:rPr lang="es-ES" sz="1100" b="false" i="false">
                          <a:solidFill>
                            <a:srgbClr val="1F2933"/>
                          </a:solidFill>
                          <a:latin typeface="Segoe UI"/>
                        </a:rPr>
                        <a:t>6</a:t>
                      </a:r>
                      <a:endParaRPr sz="1100" lang="es-ES"/>
                    </a:p>
                  </a:txBody>
                  <a:tcPr marL="76200" marR="76200" marT="38100" marB="381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cmpd="sng" algn="ctr" cap="flat" w="9525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1F3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l"/>
                      <a:r>
                        <a:rPr lang="es-ES" sz="1100" b="false" i="false">
                          <a:solidFill>
                            <a:srgbClr val="1F2933"/>
                          </a:solidFill>
                          <a:latin typeface="Segoe UI"/>
                        </a:rPr>
                        <a:t>Eliminar duplicados</a:t>
                      </a:r>
                      <a:endParaRPr sz="1100" lang="es-ES"/>
                    </a:p>
                  </a:txBody>
                  <a:tcPr marL="76200" marR="76200" marT="38100" marB="381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cmpd="sng" algn="ctr" cap="flat" w="9525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1F3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l"/>
                      <a:r>
                        <a:rPr lang="es-ES" sz="1100" b="false" i="false">
                          <a:solidFill>
                            <a:srgbClr val="1F2933"/>
                          </a:solidFill>
                          <a:latin typeface="Segoe UI"/>
                        </a:rPr>
                        <a:t>Filas Unicas (Unique)</a:t>
                      </a:r>
                      <a:endParaRPr sz="1100" lang="es-ES"/>
                    </a:p>
                  </a:txBody>
                  <a:tcPr marL="76200" marR="76200" marT="38100" marB="381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cmpd="sng" algn="ctr" cap="flat" w="9525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1F3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l"/>
                      <a:r>
                        <a:rPr lang="es-ES" sz="1100" b="false" i="false">
                          <a:solidFill>
                            <a:srgbClr val="1F2933"/>
                          </a:solidFill>
                          <a:latin typeface="Segoe UI"/>
                        </a:rPr>
                        <a:t>Eliminar filas duplicadas y dejar solo ocurrencias únicas. Esto funciona solo con entradas ordenadas. Si la entrada no esta ordenada, solo se hace correctamente las entradas duplicadas consecutivas.</a:t>
                      </a:r>
                      <a:endParaRPr sz="1100" lang="es-ES"/>
                    </a:p>
                  </a:txBody>
                  <a:tcPr marL="76200" marR="76200" marT="38100" marB="381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cmpd="sng" algn="ctr" cap="flat" w="9525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1F3"/>
                    </a:solidFill>
                  </a:tcPr>
                </a:tc>
              </a:tr>
              <a:tr h="483108">
                <a:tc>
                  <a:txBody>
                    <a:bodyPr anchor="t" rtlCol="false"/>
                    <a:lstStyle/>
                    <a:p>
                      <a:pPr algn="r"/>
                      <a:r>
                        <a:rPr lang="es-ES" sz="1100" b="false" i="false">
                          <a:solidFill>
                            <a:srgbClr val="1F2933"/>
                          </a:solidFill>
                          <a:latin typeface="Segoe UI"/>
                        </a:rPr>
                        <a:t>7</a:t>
                      </a:r>
                      <a:endParaRPr sz="1100" lang="es-ES"/>
                    </a:p>
                  </a:txBody>
                  <a:tcPr marL="76200" marR="76200" marT="38100" marB="381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cmpd="sng" algn="ctr" cap="flat" w="9525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l"/>
                      <a:r>
                        <a:rPr lang="es-ES" sz="1100" b="false" i="false">
                          <a:solidFill>
                            <a:srgbClr val="1F2933"/>
                          </a:solidFill>
                          <a:latin typeface="Segoe UI"/>
                        </a:rPr>
                        <a:t>Buscar tienda</a:t>
                      </a:r>
                      <a:endParaRPr sz="1100" lang="es-ES"/>
                    </a:p>
                  </a:txBody>
                  <a:tcPr marL="76200" marR="76200" marT="38100" marB="381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cmpd="sng" algn="ctr" cap="flat" w="9525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l"/>
                      <a:r>
                        <a:rPr lang="es-ES" sz="1100" b="false" i="false">
                          <a:solidFill>
                            <a:srgbClr val="1F2933"/>
                          </a:solidFill>
                          <a:latin typeface="Segoe UI"/>
                        </a:rPr>
                        <a:t>Búsqueda en base de datos (DBLookup)</a:t>
                      </a:r>
                      <a:endParaRPr sz="1100" lang="es-ES"/>
                    </a:p>
                  </a:txBody>
                  <a:tcPr marL="76200" marR="76200" marT="38100" marB="381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cmpd="sng" algn="ctr" cap="flat" w="9525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l"/>
                      <a:r>
                        <a:rPr lang="es-ES" sz="1100" b="false" i="false">
                          <a:solidFill>
                            <a:srgbClr val="1F2933"/>
                          </a:solidFill>
                          <a:latin typeface="Segoe UI"/>
                        </a:rPr>
                        <a:t>Obtener valores de una base de datos utilizando campos</a:t>
                      </a:r>
                      <a:endParaRPr sz="1100" lang="es-ES"/>
                    </a:p>
                  </a:txBody>
                  <a:tcPr marL="76200" marR="76200" marT="38100" marB="381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cmpd="sng" algn="ctr" cap="flat" w="9525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83108">
                <a:tc>
                  <a:txBody>
                    <a:bodyPr anchor="t" rtlCol="false"/>
                    <a:lstStyle/>
                    <a:p>
                      <a:pPr algn="r"/>
                      <a:r>
                        <a:rPr lang="es-ES" sz="1100" b="false" i="false">
                          <a:solidFill>
                            <a:srgbClr val="1F2933"/>
                          </a:solidFill>
                          <a:latin typeface="Segoe UI"/>
                        </a:rPr>
                        <a:t>8</a:t>
                      </a:r>
                      <a:endParaRPr sz="1100" lang="es-ES"/>
                    </a:p>
                  </a:txBody>
                  <a:tcPr marL="76200" marR="76200" marT="38100" marB="381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cmpd="sng" algn="ctr" cap="flat" w="9525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1F3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l"/>
                      <a:r>
                        <a:rPr lang="es-ES" sz="1100" b="false" i="false">
                          <a:solidFill>
                            <a:srgbClr val="1F2933"/>
                          </a:solidFill>
                          <a:latin typeface="Segoe UI"/>
                        </a:rPr>
                        <a:t>Buscar producto</a:t>
                      </a:r>
                      <a:endParaRPr sz="1100" lang="es-ES"/>
                    </a:p>
                  </a:txBody>
                  <a:tcPr marL="76200" marR="76200" marT="38100" marB="381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cmpd="sng" algn="ctr" cap="flat" w="9525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1F3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l"/>
                      <a:r>
                        <a:rPr lang="es-ES" sz="1100" b="false" i="false">
                          <a:solidFill>
                            <a:srgbClr val="1F2933"/>
                          </a:solidFill>
                          <a:latin typeface="Segoe UI"/>
                        </a:rPr>
                        <a:t>Búsqueda en base de datos (DBLookup)</a:t>
                      </a:r>
                      <a:endParaRPr sz="1100" lang="es-ES"/>
                    </a:p>
                  </a:txBody>
                  <a:tcPr marL="76200" marR="76200" marT="38100" marB="381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cmpd="sng" algn="ctr" cap="flat" w="9525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1F3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l"/>
                      <a:r>
                        <a:rPr lang="es-ES" sz="1100" b="false" i="false">
                          <a:solidFill>
                            <a:srgbClr val="1F2933"/>
                          </a:solidFill>
                          <a:latin typeface="Segoe UI"/>
                        </a:rPr>
                        <a:t>Obtener valores de una base de datos utilizando campos</a:t>
                      </a:r>
                      <a:endParaRPr sz="1100" lang="es-ES"/>
                    </a:p>
                  </a:txBody>
                  <a:tcPr marL="76200" marR="76200" marT="38100" marB="381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cmpd="sng" algn="ctr" cap="flat" w="9525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1F3"/>
                    </a:solidFill>
                  </a:tcPr>
                </a:tc>
              </a:tr>
              <a:tr h="483108">
                <a:tc>
                  <a:txBody>
                    <a:bodyPr anchor="t" rtlCol="false"/>
                    <a:lstStyle/>
                    <a:p>
                      <a:pPr algn="r"/>
                      <a:r>
                        <a:rPr lang="es-ES" sz="1100" b="false" i="false">
                          <a:solidFill>
                            <a:srgbClr val="1F2933"/>
                          </a:solidFill>
                          <a:latin typeface="Segoe UI"/>
                        </a:rPr>
                        <a:t>9</a:t>
                      </a:r>
                      <a:endParaRPr sz="1100" lang="es-ES"/>
                    </a:p>
                  </a:txBody>
                  <a:tcPr marL="76200" marR="76200" marT="38100" marB="381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cmpd="sng" algn="ctr" cap="flat" w="9525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l"/>
                      <a:r>
                        <a:rPr lang="es-ES" sz="1100" b="false" i="false">
                          <a:solidFill>
                            <a:srgbClr val="1F2933"/>
                          </a:solidFill>
                          <a:latin typeface="Segoe UI"/>
                        </a:rPr>
                        <a:t>Buscar fecha</a:t>
                      </a:r>
                      <a:endParaRPr sz="1100" lang="es-ES"/>
                    </a:p>
                  </a:txBody>
                  <a:tcPr marL="76200" marR="76200" marT="38100" marB="381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cmpd="sng" algn="ctr" cap="flat" w="9525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l"/>
                      <a:r>
                        <a:rPr lang="es-ES" sz="1100" b="false" i="false">
                          <a:solidFill>
                            <a:srgbClr val="1F2933"/>
                          </a:solidFill>
                          <a:latin typeface="Segoe UI"/>
                        </a:rPr>
                        <a:t>Búsqueda en base de datos (DBLookup)</a:t>
                      </a:r>
                      <a:endParaRPr sz="1100" lang="es-ES"/>
                    </a:p>
                  </a:txBody>
                  <a:tcPr marL="76200" marR="76200" marT="38100" marB="381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cmpd="sng" algn="ctr" cap="flat" w="9525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l"/>
                      <a:r>
                        <a:rPr lang="es-ES" sz="1100" b="false" i="false">
                          <a:solidFill>
                            <a:srgbClr val="1F2933"/>
                          </a:solidFill>
                          <a:latin typeface="Segoe UI"/>
                        </a:rPr>
                        <a:t>Obtener valores de una base de datos utilizando campos</a:t>
                      </a:r>
                      <a:endParaRPr sz="1100" lang="es-ES"/>
                    </a:p>
                  </a:txBody>
                  <a:tcPr marL="76200" marR="76200" marT="38100" marB="381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cmpd="sng" algn="ctr" cap="flat" w="9525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8000" y="203200"/>
            <a:ext cx="11176000" cy="635000"/>
          </a:xfrm>
        </p:spPr>
        <p:txBody>
          <a:bodyPr lIns="0" rIns="0" wrap="square" anchor="ctr"/>
          <a:lstStyle/>
          <a:p>
            <a:pPr algn="l"/>
            <a:r>
              <a:rPr lang="es-ES" sz="2600" b="true" i="false">
                <a:solidFill>
                  <a:srgbClr val="243B53"/>
                </a:solidFill>
                <a:latin typeface="Segoe UI"/>
              </a:rPr>
              <a:t>Diagrama de flujo (cont.)</a:t>
            </a:r>
            <a:endParaRPr sz="2600" lang="es-ES"/>
          </a:p>
        </p:txBody>
      </p:sp>
      <p:pic>
        <p:nvPicPr>
          <p:cNvPr name="Picture 3" id="3"/>
          <p:cNvPicPr>
            <a:picLocks noChangeAspect="true"/>
          </p:cNvPicPr>
          <p:nvPr/>
        </p:nvPicPr>
        <p:blipFill>
          <a:blip r:embed="rId2"/>
          <a:stretch>
            <a:fillRect/>
          </a:stretch>
        </p:blipFill>
        <p:spPr>
          <a:xfrm>
            <a:off x="10248900" y="5510084"/>
            <a:ext cx="1435100" cy="814516"/>
          </a:xfrm>
          <a:prstGeom prst="rect">
            <a:avLst/>
          </a:prstGeom>
        </p:spPr>
      </p:pic>
      <p:sp>
        <p:nvSpPr>
          <p:cNvPr name="AutoShape 4" id="4"/>
          <p:cNvSpPr/>
          <p:nvPr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243B53"/>
          </a:solidFill>
          <a:ln>
            <a:noFill/>
          </a:ln>
        </p:spPr>
      </p:sp>
      <p:pic>
        <p:nvPicPr>
          <p:cNvPr name="Picture 5" id="5"/>
          <p:cNvPicPr>
            <a:picLocks noChangeAspect="true"/>
          </p:cNvPicPr>
          <p:nvPr/>
        </p:nvPicPr>
        <p:blipFill>
          <a:blip r:embed="rId3"/>
          <a:stretch>
            <a:fillRect/>
          </a:stretch>
        </p:blipFill>
        <p:spPr>
          <a:xfrm>
            <a:off x="508000" y="6508750"/>
            <a:ext cx="177800" cy="100914"/>
          </a:xfrm>
          <a:prstGeom prst="rect">
            <a:avLst/>
          </a:prstGeom>
        </p:spPr>
      </p:pic>
      <p:sp>
        <p:nvSpPr>
          <p:cNvPr name="TextBox 6" id="6"/>
          <p:cNvSpPr txBox="true"/>
          <p:nvPr/>
        </p:nvSpPr>
        <p:spPr>
          <a:xfrm>
            <a:off x="749300" y="6451600"/>
            <a:ext cx="5080000" cy="228600"/>
          </a:xfrm>
          <a:prstGeom prst="rect">
            <a:avLst/>
          </a:prstGeom>
        </p:spPr>
        <p:txBody>
          <a:bodyPr anchor="ctr" rtlCol="false" wrap="square" lIns="0" rIns="0" tIns="25400" bIns="25400"/>
          <a:lstStyle/>
          <a:p>
            <a:pPr algn="l"/>
            <a:r>
              <a:rPr lang="es-ES" sz="750" b="false" i="false">
                <a:solidFill>
                  <a:srgbClr val="6B7785"/>
                </a:solidFill>
                <a:latin typeface="Segoe UI"/>
              </a:rPr>
              <a:t>Pentaho Live · IDC Studios</a:t>
            </a:r>
            <a:endParaRPr sz="750" lang="es-ES"/>
          </a:p>
        </p:txBody>
      </p:sp>
      <p:sp>
        <p:nvSpPr>
          <p:cNvPr name="TextBox 7" id="7"/>
          <p:cNvSpPr txBox="true"/>
          <p:nvPr/>
        </p:nvSpPr>
        <p:spPr>
          <a:xfrm>
            <a:off x="10160000" y="6451600"/>
            <a:ext cx="1524000" cy="228600"/>
          </a:xfrm>
          <a:prstGeom prst="rect">
            <a:avLst/>
          </a:prstGeom>
        </p:spPr>
        <p:txBody>
          <a:bodyPr anchor="ctr" rtlCol="false" wrap="square" lIns="0" rIns="0" tIns="25400" bIns="25400"/>
          <a:lstStyle/>
          <a:p>
            <a:pPr algn="r"/>
            <a:fld id="{44D88B9D-DD29-4151-BBE4-4D66B6FCDDB6}" type="slidenum">
              <a:rPr lang="es-ES" sz="750">
                <a:solidFill>
                  <a:srgbClr val="6B7785"/>
                </a:solidFill>
                <a:latin typeface="Segoe UI"/>
              </a:rPr>
              <a:t>7</a:t>
            </a:fld>
            <a:endParaRPr sz="750" lang="es-ES"/>
          </a:p>
        </p:txBody>
      </p:sp>
      <p:sp>
        <p:nvSpPr>
          <p:cNvPr name="TextBox 8" id="8"/>
          <p:cNvSpPr txBox="true"/>
          <p:nvPr/>
        </p:nvSpPr>
        <p:spPr>
          <a:xfrm>
            <a:off x="508000" y="1016000"/>
            <a:ext cx="11176000" cy="254000"/>
          </a:xfrm>
          <a:prstGeom prst="rect">
            <a:avLst/>
          </a:prstGeom>
        </p:spPr>
        <p:txBody>
          <a:bodyPr anchor="t" rtlCol="false" wrap="square" lIns="0" rIns="0" tIns="25400" bIns="25400"/>
          <a:lstStyle/>
          <a:p>
            <a:pPr algn="l"/>
            <a:r>
              <a:rPr lang="es-ES" sz="1300" b="true" i="false">
                <a:solidFill>
                  <a:srgbClr val="243B53"/>
                </a:solidFill>
                <a:latin typeface="Segoe UI"/>
              </a:rPr>
              <a:t>Qué hace cada step (cont.)</a:t>
            </a:r>
            <a:endParaRPr sz="1300" lang="es-ES"/>
          </a:p>
        </p:txBody>
      </p:sp>
      <p:graphicFrame>
        <p:nvGraphicFramePr>
          <p:cNvPr name="Table 9" id="9"/>
          <p:cNvGraphicFramePr>
            <a:graphicFrameLocks noGrp="true"/>
          </p:cNvGraphicFramePr>
          <p:nvPr/>
        </p:nvGraphicFramePr>
        <p:xfrm>
          <a:off x="508000" y="1295400"/>
          <a:ext cx="9842500" cy="3311652"/>
        </p:xfrm>
        <a:graphic>
          <a:graphicData uri="http://schemas.openxmlformats.org/drawingml/2006/table">
            <a:tbl>
              <a:tblPr/>
              <a:tblGrid>
                <a:gridCol w="406400"/>
                <a:gridCol w="2171700"/>
                <a:gridCol w="3403600"/>
                <a:gridCol w="3860800"/>
              </a:tblGrid>
              <a:tr h="298704">
                <a:tc>
                  <a:txBody>
                    <a:bodyPr anchor="t" rtlCol="false"/>
                    <a:lstStyle/>
                    <a:p>
                      <a:pPr algn="r"/>
                      <a:r>
                        <a:rPr lang="es-ES" sz="1100" b="true" i="false">
                          <a:solidFill>
                            <a:srgbClr val="FFFFFF"/>
                          </a:solidFill>
                          <a:latin typeface="Segoe UI"/>
                        </a:rPr>
                        <a:t>#</a:t>
                      </a:r>
                      <a:endParaRPr sz="1100" lang="es-ES"/>
                    </a:p>
                  </a:txBody>
                  <a:tcPr marL="76200" marR="76200" marT="38100" marB="381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cmpd="sng" algn="ctr" cap="flat" w="9525">
                      <a:solidFill>
                        <a:srgbClr val="243B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3B53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l"/>
                      <a:r>
                        <a:rPr lang="es-ES" sz="1100" b="true" i="false">
                          <a:solidFill>
                            <a:srgbClr val="FFFFFF"/>
                          </a:solidFill>
                          <a:latin typeface="Segoe UI"/>
                        </a:rPr>
                        <a:t>Step</a:t>
                      </a:r>
                      <a:endParaRPr sz="1100" lang="es-ES"/>
                    </a:p>
                  </a:txBody>
                  <a:tcPr marL="76200" marR="76200" marT="38100" marB="381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cmpd="sng" algn="ctr" cap="flat" w="9525">
                      <a:solidFill>
                        <a:srgbClr val="243B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3B53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l"/>
                      <a:r>
                        <a:rPr lang="es-ES" sz="1100" b="true" i="false">
                          <a:solidFill>
                            <a:srgbClr val="FFFFFF"/>
                          </a:solidFill>
                          <a:latin typeface="Segoe UI"/>
                        </a:rPr>
                        <a:t>Tipo</a:t>
                      </a:r>
                      <a:endParaRPr sz="1100" lang="es-ES"/>
                    </a:p>
                  </a:txBody>
                  <a:tcPr marL="76200" marR="76200" marT="38100" marB="381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cmpd="sng" algn="ctr" cap="flat" w="9525">
                      <a:solidFill>
                        <a:srgbClr val="243B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3B53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l"/>
                      <a:r>
                        <a:rPr lang="es-ES" sz="1100" b="true" i="false">
                          <a:solidFill>
                            <a:srgbClr val="FFFFFF"/>
                          </a:solidFill>
                          <a:latin typeface="Segoe UI"/>
                        </a:rPr>
                        <a:t>Qué hace</a:t>
                      </a:r>
                      <a:endParaRPr sz="1100" lang="es-ES"/>
                    </a:p>
                  </a:txBody>
                  <a:tcPr marL="76200" marR="76200" marT="38100" marB="381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cmpd="sng" algn="ctr" cap="flat" w="9525">
                      <a:solidFill>
                        <a:srgbClr val="243B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3B53"/>
                    </a:solidFill>
                  </a:tcPr>
                </a:tc>
              </a:tr>
              <a:tr h="298704">
                <a:tc>
                  <a:txBody>
                    <a:bodyPr anchor="t" rtlCol="false"/>
                    <a:lstStyle/>
                    <a:p>
                      <a:pPr algn="r"/>
                      <a:r>
                        <a:rPr lang="es-ES" sz="1100" b="false" i="false">
                          <a:solidFill>
                            <a:srgbClr val="1F2933"/>
                          </a:solidFill>
                          <a:latin typeface="Segoe UI"/>
                        </a:rPr>
                        <a:t>10</a:t>
                      </a:r>
                      <a:endParaRPr sz="1100" lang="es-ES"/>
                    </a:p>
                  </a:txBody>
                  <a:tcPr marL="76200" marR="76200" marT="38100" marB="381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cmpd="sng" algn="ctr" cap="flat" w="9525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l"/>
                      <a:r>
                        <a:rPr lang="es-ES" sz="1100" b="false" i="false">
                          <a:solidFill>
                            <a:srgbClr val="1F2933"/>
                          </a:solidFill>
                          <a:latin typeface="Segoe UI"/>
                        </a:rPr>
                        <a:t>Clasificar línea</a:t>
                      </a:r>
                      <a:endParaRPr sz="1100" lang="es-ES"/>
                    </a:p>
                  </a:txBody>
                  <a:tcPr marL="76200" marR="76200" marT="38100" marB="381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cmpd="sng" algn="ctr" cap="flat" w="9525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l"/>
                      <a:r>
                        <a:rPr lang="es-ES" sz="1100" b="false" i="false">
                          <a:solidFill>
                            <a:srgbClr val="1F2933"/>
                          </a:solidFill>
                          <a:latin typeface="Segoe UI"/>
                        </a:rPr>
                        <a:t>Janino</a:t>
                      </a:r>
                      <a:endParaRPr sz="1100" lang="es-ES"/>
                    </a:p>
                  </a:txBody>
                  <a:tcPr marL="76200" marR="76200" marT="38100" marB="381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cmpd="sng" algn="ctr" cap="flat" w="9525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l"/>
                      <a:r>
                        <a:rPr lang="es-ES" sz="1100" b="false" i="false">
                          <a:solidFill>
                            <a:srgbClr val="1F2933"/>
                          </a:solidFill>
                          <a:latin typeface="Segoe UI"/>
                        </a:rPr>
                        <a:t>Janino</a:t>
                      </a:r>
                      <a:endParaRPr sz="1100" lang="es-ES"/>
                    </a:p>
                  </a:txBody>
                  <a:tcPr marL="76200" marR="76200" marT="38100" marB="381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cmpd="sng" algn="ctr" cap="flat" w="9525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83108">
                <a:tc>
                  <a:txBody>
                    <a:bodyPr anchor="t" rtlCol="false"/>
                    <a:lstStyle/>
                    <a:p>
                      <a:pPr algn="r"/>
                      <a:r>
                        <a:rPr lang="es-ES" sz="1100" b="false" i="false">
                          <a:solidFill>
                            <a:srgbClr val="1F2933"/>
                          </a:solidFill>
                          <a:latin typeface="Segoe UI"/>
                        </a:rPr>
                        <a:t>11</a:t>
                      </a:r>
                      <a:endParaRPr sz="1100" lang="es-ES"/>
                    </a:p>
                  </a:txBody>
                  <a:tcPr marL="76200" marR="76200" marT="38100" marB="381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cmpd="sng" algn="ctr" cap="flat" w="9525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1F3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l"/>
                      <a:r>
                        <a:rPr lang="es-ES" sz="1100" b="false" i="false">
                          <a:solidFill>
                            <a:srgbClr val="1F2933"/>
                          </a:solidFill>
                          <a:latin typeface="Segoe UI"/>
                        </a:rPr>
                        <a:t>Marcar duplicado</a:t>
                      </a:r>
                      <a:endParaRPr sz="1100" lang="es-ES"/>
                    </a:p>
                  </a:txBody>
                  <a:tcPr marL="76200" marR="76200" marT="38100" marB="381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cmpd="sng" algn="ctr" cap="flat" w="9525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1F3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l"/>
                      <a:r>
                        <a:rPr lang="es-ES" sz="1100" b="false" i="false">
                          <a:solidFill>
                            <a:srgbClr val="1F2933"/>
                          </a:solidFill>
                          <a:latin typeface="Segoe UI"/>
                        </a:rPr>
                        <a:t>Añadir constantes (Constant)</a:t>
                      </a:r>
                      <a:endParaRPr sz="1100" lang="es-ES"/>
                    </a:p>
                  </a:txBody>
                  <a:tcPr marL="76200" marR="76200" marT="38100" marB="381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cmpd="sng" algn="ctr" cap="flat" w="9525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1F3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l"/>
                      <a:r>
                        <a:rPr lang="es-ES" sz="1100" b="false" i="false">
                          <a:solidFill>
                            <a:srgbClr val="1F2933"/>
                          </a:solidFill>
                          <a:latin typeface="Segoe UI"/>
                        </a:rPr>
                        <a:t>Añadir uno o más constantes a las filas de entrada</a:t>
                      </a:r>
                      <a:endParaRPr sz="1100" lang="es-ES"/>
                    </a:p>
                  </a:txBody>
                  <a:tcPr marL="76200" marR="76200" marT="38100" marB="381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cmpd="sng" algn="ctr" cap="flat" w="9525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1F3"/>
                    </a:solidFill>
                  </a:tcPr>
                </a:tc>
              </a:tr>
              <a:tr h="298704">
                <a:tc>
                  <a:txBody>
                    <a:bodyPr anchor="t" rtlCol="false"/>
                    <a:lstStyle/>
                    <a:p>
                      <a:pPr algn="r"/>
                      <a:r>
                        <a:rPr lang="es-ES" sz="1100" b="false" i="false">
                          <a:solidFill>
                            <a:srgbClr val="1F2933"/>
                          </a:solidFill>
                          <a:latin typeface="Segoe UI"/>
                        </a:rPr>
                        <a:t>12</a:t>
                      </a:r>
                      <a:endParaRPr sz="1100" lang="es-ES"/>
                    </a:p>
                  </a:txBody>
                  <a:tcPr marL="76200" marR="76200" marT="38100" marB="381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cmpd="sng" algn="ctr" cap="flat" w="9525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l"/>
                      <a:r>
                        <a:rPr lang="es-ES" sz="1100" b="false" i="false">
                          <a:solidFill>
                            <a:srgbClr val="1F2933"/>
                          </a:solidFill>
                          <a:latin typeface="Segoe UI"/>
                        </a:rPr>
                        <a:t>¿Línea válida?</a:t>
                      </a:r>
                      <a:endParaRPr sz="1100" lang="es-ES"/>
                    </a:p>
                  </a:txBody>
                  <a:tcPr marL="76200" marR="76200" marT="38100" marB="381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cmpd="sng" algn="ctr" cap="flat" w="9525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l"/>
                      <a:r>
                        <a:rPr lang="es-ES" sz="1100" b="false" i="false">
                          <a:solidFill>
                            <a:srgbClr val="1F2933"/>
                          </a:solidFill>
                          <a:latin typeface="Segoe UI"/>
                        </a:rPr>
                        <a:t>Filtrar filas (FilterRows)</a:t>
                      </a:r>
                      <a:endParaRPr sz="1100" lang="es-ES"/>
                    </a:p>
                  </a:txBody>
                  <a:tcPr marL="76200" marR="76200" marT="38100" marB="381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cmpd="sng" algn="ctr" cap="flat" w="9525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l"/>
                      <a:r>
                        <a:rPr lang="es-ES" sz="1100" b="false" i="false">
                          <a:solidFill>
                            <a:srgbClr val="1F2933"/>
                          </a:solidFill>
                          <a:latin typeface="Segoe UI"/>
                        </a:rPr>
                        <a:t>Condición: motivo_rechazo IS NULL</a:t>
                      </a:r>
                      <a:endParaRPr sz="1100" lang="es-ES"/>
                    </a:p>
                  </a:txBody>
                  <a:tcPr marL="76200" marR="76200" marT="38100" marB="381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cmpd="sng" algn="ctr" cap="flat" w="9525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83108">
                <a:tc>
                  <a:txBody>
                    <a:bodyPr anchor="t" rtlCol="false"/>
                    <a:lstStyle/>
                    <a:p>
                      <a:pPr algn="r"/>
                      <a:r>
                        <a:rPr lang="es-ES" sz="1100" b="false" i="false">
                          <a:solidFill>
                            <a:srgbClr val="1F2933"/>
                          </a:solidFill>
                          <a:latin typeface="Segoe UI"/>
                        </a:rPr>
                        <a:t>13</a:t>
                      </a:r>
                      <a:endParaRPr sz="1100" lang="es-ES"/>
                    </a:p>
                  </a:txBody>
                  <a:tcPr marL="76200" marR="76200" marT="38100" marB="381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cmpd="sng" algn="ctr" cap="flat" w="9525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1F3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l"/>
                      <a:r>
                        <a:rPr lang="es-ES" sz="1100" b="false" i="false">
                          <a:solidFill>
                            <a:srgbClr val="1F2933"/>
                          </a:solidFill>
                          <a:latin typeface="Segoe UI"/>
                        </a:rPr>
                        <a:t>Calcular importe</a:t>
                      </a:r>
                      <a:endParaRPr sz="1100" lang="es-ES"/>
                    </a:p>
                  </a:txBody>
                  <a:tcPr marL="76200" marR="76200" marT="38100" marB="381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cmpd="sng" algn="ctr" cap="flat" w="9525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1F3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l"/>
                      <a:r>
                        <a:rPr lang="es-ES" sz="1100" b="false" i="false">
                          <a:solidFill>
                            <a:srgbClr val="1F2933"/>
                          </a:solidFill>
                          <a:latin typeface="Segoe UI"/>
                        </a:rPr>
                        <a:t>Calculadora (Calculator)</a:t>
                      </a:r>
                      <a:endParaRPr sz="1100" lang="es-ES"/>
                    </a:p>
                  </a:txBody>
                  <a:tcPr marL="76200" marR="76200" marT="38100" marB="381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cmpd="sng" algn="ctr" cap="flat" w="9525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1F3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l"/>
                      <a:r>
                        <a:rPr lang="es-ES" sz="1100" b="false" i="false">
                          <a:solidFill>
                            <a:srgbClr val="1F2933"/>
                          </a:solidFill>
                          <a:latin typeface="Segoe UI"/>
                        </a:rPr>
                        <a:t>Crear nuevos campos a partir de cálculos sencillos</a:t>
                      </a:r>
                      <a:endParaRPr sz="1100" lang="es-ES"/>
                    </a:p>
                  </a:txBody>
                  <a:tcPr marL="76200" marR="76200" marT="38100" marB="381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cmpd="sng" algn="ctr" cap="flat" w="9525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1F3"/>
                    </a:solidFill>
                  </a:tcPr>
                </a:tc>
              </a:tr>
              <a:tr h="298704">
                <a:tc>
                  <a:txBody>
                    <a:bodyPr anchor="t" rtlCol="false"/>
                    <a:lstStyle/>
                    <a:p>
                      <a:pPr algn="r"/>
                      <a:r>
                        <a:rPr lang="es-ES" sz="1100" b="false" i="false">
                          <a:solidFill>
                            <a:srgbClr val="1F2933"/>
                          </a:solidFill>
                          <a:latin typeface="Segoe UI"/>
                        </a:rPr>
                        <a:t>14</a:t>
                      </a:r>
                      <a:endParaRPr sz="1100" lang="es-ES"/>
                    </a:p>
                  </a:txBody>
                  <a:tcPr marL="76200" marR="76200" marT="38100" marB="381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cmpd="sng" algn="ctr" cap="flat" w="9525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l"/>
                      <a:r>
                        <a:rPr lang="es-ES" sz="1100" b="false" i="false">
                          <a:solidFill>
                            <a:srgbClr val="1F2933"/>
                          </a:solidFill>
                          <a:latin typeface="Segoe UI"/>
                        </a:rPr>
                        <a:t>Cargar hechos_ventas</a:t>
                      </a:r>
                      <a:endParaRPr sz="1100" lang="es-ES"/>
                    </a:p>
                  </a:txBody>
                  <a:tcPr marL="76200" marR="76200" marT="38100" marB="381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cmpd="sng" algn="ctr" cap="flat" w="9525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l"/>
                      <a:r>
                        <a:rPr lang="es-ES" sz="1100" b="false" i="false">
                          <a:solidFill>
                            <a:srgbClr val="1F2933"/>
                          </a:solidFill>
                          <a:latin typeface="Segoe UI"/>
                        </a:rPr>
                        <a:t>Salida Tabla (TableOutput)</a:t>
                      </a:r>
                      <a:endParaRPr sz="1100" lang="es-ES"/>
                    </a:p>
                  </a:txBody>
                  <a:tcPr marL="76200" marR="76200" marT="38100" marB="381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cmpd="sng" algn="ctr" cap="flat" w="9525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l"/>
                      <a:r>
                        <a:rPr lang="es-ES" sz="1100" b="false" i="false">
                          <a:solidFill>
                            <a:srgbClr val="1F2933"/>
                          </a:solidFill>
                          <a:latin typeface="Segoe UI"/>
                        </a:rPr>
                        <a:t>Tabla: hechos_ventas; Conexión: dw_grano_de_oro</a:t>
                      </a:r>
                      <a:endParaRPr sz="1100" lang="es-ES"/>
                    </a:p>
                  </a:txBody>
                  <a:tcPr marL="76200" marR="76200" marT="38100" marB="381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cmpd="sng" algn="ctr" cap="flat" w="9525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67512">
                <a:tc>
                  <a:txBody>
                    <a:bodyPr anchor="t" rtlCol="false"/>
                    <a:lstStyle/>
                    <a:p>
                      <a:pPr algn="r"/>
                      <a:r>
                        <a:rPr lang="es-ES" sz="1100" b="false" i="false">
                          <a:solidFill>
                            <a:srgbClr val="1F2933"/>
                          </a:solidFill>
                          <a:latin typeface="Segoe UI"/>
                        </a:rPr>
                        <a:t>15</a:t>
                      </a:r>
                      <a:endParaRPr sz="1100" lang="es-ES"/>
                    </a:p>
                  </a:txBody>
                  <a:tcPr marL="76200" marR="76200" marT="38100" marB="381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cmpd="sng" algn="ctr" cap="flat" w="9525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1F3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l"/>
                      <a:r>
                        <a:rPr lang="es-ES" sz="1100" b="false" i="false">
                          <a:solidFill>
                            <a:srgbClr val="1F2933"/>
                          </a:solidFill>
                          <a:latin typeface="Segoe UI"/>
                        </a:rPr>
                        <a:t>Preparar rechazo</a:t>
                      </a:r>
                      <a:endParaRPr sz="1100" lang="es-ES"/>
                    </a:p>
                  </a:txBody>
                  <a:tcPr marL="76200" marR="76200" marT="38100" marB="381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cmpd="sng" algn="ctr" cap="flat" w="9525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1F3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l"/>
                      <a:r>
                        <a:rPr lang="es-ES" sz="1100" b="false" i="false">
                          <a:solidFill>
                            <a:srgbClr val="1F2933"/>
                          </a:solidFill>
                          <a:latin typeface="Segoe UI"/>
                        </a:rPr>
                        <a:t>Selecciona/Renombra valores (SelectValues)</a:t>
                      </a:r>
                      <a:endParaRPr sz="1100" lang="es-ES"/>
                    </a:p>
                  </a:txBody>
                  <a:tcPr marL="76200" marR="76200" marT="38100" marB="381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cmpd="sng" algn="ctr" cap="flat" w="9525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1F3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l"/>
                      <a:r>
                        <a:rPr lang="es-ES" sz="1100" b="false" i="false">
                          <a:solidFill>
                            <a:srgbClr val="1F2933"/>
                          </a:solidFill>
                          <a:latin typeface="Segoe UI"/>
                        </a:rPr>
                        <a:t>Seleccionar o eliminar campos de una fila. Opcionalmente, se puede establecer la meta-información del campo: tipo, longitud y precisión.</a:t>
                      </a:r>
                      <a:endParaRPr sz="1100" lang="es-ES"/>
                    </a:p>
                  </a:txBody>
                  <a:tcPr marL="76200" marR="76200" marT="38100" marB="381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cmpd="sng" algn="ctr" cap="flat" w="9525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1F3"/>
                    </a:solidFill>
                  </a:tcPr>
                </a:tc>
              </a:tr>
              <a:tr h="483108">
                <a:tc>
                  <a:txBody>
                    <a:bodyPr anchor="t" rtlCol="false"/>
                    <a:lstStyle/>
                    <a:p>
                      <a:pPr algn="r"/>
                      <a:r>
                        <a:rPr lang="es-ES" sz="1100" b="false" i="false">
                          <a:solidFill>
                            <a:srgbClr val="1F2933"/>
                          </a:solidFill>
                          <a:latin typeface="Segoe UI"/>
                        </a:rPr>
                        <a:t>16</a:t>
                      </a:r>
                      <a:endParaRPr sz="1100" lang="es-ES"/>
                    </a:p>
                  </a:txBody>
                  <a:tcPr marL="76200" marR="76200" marT="38100" marB="381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cmpd="sng" algn="ctr" cap="flat" w="9525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l"/>
                      <a:r>
                        <a:rPr lang="es-ES" sz="1100" b="false" i="false">
                          <a:solidFill>
                            <a:srgbClr val="1F2933"/>
                          </a:solidFill>
                          <a:latin typeface="Segoe UI"/>
                        </a:rPr>
                        <a:t>Escribir rechazos</a:t>
                      </a:r>
                      <a:endParaRPr sz="1100" lang="es-ES"/>
                    </a:p>
                  </a:txBody>
                  <a:tcPr marL="76200" marR="76200" marT="38100" marB="381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cmpd="sng" algn="ctr" cap="flat" w="9525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l"/>
                      <a:r>
                        <a:rPr lang="es-ES" sz="1100" b="false" i="false">
                          <a:solidFill>
                            <a:srgbClr val="1F2933"/>
                          </a:solidFill>
                          <a:latin typeface="Segoe UI"/>
                        </a:rPr>
                        <a:t>Salida Fichero de Texto (TextFileOutput)</a:t>
                      </a:r>
                      <a:endParaRPr sz="1100" lang="es-ES"/>
                    </a:p>
                  </a:txBody>
                  <a:tcPr marL="76200" marR="76200" marT="38100" marB="381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cmpd="sng" algn="ctr" cap="flat" w="9525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l"/>
                      <a:r>
                        <a:rPr lang="es-ES" sz="1100" b="false" i="false">
                          <a:solidFill>
                            <a:srgbClr val="1F2933"/>
                          </a:solidFill>
                          <a:latin typeface="Segoe UI"/>
                        </a:rPr>
                        <a:t>Escribe: ${Internal.Entry.Current.Directory}/../salida/rechazos_ventas.csv</a:t>
                      </a:r>
                      <a:endParaRPr sz="1100" lang="es-ES"/>
                    </a:p>
                  </a:txBody>
                  <a:tcPr marL="76200" marR="76200" marT="38100" marB="381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cmpd="sng" algn="ctr" cap="flat" w="9525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8000" y="203200"/>
            <a:ext cx="11176000" cy="635000"/>
          </a:xfrm>
        </p:spPr>
        <p:txBody>
          <a:bodyPr lIns="0" rIns="0" wrap="square" anchor="ctr"/>
          <a:lstStyle/>
          <a:p>
            <a:pPr algn="l"/>
            <a:r>
              <a:rPr lang="es-ES" sz="2600" b="true" i="false">
                <a:solidFill>
                  <a:srgbClr val="243B53"/>
                </a:solidFill>
                <a:latin typeface="Segoe UI"/>
              </a:rPr>
              <a:t>Linaje de campos</a:t>
            </a:r>
            <a:endParaRPr sz="2600" lang="es-ES"/>
          </a:p>
        </p:txBody>
      </p:sp>
      <p:pic>
        <p:nvPicPr>
          <p:cNvPr name="Picture 3" id="3"/>
          <p:cNvPicPr>
            <a:picLocks noChangeAspect="true"/>
          </p:cNvPicPr>
          <p:nvPr/>
        </p:nvPicPr>
        <p:blipFill>
          <a:blip r:embed="rId2"/>
          <a:stretch>
            <a:fillRect/>
          </a:stretch>
        </p:blipFill>
        <p:spPr>
          <a:xfrm>
            <a:off x="10248900" y="5510084"/>
            <a:ext cx="1435100" cy="814516"/>
          </a:xfrm>
          <a:prstGeom prst="rect">
            <a:avLst/>
          </a:prstGeom>
        </p:spPr>
      </p:pic>
      <p:sp>
        <p:nvSpPr>
          <p:cNvPr name="AutoShape 4" id="4"/>
          <p:cNvSpPr/>
          <p:nvPr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243B53"/>
          </a:solidFill>
          <a:ln>
            <a:noFill/>
          </a:ln>
        </p:spPr>
      </p:sp>
      <p:pic>
        <p:nvPicPr>
          <p:cNvPr name="Picture 5" id="5"/>
          <p:cNvPicPr>
            <a:picLocks noChangeAspect="true"/>
          </p:cNvPicPr>
          <p:nvPr/>
        </p:nvPicPr>
        <p:blipFill>
          <a:blip r:embed="rId3"/>
          <a:stretch>
            <a:fillRect/>
          </a:stretch>
        </p:blipFill>
        <p:spPr>
          <a:xfrm>
            <a:off x="508000" y="6508750"/>
            <a:ext cx="177800" cy="100914"/>
          </a:xfrm>
          <a:prstGeom prst="rect">
            <a:avLst/>
          </a:prstGeom>
        </p:spPr>
      </p:pic>
      <p:sp>
        <p:nvSpPr>
          <p:cNvPr name="TextBox 6" id="6"/>
          <p:cNvSpPr txBox="true"/>
          <p:nvPr/>
        </p:nvSpPr>
        <p:spPr>
          <a:xfrm>
            <a:off x="749300" y="6451600"/>
            <a:ext cx="5080000" cy="228600"/>
          </a:xfrm>
          <a:prstGeom prst="rect">
            <a:avLst/>
          </a:prstGeom>
        </p:spPr>
        <p:txBody>
          <a:bodyPr anchor="ctr" rtlCol="false" wrap="square" lIns="0" rIns="0" tIns="25400" bIns="25400"/>
          <a:lstStyle/>
          <a:p>
            <a:pPr algn="l"/>
            <a:r>
              <a:rPr lang="es-ES" sz="750" b="false" i="false">
                <a:solidFill>
                  <a:srgbClr val="6B7785"/>
                </a:solidFill>
                <a:latin typeface="Segoe UI"/>
              </a:rPr>
              <a:t>Pentaho Live · IDC Studios</a:t>
            </a:r>
            <a:endParaRPr sz="750" lang="es-ES"/>
          </a:p>
        </p:txBody>
      </p:sp>
      <p:sp>
        <p:nvSpPr>
          <p:cNvPr name="TextBox 7" id="7"/>
          <p:cNvSpPr txBox="true"/>
          <p:nvPr/>
        </p:nvSpPr>
        <p:spPr>
          <a:xfrm>
            <a:off x="10160000" y="6451600"/>
            <a:ext cx="1524000" cy="228600"/>
          </a:xfrm>
          <a:prstGeom prst="rect">
            <a:avLst/>
          </a:prstGeom>
        </p:spPr>
        <p:txBody>
          <a:bodyPr anchor="ctr" rtlCol="false" wrap="square" lIns="0" rIns="0" tIns="25400" bIns="25400"/>
          <a:lstStyle/>
          <a:p>
            <a:pPr algn="r"/>
            <a:fld id="{35D950AB-7BBC-47FE-8F1F-D58FEDC25BFD}" type="slidenum">
              <a:rPr lang="es-ES" sz="750">
                <a:solidFill>
                  <a:srgbClr val="6B7785"/>
                </a:solidFill>
                <a:latin typeface="Segoe UI"/>
              </a:rPr>
              <a:t>8</a:t>
            </a:fld>
            <a:endParaRPr sz="750" lang="es-ES"/>
          </a:p>
        </p:txBody>
      </p:sp>
      <p:sp>
        <p:nvSpPr>
          <p:cNvPr name="TextBox 8" id="8"/>
          <p:cNvSpPr txBox="true"/>
          <p:nvPr/>
        </p:nvSpPr>
        <p:spPr>
          <a:xfrm>
            <a:off x="508000" y="1016000"/>
            <a:ext cx="11176000" cy="254000"/>
          </a:xfrm>
          <a:prstGeom prst="rect">
            <a:avLst/>
          </a:prstGeom>
        </p:spPr>
        <p:txBody>
          <a:bodyPr anchor="t" rtlCol="false" wrap="square" lIns="0" rIns="0" tIns="25400" bIns="25400"/>
          <a:lstStyle/>
          <a:p>
            <a:pPr algn="l"/>
            <a:r>
              <a:rPr lang="es-ES" sz="1300" b="true" i="false">
                <a:solidFill>
                  <a:srgbClr val="243B53"/>
                </a:solidFill>
                <a:latin typeface="Segoe UI"/>
              </a:rPr>
              <a:t>Linaje hacia «Cargar hechos_ventas»</a:t>
            </a:r>
            <a:endParaRPr sz="1300" lang="es-ES"/>
          </a:p>
        </p:txBody>
      </p:sp>
      <p:pic>
        <p:nvPicPr>
          <p:cNvPr name="Picture 9" id="9"/>
          <p:cNvPicPr>
            <a:picLocks noChangeAspect="true"/>
          </p:cNvPicPr>
          <p:nvPr/>
        </p:nvPicPr>
        <p:blipFill>
          <a:blip r:embed="rId4"/>
          <a:stretch>
            <a:fillRect/>
          </a:stretch>
        </p:blipFill>
        <p:spPr>
          <a:xfrm>
            <a:off x="4095547" y="1295400"/>
            <a:ext cx="4000906" cy="4590542"/>
          </a:xfrm>
          <a:prstGeom prst="rect">
            <a:avLst/>
          </a:prstGeom>
        </p:spPr>
      </p:pic>
      <p:sp>
        <p:nvSpPr>
          <p:cNvPr name="TextBox 10" id="10"/>
          <p:cNvSpPr txBox="true"/>
          <p:nvPr/>
        </p:nvSpPr>
        <p:spPr>
          <a:xfrm>
            <a:off x="508000" y="5936742"/>
            <a:ext cx="11176000" cy="235458"/>
          </a:xfrm>
          <a:prstGeom prst="rect">
            <a:avLst/>
          </a:prstGeom>
        </p:spPr>
        <p:txBody>
          <a:bodyPr anchor="t" rtlCol="false" wrap="square" lIns="0" rIns="0" tIns="25400" bIns="25400"/>
          <a:lstStyle/>
          <a:p>
            <a:pPr algn="l"/>
            <a:r>
              <a:rPr lang="es-ES" sz="950" b="false" i="true">
                <a:solidFill>
                  <a:srgbClr val="6B7785"/>
                </a:solidFill>
                <a:latin typeface="Segoe UI"/>
              </a:rPr>
              <a:t>Diagrama reducido para que entre en la diapositiva: se ve completo en el HTML o el PDF.</a:t>
            </a:r>
            <a:endParaRPr sz="950" lang="es-ES"/>
          </a:p>
        </p:txBody>
      </p:sp>
    </p:spTree>
  </p:cSld>
  <p:clrMapOvr>
    <a:masterClrMapping/>
  </p:clrMapOvr>
</p:sld>
</file>

<file path=ppt/slides/slide9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8000" y="203200"/>
            <a:ext cx="11176000" cy="635000"/>
          </a:xfrm>
        </p:spPr>
        <p:txBody>
          <a:bodyPr lIns="0" rIns="0" wrap="square" anchor="ctr"/>
          <a:lstStyle/>
          <a:p>
            <a:pPr algn="l"/>
            <a:r>
              <a:rPr lang="es-ES" sz="2600" b="true" i="false">
                <a:solidFill>
                  <a:srgbClr val="243B53"/>
                </a:solidFill>
                <a:latin typeface="Segoe UI"/>
              </a:rPr>
              <a:t>Linaje de campos (cont.)</a:t>
            </a:r>
            <a:endParaRPr sz="2600" lang="es-ES"/>
          </a:p>
        </p:txBody>
      </p:sp>
      <p:pic>
        <p:nvPicPr>
          <p:cNvPr name="Picture 3" id="3"/>
          <p:cNvPicPr>
            <a:picLocks noChangeAspect="true"/>
          </p:cNvPicPr>
          <p:nvPr/>
        </p:nvPicPr>
        <p:blipFill>
          <a:blip r:embed="rId2"/>
          <a:stretch>
            <a:fillRect/>
          </a:stretch>
        </p:blipFill>
        <p:spPr>
          <a:xfrm>
            <a:off x="10248900" y="5510084"/>
            <a:ext cx="1435100" cy="814516"/>
          </a:xfrm>
          <a:prstGeom prst="rect">
            <a:avLst/>
          </a:prstGeom>
        </p:spPr>
      </p:pic>
      <p:sp>
        <p:nvSpPr>
          <p:cNvPr name="AutoShape 4" id="4"/>
          <p:cNvSpPr/>
          <p:nvPr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243B53"/>
          </a:solidFill>
          <a:ln>
            <a:noFill/>
          </a:ln>
        </p:spPr>
      </p:sp>
      <p:pic>
        <p:nvPicPr>
          <p:cNvPr name="Picture 5" id="5"/>
          <p:cNvPicPr>
            <a:picLocks noChangeAspect="true"/>
          </p:cNvPicPr>
          <p:nvPr/>
        </p:nvPicPr>
        <p:blipFill>
          <a:blip r:embed="rId3"/>
          <a:stretch>
            <a:fillRect/>
          </a:stretch>
        </p:blipFill>
        <p:spPr>
          <a:xfrm>
            <a:off x="508000" y="6508750"/>
            <a:ext cx="177800" cy="100914"/>
          </a:xfrm>
          <a:prstGeom prst="rect">
            <a:avLst/>
          </a:prstGeom>
        </p:spPr>
      </p:pic>
      <p:sp>
        <p:nvSpPr>
          <p:cNvPr name="TextBox 6" id="6"/>
          <p:cNvSpPr txBox="true"/>
          <p:nvPr/>
        </p:nvSpPr>
        <p:spPr>
          <a:xfrm>
            <a:off x="749300" y="6451600"/>
            <a:ext cx="5080000" cy="228600"/>
          </a:xfrm>
          <a:prstGeom prst="rect">
            <a:avLst/>
          </a:prstGeom>
        </p:spPr>
        <p:txBody>
          <a:bodyPr anchor="ctr" rtlCol="false" wrap="square" lIns="0" rIns="0" tIns="25400" bIns="25400"/>
          <a:lstStyle/>
          <a:p>
            <a:pPr algn="l"/>
            <a:r>
              <a:rPr lang="es-ES" sz="750" b="false" i="false">
                <a:solidFill>
                  <a:srgbClr val="6B7785"/>
                </a:solidFill>
                <a:latin typeface="Segoe UI"/>
              </a:rPr>
              <a:t>Pentaho Live · IDC Studios</a:t>
            </a:r>
            <a:endParaRPr sz="750" lang="es-ES"/>
          </a:p>
        </p:txBody>
      </p:sp>
      <p:sp>
        <p:nvSpPr>
          <p:cNvPr name="TextBox 7" id="7"/>
          <p:cNvSpPr txBox="true"/>
          <p:nvPr/>
        </p:nvSpPr>
        <p:spPr>
          <a:xfrm>
            <a:off x="10160000" y="6451600"/>
            <a:ext cx="1524000" cy="228600"/>
          </a:xfrm>
          <a:prstGeom prst="rect">
            <a:avLst/>
          </a:prstGeom>
        </p:spPr>
        <p:txBody>
          <a:bodyPr anchor="ctr" rtlCol="false" wrap="square" lIns="0" rIns="0" tIns="25400" bIns="25400"/>
          <a:lstStyle/>
          <a:p>
            <a:pPr algn="r"/>
            <a:fld id="{92CA67A3-AF11-458E-AB7E-A69B2F03EAB6}" type="slidenum">
              <a:rPr lang="es-ES" sz="750">
                <a:solidFill>
                  <a:srgbClr val="6B7785"/>
                </a:solidFill>
                <a:latin typeface="Segoe UI"/>
              </a:rPr>
              <a:t>9</a:t>
            </a:fld>
            <a:endParaRPr sz="750" lang="es-ES"/>
          </a:p>
        </p:txBody>
      </p:sp>
      <p:sp>
        <p:nvSpPr>
          <p:cNvPr name="TextBox 8" id="8"/>
          <p:cNvSpPr txBox="true"/>
          <p:nvPr/>
        </p:nvSpPr>
        <p:spPr>
          <a:xfrm>
            <a:off x="508000" y="1016000"/>
            <a:ext cx="11176000" cy="254000"/>
          </a:xfrm>
          <a:prstGeom prst="rect">
            <a:avLst/>
          </a:prstGeom>
        </p:spPr>
        <p:txBody>
          <a:bodyPr anchor="t" rtlCol="false" wrap="square" lIns="0" rIns="0" tIns="25400" bIns="25400"/>
          <a:lstStyle/>
          <a:p>
            <a:pPr algn="l"/>
            <a:r>
              <a:rPr lang="es-ES" sz="1300" b="true" i="false">
                <a:solidFill>
                  <a:srgbClr val="243B53"/>
                </a:solidFill>
                <a:latin typeface="Segoe UI"/>
              </a:rPr>
              <a:t>Campos de «Cargar hechos_ventas»</a:t>
            </a:r>
            <a:endParaRPr sz="1300" lang="es-ES"/>
          </a:p>
        </p:txBody>
      </p:sp>
      <p:graphicFrame>
        <p:nvGraphicFramePr>
          <p:cNvPr name="Table 9" id="9"/>
          <p:cNvGraphicFramePr>
            <a:graphicFrameLocks noGrp="true"/>
          </p:cNvGraphicFramePr>
          <p:nvPr/>
        </p:nvGraphicFramePr>
        <p:xfrm>
          <a:off x="508000" y="1295400"/>
          <a:ext cx="9753600" cy="4576572"/>
        </p:xfrm>
        <a:graphic>
          <a:graphicData uri="http://schemas.openxmlformats.org/drawingml/2006/table">
            <a:tbl>
              <a:tblPr/>
              <a:tblGrid>
                <a:gridCol w="1320800"/>
                <a:gridCol w="711200"/>
                <a:gridCol w="3860800"/>
                <a:gridCol w="3860800"/>
              </a:tblGrid>
              <a:tr h="298704">
                <a:tc>
                  <a:txBody>
                    <a:bodyPr anchor="t" rtlCol="false"/>
                    <a:lstStyle/>
                    <a:p>
                      <a:pPr algn="l"/>
                      <a:r>
                        <a:rPr lang="es-ES" sz="1100" b="true" i="false">
                          <a:solidFill>
                            <a:srgbClr val="FFFFFF"/>
                          </a:solidFill>
                          <a:latin typeface="Segoe UI"/>
                        </a:rPr>
                        <a:t>Campo</a:t>
                      </a:r>
                      <a:endParaRPr sz="1100" lang="es-ES"/>
                    </a:p>
                  </a:txBody>
                  <a:tcPr marL="76200" marR="76200" marT="38100" marB="381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cmpd="sng" algn="ctr" cap="flat" w="9525">
                      <a:solidFill>
                        <a:srgbClr val="243B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3B53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l"/>
                      <a:r>
                        <a:rPr lang="es-ES" sz="1100" b="true" i="false">
                          <a:solidFill>
                            <a:srgbClr val="FFFFFF"/>
                          </a:solidFill>
                          <a:latin typeface="Segoe UI"/>
                        </a:rPr>
                        <a:t>Tipo</a:t>
                      </a:r>
                      <a:endParaRPr sz="1100" lang="es-ES"/>
                    </a:p>
                  </a:txBody>
                  <a:tcPr marL="76200" marR="76200" marT="38100" marB="381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cmpd="sng" algn="ctr" cap="flat" w="9525">
                      <a:solidFill>
                        <a:srgbClr val="243B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3B53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l"/>
                      <a:r>
                        <a:rPr lang="es-ES" sz="1100" b="true" i="false">
                          <a:solidFill>
                            <a:srgbClr val="FFFFFF"/>
                          </a:solidFill>
                          <a:latin typeface="Segoe UI"/>
                        </a:rPr>
                        <a:t>Viene de</a:t>
                      </a:r>
                      <a:endParaRPr sz="1100" lang="es-ES"/>
                    </a:p>
                  </a:txBody>
                  <a:tcPr marL="76200" marR="76200" marT="38100" marB="381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cmpd="sng" algn="ctr" cap="flat" w="9525">
                      <a:solidFill>
                        <a:srgbClr val="243B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3B53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l"/>
                      <a:r>
                        <a:rPr lang="es-ES" sz="1100" b="true" i="false">
                          <a:solidFill>
                            <a:srgbClr val="FFFFFF"/>
                          </a:solidFill>
                          <a:latin typeface="Segoe UI"/>
                        </a:rPr>
                        <a:t>Transformaciones</a:t>
                      </a:r>
                      <a:endParaRPr sz="1100" lang="es-ES"/>
                    </a:p>
                  </a:txBody>
                  <a:tcPr marL="76200" marR="76200" marT="38100" marB="381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cmpd="sng" algn="ctr" cap="flat" w="9525">
                      <a:solidFill>
                        <a:srgbClr val="243B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3B53"/>
                    </a:solidFill>
                  </a:tcPr>
                </a:tc>
              </a:tr>
              <a:tr h="483108">
                <a:tc>
                  <a:txBody>
                    <a:bodyPr anchor="t" rtlCol="false"/>
                    <a:lstStyle/>
                    <a:p>
                      <a:pPr algn="l"/>
                      <a:r>
                        <a:rPr lang="es-ES" sz="1100" b="false" i="false">
                          <a:solidFill>
                            <a:srgbClr val="1F2933"/>
                          </a:solidFill>
                          <a:latin typeface="Segoe UI"/>
                        </a:rPr>
                        <a:t>id_ticket</a:t>
                      </a:r>
                      <a:endParaRPr sz="1100" lang="es-ES"/>
                    </a:p>
                  </a:txBody>
                  <a:tcPr marL="76200" marR="76200" marT="38100" marB="381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cmpd="sng" algn="ctr" cap="flat" w="9525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l"/>
                      <a:r>
                        <a:rPr lang="es-ES" sz="1100" b="false" i="false">
                          <a:solidFill>
                            <a:srgbClr val="1F2933"/>
                          </a:solidFill>
                          <a:latin typeface="Segoe UI"/>
                        </a:rPr>
                        <a:t>String</a:t>
                      </a:r>
                      <a:endParaRPr sz="1100" lang="es-ES"/>
                    </a:p>
                  </a:txBody>
                  <a:tcPr marL="76200" marR="76200" marT="38100" marB="381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cmpd="sng" algn="ctr" cap="flat" w="9525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l"/>
                      <a:r>
                        <a:rPr lang="es-ES" sz="1100" b="false" i="false">
                          <a:solidFill>
                            <a:srgbClr val="1F2933"/>
                          </a:solidFill>
                          <a:latin typeface="Segoe UI"/>
                        </a:rPr>
                        <a:t>Leer ventas (CSV) (ventas_2026_09.csv): id_ticket</a:t>
                      </a:r>
                      <a:endParaRPr sz="1100" lang="es-ES"/>
                    </a:p>
                  </a:txBody>
                  <a:tcPr marL="76200" marR="76200" marT="38100" marB="381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cmpd="sng" algn="ctr" cap="flat" w="9525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l"/>
                      <a:r>
                        <a:rPr lang="es-ES" sz="1100" b="false" i="false">
                          <a:solidFill>
                            <a:srgbClr val="1F2933"/>
                          </a:solidFill>
                          <a:latin typeface="Segoe UI"/>
                        </a:rPr>
                        <a:t>sin cambios</a:t>
                      </a:r>
                      <a:endParaRPr sz="1100" lang="es-ES"/>
                    </a:p>
                  </a:txBody>
                  <a:tcPr marL="76200" marR="76200" marT="38100" marB="381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cmpd="sng" algn="ctr" cap="flat" w="9525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8704">
                <a:tc>
                  <a:txBody>
                    <a:bodyPr anchor="t" rtlCol="false"/>
                    <a:lstStyle/>
                    <a:p>
                      <a:pPr algn="l"/>
                      <a:r>
                        <a:rPr lang="es-ES" sz="1100" b="false" i="false">
                          <a:solidFill>
                            <a:srgbClr val="1F2933"/>
                          </a:solidFill>
                          <a:latin typeface="Segoe UI"/>
                        </a:rPr>
                        <a:t>linea</a:t>
                      </a:r>
                      <a:endParaRPr sz="1100" lang="es-ES"/>
                    </a:p>
                  </a:txBody>
                  <a:tcPr marL="76200" marR="76200" marT="38100" marB="381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cmpd="sng" algn="ctr" cap="flat" w="9525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1F3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l"/>
                      <a:r>
                        <a:rPr lang="es-ES" sz="1100" b="false" i="false">
                          <a:solidFill>
                            <a:srgbClr val="1F2933"/>
                          </a:solidFill>
                          <a:latin typeface="Segoe UI"/>
                        </a:rPr>
                        <a:t>Integer</a:t>
                      </a:r>
                      <a:endParaRPr sz="1100" lang="es-ES"/>
                    </a:p>
                  </a:txBody>
                  <a:tcPr marL="76200" marR="76200" marT="38100" marB="381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cmpd="sng" algn="ctr" cap="flat" w="9525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1F3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l"/>
                      <a:r>
                        <a:rPr lang="es-ES" sz="1100" b="false" i="false">
                          <a:solidFill>
                            <a:srgbClr val="1F2933"/>
                          </a:solidFill>
                          <a:latin typeface="Segoe UI"/>
                        </a:rPr>
                        <a:t>Leer ventas (CSV) (ventas_2026_09.csv): linea</a:t>
                      </a:r>
                      <a:endParaRPr sz="1100" lang="es-ES"/>
                    </a:p>
                  </a:txBody>
                  <a:tcPr marL="76200" marR="76200" marT="38100" marB="381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cmpd="sng" algn="ctr" cap="flat" w="9525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1F3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l"/>
                      <a:r>
                        <a:rPr lang="es-ES" sz="1100" b="false" i="false">
                          <a:solidFill>
                            <a:srgbClr val="1F2933"/>
                          </a:solidFill>
                          <a:latin typeface="Segoe UI"/>
                        </a:rPr>
                        <a:t>sin cambios</a:t>
                      </a:r>
                      <a:endParaRPr sz="1100" lang="es-ES"/>
                    </a:p>
                  </a:txBody>
                  <a:tcPr marL="76200" marR="76200" marT="38100" marB="381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cmpd="sng" algn="ctr" cap="flat" w="9525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1F3"/>
                    </a:solidFill>
                  </a:tcPr>
                </a:tc>
              </a:tr>
              <a:tr h="298704">
                <a:tc>
                  <a:txBody>
                    <a:bodyPr anchor="t" rtlCol="false"/>
                    <a:lstStyle/>
                    <a:p>
                      <a:pPr algn="l"/>
                      <a:r>
                        <a:rPr lang="es-ES" sz="1100" b="false" i="false">
                          <a:solidFill>
                            <a:srgbClr val="1F2933"/>
                          </a:solidFill>
                          <a:latin typeface="Segoe UI"/>
                        </a:rPr>
                        <a:t>fecha</a:t>
                      </a:r>
                      <a:endParaRPr sz="1100" lang="es-ES"/>
                    </a:p>
                  </a:txBody>
                  <a:tcPr marL="76200" marR="76200" marT="38100" marB="381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cmpd="sng" algn="ctr" cap="flat" w="9525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l"/>
                      <a:r>
                        <a:rPr lang="es-ES" sz="1100" b="false" i="false">
                          <a:solidFill>
                            <a:srgbClr val="1F2933"/>
                          </a:solidFill>
                          <a:latin typeface="Segoe UI"/>
                        </a:rPr>
                        <a:t>String</a:t>
                      </a:r>
                      <a:endParaRPr sz="1100" lang="es-ES"/>
                    </a:p>
                  </a:txBody>
                  <a:tcPr marL="76200" marR="76200" marT="38100" marB="381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cmpd="sng" algn="ctr" cap="flat" w="9525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l"/>
                      <a:r>
                        <a:rPr lang="es-ES" sz="1100" b="false" i="false">
                          <a:solidFill>
                            <a:srgbClr val="1F2933"/>
                          </a:solidFill>
                          <a:latin typeface="Segoe UI"/>
                        </a:rPr>
                        <a:t>Leer ventas (CSV) (ventas_2026_09.csv): fecha</a:t>
                      </a:r>
                      <a:endParaRPr sz="1100" lang="es-ES"/>
                    </a:p>
                  </a:txBody>
                  <a:tcPr marL="76200" marR="76200" marT="38100" marB="381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cmpd="sng" algn="ctr" cap="flat" w="9525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l"/>
                      <a:r>
                        <a:rPr lang="es-ES" sz="1100" b="false" i="false">
                          <a:solidFill>
                            <a:srgbClr val="1F2933"/>
                          </a:solidFill>
                          <a:latin typeface="Segoe UI"/>
                        </a:rPr>
                        <a:t>sin cambios</a:t>
                      </a:r>
                      <a:endParaRPr sz="1100" lang="es-ES"/>
                    </a:p>
                  </a:txBody>
                  <a:tcPr marL="76200" marR="76200" marT="38100" marB="381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cmpd="sng" algn="ctr" cap="flat" w="9525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83108">
                <a:tc>
                  <a:txBody>
                    <a:bodyPr anchor="t" rtlCol="false"/>
                    <a:lstStyle/>
                    <a:p>
                      <a:pPr algn="l"/>
                      <a:r>
                        <a:rPr lang="es-ES" sz="1100" b="false" i="false">
                          <a:solidFill>
                            <a:srgbClr val="1F2933"/>
                          </a:solidFill>
                          <a:latin typeface="Segoe UI"/>
                        </a:rPr>
                        <a:t>id_tienda</a:t>
                      </a:r>
                      <a:endParaRPr sz="1100" lang="es-ES"/>
                    </a:p>
                  </a:txBody>
                  <a:tcPr marL="76200" marR="76200" marT="38100" marB="381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cmpd="sng" algn="ctr" cap="flat" w="9525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1F3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l"/>
                      <a:r>
                        <a:rPr lang="es-ES" sz="1100" b="false" i="false">
                          <a:solidFill>
                            <a:srgbClr val="1F2933"/>
                          </a:solidFill>
                          <a:latin typeface="Segoe UI"/>
                        </a:rPr>
                        <a:t>String</a:t>
                      </a:r>
                      <a:endParaRPr sz="1100" lang="es-ES"/>
                    </a:p>
                  </a:txBody>
                  <a:tcPr marL="76200" marR="76200" marT="38100" marB="381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cmpd="sng" algn="ctr" cap="flat" w="9525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1F3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l"/>
                      <a:r>
                        <a:rPr lang="es-ES" sz="1100" b="false" i="false">
                          <a:solidFill>
                            <a:srgbClr val="1F2933"/>
                          </a:solidFill>
                          <a:latin typeface="Segoe UI"/>
                        </a:rPr>
                        <a:t>Leer ventas (CSV) (ventas_2026_09.csv): id_tienda</a:t>
                      </a:r>
                      <a:endParaRPr sz="1100" lang="es-ES"/>
                    </a:p>
                  </a:txBody>
                  <a:tcPr marL="76200" marR="76200" marT="38100" marB="381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cmpd="sng" algn="ctr" cap="flat" w="9525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1F3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l"/>
                      <a:r>
                        <a:rPr lang="es-ES" sz="1100" b="false" i="false">
                          <a:solidFill>
                            <a:srgbClr val="1F2933"/>
                          </a:solidFill>
                          <a:latin typeface="Segoe UI"/>
                        </a:rPr>
                        <a:t>sin cambios</a:t>
                      </a:r>
                      <a:endParaRPr sz="1100" lang="es-ES"/>
                    </a:p>
                  </a:txBody>
                  <a:tcPr marL="76200" marR="76200" marT="38100" marB="381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cmpd="sng" algn="ctr" cap="flat" w="9525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1F3"/>
                    </a:solidFill>
                  </a:tcPr>
                </a:tc>
              </a:tr>
              <a:tr h="483108">
                <a:tc>
                  <a:txBody>
                    <a:bodyPr anchor="t" rtlCol="false"/>
                    <a:lstStyle/>
                    <a:p>
                      <a:pPr algn="l"/>
                      <a:r>
                        <a:rPr lang="es-ES" sz="1100" b="false" i="false">
                          <a:solidFill>
                            <a:srgbClr val="1F2933"/>
                          </a:solidFill>
                          <a:latin typeface="Segoe UI"/>
                        </a:rPr>
                        <a:t>codigo_producto</a:t>
                      </a:r>
                      <a:endParaRPr sz="1100" lang="es-ES"/>
                    </a:p>
                  </a:txBody>
                  <a:tcPr marL="76200" marR="76200" marT="38100" marB="381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cmpd="sng" algn="ctr" cap="flat" w="9525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l"/>
                      <a:r>
                        <a:rPr lang="es-ES" sz="1100" b="false" i="false">
                          <a:solidFill>
                            <a:srgbClr val="1F2933"/>
                          </a:solidFill>
                          <a:latin typeface="Segoe UI"/>
                        </a:rPr>
                        <a:t>String</a:t>
                      </a:r>
                      <a:endParaRPr sz="1100" lang="es-ES"/>
                    </a:p>
                  </a:txBody>
                  <a:tcPr marL="76200" marR="76200" marT="38100" marB="381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cmpd="sng" algn="ctr" cap="flat" w="9525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l"/>
                      <a:r>
                        <a:rPr lang="es-ES" sz="1100" b="false" i="false">
                          <a:solidFill>
                            <a:srgbClr val="1F2933"/>
                          </a:solidFill>
                          <a:latin typeface="Segoe UI"/>
                        </a:rPr>
                        <a:t>Leer ventas (CSV) (ventas_2026_09.csv): codigo_producto</a:t>
                      </a:r>
                      <a:endParaRPr sz="1100" lang="es-ES"/>
                    </a:p>
                  </a:txBody>
                  <a:tcPr marL="76200" marR="76200" marT="38100" marB="381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cmpd="sng" algn="ctr" cap="flat" w="9525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l"/>
                      <a:r>
                        <a:rPr lang="es-ES" sz="1100" b="false" i="false">
                          <a:solidFill>
                            <a:srgbClr val="1F2933"/>
                          </a:solidFill>
                          <a:latin typeface="Segoe UI"/>
                        </a:rPr>
                        <a:t>sin cambios</a:t>
                      </a:r>
                      <a:endParaRPr sz="1100" lang="es-ES"/>
                    </a:p>
                  </a:txBody>
                  <a:tcPr marL="76200" marR="76200" marT="38100" marB="381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cmpd="sng" algn="ctr" cap="flat" w="9525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8704">
                <a:tc>
                  <a:txBody>
                    <a:bodyPr anchor="t" rtlCol="false"/>
                    <a:lstStyle/>
                    <a:p>
                      <a:pPr algn="l"/>
                      <a:r>
                        <a:rPr lang="es-ES" sz="1100" b="false" i="false">
                          <a:solidFill>
                            <a:srgbClr val="1F2933"/>
                          </a:solidFill>
                          <a:latin typeface="Segoe UI"/>
                        </a:rPr>
                        <a:t>cantidad</a:t>
                      </a:r>
                      <a:endParaRPr sz="1100" lang="es-ES"/>
                    </a:p>
                  </a:txBody>
                  <a:tcPr marL="76200" marR="76200" marT="38100" marB="381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cmpd="sng" algn="ctr" cap="flat" w="9525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1F3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l"/>
                      <a:r>
                        <a:rPr lang="es-ES" sz="1100" b="false" i="false">
                          <a:solidFill>
                            <a:srgbClr val="1F2933"/>
                          </a:solidFill>
                          <a:latin typeface="Segoe UI"/>
                        </a:rPr>
                        <a:t>Integer</a:t>
                      </a:r>
                      <a:endParaRPr sz="1100" lang="es-ES"/>
                    </a:p>
                  </a:txBody>
                  <a:tcPr marL="76200" marR="76200" marT="38100" marB="381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cmpd="sng" algn="ctr" cap="flat" w="9525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1F3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l"/>
                      <a:r>
                        <a:rPr lang="es-ES" sz="1100" b="false" i="false">
                          <a:solidFill>
                            <a:srgbClr val="1F2933"/>
                          </a:solidFill>
                          <a:latin typeface="Segoe UI"/>
                        </a:rPr>
                        <a:t>Leer ventas (CSV) (ventas_2026_09.csv): cantidad</a:t>
                      </a:r>
                      <a:endParaRPr sz="1100" lang="es-ES"/>
                    </a:p>
                  </a:txBody>
                  <a:tcPr marL="76200" marR="76200" marT="38100" marB="381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cmpd="sng" algn="ctr" cap="flat" w="9525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1F3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l"/>
                      <a:r>
                        <a:rPr lang="es-ES" sz="1100" b="false" i="false">
                          <a:solidFill>
                            <a:srgbClr val="1F2933"/>
                          </a:solidFill>
                          <a:latin typeface="Segoe UI"/>
                        </a:rPr>
                        <a:t>sin cambios</a:t>
                      </a:r>
                      <a:endParaRPr sz="1100" lang="es-ES"/>
                    </a:p>
                  </a:txBody>
                  <a:tcPr marL="76200" marR="76200" marT="38100" marB="381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cmpd="sng" algn="ctr" cap="flat" w="9525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1F3"/>
                    </a:solidFill>
                  </a:tcPr>
                </a:tc>
              </a:tr>
              <a:tr h="483108">
                <a:tc>
                  <a:txBody>
                    <a:bodyPr anchor="t" rtlCol="false"/>
                    <a:lstStyle/>
                    <a:p>
                      <a:pPr algn="l"/>
                      <a:r>
                        <a:rPr lang="es-ES" sz="1100" b="false" i="false">
                          <a:solidFill>
                            <a:srgbClr val="1F2933"/>
                          </a:solidFill>
                          <a:latin typeface="Segoe UI"/>
                        </a:rPr>
                        <a:t>precio_unitario</a:t>
                      </a:r>
                      <a:endParaRPr sz="1100" lang="es-ES"/>
                    </a:p>
                  </a:txBody>
                  <a:tcPr marL="76200" marR="76200" marT="38100" marB="381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cmpd="sng" algn="ctr" cap="flat" w="9525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l"/>
                      <a:r>
                        <a:rPr lang="es-ES" sz="1100" b="false" i="false">
                          <a:solidFill>
                            <a:srgbClr val="1F2933"/>
                          </a:solidFill>
                          <a:latin typeface="Segoe UI"/>
                        </a:rPr>
                        <a:t>Number</a:t>
                      </a:r>
                      <a:endParaRPr sz="1100" lang="es-ES"/>
                    </a:p>
                  </a:txBody>
                  <a:tcPr marL="76200" marR="76200" marT="38100" marB="381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cmpd="sng" algn="ctr" cap="flat" w="9525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l"/>
                      <a:r>
                        <a:rPr lang="es-ES" sz="1100" b="false" i="false">
                          <a:solidFill>
                            <a:srgbClr val="1F2933"/>
                          </a:solidFill>
                          <a:latin typeface="Segoe UI"/>
                        </a:rPr>
                        <a:t>Leer ventas (CSV) (ventas_2026_09.csv): precio_unitario</a:t>
                      </a:r>
                      <a:endParaRPr sz="1100" lang="es-ES"/>
                    </a:p>
                  </a:txBody>
                  <a:tcPr marL="76200" marR="76200" marT="38100" marB="381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cmpd="sng" algn="ctr" cap="flat" w="9525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l"/>
                      <a:r>
                        <a:rPr lang="es-ES" sz="1100" b="false" i="false">
                          <a:solidFill>
                            <a:srgbClr val="1F2933"/>
                          </a:solidFill>
                          <a:latin typeface="Segoe UI"/>
                        </a:rPr>
                        <a:t>a Number (#.##) en «Convertir precio a número»</a:t>
                      </a:r>
                      <a:endParaRPr sz="1100" lang="es-ES"/>
                    </a:p>
                  </a:txBody>
                  <a:tcPr marL="76200" marR="76200" marT="38100" marB="381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cmpd="sng" algn="ctr" cap="flat" w="9525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83108">
                <a:tc>
                  <a:txBody>
                    <a:bodyPr anchor="t" rtlCol="false"/>
                    <a:lstStyle/>
                    <a:p>
                      <a:pPr algn="l"/>
                      <a:r>
                        <a:rPr lang="es-ES" sz="1100" b="false" i="false">
                          <a:solidFill>
                            <a:srgbClr val="1F2933"/>
                          </a:solidFill>
                          <a:latin typeface="Segoe UI"/>
                        </a:rPr>
                        <a:t>metodo_pago</a:t>
                      </a:r>
                      <a:endParaRPr sz="1100" lang="es-ES"/>
                    </a:p>
                  </a:txBody>
                  <a:tcPr marL="76200" marR="76200" marT="38100" marB="381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cmpd="sng" algn="ctr" cap="flat" w="9525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1F3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l"/>
                      <a:r>
                        <a:rPr lang="es-ES" sz="1100" b="false" i="false">
                          <a:solidFill>
                            <a:srgbClr val="1F2933"/>
                          </a:solidFill>
                          <a:latin typeface="Segoe UI"/>
                        </a:rPr>
                        <a:t>String</a:t>
                      </a:r>
                      <a:endParaRPr sz="1100" lang="es-ES"/>
                    </a:p>
                  </a:txBody>
                  <a:tcPr marL="76200" marR="76200" marT="38100" marB="381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cmpd="sng" algn="ctr" cap="flat" w="9525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1F3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l"/>
                      <a:r>
                        <a:rPr lang="es-ES" sz="1100" b="false" i="false">
                          <a:solidFill>
                            <a:srgbClr val="1F2933"/>
                          </a:solidFill>
                          <a:latin typeface="Segoe UI"/>
                        </a:rPr>
                        <a:t>Leer ventas (CSV) (ventas_2026_09.csv): metodo_pago</a:t>
                      </a:r>
                      <a:endParaRPr sz="1100" lang="es-ES"/>
                    </a:p>
                  </a:txBody>
                  <a:tcPr marL="76200" marR="76200" marT="38100" marB="381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cmpd="sng" algn="ctr" cap="flat" w="9525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1F3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l"/>
                      <a:r>
                        <a:rPr lang="es-ES" sz="1100" b="false" i="false">
                          <a:solidFill>
                            <a:srgbClr val="1F2933"/>
                          </a:solidFill>
                          <a:latin typeface="Segoe UI"/>
                        </a:rPr>
                        <a:t>sin cambios</a:t>
                      </a:r>
                      <a:endParaRPr sz="1100" lang="es-ES"/>
                    </a:p>
                  </a:txBody>
                  <a:tcPr marL="76200" marR="76200" marT="38100" marB="381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cmpd="sng" algn="ctr" cap="flat" w="9525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1F3"/>
                    </a:solidFill>
                  </a:tcPr>
                </a:tc>
              </a:tr>
              <a:tr h="483108">
                <a:tc>
                  <a:txBody>
                    <a:bodyPr anchor="t" rtlCol="false"/>
                    <a:lstStyle/>
                    <a:p>
                      <a:pPr algn="l"/>
                      <a:r>
                        <a:rPr lang="es-ES" sz="1100" b="false" i="false">
                          <a:solidFill>
                            <a:srgbClr val="1F2933"/>
                          </a:solidFill>
                          <a:latin typeface="Segoe UI"/>
                        </a:rPr>
                        <a:t>sk_tienda</a:t>
                      </a:r>
                      <a:endParaRPr sz="1100" lang="es-ES"/>
                    </a:p>
                  </a:txBody>
                  <a:tcPr marL="76200" marR="76200" marT="38100" marB="381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cmpd="sng" algn="ctr" cap="flat" w="9525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l"/>
                      <a:r>
                        <a:rPr lang="es-ES" sz="1100" b="false" i="false">
                          <a:solidFill>
                            <a:srgbClr val="1F2933"/>
                          </a:solidFill>
                          <a:latin typeface="Segoe UI"/>
                        </a:rPr>
                        <a:t>Integer</a:t>
                      </a:r>
                      <a:endParaRPr sz="1100" lang="es-ES"/>
                    </a:p>
                  </a:txBody>
                  <a:tcPr marL="76200" marR="76200" marT="38100" marB="381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cmpd="sng" algn="ctr" cap="flat" w="9525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l"/>
                      <a:r>
                        <a:rPr lang="es-ES" sz="1100" b="false" i="false">
                          <a:solidFill>
                            <a:srgbClr val="1F2933"/>
                          </a:solidFill>
                          <a:latin typeface="Segoe UI"/>
                        </a:rPr>
                        <a:t>Buscar tienda: sk_tienda (creado)</a:t>
                      </a:r>
                      <a:endParaRPr sz="1100" lang="es-ES"/>
                    </a:p>
                  </a:txBody>
                  <a:tcPr marL="76200" marR="76200" marT="38100" marB="381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cmpd="sng" algn="ctr" cap="flat" w="9525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l"/>
                      <a:r>
                        <a:rPr lang="es-ES" sz="1100" b="false" i="false">
                          <a:solidFill>
                            <a:srgbClr val="1F2933"/>
                          </a:solidFill>
                          <a:latin typeface="Segoe UI"/>
                        </a:rPr>
                        <a:t>creado por Búsqueda en base de datos en «Buscar tienda»</a:t>
                      </a:r>
                      <a:endParaRPr sz="1100" lang="es-ES"/>
                    </a:p>
                  </a:txBody>
                  <a:tcPr marL="76200" marR="76200" marT="38100" marB="381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cmpd="sng" algn="ctr" cap="flat" w="9525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83108">
                <a:tc>
                  <a:txBody>
                    <a:bodyPr anchor="t" rtlCol="false"/>
                    <a:lstStyle/>
                    <a:p>
                      <a:pPr algn="l"/>
                      <a:r>
                        <a:rPr lang="es-ES" sz="1100" b="false" i="false">
                          <a:solidFill>
                            <a:srgbClr val="1F2933"/>
                          </a:solidFill>
                          <a:latin typeface="Segoe UI"/>
                        </a:rPr>
                        <a:t>sk_producto</a:t>
                      </a:r>
                      <a:endParaRPr sz="1100" lang="es-ES"/>
                    </a:p>
                  </a:txBody>
                  <a:tcPr marL="76200" marR="76200" marT="38100" marB="381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cmpd="sng" algn="ctr" cap="flat" w="9525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1F3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l"/>
                      <a:r>
                        <a:rPr lang="es-ES" sz="1100" b="false" i="false">
                          <a:solidFill>
                            <a:srgbClr val="1F2933"/>
                          </a:solidFill>
                          <a:latin typeface="Segoe UI"/>
                        </a:rPr>
                        <a:t>Integer</a:t>
                      </a:r>
                      <a:endParaRPr sz="1100" lang="es-ES"/>
                    </a:p>
                  </a:txBody>
                  <a:tcPr marL="76200" marR="76200" marT="38100" marB="381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cmpd="sng" algn="ctr" cap="flat" w="9525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1F3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l"/>
                      <a:r>
                        <a:rPr lang="es-ES" sz="1100" b="false" i="false">
                          <a:solidFill>
                            <a:srgbClr val="1F2933"/>
                          </a:solidFill>
                          <a:latin typeface="Segoe UI"/>
                        </a:rPr>
                        <a:t>Buscar producto: sk_producto (creado)</a:t>
                      </a:r>
                      <a:endParaRPr sz="1100" lang="es-ES"/>
                    </a:p>
                  </a:txBody>
                  <a:tcPr marL="76200" marR="76200" marT="38100" marB="381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cmpd="sng" algn="ctr" cap="flat" w="9525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1F3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l"/>
                      <a:r>
                        <a:rPr lang="es-ES" sz="1100" b="false" i="false">
                          <a:solidFill>
                            <a:srgbClr val="1F2933"/>
                          </a:solidFill>
                          <a:latin typeface="Segoe UI"/>
                        </a:rPr>
                        <a:t>creado por Búsqueda en base de datos en «Buscar producto»</a:t>
                      </a:r>
                      <a:endParaRPr sz="1100" lang="es-ES"/>
                    </a:p>
                  </a:txBody>
                  <a:tcPr marL="76200" marR="76200" marT="38100" marB="381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cmpd="sng" algn="ctr" cap="flat" w="9525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1F3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0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8000" y="203200"/>
            <a:ext cx="11176000" cy="635000"/>
          </a:xfrm>
        </p:spPr>
        <p:txBody>
          <a:bodyPr lIns="0" rIns="0" wrap="square" anchor="ctr"/>
          <a:lstStyle/>
          <a:p>
            <a:pPr algn="l"/>
            <a:r>
              <a:rPr lang="es-ES" sz="2600" b="true" i="false">
                <a:solidFill>
                  <a:srgbClr val="243B53"/>
                </a:solidFill>
                <a:latin typeface="Segoe UI"/>
              </a:rPr>
              <a:t>Linaje de campos (cont.)</a:t>
            </a:r>
            <a:endParaRPr sz="2600" lang="es-ES"/>
          </a:p>
        </p:txBody>
      </p:sp>
      <p:pic>
        <p:nvPicPr>
          <p:cNvPr name="Picture 3" id="3"/>
          <p:cNvPicPr>
            <a:picLocks noChangeAspect="true"/>
          </p:cNvPicPr>
          <p:nvPr/>
        </p:nvPicPr>
        <p:blipFill>
          <a:blip r:embed="rId2"/>
          <a:stretch>
            <a:fillRect/>
          </a:stretch>
        </p:blipFill>
        <p:spPr>
          <a:xfrm>
            <a:off x="10248900" y="5510084"/>
            <a:ext cx="1435100" cy="814516"/>
          </a:xfrm>
          <a:prstGeom prst="rect">
            <a:avLst/>
          </a:prstGeom>
        </p:spPr>
      </p:pic>
      <p:sp>
        <p:nvSpPr>
          <p:cNvPr name="AutoShape 4" id="4"/>
          <p:cNvSpPr/>
          <p:nvPr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243B53"/>
          </a:solidFill>
          <a:ln>
            <a:noFill/>
          </a:ln>
        </p:spPr>
      </p:sp>
      <p:pic>
        <p:nvPicPr>
          <p:cNvPr name="Picture 5" id="5"/>
          <p:cNvPicPr>
            <a:picLocks noChangeAspect="true"/>
          </p:cNvPicPr>
          <p:nvPr/>
        </p:nvPicPr>
        <p:blipFill>
          <a:blip r:embed="rId3"/>
          <a:stretch>
            <a:fillRect/>
          </a:stretch>
        </p:blipFill>
        <p:spPr>
          <a:xfrm>
            <a:off x="508000" y="6508750"/>
            <a:ext cx="177800" cy="100914"/>
          </a:xfrm>
          <a:prstGeom prst="rect">
            <a:avLst/>
          </a:prstGeom>
        </p:spPr>
      </p:pic>
      <p:sp>
        <p:nvSpPr>
          <p:cNvPr name="TextBox 6" id="6"/>
          <p:cNvSpPr txBox="true"/>
          <p:nvPr/>
        </p:nvSpPr>
        <p:spPr>
          <a:xfrm>
            <a:off x="749300" y="6451600"/>
            <a:ext cx="5080000" cy="228600"/>
          </a:xfrm>
          <a:prstGeom prst="rect">
            <a:avLst/>
          </a:prstGeom>
        </p:spPr>
        <p:txBody>
          <a:bodyPr anchor="ctr" rtlCol="false" wrap="square" lIns="0" rIns="0" tIns="25400" bIns="25400"/>
          <a:lstStyle/>
          <a:p>
            <a:pPr algn="l"/>
            <a:r>
              <a:rPr lang="es-ES" sz="750" b="false" i="false">
                <a:solidFill>
                  <a:srgbClr val="6B7785"/>
                </a:solidFill>
                <a:latin typeface="Segoe UI"/>
              </a:rPr>
              <a:t>Pentaho Live · IDC Studios</a:t>
            </a:r>
            <a:endParaRPr sz="750" lang="es-ES"/>
          </a:p>
        </p:txBody>
      </p:sp>
      <p:sp>
        <p:nvSpPr>
          <p:cNvPr name="TextBox 7" id="7"/>
          <p:cNvSpPr txBox="true"/>
          <p:nvPr/>
        </p:nvSpPr>
        <p:spPr>
          <a:xfrm>
            <a:off x="10160000" y="6451600"/>
            <a:ext cx="1524000" cy="228600"/>
          </a:xfrm>
          <a:prstGeom prst="rect">
            <a:avLst/>
          </a:prstGeom>
        </p:spPr>
        <p:txBody>
          <a:bodyPr anchor="ctr" rtlCol="false" wrap="square" lIns="0" rIns="0" tIns="25400" bIns="25400"/>
          <a:lstStyle/>
          <a:p>
            <a:pPr algn="r"/>
            <a:fld id="{4D817CA8-581C-4024-B062-4791C23BA622}" type="slidenum">
              <a:rPr lang="es-ES" sz="750">
                <a:solidFill>
                  <a:srgbClr val="6B7785"/>
                </a:solidFill>
                <a:latin typeface="Segoe UI"/>
              </a:rPr>
              <a:t>10</a:t>
            </a:fld>
            <a:endParaRPr sz="750" lang="es-ES"/>
          </a:p>
        </p:txBody>
      </p:sp>
      <p:sp>
        <p:nvSpPr>
          <p:cNvPr name="TextBox 8" id="8"/>
          <p:cNvSpPr txBox="true"/>
          <p:nvPr/>
        </p:nvSpPr>
        <p:spPr>
          <a:xfrm>
            <a:off x="508000" y="1016000"/>
            <a:ext cx="11176000" cy="254000"/>
          </a:xfrm>
          <a:prstGeom prst="rect">
            <a:avLst/>
          </a:prstGeom>
        </p:spPr>
        <p:txBody>
          <a:bodyPr anchor="t" rtlCol="false" wrap="square" lIns="0" rIns="0" tIns="25400" bIns="25400"/>
          <a:lstStyle/>
          <a:p>
            <a:pPr algn="l"/>
            <a:r>
              <a:rPr lang="es-ES" sz="1300" b="true" i="false">
                <a:solidFill>
                  <a:srgbClr val="243B53"/>
                </a:solidFill>
                <a:latin typeface="Segoe UI"/>
              </a:rPr>
              <a:t>Campos de «Cargar hechos_ventas» (cont.)</a:t>
            </a:r>
            <a:endParaRPr sz="1300" lang="es-ES"/>
          </a:p>
        </p:txBody>
      </p:sp>
      <p:graphicFrame>
        <p:nvGraphicFramePr>
          <p:cNvPr name="Table 9" id="9"/>
          <p:cNvGraphicFramePr>
            <a:graphicFrameLocks noGrp="true"/>
          </p:cNvGraphicFramePr>
          <p:nvPr/>
        </p:nvGraphicFramePr>
        <p:xfrm>
          <a:off x="508000" y="1295400"/>
          <a:ext cx="9753600" cy="1932432"/>
        </p:xfrm>
        <a:graphic>
          <a:graphicData uri="http://schemas.openxmlformats.org/drawingml/2006/table">
            <a:tbl>
              <a:tblPr/>
              <a:tblGrid>
                <a:gridCol w="1320800"/>
                <a:gridCol w="711200"/>
                <a:gridCol w="3860800"/>
                <a:gridCol w="3860800"/>
              </a:tblGrid>
              <a:tr h="298704">
                <a:tc>
                  <a:txBody>
                    <a:bodyPr anchor="t" rtlCol="false"/>
                    <a:lstStyle/>
                    <a:p>
                      <a:pPr algn="l"/>
                      <a:r>
                        <a:rPr lang="es-ES" sz="1100" b="true" i="false">
                          <a:solidFill>
                            <a:srgbClr val="FFFFFF"/>
                          </a:solidFill>
                          <a:latin typeface="Segoe UI"/>
                        </a:rPr>
                        <a:t>Campo</a:t>
                      </a:r>
                      <a:endParaRPr sz="1100" lang="es-ES"/>
                    </a:p>
                  </a:txBody>
                  <a:tcPr marL="76200" marR="76200" marT="38100" marB="381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cmpd="sng" algn="ctr" cap="flat" w="9525">
                      <a:solidFill>
                        <a:srgbClr val="243B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3B53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l"/>
                      <a:r>
                        <a:rPr lang="es-ES" sz="1100" b="true" i="false">
                          <a:solidFill>
                            <a:srgbClr val="FFFFFF"/>
                          </a:solidFill>
                          <a:latin typeface="Segoe UI"/>
                        </a:rPr>
                        <a:t>Tipo</a:t>
                      </a:r>
                      <a:endParaRPr sz="1100" lang="es-ES"/>
                    </a:p>
                  </a:txBody>
                  <a:tcPr marL="76200" marR="76200" marT="38100" marB="381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cmpd="sng" algn="ctr" cap="flat" w="9525">
                      <a:solidFill>
                        <a:srgbClr val="243B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3B53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l"/>
                      <a:r>
                        <a:rPr lang="es-ES" sz="1100" b="true" i="false">
                          <a:solidFill>
                            <a:srgbClr val="FFFFFF"/>
                          </a:solidFill>
                          <a:latin typeface="Segoe UI"/>
                        </a:rPr>
                        <a:t>Viene de</a:t>
                      </a:r>
                      <a:endParaRPr sz="1100" lang="es-ES"/>
                    </a:p>
                  </a:txBody>
                  <a:tcPr marL="76200" marR="76200" marT="38100" marB="381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cmpd="sng" algn="ctr" cap="flat" w="9525">
                      <a:solidFill>
                        <a:srgbClr val="243B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3B53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l"/>
                      <a:r>
                        <a:rPr lang="es-ES" sz="1100" b="true" i="false">
                          <a:solidFill>
                            <a:srgbClr val="FFFFFF"/>
                          </a:solidFill>
                          <a:latin typeface="Segoe UI"/>
                        </a:rPr>
                        <a:t>Transformaciones</a:t>
                      </a:r>
                      <a:endParaRPr sz="1100" lang="es-ES"/>
                    </a:p>
                  </a:txBody>
                  <a:tcPr marL="76200" marR="76200" marT="38100" marB="381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cmpd="sng" algn="ctr" cap="flat" w="9525">
                      <a:solidFill>
                        <a:srgbClr val="243B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3B53"/>
                    </a:solidFill>
                  </a:tcPr>
                </a:tc>
              </a:tr>
              <a:tr h="483108">
                <a:tc>
                  <a:txBody>
                    <a:bodyPr anchor="t" rtlCol="false"/>
                    <a:lstStyle/>
                    <a:p>
                      <a:pPr algn="l"/>
                      <a:r>
                        <a:rPr lang="es-ES" sz="1100" b="false" i="false">
                          <a:solidFill>
                            <a:srgbClr val="1F2933"/>
                          </a:solidFill>
                          <a:latin typeface="Segoe UI"/>
                        </a:rPr>
                        <a:t>sk_fecha</a:t>
                      </a:r>
                      <a:endParaRPr sz="1100" lang="es-ES"/>
                    </a:p>
                  </a:txBody>
                  <a:tcPr marL="76200" marR="76200" marT="38100" marB="381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cmpd="sng" algn="ctr" cap="flat" w="9525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l"/>
                      <a:r>
                        <a:rPr lang="es-ES" sz="1100" b="false" i="false">
                          <a:solidFill>
                            <a:srgbClr val="1F2933"/>
                          </a:solidFill>
                          <a:latin typeface="Segoe UI"/>
                        </a:rPr>
                        <a:t>Integer</a:t>
                      </a:r>
                      <a:endParaRPr sz="1100" lang="es-ES"/>
                    </a:p>
                  </a:txBody>
                  <a:tcPr marL="76200" marR="76200" marT="38100" marB="381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cmpd="sng" algn="ctr" cap="flat" w="9525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l"/>
                      <a:r>
                        <a:rPr lang="es-ES" sz="1100" b="false" i="false">
                          <a:solidFill>
                            <a:srgbClr val="1F2933"/>
                          </a:solidFill>
                          <a:latin typeface="Segoe UI"/>
                        </a:rPr>
                        <a:t>Buscar fecha: sk_fecha (creado)</a:t>
                      </a:r>
                      <a:endParaRPr sz="1100" lang="es-ES"/>
                    </a:p>
                  </a:txBody>
                  <a:tcPr marL="76200" marR="76200" marT="38100" marB="381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cmpd="sng" algn="ctr" cap="flat" w="9525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l"/>
                      <a:r>
                        <a:rPr lang="es-ES" sz="1100" b="false" i="false">
                          <a:solidFill>
                            <a:srgbClr val="1F2933"/>
                          </a:solidFill>
                          <a:latin typeface="Segoe UI"/>
                        </a:rPr>
                        <a:t>creado por Búsqueda en base de datos en «Buscar fecha»</a:t>
                      </a:r>
                      <a:endParaRPr sz="1100" lang="es-ES"/>
                    </a:p>
                  </a:txBody>
                  <a:tcPr marL="76200" marR="76200" marT="38100" marB="381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cmpd="sng" algn="ctr" cap="flat" w="9525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8704">
                <a:tc>
                  <a:txBody>
                    <a:bodyPr anchor="t" rtlCol="false"/>
                    <a:lstStyle/>
                    <a:p>
                      <a:pPr algn="l"/>
                      <a:r>
                        <a:rPr lang="es-ES" sz="1100" b="false" i="false">
                          <a:solidFill>
                            <a:srgbClr val="1F2933"/>
                          </a:solidFill>
                          <a:latin typeface="Segoe UI"/>
                        </a:rPr>
                        <a:t>motivo_rechazo</a:t>
                      </a:r>
                      <a:endParaRPr sz="1100" lang="es-ES"/>
                    </a:p>
                  </a:txBody>
                  <a:tcPr marL="76200" marR="76200" marT="38100" marB="381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cmpd="sng" algn="ctr" cap="flat" w="9525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1F3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l"/>
                      <a:r>
                        <a:rPr lang="es-ES" sz="1100" b="false" i="false">
                          <a:solidFill>
                            <a:srgbClr val="1F2933"/>
                          </a:solidFill>
                          <a:latin typeface="Segoe UI"/>
                        </a:rPr>
                        <a:t>String</a:t>
                      </a:r>
                      <a:endParaRPr sz="1100" lang="es-ES"/>
                    </a:p>
                  </a:txBody>
                  <a:tcPr marL="76200" marR="76200" marT="38100" marB="381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cmpd="sng" algn="ctr" cap="flat" w="9525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1F3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l"/>
                      <a:r>
                        <a:rPr lang="es-ES" sz="1100" b="false" i="false">
                          <a:solidFill>
                            <a:srgbClr val="1F2933"/>
                          </a:solidFill>
                          <a:latin typeface="Segoe UI"/>
                        </a:rPr>
                        <a:t>Clasificar línea: motivo_rechazo (creado)</a:t>
                      </a:r>
                      <a:endParaRPr sz="1100" lang="es-ES"/>
                    </a:p>
                  </a:txBody>
                  <a:tcPr marL="76200" marR="76200" marT="38100" marB="381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cmpd="sng" algn="ctr" cap="flat" w="9525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1F3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l"/>
                      <a:r>
                        <a:rPr lang="es-ES" sz="1100" b="false" i="false">
                          <a:solidFill>
                            <a:srgbClr val="1F2933"/>
                          </a:solidFill>
                          <a:latin typeface="Segoe UI"/>
                        </a:rPr>
                        <a:t>creado por Janino en «Clasificar línea»</a:t>
                      </a:r>
                      <a:endParaRPr sz="1100" lang="es-ES"/>
                    </a:p>
                  </a:txBody>
                  <a:tcPr marL="76200" marR="76200" marT="38100" marB="381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cmpd="sng" algn="ctr" cap="flat" w="9525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1F3"/>
                    </a:solidFill>
                  </a:tcPr>
                </a:tc>
              </a:tr>
              <a:tr h="851916">
                <a:tc>
                  <a:txBody>
                    <a:bodyPr anchor="t" rtlCol="false"/>
                    <a:lstStyle/>
                    <a:p>
                      <a:pPr algn="l"/>
                      <a:r>
                        <a:rPr lang="es-ES" sz="1100" b="false" i="false">
                          <a:solidFill>
                            <a:srgbClr val="1F2933"/>
                          </a:solidFill>
                          <a:latin typeface="Segoe UI"/>
                        </a:rPr>
                        <a:t>importe</a:t>
                      </a:r>
                      <a:endParaRPr sz="1100" lang="es-ES"/>
                    </a:p>
                  </a:txBody>
                  <a:tcPr marL="76200" marR="76200" marT="38100" marB="381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cmpd="sng" algn="ctr" cap="flat" w="9525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l"/>
                      <a:r>
                        <a:rPr lang="es-ES" sz="1100" b="false" i="false">
                          <a:solidFill>
                            <a:srgbClr val="1F2933"/>
                          </a:solidFill>
                          <a:latin typeface="Segoe UI"/>
                        </a:rPr>
                        <a:t>Number</a:t>
                      </a:r>
                      <a:endParaRPr sz="1100" lang="es-ES"/>
                    </a:p>
                  </a:txBody>
                  <a:tcPr marL="76200" marR="76200" marT="38100" marB="381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cmpd="sng" algn="ctr" cap="flat" w="9525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l"/>
                      <a:r>
                        <a:rPr lang="es-ES" sz="1100" b="false" i="false">
                          <a:solidFill>
                            <a:srgbClr val="1F2933"/>
                          </a:solidFill>
                          <a:latin typeface="Segoe UI"/>
                        </a:rPr>
                        <a:t>Leer ventas (CSV) (ventas_2026_09.csv): cantidad, precio_unitario; ¿Línea válida?: 2 (?)</a:t>
                      </a:r>
                      <a:endParaRPr sz="1100" lang="es-ES"/>
                    </a:p>
                  </a:txBody>
                  <a:tcPr marL="76200" marR="76200" marT="38100" marB="381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cmpd="sng" algn="ctr" cap="flat" w="9525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l"/>
                      <a:r>
                        <a:rPr lang="es-ES" sz="1100" b="false" i="false">
                          <a:solidFill>
                            <a:srgbClr val="1F2933"/>
                          </a:solidFill>
                          <a:latin typeface="Segoe UI"/>
                        </a:rPr>
                        <a:t>ROUND_STD_2(importe_sin_redondear, dos_decimales) en «Calcular importe»; a Number (#.##) en «Convertir precio a número» → ROUND_STD_2(importe_sin_redondear, dos_decimales) en «Calcular importe»</a:t>
                      </a:r>
                      <a:endParaRPr sz="1100" lang="es-ES"/>
                    </a:p>
                  </a:txBody>
                  <a:tcPr marL="76200" marR="76200" marT="38100" marB="381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cmpd="sng" algn="ctr" cap="flat" w="9525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name="TextBox 10" id="10"/>
          <p:cNvSpPr txBox="true"/>
          <p:nvPr/>
        </p:nvSpPr>
        <p:spPr>
          <a:xfrm>
            <a:off x="508000" y="3278632"/>
            <a:ext cx="11176000" cy="235458"/>
          </a:xfrm>
          <a:prstGeom prst="rect">
            <a:avLst/>
          </a:prstGeom>
        </p:spPr>
        <p:txBody>
          <a:bodyPr anchor="t" rtlCol="false" wrap="square" lIns="0" rIns="0" tIns="25400" bIns="25400"/>
          <a:lstStyle/>
          <a:p>
            <a:pPr algn="l"/>
            <a:r>
              <a:rPr lang="es-ES" sz="950" b="false" i="true">
                <a:solidFill>
                  <a:srgbClr val="6B7785"/>
                </a:solidFill>
                <a:latin typeface="Segoe UI"/>
              </a:rPr>
              <a:t>Motor: motor propio de Pentaho Live (metadatos de Kettle) (metaverse falló (java.util.NoSuchElementException)).</a:t>
            </a:r>
            <a:endParaRPr sz="950" lang="es-ES"/>
          </a:p>
        </p:txBody>
      </p:sp>
    </p:spTree>
  </p:cSld>
  <p:clrMapOvr>
    <a:masterClrMapping/>
  </p:clrMapOvr>
</p:sld>
</file>

<file path=ppt/slides/slide11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8000" y="203200"/>
            <a:ext cx="11176000" cy="635000"/>
          </a:xfrm>
        </p:spPr>
        <p:txBody>
          <a:bodyPr lIns="0" rIns="0" wrap="square" anchor="ctr"/>
          <a:lstStyle/>
          <a:p>
            <a:pPr algn="l"/>
            <a:r>
              <a:rPr lang="es-ES" sz="2600" b="true" i="false">
                <a:solidFill>
                  <a:srgbClr val="243B53"/>
                </a:solidFill>
                <a:latin typeface="Segoe UI"/>
              </a:rPr>
              <a:t>Linaje de campos (cont.)</a:t>
            </a:r>
            <a:endParaRPr sz="2600" lang="es-ES"/>
          </a:p>
        </p:txBody>
      </p:sp>
      <p:pic>
        <p:nvPicPr>
          <p:cNvPr name="Picture 3" id="3"/>
          <p:cNvPicPr>
            <a:picLocks noChangeAspect="true"/>
          </p:cNvPicPr>
          <p:nvPr/>
        </p:nvPicPr>
        <p:blipFill>
          <a:blip r:embed="rId2"/>
          <a:stretch>
            <a:fillRect/>
          </a:stretch>
        </p:blipFill>
        <p:spPr>
          <a:xfrm>
            <a:off x="10248900" y="5510084"/>
            <a:ext cx="1435100" cy="814516"/>
          </a:xfrm>
          <a:prstGeom prst="rect">
            <a:avLst/>
          </a:prstGeom>
        </p:spPr>
      </p:pic>
      <p:sp>
        <p:nvSpPr>
          <p:cNvPr name="AutoShape 4" id="4"/>
          <p:cNvSpPr/>
          <p:nvPr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243B53"/>
          </a:solidFill>
          <a:ln>
            <a:noFill/>
          </a:ln>
        </p:spPr>
      </p:sp>
      <p:pic>
        <p:nvPicPr>
          <p:cNvPr name="Picture 5" id="5"/>
          <p:cNvPicPr>
            <a:picLocks noChangeAspect="true"/>
          </p:cNvPicPr>
          <p:nvPr/>
        </p:nvPicPr>
        <p:blipFill>
          <a:blip r:embed="rId3"/>
          <a:stretch>
            <a:fillRect/>
          </a:stretch>
        </p:blipFill>
        <p:spPr>
          <a:xfrm>
            <a:off x="508000" y="6508750"/>
            <a:ext cx="177800" cy="100914"/>
          </a:xfrm>
          <a:prstGeom prst="rect">
            <a:avLst/>
          </a:prstGeom>
        </p:spPr>
      </p:pic>
      <p:sp>
        <p:nvSpPr>
          <p:cNvPr name="TextBox 6" id="6"/>
          <p:cNvSpPr txBox="true"/>
          <p:nvPr/>
        </p:nvSpPr>
        <p:spPr>
          <a:xfrm>
            <a:off x="749300" y="6451600"/>
            <a:ext cx="5080000" cy="228600"/>
          </a:xfrm>
          <a:prstGeom prst="rect">
            <a:avLst/>
          </a:prstGeom>
        </p:spPr>
        <p:txBody>
          <a:bodyPr anchor="ctr" rtlCol="false" wrap="square" lIns="0" rIns="0" tIns="25400" bIns="25400"/>
          <a:lstStyle/>
          <a:p>
            <a:pPr algn="l"/>
            <a:r>
              <a:rPr lang="es-ES" sz="750" b="false" i="false">
                <a:solidFill>
                  <a:srgbClr val="6B7785"/>
                </a:solidFill>
                <a:latin typeface="Segoe UI"/>
              </a:rPr>
              <a:t>Pentaho Live · IDC Studios</a:t>
            </a:r>
            <a:endParaRPr sz="750" lang="es-ES"/>
          </a:p>
        </p:txBody>
      </p:sp>
      <p:sp>
        <p:nvSpPr>
          <p:cNvPr name="TextBox 7" id="7"/>
          <p:cNvSpPr txBox="true"/>
          <p:nvPr/>
        </p:nvSpPr>
        <p:spPr>
          <a:xfrm>
            <a:off x="10160000" y="6451600"/>
            <a:ext cx="1524000" cy="228600"/>
          </a:xfrm>
          <a:prstGeom prst="rect">
            <a:avLst/>
          </a:prstGeom>
        </p:spPr>
        <p:txBody>
          <a:bodyPr anchor="ctr" rtlCol="false" wrap="square" lIns="0" rIns="0" tIns="25400" bIns="25400"/>
          <a:lstStyle/>
          <a:p>
            <a:pPr algn="r"/>
            <a:fld id="{5349FBF6-F93C-4141-B772-4B6AFF9F7530}" type="slidenum">
              <a:rPr lang="es-ES" sz="750">
                <a:solidFill>
                  <a:srgbClr val="6B7785"/>
                </a:solidFill>
                <a:latin typeface="Segoe UI"/>
              </a:rPr>
              <a:t>11</a:t>
            </a:fld>
            <a:endParaRPr sz="750" lang="es-ES"/>
          </a:p>
        </p:txBody>
      </p:sp>
      <p:sp>
        <p:nvSpPr>
          <p:cNvPr name="TextBox 8" id="8"/>
          <p:cNvSpPr txBox="true"/>
          <p:nvPr/>
        </p:nvSpPr>
        <p:spPr>
          <a:xfrm>
            <a:off x="508000" y="1016000"/>
            <a:ext cx="11176000" cy="254000"/>
          </a:xfrm>
          <a:prstGeom prst="rect">
            <a:avLst/>
          </a:prstGeom>
        </p:spPr>
        <p:txBody>
          <a:bodyPr anchor="t" rtlCol="false" wrap="square" lIns="0" rIns="0" tIns="25400" bIns="25400"/>
          <a:lstStyle/>
          <a:p>
            <a:pPr algn="l"/>
            <a:r>
              <a:rPr lang="es-ES" sz="1300" b="true" i="false">
                <a:solidFill>
                  <a:srgbClr val="243B53"/>
                </a:solidFill>
                <a:latin typeface="Segoe UI"/>
              </a:rPr>
              <a:t>Linaje hacia «Escribir rechazos»</a:t>
            </a:r>
            <a:endParaRPr sz="1300" lang="es-ES"/>
          </a:p>
        </p:txBody>
      </p:sp>
      <p:pic>
        <p:nvPicPr>
          <p:cNvPr name="Picture 9" id="9"/>
          <p:cNvPicPr>
            <a:picLocks noChangeAspect="true"/>
          </p:cNvPicPr>
          <p:nvPr/>
        </p:nvPicPr>
        <p:blipFill>
          <a:blip r:embed="rId4"/>
          <a:stretch>
            <a:fillRect/>
          </a:stretch>
        </p:blipFill>
        <p:spPr>
          <a:xfrm>
            <a:off x="3447747" y="1295400"/>
            <a:ext cx="5296506" cy="4590542"/>
          </a:xfrm>
          <a:prstGeom prst="rect">
            <a:avLst/>
          </a:prstGeom>
        </p:spPr>
      </p:pic>
      <p:sp>
        <p:nvSpPr>
          <p:cNvPr name="TextBox 10" id="10"/>
          <p:cNvSpPr txBox="true"/>
          <p:nvPr/>
        </p:nvSpPr>
        <p:spPr>
          <a:xfrm>
            <a:off x="508000" y="5936742"/>
            <a:ext cx="11176000" cy="235458"/>
          </a:xfrm>
          <a:prstGeom prst="rect">
            <a:avLst/>
          </a:prstGeom>
        </p:spPr>
        <p:txBody>
          <a:bodyPr anchor="t" rtlCol="false" wrap="square" lIns="0" rIns="0" tIns="25400" bIns="25400"/>
          <a:lstStyle/>
          <a:p>
            <a:pPr algn="l"/>
            <a:r>
              <a:rPr lang="es-ES" sz="950" b="false" i="true">
                <a:solidFill>
                  <a:srgbClr val="6B7785"/>
                </a:solidFill>
                <a:latin typeface="Segoe UI"/>
              </a:rPr>
              <a:t>Diagrama reducido para que entre en la diapositiva: se ve completo en el HTML o el PDF.</a:t>
            </a:r>
            <a:endParaRPr sz="950" lang="es-ES"/>
          </a:p>
        </p:txBody>
      </p:sp>
    </p:spTree>
  </p:cSld>
  <p:clrMapOvr>
    <a:masterClrMapping/>
  </p:clrMapOvr>
</p:sld>
</file>

<file path=ppt/slides/slide12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8000" y="203200"/>
            <a:ext cx="11176000" cy="635000"/>
          </a:xfrm>
        </p:spPr>
        <p:txBody>
          <a:bodyPr lIns="0" rIns="0" wrap="square" anchor="ctr"/>
          <a:lstStyle/>
          <a:p>
            <a:pPr algn="l"/>
            <a:r>
              <a:rPr lang="es-ES" sz="2600" b="true" i="false">
                <a:solidFill>
                  <a:srgbClr val="243B53"/>
                </a:solidFill>
                <a:latin typeface="Segoe UI"/>
              </a:rPr>
              <a:t>Linaje de campos (cont.)</a:t>
            </a:r>
            <a:endParaRPr sz="2600" lang="es-ES"/>
          </a:p>
        </p:txBody>
      </p:sp>
      <p:pic>
        <p:nvPicPr>
          <p:cNvPr name="Picture 3" id="3"/>
          <p:cNvPicPr>
            <a:picLocks noChangeAspect="true"/>
          </p:cNvPicPr>
          <p:nvPr/>
        </p:nvPicPr>
        <p:blipFill>
          <a:blip r:embed="rId2"/>
          <a:stretch>
            <a:fillRect/>
          </a:stretch>
        </p:blipFill>
        <p:spPr>
          <a:xfrm>
            <a:off x="10248900" y="5510084"/>
            <a:ext cx="1435100" cy="814516"/>
          </a:xfrm>
          <a:prstGeom prst="rect">
            <a:avLst/>
          </a:prstGeom>
        </p:spPr>
      </p:pic>
      <p:sp>
        <p:nvSpPr>
          <p:cNvPr name="AutoShape 4" id="4"/>
          <p:cNvSpPr/>
          <p:nvPr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243B53"/>
          </a:solidFill>
          <a:ln>
            <a:noFill/>
          </a:ln>
        </p:spPr>
      </p:sp>
      <p:pic>
        <p:nvPicPr>
          <p:cNvPr name="Picture 5" id="5"/>
          <p:cNvPicPr>
            <a:picLocks noChangeAspect="true"/>
          </p:cNvPicPr>
          <p:nvPr/>
        </p:nvPicPr>
        <p:blipFill>
          <a:blip r:embed="rId3"/>
          <a:stretch>
            <a:fillRect/>
          </a:stretch>
        </p:blipFill>
        <p:spPr>
          <a:xfrm>
            <a:off x="508000" y="6508750"/>
            <a:ext cx="177800" cy="100914"/>
          </a:xfrm>
          <a:prstGeom prst="rect">
            <a:avLst/>
          </a:prstGeom>
        </p:spPr>
      </p:pic>
      <p:sp>
        <p:nvSpPr>
          <p:cNvPr name="TextBox 6" id="6"/>
          <p:cNvSpPr txBox="true"/>
          <p:nvPr/>
        </p:nvSpPr>
        <p:spPr>
          <a:xfrm>
            <a:off x="749300" y="6451600"/>
            <a:ext cx="5080000" cy="228600"/>
          </a:xfrm>
          <a:prstGeom prst="rect">
            <a:avLst/>
          </a:prstGeom>
        </p:spPr>
        <p:txBody>
          <a:bodyPr anchor="ctr" rtlCol="false" wrap="square" lIns="0" rIns="0" tIns="25400" bIns="25400"/>
          <a:lstStyle/>
          <a:p>
            <a:pPr algn="l"/>
            <a:r>
              <a:rPr lang="es-ES" sz="750" b="false" i="false">
                <a:solidFill>
                  <a:srgbClr val="6B7785"/>
                </a:solidFill>
                <a:latin typeface="Segoe UI"/>
              </a:rPr>
              <a:t>Pentaho Live · IDC Studios</a:t>
            </a:r>
            <a:endParaRPr sz="750" lang="es-ES"/>
          </a:p>
        </p:txBody>
      </p:sp>
      <p:sp>
        <p:nvSpPr>
          <p:cNvPr name="TextBox 7" id="7"/>
          <p:cNvSpPr txBox="true"/>
          <p:nvPr/>
        </p:nvSpPr>
        <p:spPr>
          <a:xfrm>
            <a:off x="10160000" y="6451600"/>
            <a:ext cx="1524000" cy="228600"/>
          </a:xfrm>
          <a:prstGeom prst="rect">
            <a:avLst/>
          </a:prstGeom>
        </p:spPr>
        <p:txBody>
          <a:bodyPr anchor="ctr" rtlCol="false" wrap="square" lIns="0" rIns="0" tIns="25400" bIns="25400"/>
          <a:lstStyle/>
          <a:p>
            <a:pPr algn="r"/>
            <a:fld id="{13F9FDB3-E1F7-499F-A8E3-8A1E4E71505B}" type="slidenum">
              <a:rPr lang="es-ES" sz="750">
                <a:solidFill>
                  <a:srgbClr val="6B7785"/>
                </a:solidFill>
                <a:latin typeface="Segoe UI"/>
              </a:rPr>
              <a:t>12</a:t>
            </a:fld>
            <a:endParaRPr sz="750" lang="es-ES"/>
          </a:p>
        </p:txBody>
      </p:sp>
      <p:sp>
        <p:nvSpPr>
          <p:cNvPr name="TextBox 8" id="8"/>
          <p:cNvSpPr txBox="true"/>
          <p:nvPr/>
        </p:nvSpPr>
        <p:spPr>
          <a:xfrm>
            <a:off x="508000" y="1016000"/>
            <a:ext cx="11176000" cy="254000"/>
          </a:xfrm>
          <a:prstGeom prst="rect">
            <a:avLst/>
          </a:prstGeom>
        </p:spPr>
        <p:txBody>
          <a:bodyPr anchor="t" rtlCol="false" wrap="square" lIns="0" rIns="0" tIns="25400" bIns="25400"/>
          <a:lstStyle/>
          <a:p>
            <a:pPr algn="l"/>
            <a:r>
              <a:rPr lang="es-ES" sz="1300" b="true" i="false">
                <a:solidFill>
                  <a:srgbClr val="243B53"/>
                </a:solidFill>
                <a:latin typeface="Segoe UI"/>
              </a:rPr>
              <a:t>Campos de «Escribir rechazos»</a:t>
            </a:r>
            <a:endParaRPr sz="1300" lang="es-ES"/>
          </a:p>
        </p:txBody>
      </p:sp>
      <p:graphicFrame>
        <p:nvGraphicFramePr>
          <p:cNvPr name="Table 9" id="9"/>
          <p:cNvGraphicFramePr>
            <a:graphicFrameLocks noGrp="true"/>
          </p:cNvGraphicFramePr>
          <p:nvPr/>
        </p:nvGraphicFramePr>
        <p:xfrm>
          <a:off x="508000" y="1295400"/>
          <a:ext cx="9753600" cy="4119372"/>
        </p:xfrm>
        <a:graphic>
          <a:graphicData uri="http://schemas.openxmlformats.org/drawingml/2006/table">
            <a:tbl>
              <a:tblPr/>
              <a:tblGrid>
                <a:gridCol w="1320800"/>
                <a:gridCol w="711200"/>
                <a:gridCol w="3860800"/>
                <a:gridCol w="3860800"/>
              </a:tblGrid>
              <a:tr h="298704">
                <a:tc>
                  <a:txBody>
                    <a:bodyPr anchor="t" rtlCol="false"/>
                    <a:lstStyle/>
                    <a:p>
                      <a:pPr algn="l"/>
                      <a:r>
                        <a:rPr lang="es-ES" sz="1100" b="true" i="false">
                          <a:solidFill>
                            <a:srgbClr val="FFFFFF"/>
                          </a:solidFill>
                          <a:latin typeface="Segoe UI"/>
                        </a:rPr>
                        <a:t>Campo</a:t>
                      </a:r>
                      <a:endParaRPr sz="1100" lang="es-ES"/>
                    </a:p>
                  </a:txBody>
                  <a:tcPr marL="76200" marR="76200" marT="38100" marB="381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cmpd="sng" algn="ctr" cap="flat" w="9525">
                      <a:solidFill>
                        <a:srgbClr val="243B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3B53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l"/>
                      <a:r>
                        <a:rPr lang="es-ES" sz="1100" b="true" i="false">
                          <a:solidFill>
                            <a:srgbClr val="FFFFFF"/>
                          </a:solidFill>
                          <a:latin typeface="Segoe UI"/>
                        </a:rPr>
                        <a:t>Tipo</a:t>
                      </a:r>
                      <a:endParaRPr sz="1100" lang="es-ES"/>
                    </a:p>
                  </a:txBody>
                  <a:tcPr marL="76200" marR="76200" marT="38100" marB="381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cmpd="sng" algn="ctr" cap="flat" w="9525">
                      <a:solidFill>
                        <a:srgbClr val="243B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3B53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l"/>
                      <a:r>
                        <a:rPr lang="es-ES" sz="1100" b="true" i="false">
                          <a:solidFill>
                            <a:srgbClr val="FFFFFF"/>
                          </a:solidFill>
                          <a:latin typeface="Segoe UI"/>
                        </a:rPr>
                        <a:t>Viene de</a:t>
                      </a:r>
                      <a:endParaRPr sz="1100" lang="es-ES"/>
                    </a:p>
                  </a:txBody>
                  <a:tcPr marL="76200" marR="76200" marT="38100" marB="381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cmpd="sng" algn="ctr" cap="flat" w="9525">
                      <a:solidFill>
                        <a:srgbClr val="243B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3B53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l"/>
                      <a:r>
                        <a:rPr lang="es-ES" sz="1100" b="true" i="false">
                          <a:solidFill>
                            <a:srgbClr val="FFFFFF"/>
                          </a:solidFill>
                          <a:latin typeface="Segoe UI"/>
                        </a:rPr>
                        <a:t>Transformaciones</a:t>
                      </a:r>
                      <a:endParaRPr sz="1100" lang="es-ES"/>
                    </a:p>
                  </a:txBody>
                  <a:tcPr marL="76200" marR="76200" marT="38100" marB="381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cmpd="sng" algn="ctr" cap="flat" w="9525">
                      <a:solidFill>
                        <a:srgbClr val="243B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3B53"/>
                    </a:solidFill>
                  </a:tcPr>
                </a:tc>
              </a:tr>
              <a:tr h="483108">
                <a:tc>
                  <a:txBody>
                    <a:bodyPr anchor="t" rtlCol="false"/>
                    <a:lstStyle/>
                    <a:p>
                      <a:pPr algn="l"/>
                      <a:r>
                        <a:rPr lang="es-ES" sz="1100" b="false" i="false">
                          <a:solidFill>
                            <a:srgbClr val="1F2933"/>
                          </a:solidFill>
                          <a:latin typeface="Segoe UI"/>
                        </a:rPr>
                        <a:t>id_ticket</a:t>
                      </a:r>
                      <a:endParaRPr sz="1100" lang="es-ES"/>
                    </a:p>
                  </a:txBody>
                  <a:tcPr marL="76200" marR="76200" marT="38100" marB="381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cmpd="sng" algn="ctr" cap="flat" w="9525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l"/>
                      <a:r>
                        <a:rPr lang="es-ES" sz="1100" b="false" i="false">
                          <a:solidFill>
                            <a:srgbClr val="1F2933"/>
                          </a:solidFill>
                          <a:latin typeface="Segoe UI"/>
                        </a:rPr>
                        <a:t>String</a:t>
                      </a:r>
                      <a:endParaRPr sz="1100" lang="es-ES"/>
                    </a:p>
                  </a:txBody>
                  <a:tcPr marL="76200" marR="76200" marT="38100" marB="381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cmpd="sng" algn="ctr" cap="flat" w="9525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l"/>
                      <a:r>
                        <a:rPr lang="es-ES" sz="1100" b="false" i="false">
                          <a:solidFill>
                            <a:srgbClr val="1F2933"/>
                          </a:solidFill>
                          <a:latin typeface="Segoe UI"/>
                        </a:rPr>
                        <a:t>Leer ventas (CSV) (ventas_2026_09.csv): id_ticket</a:t>
                      </a:r>
                      <a:endParaRPr sz="1100" lang="es-ES"/>
                    </a:p>
                  </a:txBody>
                  <a:tcPr marL="76200" marR="76200" marT="38100" marB="381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cmpd="sng" algn="ctr" cap="flat" w="9525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l"/>
                      <a:r>
                        <a:rPr lang="es-ES" sz="1100" b="false" i="false">
                          <a:solidFill>
                            <a:srgbClr val="1F2933"/>
                          </a:solidFill>
                          <a:latin typeface="Segoe UI"/>
                        </a:rPr>
                        <a:t>sin cambios</a:t>
                      </a:r>
                      <a:endParaRPr sz="1100" lang="es-ES"/>
                    </a:p>
                  </a:txBody>
                  <a:tcPr marL="76200" marR="76200" marT="38100" marB="381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cmpd="sng" algn="ctr" cap="flat" w="9525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8704">
                <a:tc>
                  <a:txBody>
                    <a:bodyPr anchor="t" rtlCol="false"/>
                    <a:lstStyle/>
                    <a:p>
                      <a:pPr algn="l"/>
                      <a:r>
                        <a:rPr lang="es-ES" sz="1100" b="false" i="false">
                          <a:solidFill>
                            <a:srgbClr val="1F2933"/>
                          </a:solidFill>
                          <a:latin typeface="Segoe UI"/>
                        </a:rPr>
                        <a:t>linea</a:t>
                      </a:r>
                      <a:endParaRPr sz="1100" lang="es-ES"/>
                    </a:p>
                  </a:txBody>
                  <a:tcPr marL="76200" marR="76200" marT="38100" marB="381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cmpd="sng" algn="ctr" cap="flat" w="9525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1F3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l"/>
                      <a:r>
                        <a:rPr lang="es-ES" sz="1100" b="false" i="false">
                          <a:solidFill>
                            <a:srgbClr val="1F2933"/>
                          </a:solidFill>
                          <a:latin typeface="Segoe UI"/>
                        </a:rPr>
                        <a:t>Integer</a:t>
                      </a:r>
                      <a:endParaRPr sz="1100" lang="es-ES"/>
                    </a:p>
                  </a:txBody>
                  <a:tcPr marL="76200" marR="76200" marT="38100" marB="381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cmpd="sng" algn="ctr" cap="flat" w="9525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1F3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l"/>
                      <a:r>
                        <a:rPr lang="es-ES" sz="1100" b="false" i="false">
                          <a:solidFill>
                            <a:srgbClr val="1F2933"/>
                          </a:solidFill>
                          <a:latin typeface="Segoe UI"/>
                        </a:rPr>
                        <a:t>Leer ventas (CSV) (ventas_2026_09.csv): linea</a:t>
                      </a:r>
                      <a:endParaRPr sz="1100" lang="es-ES"/>
                    </a:p>
                  </a:txBody>
                  <a:tcPr marL="76200" marR="76200" marT="38100" marB="381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cmpd="sng" algn="ctr" cap="flat" w="9525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1F3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l"/>
                      <a:r>
                        <a:rPr lang="es-ES" sz="1100" b="false" i="false">
                          <a:solidFill>
                            <a:srgbClr val="1F2933"/>
                          </a:solidFill>
                          <a:latin typeface="Segoe UI"/>
                        </a:rPr>
                        <a:t>sin cambios</a:t>
                      </a:r>
                      <a:endParaRPr sz="1100" lang="es-ES"/>
                    </a:p>
                  </a:txBody>
                  <a:tcPr marL="76200" marR="76200" marT="38100" marB="381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cmpd="sng" algn="ctr" cap="flat" w="9525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1F3"/>
                    </a:solidFill>
                  </a:tcPr>
                </a:tc>
              </a:tr>
              <a:tr h="667512">
                <a:tc>
                  <a:txBody>
                    <a:bodyPr anchor="t" rtlCol="false"/>
                    <a:lstStyle/>
                    <a:p>
                      <a:pPr algn="l"/>
                      <a:r>
                        <a:rPr lang="es-ES" sz="1100" b="false" i="false">
                          <a:solidFill>
                            <a:srgbClr val="1F2933"/>
                          </a:solidFill>
                          <a:latin typeface="Segoe UI"/>
                        </a:rPr>
                        <a:t>fecha</a:t>
                      </a:r>
                      <a:endParaRPr sz="1100" lang="es-ES"/>
                    </a:p>
                  </a:txBody>
                  <a:tcPr marL="76200" marR="76200" marT="38100" marB="381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cmpd="sng" algn="ctr" cap="flat" w="9525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l"/>
                      <a:r>
                        <a:rPr lang="es-ES" sz="1100" b="false" i="false">
                          <a:solidFill>
                            <a:srgbClr val="1F2933"/>
                          </a:solidFill>
                          <a:latin typeface="Segoe UI"/>
                        </a:rPr>
                        <a:t>String</a:t>
                      </a:r>
                      <a:endParaRPr sz="1100" lang="es-ES"/>
                    </a:p>
                  </a:txBody>
                  <a:tcPr marL="76200" marR="76200" marT="38100" marB="381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cmpd="sng" algn="ctr" cap="flat" w="9525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l"/>
                      <a:r>
                        <a:rPr lang="es-ES" sz="1100" b="false" i="false">
                          <a:solidFill>
                            <a:srgbClr val="1F2933"/>
                          </a:solidFill>
                          <a:latin typeface="Segoe UI"/>
                        </a:rPr>
                        <a:t>Leer ventas (CSV) (ventas_2026_09.csv): fecha</a:t>
                      </a:r>
                      <a:endParaRPr sz="1100" lang="es-ES"/>
                    </a:p>
                  </a:txBody>
                  <a:tcPr marL="76200" marR="76200" marT="38100" marB="381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cmpd="sng" algn="ctr" cap="flat" w="9525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l"/>
                      <a:r>
                        <a:rPr lang="es-ES" sz="1100" b="false" i="false">
                          <a:solidFill>
                            <a:srgbClr val="1F2933"/>
                          </a:solidFill>
                          <a:latin typeface="Segoe UI"/>
                        </a:rPr>
                        <a:t>fecha -&gt; [ replace [ ^(\d{2})/(\d{2})/(\d{4})$ with $3-$2-$1 ] ] -&gt; fecha en «Normalizar fecha y precio»</a:t>
                      </a:r>
                      <a:endParaRPr sz="1100" lang="es-ES"/>
                    </a:p>
                  </a:txBody>
                  <a:tcPr marL="76200" marR="76200" marT="38100" marB="381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cmpd="sng" algn="ctr" cap="flat" w="9525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036320">
                <a:tc>
                  <a:txBody>
                    <a:bodyPr anchor="t" rtlCol="false"/>
                    <a:lstStyle/>
                    <a:p>
                      <a:pPr algn="l"/>
                      <a:r>
                        <a:rPr lang="es-ES" sz="1100" b="false" i="false">
                          <a:solidFill>
                            <a:srgbClr val="1F2933"/>
                          </a:solidFill>
                          <a:latin typeface="Segoe UI"/>
                        </a:rPr>
                        <a:t>id_tienda</a:t>
                      </a:r>
                      <a:endParaRPr sz="1100" lang="es-ES"/>
                    </a:p>
                  </a:txBody>
                  <a:tcPr marL="76200" marR="76200" marT="38100" marB="381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cmpd="sng" algn="ctr" cap="flat" w="9525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1F3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l"/>
                      <a:r>
                        <a:rPr lang="es-ES" sz="1100" b="false" i="false">
                          <a:solidFill>
                            <a:srgbClr val="1F2933"/>
                          </a:solidFill>
                          <a:latin typeface="Segoe UI"/>
                        </a:rPr>
                        <a:t>String</a:t>
                      </a:r>
                      <a:endParaRPr sz="1100" lang="es-ES"/>
                    </a:p>
                  </a:txBody>
                  <a:tcPr marL="76200" marR="76200" marT="38100" marB="381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cmpd="sng" algn="ctr" cap="flat" w="9525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1F3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l"/>
                      <a:r>
                        <a:rPr lang="es-ES" sz="1100" b="false" i="false">
                          <a:solidFill>
                            <a:srgbClr val="1F2933"/>
                          </a:solidFill>
                          <a:latin typeface="Segoe UI"/>
                        </a:rPr>
                        <a:t>Leer ventas (CSV) (ventas_2026_09.csv): id_tienda</a:t>
                      </a:r>
                      <a:endParaRPr sz="1100" lang="es-ES"/>
                    </a:p>
                  </a:txBody>
                  <a:tcPr marL="76200" marR="76200" marT="38100" marB="381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cmpd="sng" algn="ctr" cap="flat" w="9525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1F3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l"/>
                      <a:r>
                        <a:rPr lang="es-ES" sz="1100" b="false" i="false">
                          <a:solidFill>
                            <a:srgbClr val="1F2933"/>
                          </a:solidFill>
                          <a:latin typeface="Segoe UI"/>
                        </a:rPr>
                        <a:t><![CDATA[id_tienda { trim = [ both ] && lower/upper = [ upper ] && padding = [ none,  ] && cap = [ no ] && maskXML = [ none ] && digits = [ none ] && remove = [ none ] } -> id_tienda en «Estandarizar textos»]]></a:t>
                      </a:r>
                      <a:endParaRPr sz="1100" lang="es-ES"/>
                    </a:p>
                  </a:txBody>
                  <a:tcPr marL="76200" marR="76200" marT="38100" marB="381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cmpd="sng" algn="ctr" cap="flat" w="9525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1F3"/>
                    </a:solidFill>
                  </a:tcPr>
                </a:tc>
              </a:tr>
              <a:tr h="1036320">
                <a:tc>
                  <a:txBody>
                    <a:bodyPr anchor="t" rtlCol="false"/>
                    <a:lstStyle/>
                    <a:p>
                      <a:pPr algn="l"/>
                      <a:r>
                        <a:rPr lang="es-ES" sz="1100" b="false" i="false">
                          <a:solidFill>
                            <a:srgbClr val="1F2933"/>
                          </a:solidFill>
                          <a:latin typeface="Segoe UI"/>
                        </a:rPr>
                        <a:t>codigo_producto</a:t>
                      </a:r>
                      <a:endParaRPr sz="1100" lang="es-ES"/>
                    </a:p>
                  </a:txBody>
                  <a:tcPr marL="76200" marR="76200" marT="38100" marB="381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cmpd="sng" algn="ctr" cap="flat" w="9525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l"/>
                      <a:r>
                        <a:rPr lang="es-ES" sz="1100" b="false" i="false">
                          <a:solidFill>
                            <a:srgbClr val="1F2933"/>
                          </a:solidFill>
                          <a:latin typeface="Segoe UI"/>
                        </a:rPr>
                        <a:t>String</a:t>
                      </a:r>
                      <a:endParaRPr sz="1100" lang="es-ES"/>
                    </a:p>
                  </a:txBody>
                  <a:tcPr marL="76200" marR="76200" marT="38100" marB="381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cmpd="sng" algn="ctr" cap="flat" w="9525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l"/>
                      <a:r>
                        <a:rPr lang="es-ES" sz="1100" b="false" i="false">
                          <a:solidFill>
                            <a:srgbClr val="1F2933"/>
                          </a:solidFill>
                          <a:latin typeface="Segoe UI"/>
                        </a:rPr>
                        <a:t>Leer ventas (CSV) (ventas_2026_09.csv): codigo_producto</a:t>
                      </a:r>
                      <a:endParaRPr sz="1100" lang="es-ES"/>
                    </a:p>
                  </a:txBody>
                  <a:tcPr marL="76200" marR="76200" marT="38100" marB="381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cmpd="sng" algn="ctr" cap="flat" w="9525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l"/>
                      <a:r>
                        <a:rPr lang="es-ES" sz="1100" b="false" i="false">
                          <a:solidFill>
                            <a:srgbClr val="1F2933"/>
                          </a:solidFill>
                          <a:latin typeface="Segoe UI"/>
                        </a:rPr>
                        <a:t><![CDATA[codigo_producto { trim = [ both ] && lower/upper = [ upper ] && padding = [ none,  ] && cap = [ no ] && maskXML = [ none ] && digits = [ none ] && remove = [ none ] } -> codigo_producto en «Estandarizar textos»]]></a:t>
                      </a:r>
                      <a:endParaRPr sz="1100" lang="es-ES"/>
                    </a:p>
                  </a:txBody>
                  <a:tcPr marL="76200" marR="76200" marT="38100" marB="381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cmpd="sng" algn="ctr" cap="flat" w="9525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8704">
                <a:tc>
                  <a:txBody>
                    <a:bodyPr anchor="t" rtlCol="false"/>
                    <a:lstStyle/>
                    <a:p>
                      <a:pPr algn="l"/>
                      <a:r>
                        <a:rPr lang="es-ES" sz="1100" b="false" i="false">
                          <a:solidFill>
                            <a:srgbClr val="1F2933"/>
                          </a:solidFill>
                          <a:latin typeface="Segoe UI"/>
                        </a:rPr>
                        <a:t>cantidad</a:t>
                      </a:r>
                      <a:endParaRPr sz="1100" lang="es-ES"/>
                    </a:p>
                  </a:txBody>
                  <a:tcPr marL="76200" marR="76200" marT="38100" marB="381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cmpd="sng" algn="ctr" cap="flat" w="9525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1F3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l"/>
                      <a:r>
                        <a:rPr lang="es-ES" sz="1100" b="false" i="false">
                          <a:solidFill>
                            <a:srgbClr val="1F2933"/>
                          </a:solidFill>
                          <a:latin typeface="Segoe UI"/>
                        </a:rPr>
                        <a:t>Integer</a:t>
                      </a:r>
                      <a:endParaRPr sz="1100" lang="es-ES"/>
                    </a:p>
                  </a:txBody>
                  <a:tcPr marL="76200" marR="76200" marT="38100" marB="381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cmpd="sng" algn="ctr" cap="flat" w="9525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1F3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l"/>
                      <a:r>
                        <a:rPr lang="es-ES" sz="1100" b="false" i="false">
                          <a:solidFill>
                            <a:srgbClr val="1F2933"/>
                          </a:solidFill>
                          <a:latin typeface="Segoe UI"/>
                        </a:rPr>
                        <a:t>Leer ventas (CSV) (ventas_2026_09.csv): cantidad</a:t>
                      </a:r>
                      <a:endParaRPr sz="1100" lang="es-ES"/>
                    </a:p>
                  </a:txBody>
                  <a:tcPr marL="76200" marR="76200" marT="38100" marB="381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cmpd="sng" algn="ctr" cap="flat" w="9525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1F3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l"/>
                      <a:r>
                        <a:rPr lang="es-ES" sz="1100" b="false" i="false">
                          <a:solidFill>
                            <a:srgbClr val="1F2933"/>
                          </a:solidFill>
                          <a:latin typeface="Segoe UI"/>
                        </a:rPr>
                        <a:t>sin cambios</a:t>
                      </a:r>
                      <a:endParaRPr sz="1100" lang="es-ES"/>
                    </a:p>
                  </a:txBody>
                  <a:tcPr marL="76200" marR="76200" marT="38100" marB="381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cmpd="sng" algn="ctr" cap="flat" w="9525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1F3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3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8000" y="203200"/>
            <a:ext cx="11176000" cy="635000"/>
          </a:xfrm>
        </p:spPr>
        <p:txBody>
          <a:bodyPr lIns="0" rIns="0" wrap="square" anchor="ctr"/>
          <a:lstStyle/>
          <a:p>
            <a:pPr algn="l"/>
            <a:r>
              <a:rPr lang="es-ES" sz="2600" b="true" i="false">
                <a:solidFill>
                  <a:srgbClr val="243B53"/>
                </a:solidFill>
                <a:latin typeface="Segoe UI"/>
              </a:rPr>
              <a:t>Linaje de campos (cont.)</a:t>
            </a:r>
            <a:endParaRPr sz="2600" lang="es-ES"/>
          </a:p>
        </p:txBody>
      </p:sp>
      <p:pic>
        <p:nvPicPr>
          <p:cNvPr name="Picture 3" id="3"/>
          <p:cNvPicPr>
            <a:picLocks noChangeAspect="true"/>
          </p:cNvPicPr>
          <p:nvPr/>
        </p:nvPicPr>
        <p:blipFill>
          <a:blip r:embed="rId2"/>
          <a:stretch>
            <a:fillRect/>
          </a:stretch>
        </p:blipFill>
        <p:spPr>
          <a:xfrm>
            <a:off x="10248900" y="5510084"/>
            <a:ext cx="1435100" cy="814516"/>
          </a:xfrm>
          <a:prstGeom prst="rect">
            <a:avLst/>
          </a:prstGeom>
        </p:spPr>
      </p:pic>
      <p:sp>
        <p:nvSpPr>
          <p:cNvPr name="AutoShape 4" id="4"/>
          <p:cNvSpPr/>
          <p:nvPr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243B53"/>
          </a:solidFill>
          <a:ln>
            <a:noFill/>
          </a:ln>
        </p:spPr>
      </p:sp>
      <p:pic>
        <p:nvPicPr>
          <p:cNvPr name="Picture 5" id="5"/>
          <p:cNvPicPr>
            <a:picLocks noChangeAspect="true"/>
          </p:cNvPicPr>
          <p:nvPr/>
        </p:nvPicPr>
        <p:blipFill>
          <a:blip r:embed="rId3"/>
          <a:stretch>
            <a:fillRect/>
          </a:stretch>
        </p:blipFill>
        <p:spPr>
          <a:xfrm>
            <a:off x="508000" y="6508750"/>
            <a:ext cx="177800" cy="100914"/>
          </a:xfrm>
          <a:prstGeom prst="rect">
            <a:avLst/>
          </a:prstGeom>
        </p:spPr>
      </p:pic>
      <p:sp>
        <p:nvSpPr>
          <p:cNvPr name="TextBox 6" id="6"/>
          <p:cNvSpPr txBox="true"/>
          <p:nvPr/>
        </p:nvSpPr>
        <p:spPr>
          <a:xfrm>
            <a:off x="749300" y="6451600"/>
            <a:ext cx="5080000" cy="228600"/>
          </a:xfrm>
          <a:prstGeom prst="rect">
            <a:avLst/>
          </a:prstGeom>
        </p:spPr>
        <p:txBody>
          <a:bodyPr anchor="ctr" rtlCol="false" wrap="square" lIns="0" rIns="0" tIns="25400" bIns="25400"/>
          <a:lstStyle/>
          <a:p>
            <a:pPr algn="l"/>
            <a:r>
              <a:rPr lang="es-ES" sz="750" b="false" i="false">
                <a:solidFill>
                  <a:srgbClr val="6B7785"/>
                </a:solidFill>
                <a:latin typeface="Segoe UI"/>
              </a:rPr>
              <a:t>Pentaho Live · IDC Studios</a:t>
            </a:r>
            <a:endParaRPr sz="750" lang="es-ES"/>
          </a:p>
        </p:txBody>
      </p:sp>
      <p:sp>
        <p:nvSpPr>
          <p:cNvPr name="TextBox 7" id="7"/>
          <p:cNvSpPr txBox="true"/>
          <p:nvPr/>
        </p:nvSpPr>
        <p:spPr>
          <a:xfrm>
            <a:off x="10160000" y="6451600"/>
            <a:ext cx="1524000" cy="228600"/>
          </a:xfrm>
          <a:prstGeom prst="rect">
            <a:avLst/>
          </a:prstGeom>
        </p:spPr>
        <p:txBody>
          <a:bodyPr anchor="ctr" rtlCol="false" wrap="square" lIns="0" rIns="0" tIns="25400" bIns="25400"/>
          <a:lstStyle/>
          <a:p>
            <a:pPr algn="r"/>
            <a:fld id="{238B8E96-3A88-4C5D-8E6C-30F813BB6AA8}" type="slidenum">
              <a:rPr lang="es-ES" sz="750">
                <a:solidFill>
                  <a:srgbClr val="6B7785"/>
                </a:solidFill>
                <a:latin typeface="Segoe UI"/>
              </a:rPr>
              <a:t>13</a:t>
            </a:fld>
            <a:endParaRPr sz="750" lang="es-ES"/>
          </a:p>
        </p:txBody>
      </p:sp>
      <p:sp>
        <p:nvSpPr>
          <p:cNvPr name="TextBox 8" id="8"/>
          <p:cNvSpPr txBox="true"/>
          <p:nvPr/>
        </p:nvSpPr>
        <p:spPr>
          <a:xfrm>
            <a:off x="508000" y="1016000"/>
            <a:ext cx="11176000" cy="254000"/>
          </a:xfrm>
          <a:prstGeom prst="rect">
            <a:avLst/>
          </a:prstGeom>
        </p:spPr>
        <p:txBody>
          <a:bodyPr anchor="t" rtlCol="false" wrap="square" lIns="0" rIns="0" tIns="25400" bIns="25400"/>
          <a:lstStyle/>
          <a:p>
            <a:pPr algn="l"/>
            <a:r>
              <a:rPr lang="es-ES" sz="1300" b="true" i="false">
                <a:solidFill>
                  <a:srgbClr val="243B53"/>
                </a:solidFill>
                <a:latin typeface="Segoe UI"/>
              </a:rPr>
              <a:t>Campos de «Escribir rechazos» (cont.)</a:t>
            </a:r>
            <a:endParaRPr sz="1300" lang="es-ES"/>
          </a:p>
        </p:txBody>
      </p:sp>
      <p:graphicFrame>
        <p:nvGraphicFramePr>
          <p:cNvPr name="Table 9" id="9"/>
          <p:cNvGraphicFramePr>
            <a:graphicFrameLocks noGrp="true"/>
          </p:cNvGraphicFramePr>
          <p:nvPr/>
        </p:nvGraphicFramePr>
        <p:xfrm>
          <a:off x="508000" y="1295400"/>
          <a:ext cx="9753600" cy="2670048"/>
        </p:xfrm>
        <a:graphic>
          <a:graphicData uri="http://schemas.openxmlformats.org/drawingml/2006/table">
            <a:tbl>
              <a:tblPr/>
              <a:tblGrid>
                <a:gridCol w="1320800"/>
                <a:gridCol w="711200"/>
                <a:gridCol w="3860800"/>
                <a:gridCol w="3860800"/>
              </a:tblGrid>
              <a:tr h="298704">
                <a:tc>
                  <a:txBody>
                    <a:bodyPr anchor="t" rtlCol="false"/>
                    <a:lstStyle/>
                    <a:p>
                      <a:pPr algn="l"/>
                      <a:r>
                        <a:rPr lang="es-ES" sz="1100" b="true" i="false">
                          <a:solidFill>
                            <a:srgbClr val="FFFFFF"/>
                          </a:solidFill>
                          <a:latin typeface="Segoe UI"/>
                        </a:rPr>
                        <a:t>Campo</a:t>
                      </a:r>
                      <a:endParaRPr sz="1100" lang="es-ES"/>
                    </a:p>
                  </a:txBody>
                  <a:tcPr marL="76200" marR="76200" marT="38100" marB="381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cmpd="sng" algn="ctr" cap="flat" w="9525">
                      <a:solidFill>
                        <a:srgbClr val="243B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3B53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l"/>
                      <a:r>
                        <a:rPr lang="es-ES" sz="1100" b="true" i="false">
                          <a:solidFill>
                            <a:srgbClr val="FFFFFF"/>
                          </a:solidFill>
                          <a:latin typeface="Segoe UI"/>
                        </a:rPr>
                        <a:t>Tipo</a:t>
                      </a:r>
                      <a:endParaRPr sz="1100" lang="es-ES"/>
                    </a:p>
                  </a:txBody>
                  <a:tcPr marL="76200" marR="76200" marT="38100" marB="381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cmpd="sng" algn="ctr" cap="flat" w="9525">
                      <a:solidFill>
                        <a:srgbClr val="243B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3B53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l"/>
                      <a:r>
                        <a:rPr lang="es-ES" sz="1100" b="true" i="false">
                          <a:solidFill>
                            <a:srgbClr val="FFFFFF"/>
                          </a:solidFill>
                          <a:latin typeface="Segoe UI"/>
                        </a:rPr>
                        <a:t>Viene de</a:t>
                      </a:r>
                      <a:endParaRPr sz="1100" lang="es-ES"/>
                    </a:p>
                  </a:txBody>
                  <a:tcPr marL="76200" marR="76200" marT="38100" marB="381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cmpd="sng" algn="ctr" cap="flat" w="9525">
                      <a:solidFill>
                        <a:srgbClr val="243B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3B53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l"/>
                      <a:r>
                        <a:rPr lang="es-ES" sz="1100" b="true" i="false">
                          <a:solidFill>
                            <a:srgbClr val="FFFFFF"/>
                          </a:solidFill>
                          <a:latin typeface="Segoe UI"/>
                        </a:rPr>
                        <a:t>Transformaciones</a:t>
                      </a:r>
                      <a:endParaRPr sz="1100" lang="es-ES"/>
                    </a:p>
                  </a:txBody>
                  <a:tcPr marL="76200" marR="76200" marT="38100" marB="381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cmpd="sng" algn="ctr" cap="flat" w="9525">
                      <a:solidFill>
                        <a:srgbClr val="243B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3B53"/>
                    </a:solidFill>
                  </a:tcPr>
                </a:tc>
              </a:tr>
              <a:tr h="851916">
                <a:tc>
                  <a:txBody>
                    <a:bodyPr anchor="t" rtlCol="false"/>
                    <a:lstStyle/>
                    <a:p>
                      <a:pPr algn="l"/>
                      <a:r>
                        <a:rPr lang="es-ES" sz="1100" b="false" i="false">
                          <a:solidFill>
                            <a:srgbClr val="1F2933"/>
                          </a:solidFill>
                          <a:latin typeface="Segoe UI"/>
                        </a:rPr>
                        <a:t>precio_unitario</a:t>
                      </a:r>
                      <a:endParaRPr sz="1100" lang="es-ES"/>
                    </a:p>
                  </a:txBody>
                  <a:tcPr marL="76200" marR="76200" marT="38100" marB="381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cmpd="sng" algn="ctr" cap="flat" w="9525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l"/>
                      <a:r>
                        <a:rPr lang="es-ES" sz="1100" b="false" i="false">
                          <a:solidFill>
                            <a:srgbClr val="1F2933"/>
                          </a:solidFill>
                          <a:latin typeface="Segoe UI"/>
                        </a:rPr>
                        <a:t>Number</a:t>
                      </a:r>
                      <a:endParaRPr sz="1100" lang="es-ES"/>
                    </a:p>
                  </a:txBody>
                  <a:tcPr marL="76200" marR="76200" marT="38100" marB="381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cmpd="sng" algn="ctr" cap="flat" w="9525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l"/>
                      <a:r>
                        <a:rPr lang="es-ES" sz="1100" b="false" i="false">
                          <a:solidFill>
                            <a:srgbClr val="1F2933"/>
                          </a:solidFill>
                          <a:latin typeface="Segoe UI"/>
                        </a:rPr>
                        <a:t>Leer ventas (CSV) (ventas_2026_09.csv): precio_unitario</a:t>
                      </a:r>
                      <a:endParaRPr sz="1100" lang="es-ES"/>
                    </a:p>
                  </a:txBody>
                  <a:tcPr marL="76200" marR="76200" marT="38100" marB="381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cmpd="sng" algn="ctr" cap="flat" w="9525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l"/>
                      <a:r>
                        <a:rPr lang="es-ES" sz="1100" b="false" i="false">
                          <a:solidFill>
                            <a:srgbClr val="1F2933"/>
                          </a:solidFill>
                          <a:latin typeface="Segoe UI"/>
                        </a:rPr>
                        <a:t>precio_unitario -&gt; [ replace [ , with $3-$2-$1 ] ] -&gt; precio_unitario en «Normalizar fecha y precio» → a Number (#.##) en «Convertir precio a número»</a:t>
                      </a:r>
                      <a:endParaRPr sz="1100" lang="es-ES"/>
                    </a:p>
                  </a:txBody>
                  <a:tcPr marL="76200" marR="76200" marT="38100" marB="381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cmpd="sng" algn="ctr" cap="flat" w="9525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036320">
                <a:tc>
                  <a:txBody>
                    <a:bodyPr anchor="t" rtlCol="false"/>
                    <a:lstStyle/>
                    <a:p>
                      <a:pPr algn="l"/>
                      <a:r>
                        <a:rPr lang="es-ES" sz="1100" b="false" i="false">
                          <a:solidFill>
                            <a:srgbClr val="1F2933"/>
                          </a:solidFill>
                          <a:latin typeface="Segoe UI"/>
                        </a:rPr>
                        <a:t>metodo_pago</a:t>
                      </a:r>
                      <a:endParaRPr sz="1100" lang="es-ES"/>
                    </a:p>
                  </a:txBody>
                  <a:tcPr marL="76200" marR="76200" marT="38100" marB="381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cmpd="sng" algn="ctr" cap="flat" w="9525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1F3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l"/>
                      <a:r>
                        <a:rPr lang="es-ES" sz="1100" b="false" i="false">
                          <a:solidFill>
                            <a:srgbClr val="1F2933"/>
                          </a:solidFill>
                          <a:latin typeface="Segoe UI"/>
                        </a:rPr>
                        <a:t>String</a:t>
                      </a:r>
                      <a:endParaRPr sz="1100" lang="es-ES"/>
                    </a:p>
                  </a:txBody>
                  <a:tcPr marL="76200" marR="76200" marT="38100" marB="381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cmpd="sng" algn="ctr" cap="flat" w="9525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1F3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l"/>
                      <a:r>
                        <a:rPr lang="es-ES" sz="1100" b="false" i="false">
                          <a:solidFill>
                            <a:srgbClr val="1F2933"/>
                          </a:solidFill>
                          <a:latin typeface="Segoe UI"/>
                        </a:rPr>
                        <a:t>Leer ventas (CSV) (ventas_2026_09.csv): metodo_pago</a:t>
                      </a:r>
                      <a:endParaRPr sz="1100" lang="es-ES"/>
                    </a:p>
                  </a:txBody>
                  <a:tcPr marL="76200" marR="76200" marT="38100" marB="381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cmpd="sng" algn="ctr" cap="flat" w="9525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1F3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l"/>
                      <a:r>
                        <a:rPr lang="es-ES" sz="1100" b="false" i="false">
                          <a:solidFill>
                            <a:srgbClr val="1F2933"/>
                          </a:solidFill>
                          <a:latin typeface="Segoe UI"/>
                        </a:rPr>
                        <a:t><![CDATA[metodo_pago { trim = [ both ] && lower/upper = [ upper ] && padding = [ none,  ] && cap = [ no ] && maskXML = [ none ] && digits = [ none ] && remove = [ none ] } -> metodo_pago en «Estandarizar textos»]]></a:t>
                      </a:r>
                      <a:endParaRPr sz="1100" lang="es-ES"/>
                    </a:p>
                  </a:txBody>
                  <a:tcPr marL="76200" marR="76200" marT="38100" marB="381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cmpd="sng" algn="ctr" cap="flat" w="9525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1F3"/>
                    </a:solidFill>
                  </a:tcPr>
                </a:tc>
              </a:tr>
              <a:tr h="483108">
                <a:tc>
                  <a:txBody>
                    <a:bodyPr anchor="t" rtlCol="false"/>
                    <a:lstStyle/>
                    <a:p>
                      <a:pPr algn="l"/>
                      <a:r>
                        <a:rPr lang="es-ES" sz="1100" b="false" i="false">
                          <a:solidFill>
                            <a:srgbClr val="1F2933"/>
                          </a:solidFill>
                          <a:latin typeface="Segoe UI"/>
                        </a:rPr>
                        <a:t>motivo_rechazo</a:t>
                      </a:r>
                      <a:endParaRPr sz="1100" lang="es-ES"/>
                    </a:p>
                  </a:txBody>
                  <a:tcPr marL="76200" marR="76200" marT="38100" marB="381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cmpd="sng" algn="ctr" cap="flat" w="9525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l"/>
                      <a:r>
                        <a:rPr lang="es-ES" sz="1100" b="false" i="false">
                          <a:solidFill>
                            <a:srgbClr val="1F2933"/>
                          </a:solidFill>
                          <a:latin typeface="Segoe UI"/>
                        </a:rPr>
                        <a:t>String</a:t>
                      </a:r>
                      <a:endParaRPr sz="1100" lang="es-ES"/>
                    </a:p>
                  </a:txBody>
                  <a:tcPr marL="76200" marR="76200" marT="38100" marB="381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cmpd="sng" algn="ctr" cap="flat" w="9525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l"/>
                      <a:r>
                        <a:rPr lang="es-ES" sz="1100" b="false" i="false">
                          <a:solidFill>
                            <a:srgbClr val="1F2933"/>
                          </a:solidFill>
                          <a:latin typeface="Segoe UI"/>
                        </a:rPr>
                        <a:t>Clasificar línea: motivo_rechazo (creado); Marcar duplicado: motivo_rechazo (creado)</a:t>
                      </a:r>
                      <a:endParaRPr sz="1100" lang="es-ES"/>
                    </a:p>
                  </a:txBody>
                  <a:tcPr marL="76200" marR="76200" marT="38100" marB="381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cmpd="sng" algn="ctr" cap="flat" w="9525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l"/>
                      <a:r>
                        <a:rPr lang="es-ES" sz="1100" b="false" i="false">
                          <a:solidFill>
                            <a:srgbClr val="1F2933"/>
                          </a:solidFill>
                          <a:latin typeface="Segoe UI"/>
                        </a:rPr>
                        <a:t>creado por Janino en «Clasificar línea»; constante «DUPLICADO» en «Marcar duplicado»</a:t>
                      </a:r>
                      <a:endParaRPr sz="1100" lang="es-ES"/>
                    </a:p>
                  </a:txBody>
                  <a:tcPr marL="76200" marR="76200" marT="38100" marB="381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cmpd="sng" algn="ctr" cap="flat" w="9525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name="TextBox 10" id="10"/>
          <p:cNvSpPr txBox="true"/>
          <p:nvPr/>
        </p:nvSpPr>
        <p:spPr>
          <a:xfrm>
            <a:off x="508000" y="4016248"/>
            <a:ext cx="11176000" cy="235458"/>
          </a:xfrm>
          <a:prstGeom prst="rect">
            <a:avLst/>
          </a:prstGeom>
        </p:spPr>
        <p:txBody>
          <a:bodyPr anchor="t" rtlCol="false" wrap="square" lIns="0" rIns="0" tIns="25400" bIns="25400"/>
          <a:lstStyle/>
          <a:p>
            <a:pPr algn="l"/>
            <a:r>
              <a:rPr lang="es-ES" sz="950" b="false" i="true">
                <a:solidFill>
                  <a:srgbClr val="6B7785"/>
                </a:solidFill>
                <a:latin typeface="Segoe UI"/>
              </a:rPr>
              <a:t>Motor: metaverse de Pentaho.</a:t>
            </a:r>
            <a:endParaRPr sz="950" lang="es-ES"/>
          </a:p>
        </p:txBody>
      </p:sp>
    </p:spTree>
  </p:cSld>
  <p:clrMapOvr>
    <a:masterClrMapping/>
  </p:clrMapOvr>
</p:sld>
</file>

<file path=ppt/slides/slide14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8000" y="203200"/>
            <a:ext cx="11176000" cy="635000"/>
          </a:xfrm>
        </p:spPr>
        <p:txBody>
          <a:bodyPr lIns="0" rIns="0" wrap="square" anchor="ctr"/>
          <a:lstStyle/>
          <a:p>
            <a:pPr algn="l"/>
            <a:r>
              <a:rPr lang="es-ES" sz="2600" b="true" i="false">
                <a:solidFill>
                  <a:srgbClr val="243B53"/>
                </a:solidFill>
                <a:latin typeface="Segoe UI"/>
              </a:rPr>
              <a:t>Diccionario de datos</a:t>
            </a:r>
            <a:endParaRPr sz="2600" lang="es-ES"/>
          </a:p>
        </p:txBody>
      </p:sp>
      <p:pic>
        <p:nvPicPr>
          <p:cNvPr name="Picture 3" id="3"/>
          <p:cNvPicPr>
            <a:picLocks noChangeAspect="true"/>
          </p:cNvPicPr>
          <p:nvPr/>
        </p:nvPicPr>
        <p:blipFill>
          <a:blip r:embed="rId2"/>
          <a:stretch>
            <a:fillRect/>
          </a:stretch>
        </p:blipFill>
        <p:spPr>
          <a:xfrm>
            <a:off x="10248900" y="5510084"/>
            <a:ext cx="1435100" cy="814516"/>
          </a:xfrm>
          <a:prstGeom prst="rect">
            <a:avLst/>
          </a:prstGeom>
        </p:spPr>
      </p:pic>
      <p:sp>
        <p:nvSpPr>
          <p:cNvPr name="AutoShape 4" id="4"/>
          <p:cNvSpPr/>
          <p:nvPr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243B53"/>
          </a:solidFill>
          <a:ln>
            <a:noFill/>
          </a:ln>
        </p:spPr>
      </p:sp>
      <p:pic>
        <p:nvPicPr>
          <p:cNvPr name="Picture 5" id="5"/>
          <p:cNvPicPr>
            <a:picLocks noChangeAspect="true"/>
          </p:cNvPicPr>
          <p:nvPr/>
        </p:nvPicPr>
        <p:blipFill>
          <a:blip r:embed="rId3"/>
          <a:stretch>
            <a:fillRect/>
          </a:stretch>
        </p:blipFill>
        <p:spPr>
          <a:xfrm>
            <a:off x="508000" y="6508750"/>
            <a:ext cx="177800" cy="100914"/>
          </a:xfrm>
          <a:prstGeom prst="rect">
            <a:avLst/>
          </a:prstGeom>
        </p:spPr>
      </p:pic>
      <p:sp>
        <p:nvSpPr>
          <p:cNvPr name="TextBox 6" id="6"/>
          <p:cNvSpPr txBox="true"/>
          <p:nvPr/>
        </p:nvSpPr>
        <p:spPr>
          <a:xfrm>
            <a:off x="749300" y="6451600"/>
            <a:ext cx="5080000" cy="228600"/>
          </a:xfrm>
          <a:prstGeom prst="rect">
            <a:avLst/>
          </a:prstGeom>
        </p:spPr>
        <p:txBody>
          <a:bodyPr anchor="ctr" rtlCol="false" wrap="square" lIns="0" rIns="0" tIns="25400" bIns="25400"/>
          <a:lstStyle/>
          <a:p>
            <a:pPr algn="l"/>
            <a:r>
              <a:rPr lang="es-ES" sz="750" b="false" i="false">
                <a:solidFill>
                  <a:srgbClr val="6B7785"/>
                </a:solidFill>
                <a:latin typeface="Segoe UI"/>
              </a:rPr>
              <a:t>Pentaho Live · IDC Studios</a:t>
            </a:r>
            <a:endParaRPr sz="750" lang="es-ES"/>
          </a:p>
        </p:txBody>
      </p:sp>
      <p:sp>
        <p:nvSpPr>
          <p:cNvPr name="TextBox 7" id="7"/>
          <p:cNvSpPr txBox="true"/>
          <p:nvPr/>
        </p:nvSpPr>
        <p:spPr>
          <a:xfrm>
            <a:off x="10160000" y="6451600"/>
            <a:ext cx="1524000" cy="228600"/>
          </a:xfrm>
          <a:prstGeom prst="rect">
            <a:avLst/>
          </a:prstGeom>
        </p:spPr>
        <p:txBody>
          <a:bodyPr anchor="ctr" rtlCol="false" wrap="square" lIns="0" rIns="0" tIns="25400" bIns="25400"/>
          <a:lstStyle/>
          <a:p>
            <a:pPr algn="r"/>
            <a:fld id="{EC5F3A8B-B01B-4AE8-95BF-49D827A75B95}" type="slidenum">
              <a:rPr lang="es-ES" sz="750">
                <a:solidFill>
                  <a:srgbClr val="6B7785"/>
                </a:solidFill>
                <a:latin typeface="Segoe UI"/>
              </a:rPr>
              <a:t>14</a:t>
            </a:fld>
            <a:endParaRPr sz="750" lang="es-ES"/>
          </a:p>
        </p:txBody>
      </p:sp>
      <p:sp>
        <p:nvSpPr>
          <p:cNvPr name="TextBox 8" id="8"/>
          <p:cNvSpPr txBox="true"/>
          <p:nvPr/>
        </p:nvSpPr>
        <p:spPr>
          <a:xfrm>
            <a:off x="508000" y="1016000"/>
            <a:ext cx="11176000" cy="254000"/>
          </a:xfrm>
          <a:prstGeom prst="rect">
            <a:avLst/>
          </a:prstGeom>
        </p:spPr>
        <p:txBody>
          <a:bodyPr anchor="t" rtlCol="false" wrap="square" lIns="0" rIns="0" tIns="25400" bIns="25400"/>
          <a:lstStyle/>
          <a:p>
            <a:pPr algn="l"/>
            <a:r>
              <a:rPr lang="es-ES" sz="1300" b="true" i="false">
                <a:solidFill>
                  <a:srgbClr val="243B53"/>
                </a:solidFill>
                <a:latin typeface="Segoe UI"/>
              </a:rPr>
              <a:t>Salida final: Cargar hechos_ventas</a:t>
            </a:r>
            <a:endParaRPr sz="1300" lang="es-ES"/>
          </a:p>
        </p:txBody>
      </p:sp>
      <p:graphicFrame>
        <p:nvGraphicFramePr>
          <p:cNvPr name="Table 9" id="9"/>
          <p:cNvGraphicFramePr>
            <a:graphicFrameLocks noGrp="true"/>
          </p:cNvGraphicFramePr>
          <p:nvPr/>
        </p:nvGraphicFramePr>
        <p:xfrm>
          <a:off x="508000" y="1295400"/>
          <a:ext cx="7226300" cy="2819400"/>
        </p:xfrm>
        <a:graphic>
          <a:graphicData uri="http://schemas.openxmlformats.org/drawingml/2006/table">
            <a:tbl>
              <a:tblPr/>
              <a:tblGrid>
                <a:gridCol w="1219200"/>
                <a:gridCol w="660400"/>
                <a:gridCol w="596900"/>
                <a:gridCol w="876300"/>
                <a:gridCol w="1016000"/>
                <a:gridCol w="1917700"/>
                <a:gridCol w="939800"/>
              </a:tblGrid>
              <a:tr h="281940">
                <a:tc>
                  <a:txBody>
                    <a:bodyPr anchor="t" rtlCol="false"/>
                    <a:lstStyle/>
                    <a:p>
                      <a:pPr algn="l"/>
                      <a:r>
                        <a:rPr lang="es-ES" sz="1000" b="true" i="false">
                          <a:solidFill>
                            <a:srgbClr val="FFFFFF"/>
                          </a:solidFill>
                          <a:latin typeface="Segoe UI"/>
                        </a:rPr>
                        <a:t>Campo</a:t>
                      </a:r>
                      <a:endParaRPr sz="1000" lang="es-ES"/>
                    </a:p>
                  </a:txBody>
                  <a:tcPr marL="76200" marR="76200" marT="38100" marB="381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cmpd="sng" algn="ctr" cap="flat" w="9525">
                      <a:solidFill>
                        <a:srgbClr val="243B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3B53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l"/>
                      <a:r>
                        <a:rPr lang="es-ES" sz="1000" b="true" i="false">
                          <a:solidFill>
                            <a:srgbClr val="FFFFFF"/>
                          </a:solidFill>
                          <a:latin typeface="Segoe UI"/>
                        </a:rPr>
                        <a:t>Tipo</a:t>
                      </a:r>
                      <a:endParaRPr sz="1000" lang="es-ES"/>
                    </a:p>
                  </a:txBody>
                  <a:tcPr marL="76200" marR="76200" marT="38100" marB="381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cmpd="sng" algn="ctr" cap="flat" w="9525">
                      <a:solidFill>
                        <a:srgbClr val="243B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3B53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r"/>
                      <a:r>
                        <a:rPr lang="es-ES" sz="1000" b="true" i="false">
                          <a:solidFill>
                            <a:srgbClr val="FFFFFF"/>
                          </a:solidFill>
                          <a:latin typeface="Segoe UI"/>
                        </a:rPr>
                        <a:t>Largo</a:t>
                      </a:r>
                      <a:endParaRPr sz="1000" lang="es-ES"/>
                    </a:p>
                  </a:txBody>
                  <a:tcPr marL="76200" marR="76200" marT="38100" marB="381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cmpd="sng" algn="ctr" cap="flat" w="9525">
                      <a:solidFill>
                        <a:srgbClr val="243B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3B53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r"/>
                      <a:r>
                        <a:rPr lang="es-ES" sz="1000" b="true" i="false">
                          <a:solidFill>
                            <a:srgbClr val="FFFFFF"/>
                          </a:solidFill>
                          <a:latin typeface="Segoe UI"/>
                        </a:rPr>
                        <a:t>Precisión</a:t>
                      </a:r>
                      <a:endParaRPr sz="1000" lang="es-ES"/>
                    </a:p>
                  </a:txBody>
                  <a:tcPr marL="76200" marR="76200" marT="38100" marB="381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cmpd="sng" algn="ctr" cap="flat" w="9525">
                      <a:solidFill>
                        <a:srgbClr val="243B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3B53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l"/>
                      <a:r>
                        <a:rPr lang="es-ES" sz="1000" b="true" i="false">
                          <a:solidFill>
                            <a:srgbClr val="FFFFFF"/>
                          </a:solidFill>
                          <a:latin typeface="Segoe UI"/>
                        </a:rPr>
                        <a:t>Máscara</a:t>
                      </a:r>
                      <a:endParaRPr sz="1000" lang="es-ES"/>
                    </a:p>
                  </a:txBody>
                  <a:tcPr marL="76200" marR="76200" marT="38100" marB="381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cmpd="sng" algn="ctr" cap="flat" w="9525">
                      <a:solidFill>
                        <a:srgbClr val="243B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3B53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l"/>
                      <a:r>
                        <a:rPr lang="es-ES" sz="1000" b="true" i="false">
                          <a:solidFill>
                            <a:srgbClr val="FFFFFF"/>
                          </a:solidFill>
                          <a:latin typeface="Segoe UI"/>
                        </a:rPr>
                        <a:t>Origen</a:t>
                      </a:r>
                      <a:endParaRPr sz="1000" lang="es-ES"/>
                    </a:p>
                  </a:txBody>
                  <a:tcPr marL="76200" marR="76200" marT="38100" marB="381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cmpd="sng" algn="ctr" cap="flat" w="9525">
                      <a:solidFill>
                        <a:srgbClr val="243B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3B53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l"/>
                      <a:r>
                        <a:rPr lang="es-ES" sz="1000" b="true" i="false">
                          <a:solidFill>
                            <a:srgbClr val="FFFFFF"/>
                          </a:solidFill>
                          <a:latin typeface="Segoe UI"/>
                        </a:rPr>
                        <a:t>Comentario</a:t>
                      </a:r>
                      <a:endParaRPr sz="1000" lang="es-ES"/>
                    </a:p>
                  </a:txBody>
                  <a:tcPr marL="76200" marR="76200" marT="38100" marB="381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cmpd="sng" algn="ctr" cap="flat" w="9525">
                      <a:solidFill>
                        <a:srgbClr val="243B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3B53"/>
                    </a:solidFill>
                  </a:tcPr>
                </a:tc>
              </a:tr>
              <a:tr h="281940">
                <a:tc>
                  <a:txBody>
                    <a:bodyPr anchor="t" rtlCol="false"/>
                    <a:lstStyle/>
                    <a:p>
                      <a:pPr algn="l"/>
                      <a:r>
                        <a:rPr lang="es-ES" sz="1000" b="false" i="false">
                          <a:solidFill>
                            <a:srgbClr val="1F2933"/>
                          </a:solidFill>
                          <a:latin typeface="Segoe UI"/>
                        </a:rPr>
                        <a:t>id_ticket</a:t>
                      </a:r>
                      <a:endParaRPr sz="1000" lang="es-ES"/>
                    </a:p>
                  </a:txBody>
                  <a:tcPr marL="76200" marR="76200" marT="38100" marB="381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cmpd="sng" algn="ctr" cap="flat" w="9525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l"/>
                      <a:r>
                        <a:rPr lang="es-ES" sz="1000" b="false" i="false">
                          <a:solidFill>
                            <a:srgbClr val="1F2933"/>
                          </a:solidFill>
                          <a:latin typeface="Segoe UI"/>
                        </a:rPr>
                        <a:t>String</a:t>
                      </a:r>
                      <a:endParaRPr sz="1000" lang="es-ES"/>
                    </a:p>
                  </a:txBody>
                  <a:tcPr marL="76200" marR="76200" marT="38100" marB="381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cmpd="sng" algn="ctr" cap="flat" w="9525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r"/>
                      <a:r>
                        <a:rPr lang="es-ES" sz="1000" b="false" i="false">
                          <a:solidFill>
                            <a:srgbClr val="1F2933"/>
                          </a:solidFill>
                          <a:latin typeface="Segoe UI"/>
                        </a:rPr>
                        <a:t> </a:t>
                      </a:r>
                      <a:endParaRPr sz="1000" lang="es-ES"/>
                    </a:p>
                  </a:txBody>
                  <a:tcPr marL="76200" marR="76200" marT="38100" marB="381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cmpd="sng" algn="ctr" cap="flat" w="9525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r"/>
                      <a:r>
                        <a:rPr lang="es-ES" sz="1000" b="false" i="false">
                          <a:solidFill>
                            <a:srgbClr val="1F2933"/>
                          </a:solidFill>
                          <a:latin typeface="Segoe UI"/>
                        </a:rPr>
                        <a:t> </a:t>
                      </a:r>
                      <a:endParaRPr sz="1000" lang="es-ES"/>
                    </a:p>
                  </a:txBody>
                  <a:tcPr marL="76200" marR="76200" marT="38100" marB="381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cmpd="sng" algn="ctr" cap="flat" w="9525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l"/>
                      <a:r>
                        <a:rPr lang="es-ES" sz="1000" b="false" i="false">
                          <a:solidFill>
                            <a:srgbClr val="1F2933"/>
                          </a:solidFill>
                          <a:latin typeface="Segoe UI"/>
                        </a:rPr>
                        <a:t> </a:t>
                      </a:r>
                      <a:endParaRPr sz="1000" lang="es-ES"/>
                    </a:p>
                  </a:txBody>
                  <a:tcPr marL="76200" marR="76200" marT="38100" marB="381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cmpd="sng" algn="ctr" cap="flat" w="9525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l"/>
                      <a:r>
                        <a:rPr lang="es-ES" sz="1000" b="false" i="false">
                          <a:solidFill>
                            <a:srgbClr val="1F2933"/>
                          </a:solidFill>
                          <a:latin typeface="Segoe UI"/>
                        </a:rPr>
                        <a:t>Leer ventas (CSV)</a:t>
                      </a:r>
                      <a:endParaRPr sz="1000" lang="es-ES"/>
                    </a:p>
                  </a:txBody>
                  <a:tcPr marL="76200" marR="76200" marT="38100" marB="381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cmpd="sng" algn="ctr" cap="flat" w="9525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l"/>
                      <a:r>
                        <a:rPr lang="es-ES" sz="1000" b="false" i="false">
                          <a:solidFill>
                            <a:srgbClr val="1F2933"/>
                          </a:solidFill>
                          <a:latin typeface="Segoe UI"/>
                        </a:rPr>
                        <a:t> </a:t>
                      </a:r>
                      <a:endParaRPr sz="1000" lang="es-ES"/>
                    </a:p>
                  </a:txBody>
                  <a:tcPr marL="76200" marR="76200" marT="38100" marB="381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cmpd="sng" algn="ctr" cap="flat" w="9525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1940">
                <a:tc>
                  <a:txBody>
                    <a:bodyPr anchor="t" rtlCol="false"/>
                    <a:lstStyle/>
                    <a:p>
                      <a:pPr algn="l"/>
                      <a:r>
                        <a:rPr lang="es-ES" sz="1000" b="false" i="false">
                          <a:solidFill>
                            <a:srgbClr val="1F2933"/>
                          </a:solidFill>
                          <a:latin typeface="Segoe UI"/>
                        </a:rPr>
                        <a:t>linea</a:t>
                      </a:r>
                      <a:endParaRPr sz="1000" lang="es-ES"/>
                    </a:p>
                  </a:txBody>
                  <a:tcPr marL="76200" marR="76200" marT="38100" marB="381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cmpd="sng" algn="ctr" cap="flat" w="9525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1F3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l"/>
                      <a:r>
                        <a:rPr lang="es-ES" sz="1000" b="false" i="false">
                          <a:solidFill>
                            <a:srgbClr val="1F2933"/>
                          </a:solidFill>
                          <a:latin typeface="Segoe UI"/>
                        </a:rPr>
                        <a:t>Integer</a:t>
                      </a:r>
                      <a:endParaRPr sz="1000" lang="es-ES"/>
                    </a:p>
                  </a:txBody>
                  <a:tcPr marL="76200" marR="76200" marT="38100" marB="381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cmpd="sng" algn="ctr" cap="flat" w="9525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1F3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r"/>
                      <a:r>
                        <a:rPr lang="es-ES" sz="1000" b="false" i="false">
                          <a:solidFill>
                            <a:srgbClr val="1F2933"/>
                          </a:solidFill>
                          <a:latin typeface="Segoe UI"/>
                        </a:rPr>
                        <a:t> </a:t>
                      </a:r>
                      <a:endParaRPr sz="1000" lang="es-ES"/>
                    </a:p>
                  </a:txBody>
                  <a:tcPr marL="76200" marR="76200" marT="38100" marB="381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cmpd="sng" algn="ctr" cap="flat" w="9525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1F3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r"/>
                      <a:r>
                        <a:rPr lang="es-ES" sz="1000" b="false" i="false">
                          <a:solidFill>
                            <a:srgbClr val="1F2933"/>
                          </a:solidFill>
                          <a:latin typeface="Segoe UI"/>
                        </a:rPr>
                        <a:t>0</a:t>
                      </a:r>
                      <a:endParaRPr sz="1000" lang="es-ES"/>
                    </a:p>
                  </a:txBody>
                  <a:tcPr marL="76200" marR="76200" marT="38100" marB="381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cmpd="sng" algn="ctr" cap="flat" w="9525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1F3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l"/>
                      <a:r>
                        <a:rPr lang="es-ES" sz="1000" b="false" i="false">
                          <a:solidFill>
                            <a:srgbClr val="1F2933"/>
                          </a:solidFill>
                          <a:latin typeface="Segoe UI"/>
                        </a:rPr>
                        <a:t>#</a:t>
                      </a:r>
                      <a:endParaRPr sz="1000" lang="es-ES"/>
                    </a:p>
                  </a:txBody>
                  <a:tcPr marL="76200" marR="76200" marT="38100" marB="381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cmpd="sng" algn="ctr" cap="flat" w="9525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1F3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l"/>
                      <a:r>
                        <a:rPr lang="es-ES" sz="1000" b="false" i="false">
                          <a:solidFill>
                            <a:srgbClr val="1F2933"/>
                          </a:solidFill>
                          <a:latin typeface="Segoe UI"/>
                        </a:rPr>
                        <a:t>Leer ventas (CSV)</a:t>
                      </a:r>
                      <a:endParaRPr sz="1000" lang="es-ES"/>
                    </a:p>
                  </a:txBody>
                  <a:tcPr marL="76200" marR="76200" marT="38100" marB="381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cmpd="sng" algn="ctr" cap="flat" w="9525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1F3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l"/>
                      <a:r>
                        <a:rPr lang="es-ES" sz="1000" b="false" i="false">
                          <a:solidFill>
                            <a:srgbClr val="1F2933"/>
                          </a:solidFill>
                          <a:latin typeface="Segoe UI"/>
                        </a:rPr>
                        <a:t> </a:t>
                      </a:r>
                      <a:endParaRPr sz="1000" lang="es-ES"/>
                    </a:p>
                  </a:txBody>
                  <a:tcPr marL="76200" marR="76200" marT="38100" marB="381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cmpd="sng" algn="ctr" cap="flat" w="9525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1F3"/>
                    </a:solidFill>
                  </a:tcPr>
                </a:tc>
              </a:tr>
              <a:tr h="281940">
                <a:tc>
                  <a:txBody>
                    <a:bodyPr anchor="t" rtlCol="false"/>
                    <a:lstStyle/>
                    <a:p>
                      <a:pPr algn="l"/>
                      <a:r>
                        <a:rPr lang="es-ES" sz="1000" b="false" i="false">
                          <a:solidFill>
                            <a:srgbClr val="1F2933"/>
                          </a:solidFill>
                          <a:latin typeface="Segoe UI"/>
                        </a:rPr>
                        <a:t>sk_fecha</a:t>
                      </a:r>
                      <a:endParaRPr sz="1000" lang="es-ES"/>
                    </a:p>
                  </a:txBody>
                  <a:tcPr marL="76200" marR="76200" marT="38100" marB="381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cmpd="sng" algn="ctr" cap="flat" w="9525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l"/>
                      <a:r>
                        <a:rPr lang="es-ES" sz="1000" b="false" i="false">
                          <a:solidFill>
                            <a:srgbClr val="1F2933"/>
                          </a:solidFill>
                          <a:latin typeface="Segoe UI"/>
                        </a:rPr>
                        <a:t>Integer</a:t>
                      </a:r>
                      <a:endParaRPr sz="1000" lang="es-ES"/>
                    </a:p>
                  </a:txBody>
                  <a:tcPr marL="76200" marR="76200" marT="38100" marB="381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cmpd="sng" algn="ctr" cap="flat" w="9525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r"/>
                      <a:r>
                        <a:rPr lang="es-ES" sz="1000" b="false" i="false">
                          <a:solidFill>
                            <a:srgbClr val="1F2933"/>
                          </a:solidFill>
                          <a:latin typeface="Segoe UI"/>
                        </a:rPr>
                        <a:t>9</a:t>
                      </a:r>
                      <a:endParaRPr sz="1000" lang="es-ES"/>
                    </a:p>
                  </a:txBody>
                  <a:tcPr marL="76200" marR="76200" marT="38100" marB="381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cmpd="sng" algn="ctr" cap="flat" w="9525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r"/>
                      <a:r>
                        <a:rPr lang="es-ES" sz="1000" b="false" i="false">
                          <a:solidFill>
                            <a:srgbClr val="1F2933"/>
                          </a:solidFill>
                          <a:latin typeface="Segoe UI"/>
                        </a:rPr>
                        <a:t>0</a:t>
                      </a:r>
                      <a:endParaRPr sz="1000" lang="es-ES"/>
                    </a:p>
                  </a:txBody>
                  <a:tcPr marL="76200" marR="76200" marT="38100" marB="381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cmpd="sng" algn="ctr" cap="flat" w="9525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l"/>
                      <a:r>
                        <a:rPr lang="es-ES" sz="1000" b="false" i="false">
                          <a:solidFill>
                            <a:srgbClr val="1F2933"/>
                          </a:solidFill>
                          <a:latin typeface="Segoe UI"/>
                        </a:rPr>
                        <a:t>####0;-####0</a:t>
                      </a:r>
                      <a:endParaRPr sz="1000" lang="es-ES"/>
                    </a:p>
                  </a:txBody>
                  <a:tcPr marL="76200" marR="76200" marT="38100" marB="381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cmpd="sng" algn="ctr" cap="flat" w="9525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l"/>
                      <a:r>
                        <a:rPr lang="es-ES" sz="1000" b="false" i="false">
                          <a:solidFill>
                            <a:srgbClr val="1F2933"/>
                          </a:solidFill>
                          <a:latin typeface="Segoe UI"/>
                        </a:rPr>
                        <a:t>Buscar fecha</a:t>
                      </a:r>
                      <a:endParaRPr sz="1000" lang="es-ES"/>
                    </a:p>
                  </a:txBody>
                  <a:tcPr marL="76200" marR="76200" marT="38100" marB="381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cmpd="sng" algn="ctr" cap="flat" w="9525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l"/>
                      <a:r>
                        <a:rPr lang="es-ES" sz="1000" b="false" i="false">
                          <a:solidFill>
                            <a:srgbClr val="1F2933"/>
                          </a:solidFill>
                          <a:latin typeface="Segoe UI"/>
                        </a:rPr>
                        <a:t>sk_fecha</a:t>
                      </a:r>
                      <a:endParaRPr sz="1000" lang="es-ES"/>
                    </a:p>
                  </a:txBody>
                  <a:tcPr marL="76200" marR="76200" marT="38100" marB="381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cmpd="sng" algn="ctr" cap="flat" w="9525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1940">
                <a:tc>
                  <a:txBody>
                    <a:bodyPr anchor="t" rtlCol="false"/>
                    <a:lstStyle/>
                    <a:p>
                      <a:pPr algn="l"/>
                      <a:r>
                        <a:rPr lang="es-ES" sz="1000" b="false" i="false">
                          <a:solidFill>
                            <a:srgbClr val="1F2933"/>
                          </a:solidFill>
                          <a:latin typeface="Segoe UI"/>
                        </a:rPr>
                        <a:t>sk_tienda</a:t>
                      </a:r>
                      <a:endParaRPr sz="1000" lang="es-ES"/>
                    </a:p>
                  </a:txBody>
                  <a:tcPr marL="76200" marR="76200" marT="38100" marB="381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cmpd="sng" algn="ctr" cap="flat" w="9525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1F3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l"/>
                      <a:r>
                        <a:rPr lang="es-ES" sz="1000" b="false" i="false">
                          <a:solidFill>
                            <a:srgbClr val="1F2933"/>
                          </a:solidFill>
                          <a:latin typeface="Segoe UI"/>
                        </a:rPr>
                        <a:t>Integer</a:t>
                      </a:r>
                      <a:endParaRPr sz="1000" lang="es-ES"/>
                    </a:p>
                  </a:txBody>
                  <a:tcPr marL="76200" marR="76200" marT="38100" marB="381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cmpd="sng" algn="ctr" cap="flat" w="9525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1F3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r"/>
                      <a:r>
                        <a:rPr lang="es-ES" sz="1000" b="false" i="false">
                          <a:solidFill>
                            <a:srgbClr val="1F2933"/>
                          </a:solidFill>
                          <a:latin typeface="Segoe UI"/>
                        </a:rPr>
                        <a:t>9</a:t>
                      </a:r>
                      <a:endParaRPr sz="1000" lang="es-ES"/>
                    </a:p>
                  </a:txBody>
                  <a:tcPr marL="76200" marR="76200" marT="38100" marB="381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cmpd="sng" algn="ctr" cap="flat" w="9525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1F3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r"/>
                      <a:r>
                        <a:rPr lang="es-ES" sz="1000" b="false" i="false">
                          <a:solidFill>
                            <a:srgbClr val="1F2933"/>
                          </a:solidFill>
                          <a:latin typeface="Segoe UI"/>
                        </a:rPr>
                        <a:t>0</a:t>
                      </a:r>
                      <a:endParaRPr sz="1000" lang="es-ES"/>
                    </a:p>
                  </a:txBody>
                  <a:tcPr marL="76200" marR="76200" marT="38100" marB="381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cmpd="sng" algn="ctr" cap="flat" w="9525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1F3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l"/>
                      <a:r>
                        <a:rPr lang="es-ES" sz="1000" b="false" i="false">
                          <a:solidFill>
                            <a:srgbClr val="1F2933"/>
                          </a:solidFill>
                          <a:latin typeface="Segoe UI"/>
                        </a:rPr>
                        <a:t>####0;-####0</a:t>
                      </a:r>
                      <a:endParaRPr sz="1000" lang="es-ES"/>
                    </a:p>
                  </a:txBody>
                  <a:tcPr marL="76200" marR="76200" marT="38100" marB="381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cmpd="sng" algn="ctr" cap="flat" w="9525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1F3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l"/>
                      <a:r>
                        <a:rPr lang="es-ES" sz="1000" b="false" i="false">
                          <a:solidFill>
                            <a:srgbClr val="1F2933"/>
                          </a:solidFill>
                          <a:latin typeface="Segoe UI"/>
                        </a:rPr>
                        <a:t>Buscar tienda</a:t>
                      </a:r>
                      <a:endParaRPr sz="1000" lang="es-ES"/>
                    </a:p>
                  </a:txBody>
                  <a:tcPr marL="76200" marR="76200" marT="38100" marB="381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cmpd="sng" algn="ctr" cap="flat" w="9525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1F3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l"/>
                      <a:r>
                        <a:rPr lang="es-ES" sz="1000" b="false" i="false">
                          <a:solidFill>
                            <a:srgbClr val="1F2933"/>
                          </a:solidFill>
                          <a:latin typeface="Segoe UI"/>
                        </a:rPr>
                        <a:t>sk_tienda</a:t>
                      </a:r>
                      <a:endParaRPr sz="1000" lang="es-ES"/>
                    </a:p>
                  </a:txBody>
                  <a:tcPr marL="76200" marR="76200" marT="38100" marB="381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cmpd="sng" algn="ctr" cap="flat" w="9525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1F3"/>
                    </a:solidFill>
                  </a:tcPr>
                </a:tc>
              </a:tr>
              <a:tr h="281940">
                <a:tc>
                  <a:txBody>
                    <a:bodyPr anchor="t" rtlCol="false"/>
                    <a:lstStyle/>
                    <a:p>
                      <a:pPr algn="l"/>
                      <a:r>
                        <a:rPr lang="es-ES" sz="1000" b="false" i="false">
                          <a:solidFill>
                            <a:srgbClr val="1F2933"/>
                          </a:solidFill>
                          <a:latin typeface="Segoe UI"/>
                        </a:rPr>
                        <a:t>sk_producto</a:t>
                      </a:r>
                      <a:endParaRPr sz="1000" lang="es-ES"/>
                    </a:p>
                  </a:txBody>
                  <a:tcPr marL="76200" marR="76200" marT="38100" marB="381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cmpd="sng" algn="ctr" cap="flat" w="9525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l"/>
                      <a:r>
                        <a:rPr lang="es-ES" sz="1000" b="false" i="false">
                          <a:solidFill>
                            <a:srgbClr val="1F2933"/>
                          </a:solidFill>
                          <a:latin typeface="Segoe UI"/>
                        </a:rPr>
                        <a:t>Integer</a:t>
                      </a:r>
                      <a:endParaRPr sz="1000" lang="es-ES"/>
                    </a:p>
                  </a:txBody>
                  <a:tcPr marL="76200" marR="76200" marT="38100" marB="381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cmpd="sng" algn="ctr" cap="flat" w="9525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r"/>
                      <a:r>
                        <a:rPr lang="es-ES" sz="1000" b="false" i="false">
                          <a:solidFill>
                            <a:srgbClr val="1F2933"/>
                          </a:solidFill>
                          <a:latin typeface="Segoe UI"/>
                        </a:rPr>
                        <a:t>9</a:t>
                      </a:r>
                      <a:endParaRPr sz="1000" lang="es-ES"/>
                    </a:p>
                  </a:txBody>
                  <a:tcPr marL="76200" marR="76200" marT="38100" marB="381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cmpd="sng" algn="ctr" cap="flat" w="9525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r"/>
                      <a:r>
                        <a:rPr lang="es-ES" sz="1000" b="false" i="false">
                          <a:solidFill>
                            <a:srgbClr val="1F2933"/>
                          </a:solidFill>
                          <a:latin typeface="Segoe UI"/>
                        </a:rPr>
                        <a:t>0</a:t>
                      </a:r>
                      <a:endParaRPr sz="1000" lang="es-ES"/>
                    </a:p>
                  </a:txBody>
                  <a:tcPr marL="76200" marR="76200" marT="38100" marB="381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cmpd="sng" algn="ctr" cap="flat" w="9525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l"/>
                      <a:r>
                        <a:rPr lang="es-ES" sz="1000" b="false" i="false">
                          <a:solidFill>
                            <a:srgbClr val="1F2933"/>
                          </a:solidFill>
                          <a:latin typeface="Segoe UI"/>
                        </a:rPr>
                        <a:t>####0;-####0</a:t>
                      </a:r>
                      <a:endParaRPr sz="1000" lang="es-ES"/>
                    </a:p>
                  </a:txBody>
                  <a:tcPr marL="76200" marR="76200" marT="38100" marB="381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cmpd="sng" algn="ctr" cap="flat" w="9525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l"/>
                      <a:r>
                        <a:rPr lang="es-ES" sz="1000" b="false" i="false">
                          <a:solidFill>
                            <a:srgbClr val="1F2933"/>
                          </a:solidFill>
                          <a:latin typeface="Segoe UI"/>
                        </a:rPr>
                        <a:t>Buscar producto</a:t>
                      </a:r>
                      <a:endParaRPr sz="1000" lang="es-ES"/>
                    </a:p>
                  </a:txBody>
                  <a:tcPr marL="76200" marR="76200" marT="38100" marB="381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cmpd="sng" algn="ctr" cap="flat" w="9525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l"/>
                      <a:r>
                        <a:rPr lang="es-ES" sz="1000" b="false" i="false">
                          <a:solidFill>
                            <a:srgbClr val="1F2933"/>
                          </a:solidFill>
                          <a:latin typeface="Segoe UI"/>
                        </a:rPr>
                        <a:t>sk_producto</a:t>
                      </a:r>
                      <a:endParaRPr sz="1000" lang="es-ES"/>
                    </a:p>
                  </a:txBody>
                  <a:tcPr marL="76200" marR="76200" marT="38100" marB="381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cmpd="sng" algn="ctr" cap="flat" w="9525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1940">
                <a:tc>
                  <a:txBody>
                    <a:bodyPr anchor="t" rtlCol="false"/>
                    <a:lstStyle/>
                    <a:p>
                      <a:pPr algn="l"/>
                      <a:r>
                        <a:rPr lang="es-ES" sz="1000" b="false" i="false">
                          <a:solidFill>
                            <a:srgbClr val="1F2933"/>
                          </a:solidFill>
                          <a:latin typeface="Segoe UI"/>
                        </a:rPr>
                        <a:t>cantidad</a:t>
                      </a:r>
                      <a:endParaRPr sz="1000" lang="es-ES"/>
                    </a:p>
                  </a:txBody>
                  <a:tcPr marL="76200" marR="76200" marT="38100" marB="381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cmpd="sng" algn="ctr" cap="flat" w="9525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1F3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l"/>
                      <a:r>
                        <a:rPr lang="es-ES" sz="1000" b="false" i="false">
                          <a:solidFill>
                            <a:srgbClr val="1F2933"/>
                          </a:solidFill>
                          <a:latin typeface="Segoe UI"/>
                        </a:rPr>
                        <a:t>Integer</a:t>
                      </a:r>
                      <a:endParaRPr sz="1000" lang="es-ES"/>
                    </a:p>
                  </a:txBody>
                  <a:tcPr marL="76200" marR="76200" marT="38100" marB="381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cmpd="sng" algn="ctr" cap="flat" w="9525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1F3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r"/>
                      <a:r>
                        <a:rPr lang="es-ES" sz="1000" b="false" i="false">
                          <a:solidFill>
                            <a:srgbClr val="1F2933"/>
                          </a:solidFill>
                          <a:latin typeface="Segoe UI"/>
                        </a:rPr>
                        <a:t> </a:t>
                      </a:r>
                      <a:endParaRPr sz="1000" lang="es-ES"/>
                    </a:p>
                  </a:txBody>
                  <a:tcPr marL="76200" marR="76200" marT="38100" marB="381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cmpd="sng" algn="ctr" cap="flat" w="9525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1F3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r"/>
                      <a:r>
                        <a:rPr lang="es-ES" sz="1000" b="false" i="false">
                          <a:solidFill>
                            <a:srgbClr val="1F2933"/>
                          </a:solidFill>
                          <a:latin typeface="Segoe UI"/>
                        </a:rPr>
                        <a:t>0</a:t>
                      </a:r>
                      <a:endParaRPr sz="1000" lang="es-ES"/>
                    </a:p>
                  </a:txBody>
                  <a:tcPr marL="76200" marR="76200" marT="38100" marB="381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cmpd="sng" algn="ctr" cap="flat" w="9525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1F3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l"/>
                      <a:r>
                        <a:rPr lang="es-ES" sz="1000" b="false" i="false">
                          <a:solidFill>
                            <a:srgbClr val="1F2933"/>
                          </a:solidFill>
                          <a:latin typeface="Segoe UI"/>
                        </a:rPr>
                        <a:t>#</a:t>
                      </a:r>
                      <a:endParaRPr sz="1000" lang="es-ES"/>
                    </a:p>
                  </a:txBody>
                  <a:tcPr marL="76200" marR="76200" marT="38100" marB="381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cmpd="sng" algn="ctr" cap="flat" w="9525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1F3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l"/>
                      <a:r>
                        <a:rPr lang="es-ES" sz="1000" b="false" i="false">
                          <a:solidFill>
                            <a:srgbClr val="1F2933"/>
                          </a:solidFill>
                          <a:latin typeface="Segoe UI"/>
                        </a:rPr>
                        <a:t>Leer ventas (CSV)</a:t>
                      </a:r>
                      <a:endParaRPr sz="1000" lang="es-ES"/>
                    </a:p>
                  </a:txBody>
                  <a:tcPr marL="76200" marR="76200" marT="38100" marB="381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cmpd="sng" algn="ctr" cap="flat" w="9525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1F3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l"/>
                      <a:r>
                        <a:rPr lang="es-ES" sz="1000" b="false" i="false">
                          <a:solidFill>
                            <a:srgbClr val="1F2933"/>
                          </a:solidFill>
                          <a:latin typeface="Segoe UI"/>
                        </a:rPr>
                        <a:t> </a:t>
                      </a:r>
                      <a:endParaRPr sz="1000" lang="es-ES"/>
                    </a:p>
                  </a:txBody>
                  <a:tcPr marL="76200" marR="76200" marT="38100" marB="381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cmpd="sng" algn="ctr" cap="flat" w="9525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1F3"/>
                    </a:solidFill>
                  </a:tcPr>
                </a:tc>
              </a:tr>
              <a:tr h="281940">
                <a:tc>
                  <a:txBody>
                    <a:bodyPr anchor="t" rtlCol="false"/>
                    <a:lstStyle/>
                    <a:p>
                      <a:pPr algn="l"/>
                      <a:r>
                        <a:rPr lang="es-ES" sz="1000" b="false" i="false">
                          <a:solidFill>
                            <a:srgbClr val="1F2933"/>
                          </a:solidFill>
                          <a:latin typeface="Segoe UI"/>
                        </a:rPr>
                        <a:t>precio_unitario</a:t>
                      </a:r>
                      <a:endParaRPr sz="1000" lang="es-ES"/>
                    </a:p>
                  </a:txBody>
                  <a:tcPr marL="76200" marR="76200" marT="38100" marB="381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cmpd="sng" algn="ctr" cap="flat" w="9525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l"/>
                      <a:r>
                        <a:rPr lang="es-ES" sz="1000" b="false" i="false">
                          <a:solidFill>
                            <a:srgbClr val="1F2933"/>
                          </a:solidFill>
                          <a:latin typeface="Segoe UI"/>
                        </a:rPr>
                        <a:t>Number</a:t>
                      </a:r>
                      <a:endParaRPr sz="1000" lang="es-ES"/>
                    </a:p>
                  </a:txBody>
                  <a:tcPr marL="76200" marR="76200" marT="38100" marB="381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cmpd="sng" algn="ctr" cap="flat" w="9525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r"/>
                      <a:r>
                        <a:rPr lang="es-ES" sz="1000" b="false" i="false">
                          <a:solidFill>
                            <a:srgbClr val="1F2933"/>
                          </a:solidFill>
                          <a:latin typeface="Segoe UI"/>
                        </a:rPr>
                        <a:t> </a:t>
                      </a:r>
                      <a:endParaRPr sz="1000" lang="es-ES"/>
                    </a:p>
                  </a:txBody>
                  <a:tcPr marL="76200" marR="76200" marT="38100" marB="381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cmpd="sng" algn="ctr" cap="flat" w="9525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r"/>
                      <a:r>
                        <a:rPr lang="es-ES" sz="1000" b="false" i="false">
                          <a:solidFill>
                            <a:srgbClr val="1F2933"/>
                          </a:solidFill>
                          <a:latin typeface="Segoe UI"/>
                        </a:rPr>
                        <a:t> </a:t>
                      </a:r>
                      <a:endParaRPr sz="1000" lang="es-ES"/>
                    </a:p>
                  </a:txBody>
                  <a:tcPr marL="76200" marR="76200" marT="38100" marB="381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cmpd="sng" algn="ctr" cap="flat" w="9525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l"/>
                      <a:r>
                        <a:rPr lang="es-ES" sz="1000" b="false" i="false">
                          <a:solidFill>
                            <a:srgbClr val="1F2933"/>
                          </a:solidFill>
                          <a:latin typeface="Segoe UI"/>
                        </a:rPr>
                        <a:t>#.##</a:t>
                      </a:r>
                      <a:endParaRPr sz="1000" lang="es-ES"/>
                    </a:p>
                  </a:txBody>
                  <a:tcPr marL="76200" marR="76200" marT="38100" marB="381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cmpd="sng" algn="ctr" cap="flat" w="9525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l"/>
                      <a:r>
                        <a:rPr lang="es-ES" sz="1000" b="false" i="false">
                          <a:solidFill>
                            <a:srgbClr val="1F2933"/>
                          </a:solidFill>
                          <a:latin typeface="Segoe UI"/>
                        </a:rPr>
                        <a:t>Convertir precio a número</a:t>
                      </a:r>
                      <a:endParaRPr sz="1000" lang="es-ES"/>
                    </a:p>
                  </a:txBody>
                  <a:tcPr marL="76200" marR="76200" marT="38100" marB="381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cmpd="sng" algn="ctr" cap="flat" w="9525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l"/>
                      <a:r>
                        <a:rPr lang="es-ES" sz="1000" b="false" i="false">
                          <a:solidFill>
                            <a:srgbClr val="1F2933"/>
                          </a:solidFill>
                          <a:latin typeface="Segoe UI"/>
                        </a:rPr>
                        <a:t> </a:t>
                      </a:r>
                      <a:endParaRPr sz="1000" lang="es-ES"/>
                    </a:p>
                  </a:txBody>
                  <a:tcPr marL="76200" marR="76200" marT="38100" marB="381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cmpd="sng" algn="ctr" cap="flat" w="9525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1940">
                <a:tc>
                  <a:txBody>
                    <a:bodyPr anchor="t" rtlCol="false"/>
                    <a:lstStyle/>
                    <a:p>
                      <a:pPr algn="l"/>
                      <a:r>
                        <a:rPr lang="es-ES" sz="1000" b="false" i="false">
                          <a:solidFill>
                            <a:srgbClr val="1F2933"/>
                          </a:solidFill>
                          <a:latin typeface="Segoe UI"/>
                        </a:rPr>
                        <a:t>importe</a:t>
                      </a:r>
                      <a:endParaRPr sz="1000" lang="es-ES"/>
                    </a:p>
                  </a:txBody>
                  <a:tcPr marL="76200" marR="76200" marT="38100" marB="381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cmpd="sng" algn="ctr" cap="flat" w="9525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1F3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l"/>
                      <a:r>
                        <a:rPr lang="es-ES" sz="1000" b="false" i="false">
                          <a:solidFill>
                            <a:srgbClr val="1F2933"/>
                          </a:solidFill>
                          <a:latin typeface="Segoe UI"/>
                        </a:rPr>
                        <a:t>Number</a:t>
                      </a:r>
                      <a:endParaRPr sz="1000" lang="es-ES"/>
                    </a:p>
                  </a:txBody>
                  <a:tcPr marL="76200" marR="76200" marT="38100" marB="381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cmpd="sng" algn="ctr" cap="flat" w="9525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1F3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r"/>
                      <a:r>
                        <a:rPr lang="es-ES" sz="1000" b="false" i="false">
                          <a:solidFill>
                            <a:srgbClr val="1F2933"/>
                          </a:solidFill>
                          <a:latin typeface="Segoe UI"/>
                        </a:rPr>
                        <a:t> </a:t>
                      </a:r>
                      <a:endParaRPr sz="1000" lang="es-ES"/>
                    </a:p>
                  </a:txBody>
                  <a:tcPr marL="76200" marR="76200" marT="38100" marB="381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cmpd="sng" algn="ctr" cap="flat" w="9525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1F3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r"/>
                      <a:r>
                        <a:rPr lang="es-ES" sz="1000" b="false" i="false">
                          <a:solidFill>
                            <a:srgbClr val="1F2933"/>
                          </a:solidFill>
                          <a:latin typeface="Segoe UI"/>
                        </a:rPr>
                        <a:t>2</a:t>
                      </a:r>
                      <a:endParaRPr sz="1000" lang="es-ES"/>
                    </a:p>
                  </a:txBody>
                  <a:tcPr marL="76200" marR="76200" marT="38100" marB="381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cmpd="sng" algn="ctr" cap="flat" w="9525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1F3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l"/>
                      <a:r>
                        <a:rPr lang="es-ES" sz="1000" b="false" i="false">
                          <a:solidFill>
                            <a:srgbClr val="1F2933"/>
                          </a:solidFill>
                          <a:latin typeface="Segoe UI"/>
                        </a:rPr>
                        <a:t> </a:t>
                      </a:r>
                      <a:endParaRPr sz="1000" lang="es-ES"/>
                    </a:p>
                  </a:txBody>
                  <a:tcPr marL="76200" marR="76200" marT="38100" marB="381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cmpd="sng" algn="ctr" cap="flat" w="9525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1F3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l"/>
                      <a:r>
                        <a:rPr lang="es-ES" sz="1000" b="false" i="false">
                          <a:solidFill>
                            <a:srgbClr val="1F2933"/>
                          </a:solidFill>
                          <a:latin typeface="Segoe UI"/>
                        </a:rPr>
                        <a:t>Calcular importe</a:t>
                      </a:r>
                      <a:endParaRPr sz="1000" lang="es-ES"/>
                    </a:p>
                  </a:txBody>
                  <a:tcPr marL="76200" marR="76200" marT="38100" marB="381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cmpd="sng" algn="ctr" cap="flat" w="9525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1F3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l"/>
                      <a:r>
                        <a:rPr lang="es-ES" sz="1000" b="false" i="false">
                          <a:solidFill>
                            <a:srgbClr val="1F2933"/>
                          </a:solidFill>
                          <a:latin typeface="Segoe UI"/>
                        </a:rPr>
                        <a:t>ROUND_STD_2</a:t>
                      </a:r>
                      <a:endParaRPr sz="1000" lang="es-ES"/>
                    </a:p>
                  </a:txBody>
                  <a:tcPr marL="76200" marR="76200" marT="38100" marB="381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cmpd="sng" algn="ctr" cap="flat" w="9525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1F3"/>
                    </a:solidFill>
                  </a:tcPr>
                </a:tc>
              </a:tr>
              <a:tr h="281940">
                <a:tc>
                  <a:txBody>
                    <a:bodyPr anchor="t" rtlCol="false"/>
                    <a:lstStyle/>
                    <a:p>
                      <a:pPr algn="l"/>
                      <a:r>
                        <a:rPr lang="es-ES" sz="1000" b="false" i="false">
                          <a:solidFill>
                            <a:srgbClr val="1F2933"/>
                          </a:solidFill>
                          <a:latin typeface="Segoe UI"/>
                        </a:rPr>
                        <a:t>metodo_pago</a:t>
                      </a:r>
                      <a:endParaRPr sz="1000" lang="es-ES"/>
                    </a:p>
                  </a:txBody>
                  <a:tcPr marL="76200" marR="76200" marT="38100" marB="381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cmpd="sng" algn="ctr" cap="flat" w="9525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l"/>
                      <a:r>
                        <a:rPr lang="es-ES" sz="1000" b="false" i="false">
                          <a:solidFill>
                            <a:srgbClr val="1F2933"/>
                          </a:solidFill>
                          <a:latin typeface="Segoe UI"/>
                        </a:rPr>
                        <a:t>String</a:t>
                      </a:r>
                      <a:endParaRPr sz="1000" lang="es-ES"/>
                    </a:p>
                  </a:txBody>
                  <a:tcPr marL="76200" marR="76200" marT="38100" marB="381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cmpd="sng" algn="ctr" cap="flat" w="9525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r"/>
                      <a:r>
                        <a:rPr lang="es-ES" sz="1000" b="false" i="false">
                          <a:solidFill>
                            <a:srgbClr val="1F2933"/>
                          </a:solidFill>
                          <a:latin typeface="Segoe UI"/>
                        </a:rPr>
                        <a:t> </a:t>
                      </a:r>
                      <a:endParaRPr sz="1000" lang="es-ES"/>
                    </a:p>
                  </a:txBody>
                  <a:tcPr marL="76200" marR="76200" marT="38100" marB="381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cmpd="sng" algn="ctr" cap="flat" w="9525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r"/>
                      <a:r>
                        <a:rPr lang="es-ES" sz="1000" b="false" i="false">
                          <a:solidFill>
                            <a:srgbClr val="1F2933"/>
                          </a:solidFill>
                          <a:latin typeface="Segoe UI"/>
                        </a:rPr>
                        <a:t> </a:t>
                      </a:r>
                      <a:endParaRPr sz="1000" lang="es-ES"/>
                    </a:p>
                  </a:txBody>
                  <a:tcPr marL="76200" marR="76200" marT="38100" marB="381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cmpd="sng" algn="ctr" cap="flat" w="9525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l"/>
                      <a:r>
                        <a:rPr lang="es-ES" sz="1000" b="false" i="false">
                          <a:solidFill>
                            <a:srgbClr val="1F2933"/>
                          </a:solidFill>
                          <a:latin typeface="Segoe UI"/>
                        </a:rPr>
                        <a:t> </a:t>
                      </a:r>
                      <a:endParaRPr sz="1000" lang="es-ES"/>
                    </a:p>
                  </a:txBody>
                  <a:tcPr marL="76200" marR="76200" marT="38100" marB="381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cmpd="sng" algn="ctr" cap="flat" w="9525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l"/>
                      <a:r>
                        <a:rPr lang="es-ES" sz="1000" b="false" i="false">
                          <a:solidFill>
                            <a:srgbClr val="1F2933"/>
                          </a:solidFill>
                          <a:latin typeface="Segoe UI"/>
                        </a:rPr>
                        <a:t>Leer ventas (CSV)</a:t>
                      </a:r>
                      <a:endParaRPr sz="1000" lang="es-ES"/>
                    </a:p>
                  </a:txBody>
                  <a:tcPr marL="76200" marR="76200" marT="38100" marB="381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cmpd="sng" algn="ctr" cap="flat" w="9525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l"/>
                      <a:r>
                        <a:rPr lang="es-ES" sz="1000" b="false" i="false">
                          <a:solidFill>
                            <a:srgbClr val="1F2933"/>
                          </a:solidFill>
                          <a:latin typeface="Segoe UI"/>
                        </a:rPr>
                        <a:t> </a:t>
                      </a:r>
                      <a:endParaRPr sz="1000" lang="es-ES"/>
                    </a:p>
                  </a:txBody>
                  <a:tcPr marL="76200" marR="76200" marT="38100" marB="381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cmpd="sng" algn="ctr" cap="flat" w="9525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name="TextBox 10" id="10"/>
          <p:cNvSpPr txBox="true"/>
          <p:nvPr/>
        </p:nvSpPr>
        <p:spPr>
          <a:xfrm>
            <a:off x="508000" y="4165600"/>
            <a:ext cx="11176000" cy="235458"/>
          </a:xfrm>
          <a:prstGeom prst="rect">
            <a:avLst/>
          </a:prstGeom>
        </p:spPr>
        <p:txBody>
          <a:bodyPr anchor="t" rtlCol="false" wrap="square" lIns="0" rIns="0" tIns="25400" bIns="25400"/>
          <a:lstStyle/>
          <a:p>
            <a:pPr algn="l"/>
            <a:r>
              <a:rPr lang="es-ES" sz="950" b="false" i="true">
                <a:solidFill>
                  <a:srgbClr val="6B7785"/>
                </a:solidFill>
                <a:latin typeface="Segoe UI"/>
              </a:rPr>
              <a:t>Nombres, orden, formato y largo como los escribe «Cargar hechos_ventas»; el tipo, el origen y el comentario vienen del flujo. Los largos vacíos significan «sin límite».</a:t>
            </a:r>
            <a:endParaRPr sz="950" lang="es-ES"/>
          </a:p>
        </p:txBody>
      </p:sp>
    </p:spTree>
  </p:cSld>
  <p:clrMapOvr>
    <a:masterClrMapping/>
  </p:clrMapOvr>
</p:sld>
</file>

<file path=ppt/slides/slide15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8000" y="203200"/>
            <a:ext cx="11176000" cy="635000"/>
          </a:xfrm>
        </p:spPr>
        <p:txBody>
          <a:bodyPr lIns="0" rIns="0" wrap="square" anchor="ctr"/>
          <a:lstStyle/>
          <a:p>
            <a:pPr algn="l"/>
            <a:r>
              <a:rPr lang="es-ES" sz="2600" b="true" i="false">
                <a:solidFill>
                  <a:srgbClr val="243B53"/>
                </a:solidFill>
                <a:latin typeface="Segoe UI"/>
              </a:rPr>
              <a:t>Diccionario de datos (cont.)</a:t>
            </a:r>
            <a:endParaRPr sz="2600" lang="es-ES"/>
          </a:p>
        </p:txBody>
      </p:sp>
      <p:pic>
        <p:nvPicPr>
          <p:cNvPr name="Picture 3" id="3"/>
          <p:cNvPicPr>
            <a:picLocks noChangeAspect="true"/>
          </p:cNvPicPr>
          <p:nvPr/>
        </p:nvPicPr>
        <p:blipFill>
          <a:blip r:embed="rId2"/>
          <a:stretch>
            <a:fillRect/>
          </a:stretch>
        </p:blipFill>
        <p:spPr>
          <a:xfrm>
            <a:off x="10248900" y="5510084"/>
            <a:ext cx="1435100" cy="814516"/>
          </a:xfrm>
          <a:prstGeom prst="rect">
            <a:avLst/>
          </a:prstGeom>
        </p:spPr>
      </p:pic>
      <p:sp>
        <p:nvSpPr>
          <p:cNvPr name="AutoShape 4" id="4"/>
          <p:cNvSpPr/>
          <p:nvPr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243B53"/>
          </a:solidFill>
          <a:ln>
            <a:noFill/>
          </a:ln>
        </p:spPr>
      </p:sp>
      <p:pic>
        <p:nvPicPr>
          <p:cNvPr name="Picture 5" id="5"/>
          <p:cNvPicPr>
            <a:picLocks noChangeAspect="true"/>
          </p:cNvPicPr>
          <p:nvPr/>
        </p:nvPicPr>
        <p:blipFill>
          <a:blip r:embed="rId3"/>
          <a:stretch>
            <a:fillRect/>
          </a:stretch>
        </p:blipFill>
        <p:spPr>
          <a:xfrm>
            <a:off x="508000" y="6508750"/>
            <a:ext cx="177800" cy="100914"/>
          </a:xfrm>
          <a:prstGeom prst="rect">
            <a:avLst/>
          </a:prstGeom>
        </p:spPr>
      </p:pic>
      <p:sp>
        <p:nvSpPr>
          <p:cNvPr name="TextBox 6" id="6"/>
          <p:cNvSpPr txBox="true"/>
          <p:nvPr/>
        </p:nvSpPr>
        <p:spPr>
          <a:xfrm>
            <a:off x="749300" y="6451600"/>
            <a:ext cx="5080000" cy="228600"/>
          </a:xfrm>
          <a:prstGeom prst="rect">
            <a:avLst/>
          </a:prstGeom>
        </p:spPr>
        <p:txBody>
          <a:bodyPr anchor="ctr" rtlCol="false" wrap="square" lIns="0" rIns="0" tIns="25400" bIns="25400"/>
          <a:lstStyle/>
          <a:p>
            <a:pPr algn="l"/>
            <a:r>
              <a:rPr lang="es-ES" sz="750" b="false" i="false">
                <a:solidFill>
                  <a:srgbClr val="6B7785"/>
                </a:solidFill>
                <a:latin typeface="Segoe UI"/>
              </a:rPr>
              <a:t>Pentaho Live · IDC Studios</a:t>
            </a:r>
            <a:endParaRPr sz="750" lang="es-ES"/>
          </a:p>
        </p:txBody>
      </p:sp>
      <p:sp>
        <p:nvSpPr>
          <p:cNvPr name="TextBox 7" id="7"/>
          <p:cNvSpPr txBox="true"/>
          <p:nvPr/>
        </p:nvSpPr>
        <p:spPr>
          <a:xfrm>
            <a:off x="10160000" y="6451600"/>
            <a:ext cx="1524000" cy="228600"/>
          </a:xfrm>
          <a:prstGeom prst="rect">
            <a:avLst/>
          </a:prstGeom>
        </p:spPr>
        <p:txBody>
          <a:bodyPr anchor="ctr" rtlCol="false" wrap="square" lIns="0" rIns="0" tIns="25400" bIns="25400"/>
          <a:lstStyle/>
          <a:p>
            <a:pPr algn="r"/>
            <a:fld id="{3A195020-B6DA-40FB-9A36-793067D0A971}" type="slidenum">
              <a:rPr lang="es-ES" sz="750">
                <a:solidFill>
                  <a:srgbClr val="6B7785"/>
                </a:solidFill>
                <a:latin typeface="Segoe UI"/>
              </a:rPr>
              <a:t>15</a:t>
            </a:fld>
            <a:endParaRPr sz="750" lang="es-ES"/>
          </a:p>
        </p:txBody>
      </p:sp>
      <p:sp>
        <p:nvSpPr>
          <p:cNvPr name="TextBox 8" id="8"/>
          <p:cNvSpPr txBox="true"/>
          <p:nvPr/>
        </p:nvSpPr>
        <p:spPr>
          <a:xfrm>
            <a:off x="508000" y="1016000"/>
            <a:ext cx="11176000" cy="254000"/>
          </a:xfrm>
          <a:prstGeom prst="rect">
            <a:avLst/>
          </a:prstGeom>
        </p:spPr>
        <p:txBody>
          <a:bodyPr anchor="t" rtlCol="false" wrap="square" lIns="0" rIns="0" tIns="25400" bIns="25400"/>
          <a:lstStyle/>
          <a:p>
            <a:pPr algn="l"/>
            <a:r>
              <a:rPr lang="es-ES" sz="1300" b="true" i="false">
                <a:solidFill>
                  <a:srgbClr val="243B53"/>
                </a:solidFill>
                <a:latin typeface="Segoe UI"/>
              </a:rPr>
              <a:t>Salida final: Escribir rechazos</a:t>
            </a:r>
            <a:endParaRPr sz="1300" lang="es-ES"/>
          </a:p>
        </p:txBody>
      </p:sp>
      <p:graphicFrame>
        <p:nvGraphicFramePr>
          <p:cNvPr name="Table 9" id="9"/>
          <p:cNvGraphicFramePr>
            <a:graphicFrameLocks noGrp="true"/>
          </p:cNvGraphicFramePr>
          <p:nvPr/>
        </p:nvGraphicFramePr>
        <p:xfrm>
          <a:off x="508000" y="1295400"/>
          <a:ext cx="6946900" cy="2819400"/>
        </p:xfrm>
        <a:graphic>
          <a:graphicData uri="http://schemas.openxmlformats.org/drawingml/2006/table">
            <a:tbl>
              <a:tblPr/>
              <a:tblGrid>
                <a:gridCol w="1219200"/>
                <a:gridCol w="660400"/>
                <a:gridCol w="596900"/>
                <a:gridCol w="876300"/>
                <a:gridCol w="736600"/>
                <a:gridCol w="1917700"/>
                <a:gridCol w="939800"/>
              </a:tblGrid>
              <a:tr h="281940">
                <a:tc>
                  <a:txBody>
                    <a:bodyPr anchor="t" rtlCol="false"/>
                    <a:lstStyle/>
                    <a:p>
                      <a:pPr algn="l"/>
                      <a:r>
                        <a:rPr lang="es-ES" sz="1000" b="true" i="false">
                          <a:solidFill>
                            <a:srgbClr val="FFFFFF"/>
                          </a:solidFill>
                          <a:latin typeface="Segoe UI"/>
                        </a:rPr>
                        <a:t>Campo</a:t>
                      </a:r>
                      <a:endParaRPr sz="1000" lang="es-ES"/>
                    </a:p>
                  </a:txBody>
                  <a:tcPr marL="76200" marR="76200" marT="38100" marB="381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cmpd="sng" algn="ctr" cap="flat" w="9525">
                      <a:solidFill>
                        <a:srgbClr val="243B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3B53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l"/>
                      <a:r>
                        <a:rPr lang="es-ES" sz="1000" b="true" i="false">
                          <a:solidFill>
                            <a:srgbClr val="FFFFFF"/>
                          </a:solidFill>
                          <a:latin typeface="Segoe UI"/>
                        </a:rPr>
                        <a:t>Tipo</a:t>
                      </a:r>
                      <a:endParaRPr sz="1000" lang="es-ES"/>
                    </a:p>
                  </a:txBody>
                  <a:tcPr marL="76200" marR="76200" marT="38100" marB="381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cmpd="sng" algn="ctr" cap="flat" w="9525">
                      <a:solidFill>
                        <a:srgbClr val="243B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3B53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r"/>
                      <a:r>
                        <a:rPr lang="es-ES" sz="1000" b="true" i="false">
                          <a:solidFill>
                            <a:srgbClr val="FFFFFF"/>
                          </a:solidFill>
                          <a:latin typeface="Segoe UI"/>
                        </a:rPr>
                        <a:t>Largo</a:t>
                      </a:r>
                      <a:endParaRPr sz="1000" lang="es-ES"/>
                    </a:p>
                  </a:txBody>
                  <a:tcPr marL="76200" marR="76200" marT="38100" marB="381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cmpd="sng" algn="ctr" cap="flat" w="9525">
                      <a:solidFill>
                        <a:srgbClr val="243B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3B53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r"/>
                      <a:r>
                        <a:rPr lang="es-ES" sz="1000" b="true" i="false">
                          <a:solidFill>
                            <a:srgbClr val="FFFFFF"/>
                          </a:solidFill>
                          <a:latin typeface="Segoe UI"/>
                        </a:rPr>
                        <a:t>Precisión</a:t>
                      </a:r>
                      <a:endParaRPr sz="1000" lang="es-ES"/>
                    </a:p>
                  </a:txBody>
                  <a:tcPr marL="76200" marR="76200" marT="38100" marB="381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cmpd="sng" algn="ctr" cap="flat" w="9525">
                      <a:solidFill>
                        <a:srgbClr val="243B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3B53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l"/>
                      <a:r>
                        <a:rPr lang="es-ES" sz="1000" b="true" i="false">
                          <a:solidFill>
                            <a:srgbClr val="FFFFFF"/>
                          </a:solidFill>
                          <a:latin typeface="Segoe UI"/>
                        </a:rPr>
                        <a:t>Máscara</a:t>
                      </a:r>
                      <a:endParaRPr sz="1000" lang="es-ES"/>
                    </a:p>
                  </a:txBody>
                  <a:tcPr marL="76200" marR="76200" marT="38100" marB="381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cmpd="sng" algn="ctr" cap="flat" w="9525">
                      <a:solidFill>
                        <a:srgbClr val="243B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3B53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l"/>
                      <a:r>
                        <a:rPr lang="es-ES" sz="1000" b="true" i="false">
                          <a:solidFill>
                            <a:srgbClr val="FFFFFF"/>
                          </a:solidFill>
                          <a:latin typeface="Segoe UI"/>
                        </a:rPr>
                        <a:t>Origen</a:t>
                      </a:r>
                      <a:endParaRPr sz="1000" lang="es-ES"/>
                    </a:p>
                  </a:txBody>
                  <a:tcPr marL="76200" marR="76200" marT="38100" marB="381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cmpd="sng" algn="ctr" cap="flat" w="9525">
                      <a:solidFill>
                        <a:srgbClr val="243B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3B53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l"/>
                      <a:r>
                        <a:rPr lang="es-ES" sz="1000" b="true" i="false">
                          <a:solidFill>
                            <a:srgbClr val="FFFFFF"/>
                          </a:solidFill>
                          <a:latin typeface="Segoe UI"/>
                        </a:rPr>
                        <a:t>Comentario</a:t>
                      </a:r>
                      <a:endParaRPr sz="1000" lang="es-ES"/>
                    </a:p>
                  </a:txBody>
                  <a:tcPr marL="76200" marR="76200" marT="38100" marB="381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cmpd="sng" algn="ctr" cap="flat" w="9525">
                      <a:solidFill>
                        <a:srgbClr val="243B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3B53"/>
                    </a:solidFill>
                  </a:tcPr>
                </a:tc>
              </a:tr>
              <a:tr h="281940">
                <a:tc>
                  <a:txBody>
                    <a:bodyPr anchor="t" rtlCol="false"/>
                    <a:lstStyle/>
                    <a:p>
                      <a:pPr algn="l"/>
                      <a:r>
                        <a:rPr lang="es-ES" sz="1000" b="false" i="false">
                          <a:solidFill>
                            <a:srgbClr val="1F2933"/>
                          </a:solidFill>
                          <a:latin typeface="Segoe UI"/>
                        </a:rPr>
                        <a:t>id_ticket</a:t>
                      </a:r>
                      <a:endParaRPr sz="1000" lang="es-ES"/>
                    </a:p>
                  </a:txBody>
                  <a:tcPr marL="76200" marR="76200" marT="38100" marB="381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cmpd="sng" algn="ctr" cap="flat" w="9525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l"/>
                      <a:r>
                        <a:rPr lang="es-ES" sz="1000" b="false" i="false">
                          <a:solidFill>
                            <a:srgbClr val="1F2933"/>
                          </a:solidFill>
                          <a:latin typeface="Segoe UI"/>
                        </a:rPr>
                        <a:t>String</a:t>
                      </a:r>
                      <a:endParaRPr sz="1000" lang="es-ES"/>
                    </a:p>
                  </a:txBody>
                  <a:tcPr marL="76200" marR="76200" marT="38100" marB="381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cmpd="sng" algn="ctr" cap="flat" w="9525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r"/>
                      <a:r>
                        <a:rPr lang="es-ES" sz="1000" b="false" i="false">
                          <a:solidFill>
                            <a:srgbClr val="1F2933"/>
                          </a:solidFill>
                          <a:latin typeface="Segoe UI"/>
                        </a:rPr>
                        <a:t> </a:t>
                      </a:r>
                      <a:endParaRPr sz="1000" lang="es-ES"/>
                    </a:p>
                  </a:txBody>
                  <a:tcPr marL="76200" marR="76200" marT="38100" marB="381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cmpd="sng" algn="ctr" cap="flat" w="9525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r"/>
                      <a:r>
                        <a:rPr lang="es-ES" sz="1000" b="false" i="false">
                          <a:solidFill>
                            <a:srgbClr val="1F2933"/>
                          </a:solidFill>
                          <a:latin typeface="Segoe UI"/>
                        </a:rPr>
                        <a:t> </a:t>
                      </a:r>
                      <a:endParaRPr sz="1000" lang="es-ES"/>
                    </a:p>
                  </a:txBody>
                  <a:tcPr marL="76200" marR="76200" marT="38100" marB="381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cmpd="sng" algn="ctr" cap="flat" w="9525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l"/>
                      <a:r>
                        <a:rPr lang="es-ES" sz="1000" b="false" i="false">
                          <a:solidFill>
                            <a:srgbClr val="1F2933"/>
                          </a:solidFill>
                          <a:latin typeface="Segoe UI"/>
                        </a:rPr>
                        <a:t> </a:t>
                      </a:r>
                      <a:endParaRPr sz="1000" lang="es-ES"/>
                    </a:p>
                  </a:txBody>
                  <a:tcPr marL="76200" marR="76200" marT="38100" marB="381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cmpd="sng" algn="ctr" cap="flat" w="9525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l"/>
                      <a:r>
                        <a:rPr lang="es-ES" sz="1000" b="false" i="false">
                          <a:solidFill>
                            <a:srgbClr val="1F2933"/>
                          </a:solidFill>
                          <a:latin typeface="Segoe UI"/>
                        </a:rPr>
                        <a:t>Leer ventas (CSV)</a:t>
                      </a:r>
                      <a:endParaRPr sz="1000" lang="es-ES"/>
                    </a:p>
                  </a:txBody>
                  <a:tcPr marL="76200" marR="76200" marT="38100" marB="381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cmpd="sng" algn="ctr" cap="flat" w="9525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l"/>
                      <a:r>
                        <a:rPr lang="es-ES" sz="1000" b="false" i="false">
                          <a:solidFill>
                            <a:srgbClr val="1F2933"/>
                          </a:solidFill>
                          <a:latin typeface="Segoe UI"/>
                        </a:rPr>
                        <a:t> </a:t>
                      </a:r>
                      <a:endParaRPr sz="1000" lang="es-ES"/>
                    </a:p>
                  </a:txBody>
                  <a:tcPr marL="76200" marR="76200" marT="38100" marB="381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cmpd="sng" algn="ctr" cap="flat" w="9525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1940">
                <a:tc>
                  <a:txBody>
                    <a:bodyPr anchor="t" rtlCol="false"/>
                    <a:lstStyle/>
                    <a:p>
                      <a:pPr algn="l"/>
                      <a:r>
                        <a:rPr lang="es-ES" sz="1000" b="false" i="false">
                          <a:solidFill>
                            <a:srgbClr val="1F2933"/>
                          </a:solidFill>
                          <a:latin typeface="Segoe UI"/>
                        </a:rPr>
                        <a:t>linea</a:t>
                      </a:r>
                      <a:endParaRPr sz="1000" lang="es-ES"/>
                    </a:p>
                  </a:txBody>
                  <a:tcPr marL="76200" marR="76200" marT="38100" marB="381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cmpd="sng" algn="ctr" cap="flat" w="9525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1F3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l"/>
                      <a:r>
                        <a:rPr lang="es-ES" sz="1000" b="false" i="false">
                          <a:solidFill>
                            <a:srgbClr val="1F2933"/>
                          </a:solidFill>
                          <a:latin typeface="Segoe UI"/>
                        </a:rPr>
                        <a:t>Integer</a:t>
                      </a:r>
                      <a:endParaRPr sz="1000" lang="es-ES"/>
                    </a:p>
                  </a:txBody>
                  <a:tcPr marL="76200" marR="76200" marT="38100" marB="381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cmpd="sng" algn="ctr" cap="flat" w="9525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1F3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r"/>
                      <a:r>
                        <a:rPr lang="es-ES" sz="1000" b="false" i="false">
                          <a:solidFill>
                            <a:srgbClr val="1F2933"/>
                          </a:solidFill>
                          <a:latin typeface="Segoe UI"/>
                        </a:rPr>
                        <a:t> </a:t>
                      </a:r>
                      <a:endParaRPr sz="1000" lang="es-ES"/>
                    </a:p>
                  </a:txBody>
                  <a:tcPr marL="76200" marR="76200" marT="38100" marB="381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cmpd="sng" algn="ctr" cap="flat" w="9525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1F3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r"/>
                      <a:r>
                        <a:rPr lang="es-ES" sz="1000" b="false" i="false">
                          <a:solidFill>
                            <a:srgbClr val="1F2933"/>
                          </a:solidFill>
                          <a:latin typeface="Segoe UI"/>
                        </a:rPr>
                        <a:t>0</a:t>
                      </a:r>
                      <a:endParaRPr sz="1000" lang="es-ES"/>
                    </a:p>
                  </a:txBody>
                  <a:tcPr marL="76200" marR="76200" marT="38100" marB="381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cmpd="sng" algn="ctr" cap="flat" w="9525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1F3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l"/>
                      <a:r>
                        <a:rPr lang="es-ES" sz="1000" b="false" i="false">
                          <a:solidFill>
                            <a:srgbClr val="1F2933"/>
                          </a:solidFill>
                          <a:latin typeface="Segoe UI"/>
                        </a:rPr>
                        <a:t>0</a:t>
                      </a:r>
                      <a:endParaRPr sz="1000" lang="es-ES"/>
                    </a:p>
                  </a:txBody>
                  <a:tcPr marL="76200" marR="76200" marT="38100" marB="381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cmpd="sng" algn="ctr" cap="flat" w="9525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1F3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l"/>
                      <a:r>
                        <a:rPr lang="es-ES" sz="1000" b="false" i="false">
                          <a:solidFill>
                            <a:srgbClr val="1F2933"/>
                          </a:solidFill>
                          <a:latin typeface="Segoe UI"/>
                        </a:rPr>
                        <a:t>Leer ventas (CSV)</a:t>
                      </a:r>
                      <a:endParaRPr sz="1000" lang="es-ES"/>
                    </a:p>
                  </a:txBody>
                  <a:tcPr marL="76200" marR="76200" marT="38100" marB="381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cmpd="sng" algn="ctr" cap="flat" w="9525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1F3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l"/>
                      <a:r>
                        <a:rPr lang="es-ES" sz="1000" b="false" i="false">
                          <a:solidFill>
                            <a:srgbClr val="1F2933"/>
                          </a:solidFill>
                          <a:latin typeface="Segoe UI"/>
                        </a:rPr>
                        <a:t> </a:t>
                      </a:r>
                      <a:endParaRPr sz="1000" lang="es-ES"/>
                    </a:p>
                  </a:txBody>
                  <a:tcPr marL="76200" marR="76200" marT="38100" marB="381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cmpd="sng" algn="ctr" cap="flat" w="9525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1F3"/>
                    </a:solidFill>
                  </a:tcPr>
                </a:tc>
              </a:tr>
              <a:tr h="281940">
                <a:tc>
                  <a:txBody>
                    <a:bodyPr anchor="t" rtlCol="false"/>
                    <a:lstStyle/>
                    <a:p>
                      <a:pPr algn="l"/>
                      <a:r>
                        <a:rPr lang="es-ES" sz="1000" b="false" i="false">
                          <a:solidFill>
                            <a:srgbClr val="1F2933"/>
                          </a:solidFill>
                          <a:latin typeface="Segoe UI"/>
                        </a:rPr>
                        <a:t>fecha</a:t>
                      </a:r>
                      <a:endParaRPr sz="1000" lang="es-ES"/>
                    </a:p>
                  </a:txBody>
                  <a:tcPr marL="76200" marR="76200" marT="38100" marB="381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cmpd="sng" algn="ctr" cap="flat" w="9525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l"/>
                      <a:r>
                        <a:rPr lang="es-ES" sz="1000" b="false" i="false">
                          <a:solidFill>
                            <a:srgbClr val="1F2933"/>
                          </a:solidFill>
                          <a:latin typeface="Segoe UI"/>
                        </a:rPr>
                        <a:t>String</a:t>
                      </a:r>
                      <a:endParaRPr sz="1000" lang="es-ES"/>
                    </a:p>
                  </a:txBody>
                  <a:tcPr marL="76200" marR="76200" marT="38100" marB="381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cmpd="sng" algn="ctr" cap="flat" w="9525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r"/>
                      <a:r>
                        <a:rPr lang="es-ES" sz="1000" b="false" i="false">
                          <a:solidFill>
                            <a:srgbClr val="1F2933"/>
                          </a:solidFill>
                          <a:latin typeface="Segoe UI"/>
                        </a:rPr>
                        <a:t> </a:t>
                      </a:r>
                      <a:endParaRPr sz="1000" lang="es-ES"/>
                    </a:p>
                  </a:txBody>
                  <a:tcPr marL="76200" marR="76200" marT="38100" marB="381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cmpd="sng" algn="ctr" cap="flat" w="9525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r"/>
                      <a:r>
                        <a:rPr lang="es-ES" sz="1000" b="false" i="false">
                          <a:solidFill>
                            <a:srgbClr val="1F2933"/>
                          </a:solidFill>
                          <a:latin typeface="Segoe UI"/>
                        </a:rPr>
                        <a:t> </a:t>
                      </a:r>
                      <a:endParaRPr sz="1000" lang="es-ES"/>
                    </a:p>
                  </a:txBody>
                  <a:tcPr marL="76200" marR="76200" marT="38100" marB="381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cmpd="sng" algn="ctr" cap="flat" w="9525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l"/>
                      <a:r>
                        <a:rPr lang="es-ES" sz="1000" b="false" i="false">
                          <a:solidFill>
                            <a:srgbClr val="1F2933"/>
                          </a:solidFill>
                          <a:latin typeface="Segoe UI"/>
                        </a:rPr>
                        <a:t> </a:t>
                      </a:r>
                      <a:endParaRPr sz="1000" lang="es-ES"/>
                    </a:p>
                  </a:txBody>
                  <a:tcPr marL="76200" marR="76200" marT="38100" marB="381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cmpd="sng" algn="ctr" cap="flat" w="9525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l"/>
                      <a:r>
                        <a:rPr lang="es-ES" sz="1000" b="false" i="false">
                          <a:solidFill>
                            <a:srgbClr val="1F2933"/>
                          </a:solidFill>
                          <a:latin typeface="Segoe UI"/>
                        </a:rPr>
                        <a:t>Leer ventas (CSV)</a:t>
                      </a:r>
                      <a:endParaRPr sz="1000" lang="es-ES"/>
                    </a:p>
                  </a:txBody>
                  <a:tcPr marL="76200" marR="76200" marT="38100" marB="381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cmpd="sng" algn="ctr" cap="flat" w="9525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l"/>
                      <a:r>
                        <a:rPr lang="es-ES" sz="1000" b="false" i="false">
                          <a:solidFill>
                            <a:srgbClr val="1F2933"/>
                          </a:solidFill>
                          <a:latin typeface="Segoe UI"/>
                        </a:rPr>
                        <a:t> </a:t>
                      </a:r>
                      <a:endParaRPr sz="1000" lang="es-ES"/>
                    </a:p>
                  </a:txBody>
                  <a:tcPr marL="76200" marR="76200" marT="38100" marB="381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cmpd="sng" algn="ctr" cap="flat" w="9525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1940">
                <a:tc>
                  <a:txBody>
                    <a:bodyPr anchor="t" rtlCol="false"/>
                    <a:lstStyle/>
                    <a:p>
                      <a:pPr algn="l"/>
                      <a:r>
                        <a:rPr lang="es-ES" sz="1000" b="false" i="false">
                          <a:solidFill>
                            <a:srgbClr val="1F2933"/>
                          </a:solidFill>
                          <a:latin typeface="Segoe UI"/>
                        </a:rPr>
                        <a:t>id_tienda</a:t>
                      </a:r>
                      <a:endParaRPr sz="1000" lang="es-ES"/>
                    </a:p>
                  </a:txBody>
                  <a:tcPr marL="76200" marR="76200" marT="38100" marB="381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cmpd="sng" algn="ctr" cap="flat" w="9525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1F3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l"/>
                      <a:r>
                        <a:rPr lang="es-ES" sz="1000" b="false" i="false">
                          <a:solidFill>
                            <a:srgbClr val="1F2933"/>
                          </a:solidFill>
                          <a:latin typeface="Segoe UI"/>
                        </a:rPr>
                        <a:t>String</a:t>
                      </a:r>
                      <a:endParaRPr sz="1000" lang="es-ES"/>
                    </a:p>
                  </a:txBody>
                  <a:tcPr marL="76200" marR="76200" marT="38100" marB="381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cmpd="sng" algn="ctr" cap="flat" w="9525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1F3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r"/>
                      <a:r>
                        <a:rPr lang="es-ES" sz="1000" b="false" i="false">
                          <a:solidFill>
                            <a:srgbClr val="1F2933"/>
                          </a:solidFill>
                          <a:latin typeface="Segoe UI"/>
                        </a:rPr>
                        <a:t> </a:t>
                      </a:r>
                      <a:endParaRPr sz="1000" lang="es-ES"/>
                    </a:p>
                  </a:txBody>
                  <a:tcPr marL="76200" marR="76200" marT="38100" marB="381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cmpd="sng" algn="ctr" cap="flat" w="9525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1F3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r"/>
                      <a:r>
                        <a:rPr lang="es-ES" sz="1000" b="false" i="false">
                          <a:solidFill>
                            <a:srgbClr val="1F2933"/>
                          </a:solidFill>
                          <a:latin typeface="Segoe UI"/>
                        </a:rPr>
                        <a:t> </a:t>
                      </a:r>
                      <a:endParaRPr sz="1000" lang="es-ES"/>
                    </a:p>
                  </a:txBody>
                  <a:tcPr marL="76200" marR="76200" marT="38100" marB="381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cmpd="sng" algn="ctr" cap="flat" w="9525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1F3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l"/>
                      <a:r>
                        <a:rPr lang="es-ES" sz="1000" b="false" i="false">
                          <a:solidFill>
                            <a:srgbClr val="1F2933"/>
                          </a:solidFill>
                          <a:latin typeface="Segoe UI"/>
                        </a:rPr>
                        <a:t> </a:t>
                      </a:r>
                      <a:endParaRPr sz="1000" lang="es-ES"/>
                    </a:p>
                  </a:txBody>
                  <a:tcPr marL="76200" marR="76200" marT="38100" marB="381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cmpd="sng" algn="ctr" cap="flat" w="9525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1F3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l"/>
                      <a:r>
                        <a:rPr lang="es-ES" sz="1000" b="false" i="false">
                          <a:solidFill>
                            <a:srgbClr val="1F2933"/>
                          </a:solidFill>
                          <a:latin typeface="Segoe UI"/>
                        </a:rPr>
                        <a:t>Leer ventas (CSV)</a:t>
                      </a:r>
                      <a:endParaRPr sz="1000" lang="es-ES"/>
                    </a:p>
                  </a:txBody>
                  <a:tcPr marL="76200" marR="76200" marT="38100" marB="381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cmpd="sng" algn="ctr" cap="flat" w="9525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1F3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l"/>
                      <a:r>
                        <a:rPr lang="es-ES" sz="1000" b="false" i="false">
                          <a:solidFill>
                            <a:srgbClr val="1F2933"/>
                          </a:solidFill>
                          <a:latin typeface="Segoe UI"/>
                        </a:rPr>
                        <a:t> </a:t>
                      </a:r>
                      <a:endParaRPr sz="1000" lang="es-ES"/>
                    </a:p>
                  </a:txBody>
                  <a:tcPr marL="76200" marR="76200" marT="38100" marB="381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cmpd="sng" algn="ctr" cap="flat" w="9525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1F3"/>
                    </a:solidFill>
                  </a:tcPr>
                </a:tc>
              </a:tr>
              <a:tr h="281940">
                <a:tc>
                  <a:txBody>
                    <a:bodyPr anchor="t" rtlCol="false"/>
                    <a:lstStyle/>
                    <a:p>
                      <a:pPr algn="l"/>
                      <a:r>
                        <a:rPr lang="es-ES" sz="1000" b="false" i="false">
                          <a:solidFill>
                            <a:srgbClr val="1F2933"/>
                          </a:solidFill>
                          <a:latin typeface="Segoe UI"/>
                        </a:rPr>
                        <a:t>codigo_producto</a:t>
                      </a:r>
                      <a:endParaRPr sz="1000" lang="es-ES"/>
                    </a:p>
                  </a:txBody>
                  <a:tcPr marL="76200" marR="76200" marT="38100" marB="381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cmpd="sng" algn="ctr" cap="flat" w="9525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l"/>
                      <a:r>
                        <a:rPr lang="es-ES" sz="1000" b="false" i="false">
                          <a:solidFill>
                            <a:srgbClr val="1F2933"/>
                          </a:solidFill>
                          <a:latin typeface="Segoe UI"/>
                        </a:rPr>
                        <a:t>String</a:t>
                      </a:r>
                      <a:endParaRPr sz="1000" lang="es-ES"/>
                    </a:p>
                  </a:txBody>
                  <a:tcPr marL="76200" marR="76200" marT="38100" marB="381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cmpd="sng" algn="ctr" cap="flat" w="9525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r"/>
                      <a:r>
                        <a:rPr lang="es-ES" sz="1000" b="false" i="false">
                          <a:solidFill>
                            <a:srgbClr val="1F2933"/>
                          </a:solidFill>
                          <a:latin typeface="Segoe UI"/>
                        </a:rPr>
                        <a:t> </a:t>
                      </a:r>
                      <a:endParaRPr sz="1000" lang="es-ES"/>
                    </a:p>
                  </a:txBody>
                  <a:tcPr marL="76200" marR="76200" marT="38100" marB="381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cmpd="sng" algn="ctr" cap="flat" w="9525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r"/>
                      <a:r>
                        <a:rPr lang="es-ES" sz="1000" b="false" i="false">
                          <a:solidFill>
                            <a:srgbClr val="1F2933"/>
                          </a:solidFill>
                          <a:latin typeface="Segoe UI"/>
                        </a:rPr>
                        <a:t> </a:t>
                      </a:r>
                      <a:endParaRPr sz="1000" lang="es-ES"/>
                    </a:p>
                  </a:txBody>
                  <a:tcPr marL="76200" marR="76200" marT="38100" marB="381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cmpd="sng" algn="ctr" cap="flat" w="9525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l"/>
                      <a:r>
                        <a:rPr lang="es-ES" sz="1000" b="false" i="false">
                          <a:solidFill>
                            <a:srgbClr val="1F2933"/>
                          </a:solidFill>
                          <a:latin typeface="Segoe UI"/>
                        </a:rPr>
                        <a:t> </a:t>
                      </a:r>
                      <a:endParaRPr sz="1000" lang="es-ES"/>
                    </a:p>
                  </a:txBody>
                  <a:tcPr marL="76200" marR="76200" marT="38100" marB="381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cmpd="sng" algn="ctr" cap="flat" w="9525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l"/>
                      <a:r>
                        <a:rPr lang="es-ES" sz="1000" b="false" i="false">
                          <a:solidFill>
                            <a:srgbClr val="1F2933"/>
                          </a:solidFill>
                          <a:latin typeface="Segoe UI"/>
                        </a:rPr>
                        <a:t>Leer ventas (CSV)</a:t>
                      </a:r>
                      <a:endParaRPr sz="1000" lang="es-ES"/>
                    </a:p>
                  </a:txBody>
                  <a:tcPr marL="76200" marR="76200" marT="38100" marB="381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cmpd="sng" algn="ctr" cap="flat" w="9525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l"/>
                      <a:r>
                        <a:rPr lang="es-ES" sz="1000" b="false" i="false">
                          <a:solidFill>
                            <a:srgbClr val="1F2933"/>
                          </a:solidFill>
                          <a:latin typeface="Segoe UI"/>
                        </a:rPr>
                        <a:t> </a:t>
                      </a:r>
                      <a:endParaRPr sz="1000" lang="es-ES"/>
                    </a:p>
                  </a:txBody>
                  <a:tcPr marL="76200" marR="76200" marT="38100" marB="381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cmpd="sng" algn="ctr" cap="flat" w="9525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1940">
                <a:tc>
                  <a:txBody>
                    <a:bodyPr anchor="t" rtlCol="false"/>
                    <a:lstStyle/>
                    <a:p>
                      <a:pPr algn="l"/>
                      <a:r>
                        <a:rPr lang="es-ES" sz="1000" b="false" i="false">
                          <a:solidFill>
                            <a:srgbClr val="1F2933"/>
                          </a:solidFill>
                          <a:latin typeface="Segoe UI"/>
                        </a:rPr>
                        <a:t>cantidad</a:t>
                      </a:r>
                      <a:endParaRPr sz="1000" lang="es-ES"/>
                    </a:p>
                  </a:txBody>
                  <a:tcPr marL="76200" marR="76200" marT="38100" marB="381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cmpd="sng" algn="ctr" cap="flat" w="9525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1F3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l"/>
                      <a:r>
                        <a:rPr lang="es-ES" sz="1000" b="false" i="false">
                          <a:solidFill>
                            <a:srgbClr val="1F2933"/>
                          </a:solidFill>
                          <a:latin typeface="Segoe UI"/>
                        </a:rPr>
                        <a:t>Integer</a:t>
                      </a:r>
                      <a:endParaRPr sz="1000" lang="es-ES"/>
                    </a:p>
                  </a:txBody>
                  <a:tcPr marL="76200" marR="76200" marT="38100" marB="381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cmpd="sng" algn="ctr" cap="flat" w="9525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1F3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r"/>
                      <a:r>
                        <a:rPr lang="es-ES" sz="1000" b="false" i="false">
                          <a:solidFill>
                            <a:srgbClr val="1F2933"/>
                          </a:solidFill>
                          <a:latin typeface="Segoe UI"/>
                        </a:rPr>
                        <a:t> </a:t>
                      </a:r>
                      <a:endParaRPr sz="1000" lang="es-ES"/>
                    </a:p>
                  </a:txBody>
                  <a:tcPr marL="76200" marR="76200" marT="38100" marB="381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cmpd="sng" algn="ctr" cap="flat" w="9525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1F3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r"/>
                      <a:r>
                        <a:rPr lang="es-ES" sz="1000" b="false" i="false">
                          <a:solidFill>
                            <a:srgbClr val="1F2933"/>
                          </a:solidFill>
                          <a:latin typeface="Segoe UI"/>
                        </a:rPr>
                        <a:t>0</a:t>
                      </a:r>
                      <a:endParaRPr sz="1000" lang="es-ES"/>
                    </a:p>
                  </a:txBody>
                  <a:tcPr marL="76200" marR="76200" marT="38100" marB="381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cmpd="sng" algn="ctr" cap="flat" w="9525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1F3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l"/>
                      <a:r>
                        <a:rPr lang="es-ES" sz="1000" b="false" i="false">
                          <a:solidFill>
                            <a:srgbClr val="1F2933"/>
                          </a:solidFill>
                          <a:latin typeface="Segoe UI"/>
                        </a:rPr>
                        <a:t>0</a:t>
                      </a:r>
                      <a:endParaRPr sz="1000" lang="es-ES"/>
                    </a:p>
                  </a:txBody>
                  <a:tcPr marL="76200" marR="76200" marT="38100" marB="381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cmpd="sng" algn="ctr" cap="flat" w="9525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1F3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l"/>
                      <a:r>
                        <a:rPr lang="es-ES" sz="1000" b="false" i="false">
                          <a:solidFill>
                            <a:srgbClr val="1F2933"/>
                          </a:solidFill>
                          <a:latin typeface="Segoe UI"/>
                        </a:rPr>
                        <a:t>Leer ventas (CSV)</a:t>
                      </a:r>
                      <a:endParaRPr sz="1000" lang="es-ES"/>
                    </a:p>
                  </a:txBody>
                  <a:tcPr marL="76200" marR="76200" marT="38100" marB="381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cmpd="sng" algn="ctr" cap="flat" w="9525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1F3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l"/>
                      <a:r>
                        <a:rPr lang="es-ES" sz="1000" b="false" i="false">
                          <a:solidFill>
                            <a:srgbClr val="1F2933"/>
                          </a:solidFill>
                          <a:latin typeface="Segoe UI"/>
                        </a:rPr>
                        <a:t> </a:t>
                      </a:r>
                      <a:endParaRPr sz="1000" lang="es-ES"/>
                    </a:p>
                  </a:txBody>
                  <a:tcPr marL="76200" marR="76200" marT="38100" marB="381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cmpd="sng" algn="ctr" cap="flat" w="9525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1F3"/>
                    </a:solidFill>
                  </a:tcPr>
                </a:tc>
              </a:tr>
              <a:tr h="281940">
                <a:tc>
                  <a:txBody>
                    <a:bodyPr anchor="t" rtlCol="false"/>
                    <a:lstStyle/>
                    <a:p>
                      <a:pPr algn="l"/>
                      <a:r>
                        <a:rPr lang="es-ES" sz="1000" b="false" i="false">
                          <a:solidFill>
                            <a:srgbClr val="1F2933"/>
                          </a:solidFill>
                          <a:latin typeface="Segoe UI"/>
                        </a:rPr>
                        <a:t>precio_unitario</a:t>
                      </a:r>
                      <a:endParaRPr sz="1000" lang="es-ES"/>
                    </a:p>
                  </a:txBody>
                  <a:tcPr marL="76200" marR="76200" marT="38100" marB="381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cmpd="sng" algn="ctr" cap="flat" w="9525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l"/>
                      <a:r>
                        <a:rPr lang="es-ES" sz="1000" b="false" i="false">
                          <a:solidFill>
                            <a:srgbClr val="1F2933"/>
                          </a:solidFill>
                          <a:latin typeface="Segoe UI"/>
                        </a:rPr>
                        <a:t>Number</a:t>
                      </a:r>
                      <a:endParaRPr sz="1000" lang="es-ES"/>
                    </a:p>
                  </a:txBody>
                  <a:tcPr marL="76200" marR="76200" marT="38100" marB="381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cmpd="sng" algn="ctr" cap="flat" w="9525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r"/>
                      <a:r>
                        <a:rPr lang="es-ES" sz="1000" b="false" i="false">
                          <a:solidFill>
                            <a:srgbClr val="1F2933"/>
                          </a:solidFill>
                          <a:latin typeface="Segoe UI"/>
                        </a:rPr>
                        <a:t> </a:t>
                      </a:r>
                      <a:endParaRPr sz="1000" lang="es-ES"/>
                    </a:p>
                  </a:txBody>
                  <a:tcPr marL="76200" marR="76200" marT="38100" marB="381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cmpd="sng" algn="ctr" cap="flat" w="9525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r"/>
                      <a:r>
                        <a:rPr lang="es-ES" sz="1000" b="false" i="false">
                          <a:solidFill>
                            <a:srgbClr val="1F2933"/>
                          </a:solidFill>
                          <a:latin typeface="Segoe UI"/>
                        </a:rPr>
                        <a:t> </a:t>
                      </a:r>
                      <a:endParaRPr sz="1000" lang="es-ES"/>
                    </a:p>
                  </a:txBody>
                  <a:tcPr marL="76200" marR="76200" marT="38100" marB="381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cmpd="sng" algn="ctr" cap="flat" w="9525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l"/>
                      <a:r>
                        <a:rPr lang="es-ES" sz="1000" b="false" i="false">
                          <a:solidFill>
                            <a:srgbClr val="1F2933"/>
                          </a:solidFill>
                          <a:latin typeface="Segoe UI"/>
                        </a:rPr>
                        <a:t>0.00</a:t>
                      </a:r>
                      <a:endParaRPr sz="1000" lang="es-ES"/>
                    </a:p>
                  </a:txBody>
                  <a:tcPr marL="76200" marR="76200" marT="38100" marB="381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cmpd="sng" algn="ctr" cap="flat" w="9525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l"/>
                      <a:r>
                        <a:rPr lang="es-ES" sz="1000" b="false" i="false">
                          <a:solidFill>
                            <a:srgbClr val="1F2933"/>
                          </a:solidFill>
                          <a:latin typeface="Segoe UI"/>
                        </a:rPr>
                        <a:t>Convertir precio a número</a:t>
                      </a:r>
                      <a:endParaRPr sz="1000" lang="es-ES"/>
                    </a:p>
                  </a:txBody>
                  <a:tcPr marL="76200" marR="76200" marT="38100" marB="381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cmpd="sng" algn="ctr" cap="flat" w="9525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l"/>
                      <a:r>
                        <a:rPr lang="es-ES" sz="1000" b="false" i="false">
                          <a:solidFill>
                            <a:srgbClr val="1F2933"/>
                          </a:solidFill>
                          <a:latin typeface="Segoe UI"/>
                        </a:rPr>
                        <a:t> </a:t>
                      </a:r>
                      <a:endParaRPr sz="1000" lang="es-ES"/>
                    </a:p>
                  </a:txBody>
                  <a:tcPr marL="76200" marR="76200" marT="38100" marB="381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cmpd="sng" algn="ctr" cap="flat" w="9525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1940">
                <a:tc>
                  <a:txBody>
                    <a:bodyPr anchor="t" rtlCol="false"/>
                    <a:lstStyle/>
                    <a:p>
                      <a:pPr algn="l"/>
                      <a:r>
                        <a:rPr lang="es-ES" sz="1000" b="false" i="false">
                          <a:solidFill>
                            <a:srgbClr val="1F2933"/>
                          </a:solidFill>
                          <a:latin typeface="Segoe UI"/>
                        </a:rPr>
                        <a:t>metodo_pago</a:t>
                      </a:r>
                      <a:endParaRPr sz="1000" lang="es-ES"/>
                    </a:p>
                  </a:txBody>
                  <a:tcPr marL="76200" marR="76200" marT="38100" marB="381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cmpd="sng" algn="ctr" cap="flat" w="9525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1F3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l"/>
                      <a:r>
                        <a:rPr lang="es-ES" sz="1000" b="false" i="false">
                          <a:solidFill>
                            <a:srgbClr val="1F2933"/>
                          </a:solidFill>
                          <a:latin typeface="Segoe UI"/>
                        </a:rPr>
                        <a:t>String</a:t>
                      </a:r>
                      <a:endParaRPr sz="1000" lang="es-ES"/>
                    </a:p>
                  </a:txBody>
                  <a:tcPr marL="76200" marR="76200" marT="38100" marB="381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cmpd="sng" algn="ctr" cap="flat" w="9525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1F3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r"/>
                      <a:r>
                        <a:rPr lang="es-ES" sz="1000" b="false" i="false">
                          <a:solidFill>
                            <a:srgbClr val="1F2933"/>
                          </a:solidFill>
                          <a:latin typeface="Segoe UI"/>
                        </a:rPr>
                        <a:t> </a:t>
                      </a:r>
                      <a:endParaRPr sz="1000" lang="es-ES"/>
                    </a:p>
                  </a:txBody>
                  <a:tcPr marL="76200" marR="76200" marT="38100" marB="381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cmpd="sng" algn="ctr" cap="flat" w="9525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1F3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r"/>
                      <a:r>
                        <a:rPr lang="es-ES" sz="1000" b="false" i="false">
                          <a:solidFill>
                            <a:srgbClr val="1F2933"/>
                          </a:solidFill>
                          <a:latin typeface="Segoe UI"/>
                        </a:rPr>
                        <a:t> </a:t>
                      </a:r>
                      <a:endParaRPr sz="1000" lang="es-ES"/>
                    </a:p>
                  </a:txBody>
                  <a:tcPr marL="76200" marR="76200" marT="38100" marB="381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cmpd="sng" algn="ctr" cap="flat" w="9525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1F3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l"/>
                      <a:r>
                        <a:rPr lang="es-ES" sz="1000" b="false" i="false">
                          <a:solidFill>
                            <a:srgbClr val="1F2933"/>
                          </a:solidFill>
                          <a:latin typeface="Segoe UI"/>
                        </a:rPr>
                        <a:t> </a:t>
                      </a:r>
                      <a:endParaRPr sz="1000" lang="es-ES"/>
                    </a:p>
                  </a:txBody>
                  <a:tcPr marL="76200" marR="76200" marT="38100" marB="381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cmpd="sng" algn="ctr" cap="flat" w="9525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1F3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l"/>
                      <a:r>
                        <a:rPr lang="es-ES" sz="1000" b="false" i="false">
                          <a:solidFill>
                            <a:srgbClr val="1F2933"/>
                          </a:solidFill>
                          <a:latin typeface="Segoe UI"/>
                        </a:rPr>
                        <a:t>Leer ventas (CSV)</a:t>
                      </a:r>
                      <a:endParaRPr sz="1000" lang="es-ES"/>
                    </a:p>
                  </a:txBody>
                  <a:tcPr marL="76200" marR="76200" marT="38100" marB="381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cmpd="sng" algn="ctr" cap="flat" w="9525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1F3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l"/>
                      <a:r>
                        <a:rPr lang="es-ES" sz="1000" b="false" i="false">
                          <a:solidFill>
                            <a:srgbClr val="1F2933"/>
                          </a:solidFill>
                          <a:latin typeface="Segoe UI"/>
                        </a:rPr>
                        <a:t> </a:t>
                      </a:r>
                      <a:endParaRPr sz="1000" lang="es-ES"/>
                    </a:p>
                  </a:txBody>
                  <a:tcPr marL="76200" marR="76200" marT="38100" marB="381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cmpd="sng" algn="ctr" cap="flat" w="9525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1F3"/>
                    </a:solidFill>
                  </a:tcPr>
                </a:tc>
              </a:tr>
              <a:tr h="281940">
                <a:tc>
                  <a:txBody>
                    <a:bodyPr anchor="t" rtlCol="false"/>
                    <a:lstStyle/>
                    <a:p>
                      <a:pPr algn="l"/>
                      <a:r>
                        <a:rPr lang="es-ES" sz="1000" b="false" i="false">
                          <a:solidFill>
                            <a:srgbClr val="1F2933"/>
                          </a:solidFill>
                          <a:latin typeface="Segoe UI"/>
                        </a:rPr>
                        <a:t>motivo_rechazo</a:t>
                      </a:r>
                      <a:endParaRPr sz="1000" lang="es-ES"/>
                    </a:p>
                  </a:txBody>
                  <a:tcPr marL="76200" marR="76200" marT="38100" marB="381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cmpd="sng" algn="ctr" cap="flat" w="9525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l"/>
                      <a:r>
                        <a:rPr lang="es-ES" sz="1000" b="false" i="false">
                          <a:solidFill>
                            <a:srgbClr val="1F2933"/>
                          </a:solidFill>
                          <a:latin typeface="Segoe UI"/>
                        </a:rPr>
                        <a:t>String</a:t>
                      </a:r>
                      <a:endParaRPr sz="1000" lang="es-ES"/>
                    </a:p>
                  </a:txBody>
                  <a:tcPr marL="76200" marR="76200" marT="38100" marB="381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cmpd="sng" algn="ctr" cap="flat" w="9525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r"/>
                      <a:r>
                        <a:rPr lang="es-ES" sz="1000" b="false" i="false">
                          <a:solidFill>
                            <a:srgbClr val="1F2933"/>
                          </a:solidFill>
                          <a:latin typeface="Segoe UI"/>
                        </a:rPr>
                        <a:t> </a:t>
                      </a:r>
                      <a:endParaRPr sz="1000" lang="es-ES"/>
                    </a:p>
                  </a:txBody>
                  <a:tcPr marL="76200" marR="76200" marT="38100" marB="381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cmpd="sng" algn="ctr" cap="flat" w="9525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r"/>
                      <a:r>
                        <a:rPr lang="es-ES" sz="1000" b="false" i="false">
                          <a:solidFill>
                            <a:srgbClr val="1F2933"/>
                          </a:solidFill>
                          <a:latin typeface="Segoe UI"/>
                        </a:rPr>
                        <a:t> </a:t>
                      </a:r>
                      <a:endParaRPr sz="1000" lang="es-ES"/>
                    </a:p>
                  </a:txBody>
                  <a:tcPr marL="76200" marR="76200" marT="38100" marB="381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cmpd="sng" algn="ctr" cap="flat" w="9525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l"/>
                      <a:r>
                        <a:rPr lang="es-ES" sz="1000" b="false" i="false">
                          <a:solidFill>
                            <a:srgbClr val="1F2933"/>
                          </a:solidFill>
                          <a:latin typeface="Segoe UI"/>
                        </a:rPr>
                        <a:t> </a:t>
                      </a:r>
                      <a:endParaRPr sz="1000" lang="es-ES"/>
                    </a:p>
                  </a:txBody>
                  <a:tcPr marL="76200" marR="76200" marT="38100" marB="381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cmpd="sng" algn="ctr" cap="flat" w="9525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l"/>
                      <a:r>
                        <a:rPr lang="es-ES" sz="1000" b="false" i="false">
                          <a:solidFill>
                            <a:srgbClr val="1F2933"/>
                          </a:solidFill>
                          <a:latin typeface="Segoe UI"/>
                        </a:rPr>
                        <a:t>Marcar duplicado</a:t>
                      </a:r>
                      <a:endParaRPr sz="1000" lang="es-ES"/>
                    </a:p>
                  </a:txBody>
                  <a:tcPr marL="76200" marR="76200" marT="38100" marB="381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cmpd="sng" algn="ctr" cap="flat" w="9525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l"/>
                      <a:r>
                        <a:rPr lang="es-ES" sz="1000" b="false" i="false">
                          <a:solidFill>
                            <a:srgbClr val="1F2933"/>
                          </a:solidFill>
                          <a:latin typeface="Segoe UI"/>
                        </a:rPr>
                        <a:t> </a:t>
                      </a:r>
                      <a:endParaRPr sz="1000" lang="es-ES"/>
                    </a:p>
                  </a:txBody>
                  <a:tcPr marL="76200" marR="76200" marT="38100" marB="381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cmpd="sng" algn="ctr" cap="flat" w="9525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name="TextBox 10" id="10"/>
          <p:cNvSpPr txBox="true"/>
          <p:nvPr/>
        </p:nvSpPr>
        <p:spPr>
          <a:xfrm>
            <a:off x="508000" y="4165600"/>
            <a:ext cx="11176000" cy="235458"/>
          </a:xfrm>
          <a:prstGeom prst="rect">
            <a:avLst/>
          </a:prstGeom>
        </p:spPr>
        <p:txBody>
          <a:bodyPr anchor="t" rtlCol="false" wrap="square" lIns="0" rIns="0" tIns="25400" bIns="25400"/>
          <a:lstStyle/>
          <a:p>
            <a:pPr algn="l"/>
            <a:r>
              <a:rPr lang="es-ES" sz="950" b="false" i="true">
                <a:solidFill>
                  <a:srgbClr val="6B7785"/>
                </a:solidFill>
                <a:latin typeface="Segoe UI"/>
              </a:rPr>
              <a:t>Nombres, orden, formato y largo como los escribe «Escribir rechazos»; el tipo, el origen y el comentario vienen del flujo. Los largos vacíos significan «sin límite».</a:t>
            </a:r>
            <a:endParaRPr sz="950" lang="es-ES"/>
          </a:p>
        </p:txBody>
      </p:sp>
      <p:sp>
        <p:nvSpPr>
          <p:cNvPr name="TextBox 11" id="11"/>
          <p:cNvSpPr txBox="true"/>
          <p:nvPr/>
        </p:nvSpPr>
        <p:spPr>
          <a:xfrm>
            <a:off x="508000" y="4528058"/>
            <a:ext cx="11176000" cy="373126"/>
          </a:xfrm>
          <a:prstGeom prst="rect">
            <a:avLst/>
          </a:prstGeom>
        </p:spPr>
        <p:txBody>
          <a:bodyPr anchor="t" rtlCol="false" wrap="square" lIns="0" rIns="0" tIns="25400" bIns="25400"/>
          <a:lstStyle/>
          <a:p>
            <a:pPr algn="l">
              <a:spcAft>
                <a:spcPts val="489"/>
              </a:spcAft>
            </a:pPr>
            <a:r>
              <a:rPr lang="es-ES" sz="1400" b="true" i="false">
                <a:solidFill>
                  <a:srgbClr val="1F2933"/>
                </a:solidFill>
                <a:latin typeface="Segoe UI"/>
              </a:rPr>
              <a:t>Anexo: campos de los demás steps</a:t>
            </a:r>
            <a:endParaRPr sz="1400" lang="es-ES"/>
          </a:p>
        </p:txBody>
      </p:sp>
    </p:spTree>
  </p:cSld>
  <p:clrMapOvr>
    <a:masterClrMapping/>
  </p:clrMapOvr>
</p:sld>
</file>

<file path=ppt/slides/slide16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8000" y="203200"/>
            <a:ext cx="11176000" cy="635000"/>
          </a:xfrm>
        </p:spPr>
        <p:txBody>
          <a:bodyPr lIns="0" rIns="0" wrap="square" anchor="ctr"/>
          <a:lstStyle/>
          <a:p>
            <a:pPr algn="l"/>
            <a:r>
              <a:rPr lang="es-ES" sz="2600" b="true" i="false">
                <a:solidFill>
                  <a:srgbClr val="243B53"/>
                </a:solidFill>
                <a:latin typeface="Segoe UI"/>
              </a:rPr>
              <a:t>Diccionario de datos (cont.)</a:t>
            </a:r>
            <a:endParaRPr sz="2600" lang="es-ES"/>
          </a:p>
        </p:txBody>
      </p:sp>
      <p:pic>
        <p:nvPicPr>
          <p:cNvPr name="Picture 3" id="3"/>
          <p:cNvPicPr>
            <a:picLocks noChangeAspect="true"/>
          </p:cNvPicPr>
          <p:nvPr/>
        </p:nvPicPr>
        <p:blipFill>
          <a:blip r:embed="rId2"/>
          <a:stretch>
            <a:fillRect/>
          </a:stretch>
        </p:blipFill>
        <p:spPr>
          <a:xfrm>
            <a:off x="10248900" y="5510084"/>
            <a:ext cx="1435100" cy="814516"/>
          </a:xfrm>
          <a:prstGeom prst="rect">
            <a:avLst/>
          </a:prstGeom>
        </p:spPr>
      </p:pic>
      <p:sp>
        <p:nvSpPr>
          <p:cNvPr name="AutoShape 4" id="4"/>
          <p:cNvSpPr/>
          <p:nvPr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243B53"/>
          </a:solidFill>
          <a:ln>
            <a:noFill/>
          </a:ln>
        </p:spPr>
      </p:sp>
      <p:pic>
        <p:nvPicPr>
          <p:cNvPr name="Picture 5" id="5"/>
          <p:cNvPicPr>
            <a:picLocks noChangeAspect="true"/>
          </p:cNvPicPr>
          <p:nvPr/>
        </p:nvPicPr>
        <p:blipFill>
          <a:blip r:embed="rId3"/>
          <a:stretch>
            <a:fillRect/>
          </a:stretch>
        </p:blipFill>
        <p:spPr>
          <a:xfrm>
            <a:off x="508000" y="6508750"/>
            <a:ext cx="177800" cy="100914"/>
          </a:xfrm>
          <a:prstGeom prst="rect">
            <a:avLst/>
          </a:prstGeom>
        </p:spPr>
      </p:pic>
      <p:sp>
        <p:nvSpPr>
          <p:cNvPr name="TextBox 6" id="6"/>
          <p:cNvSpPr txBox="true"/>
          <p:nvPr/>
        </p:nvSpPr>
        <p:spPr>
          <a:xfrm>
            <a:off x="749300" y="6451600"/>
            <a:ext cx="5080000" cy="228600"/>
          </a:xfrm>
          <a:prstGeom prst="rect">
            <a:avLst/>
          </a:prstGeom>
        </p:spPr>
        <p:txBody>
          <a:bodyPr anchor="ctr" rtlCol="false" wrap="square" lIns="0" rIns="0" tIns="25400" bIns="25400"/>
          <a:lstStyle/>
          <a:p>
            <a:pPr algn="l"/>
            <a:r>
              <a:rPr lang="es-ES" sz="750" b="false" i="false">
                <a:solidFill>
                  <a:srgbClr val="6B7785"/>
                </a:solidFill>
                <a:latin typeface="Segoe UI"/>
              </a:rPr>
              <a:t>Pentaho Live · IDC Studios</a:t>
            </a:r>
            <a:endParaRPr sz="750" lang="es-ES"/>
          </a:p>
        </p:txBody>
      </p:sp>
      <p:sp>
        <p:nvSpPr>
          <p:cNvPr name="TextBox 7" id="7"/>
          <p:cNvSpPr txBox="true"/>
          <p:nvPr/>
        </p:nvSpPr>
        <p:spPr>
          <a:xfrm>
            <a:off x="10160000" y="6451600"/>
            <a:ext cx="1524000" cy="228600"/>
          </a:xfrm>
          <a:prstGeom prst="rect">
            <a:avLst/>
          </a:prstGeom>
        </p:spPr>
        <p:txBody>
          <a:bodyPr anchor="ctr" rtlCol="false" wrap="square" lIns="0" rIns="0" tIns="25400" bIns="25400"/>
          <a:lstStyle/>
          <a:p>
            <a:pPr algn="r"/>
            <a:fld id="{6A0E177C-85B4-4CC7-9A6F-F58A5A9220EC}" type="slidenum">
              <a:rPr lang="es-ES" sz="750">
                <a:solidFill>
                  <a:srgbClr val="6B7785"/>
                </a:solidFill>
                <a:latin typeface="Segoe UI"/>
              </a:rPr>
              <a:t>16</a:t>
            </a:fld>
            <a:endParaRPr sz="750" lang="es-ES"/>
          </a:p>
        </p:txBody>
      </p:sp>
      <p:sp>
        <p:nvSpPr>
          <p:cNvPr name="TextBox 8" id="8"/>
          <p:cNvSpPr txBox="true"/>
          <p:nvPr/>
        </p:nvSpPr>
        <p:spPr>
          <a:xfrm>
            <a:off x="508000" y="1016000"/>
            <a:ext cx="11176000" cy="254000"/>
          </a:xfrm>
          <a:prstGeom prst="rect">
            <a:avLst/>
          </a:prstGeom>
        </p:spPr>
        <p:txBody>
          <a:bodyPr anchor="t" rtlCol="false" wrap="square" lIns="0" rIns="0" tIns="25400" bIns="25400"/>
          <a:lstStyle/>
          <a:p>
            <a:pPr algn="l"/>
            <a:r>
              <a:rPr lang="es-ES" sz="1300" b="true" i="false">
                <a:solidFill>
                  <a:srgbClr val="243B53"/>
                </a:solidFill>
                <a:latin typeface="Segoe UI"/>
              </a:rPr>
              <a:t>Leer ventas (CSV)</a:t>
            </a:r>
            <a:endParaRPr sz="1300" lang="es-ES"/>
          </a:p>
        </p:txBody>
      </p:sp>
      <p:graphicFrame>
        <p:nvGraphicFramePr>
          <p:cNvPr name="Table 9" id="9"/>
          <p:cNvGraphicFramePr>
            <a:graphicFrameLocks noGrp="true"/>
          </p:cNvGraphicFramePr>
          <p:nvPr/>
        </p:nvGraphicFramePr>
        <p:xfrm>
          <a:off x="508000" y="1295400"/>
          <a:ext cx="5080000" cy="2688336"/>
        </p:xfrm>
        <a:graphic>
          <a:graphicData uri="http://schemas.openxmlformats.org/drawingml/2006/table">
            <a:tbl>
              <a:tblPr/>
              <a:tblGrid>
                <a:gridCol w="1320800"/>
                <a:gridCol w="711200"/>
                <a:gridCol w="635000"/>
                <a:gridCol w="939800"/>
                <a:gridCol w="1473200"/>
              </a:tblGrid>
              <a:tr h="298704">
                <a:tc>
                  <a:txBody>
                    <a:bodyPr anchor="t" rtlCol="false"/>
                    <a:lstStyle/>
                    <a:p>
                      <a:pPr algn="l"/>
                      <a:r>
                        <a:rPr lang="es-ES" sz="1100" b="true" i="false">
                          <a:solidFill>
                            <a:srgbClr val="FFFFFF"/>
                          </a:solidFill>
                          <a:latin typeface="Segoe UI"/>
                        </a:rPr>
                        <a:t>Campo</a:t>
                      </a:r>
                      <a:endParaRPr sz="1100" lang="es-ES"/>
                    </a:p>
                  </a:txBody>
                  <a:tcPr marL="76200" marR="76200" marT="38100" marB="381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cmpd="sng" algn="ctr" cap="flat" w="9525">
                      <a:solidFill>
                        <a:srgbClr val="243B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3B53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l"/>
                      <a:r>
                        <a:rPr lang="es-ES" sz="1100" b="true" i="false">
                          <a:solidFill>
                            <a:srgbClr val="FFFFFF"/>
                          </a:solidFill>
                          <a:latin typeface="Segoe UI"/>
                        </a:rPr>
                        <a:t>Tipo</a:t>
                      </a:r>
                      <a:endParaRPr sz="1100" lang="es-ES"/>
                    </a:p>
                  </a:txBody>
                  <a:tcPr marL="76200" marR="76200" marT="38100" marB="381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cmpd="sng" algn="ctr" cap="flat" w="9525">
                      <a:solidFill>
                        <a:srgbClr val="243B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3B53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r"/>
                      <a:r>
                        <a:rPr lang="es-ES" sz="1100" b="true" i="false">
                          <a:solidFill>
                            <a:srgbClr val="FFFFFF"/>
                          </a:solidFill>
                          <a:latin typeface="Segoe UI"/>
                        </a:rPr>
                        <a:t>Largo</a:t>
                      </a:r>
                      <a:endParaRPr sz="1100" lang="es-ES"/>
                    </a:p>
                  </a:txBody>
                  <a:tcPr marL="76200" marR="76200" marT="38100" marB="381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cmpd="sng" algn="ctr" cap="flat" w="9525">
                      <a:solidFill>
                        <a:srgbClr val="243B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3B53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r"/>
                      <a:r>
                        <a:rPr lang="es-ES" sz="1100" b="true" i="false">
                          <a:solidFill>
                            <a:srgbClr val="FFFFFF"/>
                          </a:solidFill>
                          <a:latin typeface="Segoe UI"/>
                        </a:rPr>
                        <a:t>Precisión</a:t>
                      </a:r>
                      <a:endParaRPr sz="1100" lang="es-ES"/>
                    </a:p>
                  </a:txBody>
                  <a:tcPr marL="76200" marR="76200" marT="38100" marB="381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cmpd="sng" algn="ctr" cap="flat" w="9525">
                      <a:solidFill>
                        <a:srgbClr val="243B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3B53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l"/>
                      <a:r>
                        <a:rPr lang="es-ES" sz="1100" b="true" i="false">
                          <a:solidFill>
                            <a:srgbClr val="FFFFFF"/>
                          </a:solidFill>
                          <a:latin typeface="Segoe UI"/>
                        </a:rPr>
                        <a:t>Origen</a:t>
                      </a:r>
                      <a:endParaRPr sz="1100" lang="es-ES"/>
                    </a:p>
                  </a:txBody>
                  <a:tcPr marL="76200" marR="76200" marT="38100" marB="381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cmpd="sng" algn="ctr" cap="flat" w="9525">
                      <a:solidFill>
                        <a:srgbClr val="243B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3B53"/>
                    </a:solidFill>
                  </a:tcPr>
                </a:tc>
              </a:tr>
              <a:tr h="298704">
                <a:tc>
                  <a:txBody>
                    <a:bodyPr anchor="t" rtlCol="false"/>
                    <a:lstStyle/>
                    <a:p>
                      <a:pPr algn="l"/>
                      <a:r>
                        <a:rPr lang="es-ES" sz="1100" b="false" i="false">
                          <a:solidFill>
                            <a:srgbClr val="1F2933"/>
                          </a:solidFill>
                          <a:latin typeface="Segoe UI"/>
                        </a:rPr>
                        <a:t>id_ticket</a:t>
                      </a:r>
                      <a:endParaRPr sz="1100" lang="es-ES"/>
                    </a:p>
                  </a:txBody>
                  <a:tcPr marL="76200" marR="76200" marT="38100" marB="381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cmpd="sng" algn="ctr" cap="flat" w="9525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l"/>
                      <a:r>
                        <a:rPr lang="es-ES" sz="1100" b="false" i="false">
                          <a:solidFill>
                            <a:srgbClr val="1F2933"/>
                          </a:solidFill>
                          <a:latin typeface="Segoe UI"/>
                        </a:rPr>
                        <a:t>String</a:t>
                      </a:r>
                      <a:endParaRPr sz="1100" lang="es-ES"/>
                    </a:p>
                  </a:txBody>
                  <a:tcPr marL="76200" marR="76200" marT="38100" marB="381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cmpd="sng" algn="ctr" cap="flat" w="9525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r"/>
                      <a:r>
                        <a:rPr lang="es-ES" sz="1100" b="false" i="false">
                          <a:solidFill>
                            <a:srgbClr val="1F2933"/>
                          </a:solidFill>
                          <a:latin typeface="Segoe UI"/>
                        </a:rPr>
                        <a:t> </a:t>
                      </a:r>
                      <a:endParaRPr sz="1100" lang="es-ES"/>
                    </a:p>
                  </a:txBody>
                  <a:tcPr marL="76200" marR="76200" marT="38100" marB="381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cmpd="sng" algn="ctr" cap="flat" w="9525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r"/>
                      <a:r>
                        <a:rPr lang="es-ES" sz="1100" b="false" i="false">
                          <a:solidFill>
                            <a:srgbClr val="1F2933"/>
                          </a:solidFill>
                          <a:latin typeface="Segoe UI"/>
                        </a:rPr>
                        <a:t> </a:t>
                      </a:r>
                      <a:endParaRPr sz="1100" lang="es-ES"/>
                    </a:p>
                  </a:txBody>
                  <a:tcPr marL="76200" marR="76200" marT="38100" marB="381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cmpd="sng" algn="ctr" cap="flat" w="9525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l"/>
                      <a:r>
                        <a:rPr lang="es-ES" sz="1100" b="false" i="false">
                          <a:solidFill>
                            <a:srgbClr val="1F2933"/>
                          </a:solidFill>
                          <a:latin typeface="Segoe UI"/>
                        </a:rPr>
                        <a:t>Leer ventas (CSV)</a:t>
                      </a:r>
                      <a:endParaRPr sz="1100" lang="es-ES"/>
                    </a:p>
                  </a:txBody>
                  <a:tcPr marL="76200" marR="76200" marT="38100" marB="381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cmpd="sng" algn="ctr" cap="flat" w="9525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8704">
                <a:tc>
                  <a:txBody>
                    <a:bodyPr anchor="t" rtlCol="false"/>
                    <a:lstStyle/>
                    <a:p>
                      <a:pPr algn="l"/>
                      <a:r>
                        <a:rPr lang="es-ES" sz="1100" b="false" i="false">
                          <a:solidFill>
                            <a:srgbClr val="1F2933"/>
                          </a:solidFill>
                          <a:latin typeface="Segoe UI"/>
                        </a:rPr>
                        <a:t>linea</a:t>
                      </a:r>
                      <a:endParaRPr sz="1100" lang="es-ES"/>
                    </a:p>
                  </a:txBody>
                  <a:tcPr marL="76200" marR="76200" marT="38100" marB="381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cmpd="sng" algn="ctr" cap="flat" w="9525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1F3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l"/>
                      <a:r>
                        <a:rPr lang="es-ES" sz="1100" b="false" i="false">
                          <a:solidFill>
                            <a:srgbClr val="1F2933"/>
                          </a:solidFill>
                          <a:latin typeface="Segoe UI"/>
                        </a:rPr>
                        <a:t>Integer</a:t>
                      </a:r>
                      <a:endParaRPr sz="1100" lang="es-ES"/>
                    </a:p>
                  </a:txBody>
                  <a:tcPr marL="76200" marR="76200" marT="38100" marB="381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cmpd="sng" algn="ctr" cap="flat" w="9525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1F3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r"/>
                      <a:r>
                        <a:rPr lang="es-ES" sz="1100" b="false" i="false">
                          <a:solidFill>
                            <a:srgbClr val="1F2933"/>
                          </a:solidFill>
                          <a:latin typeface="Segoe UI"/>
                        </a:rPr>
                        <a:t> </a:t>
                      </a:r>
                      <a:endParaRPr sz="1100" lang="es-ES"/>
                    </a:p>
                  </a:txBody>
                  <a:tcPr marL="76200" marR="76200" marT="38100" marB="381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cmpd="sng" algn="ctr" cap="flat" w="9525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1F3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r"/>
                      <a:r>
                        <a:rPr lang="es-ES" sz="1100" b="false" i="false">
                          <a:solidFill>
                            <a:srgbClr val="1F2933"/>
                          </a:solidFill>
                          <a:latin typeface="Segoe UI"/>
                        </a:rPr>
                        <a:t>0</a:t>
                      </a:r>
                      <a:endParaRPr sz="1100" lang="es-ES"/>
                    </a:p>
                  </a:txBody>
                  <a:tcPr marL="76200" marR="76200" marT="38100" marB="381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cmpd="sng" algn="ctr" cap="flat" w="9525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1F3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l"/>
                      <a:r>
                        <a:rPr lang="es-ES" sz="1100" b="false" i="false">
                          <a:solidFill>
                            <a:srgbClr val="1F2933"/>
                          </a:solidFill>
                          <a:latin typeface="Segoe UI"/>
                        </a:rPr>
                        <a:t>Leer ventas (CSV)</a:t>
                      </a:r>
                      <a:endParaRPr sz="1100" lang="es-ES"/>
                    </a:p>
                  </a:txBody>
                  <a:tcPr marL="76200" marR="76200" marT="38100" marB="381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cmpd="sng" algn="ctr" cap="flat" w="9525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1F3"/>
                    </a:solidFill>
                  </a:tcPr>
                </a:tc>
              </a:tr>
              <a:tr h="298704">
                <a:tc>
                  <a:txBody>
                    <a:bodyPr anchor="t" rtlCol="false"/>
                    <a:lstStyle/>
                    <a:p>
                      <a:pPr algn="l"/>
                      <a:r>
                        <a:rPr lang="es-ES" sz="1100" b="false" i="false">
                          <a:solidFill>
                            <a:srgbClr val="1F2933"/>
                          </a:solidFill>
                          <a:latin typeface="Segoe UI"/>
                        </a:rPr>
                        <a:t>fecha</a:t>
                      </a:r>
                      <a:endParaRPr sz="1100" lang="es-ES"/>
                    </a:p>
                  </a:txBody>
                  <a:tcPr marL="76200" marR="76200" marT="38100" marB="381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cmpd="sng" algn="ctr" cap="flat" w="9525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l"/>
                      <a:r>
                        <a:rPr lang="es-ES" sz="1100" b="false" i="false">
                          <a:solidFill>
                            <a:srgbClr val="1F2933"/>
                          </a:solidFill>
                          <a:latin typeface="Segoe UI"/>
                        </a:rPr>
                        <a:t>String</a:t>
                      </a:r>
                      <a:endParaRPr sz="1100" lang="es-ES"/>
                    </a:p>
                  </a:txBody>
                  <a:tcPr marL="76200" marR="76200" marT="38100" marB="381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cmpd="sng" algn="ctr" cap="flat" w="9525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r"/>
                      <a:r>
                        <a:rPr lang="es-ES" sz="1100" b="false" i="false">
                          <a:solidFill>
                            <a:srgbClr val="1F2933"/>
                          </a:solidFill>
                          <a:latin typeface="Segoe UI"/>
                        </a:rPr>
                        <a:t> </a:t>
                      </a:r>
                      <a:endParaRPr sz="1100" lang="es-ES"/>
                    </a:p>
                  </a:txBody>
                  <a:tcPr marL="76200" marR="76200" marT="38100" marB="381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cmpd="sng" algn="ctr" cap="flat" w="9525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r"/>
                      <a:r>
                        <a:rPr lang="es-ES" sz="1100" b="false" i="false">
                          <a:solidFill>
                            <a:srgbClr val="1F2933"/>
                          </a:solidFill>
                          <a:latin typeface="Segoe UI"/>
                        </a:rPr>
                        <a:t> </a:t>
                      </a:r>
                      <a:endParaRPr sz="1100" lang="es-ES"/>
                    </a:p>
                  </a:txBody>
                  <a:tcPr marL="76200" marR="76200" marT="38100" marB="381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cmpd="sng" algn="ctr" cap="flat" w="9525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l"/>
                      <a:r>
                        <a:rPr lang="es-ES" sz="1100" b="false" i="false">
                          <a:solidFill>
                            <a:srgbClr val="1F2933"/>
                          </a:solidFill>
                          <a:latin typeface="Segoe UI"/>
                        </a:rPr>
                        <a:t>Leer ventas (CSV)</a:t>
                      </a:r>
                      <a:endParaRPr sz="1100" lang="es-ES"/>
                    </a:p>
                  </a:txBody>
                  <a:tcPr marL="76200" marR="76200" marT="38100" marB="381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cmpd="sng" algn="ctr" cap="flat" w="9525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8704">
                <a:tc>
                  <a:txBody>
                    <a:bodyPr anchor="t" rtlCol="false"/>
                    <a:lstStyle/>
                    <a:p>
                      <a:pPr algn="l"/>
                      <a:r>
                        <a:rPr lang="es-ES" sz="1100" b="false" i="false">
                          <a:solidFill>
                            <a:srgbClr val="1F2933"/>
                          </a:solidFill>
                          <a:latin typeface="Segoe UI"/>
                        </a:rPr>
                        <a:t>id_tienda</a:t>
                      </a:r>
                      <a:endParaRPr sz="1100" lang="es-ES"/>
                    </a:p>
                  </a:txBody>
                  <a:tcPr marL="76200" marR="76200" marT="38100" marB="381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cmpd="sng" algn="ctr" cap="flat" w="9525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1F3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l"/>
                      <a:r>
                        <a:rPr lang="es-ES" sz="1100" b="false" i="false">
                          <a:solidFill>
                            <a:srgbClr val="1F2933"/>
                          </a:solidFill>
                          <a:latin typeface="Segoe UI"/>
                        </a:rPr>
                        <a:t>String</a:t>
                      </a:r>
                      <a:endParaRPr sz="1100" lang="es-ES"/>
                    </a:p>
                  </a:txBody>
                  <a:tcPr marL="76200" marR="76200" marT="38100" marB="381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cmpd="sng" algn="ctr" cap="flat" w="9525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1F3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r"/>
                      <a:r>
                        <a:rPr lang="es-ES" sz="1100" b="false" i="false">
                          <a:solidFill>
                            <a:srgbClr val="1F2933"/>
                          </a:solidFill>
                          <a:latin typeface="Segoe UI"/>
                        </a:rPr>
                        <a:t> </a:t>
                      </a:r>
                      <a:endParaRPr sz="1100" lang="es-ES"/>
                    </a:p>
                  </a:txBody>
                  <a:tcPr marL="76200" marR="76200" marT="38100" marB="381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cmpd="sng" algn="ctr" cap="flat" w="9525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1F3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r"/>
                      <a:r>
                        <a:rPr lang="es-ES" sz="1100" b="false" i="false">
                          <a:solidFill>
                            <a:srgbClr val="1F2933"/>
                          </a:solidFill>
                          <a:latin typeface="Segoe UI"/>
                        </a:rPr>
                        <a:t> </a:t>
                      </a:r>
                      <a:endParaRPr sz="1100" lang="es-ES"/>
                    </a:p>
                  </a:txBody>
                  <a:tcPr marL="76200" marR="76200" marT="38100" marB="381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cmpd="sng" algn="ctr" cap="flat" w="9525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1F3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l"/>
                      <a:r>
                        <a:rPr lang="es-ES" sz="1100" b="false" i="false">
                          <a:solidFill>
                            <a:srgbClr val="1F2933"/>
                          </a:solidFill>
                          <a:latin typeface="Segoe UI"/>
                        </a:rPr>
                        <a:t>Leer ventas (CSV)</a:t>
                      </a:r>
                      <a:endParaRPr sz="1100" lang="es-ES"/>
                    </a:p>
                  </a:txBody>
                  <a:tcPr marL="76200" marR="76200" marT="38100" marB="381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cmpd="sng" algn="ctr" cap="flat" w="9525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1F3"/>
                    </a:solidFill>
                  </a:tcPr>
                </a:tc>
              </a:tr>
              <a:tr h="298704">
                <a:tc>
                  <a:txBody>
                    <a:bodyPr anchor="t" rtlCol="false"/>
                    <a:lstStyle/>
                    <a:p>
                      <a:pPr algn="l"/>
                      <a:r>
                        <a:rPr lang="es-ES" sz="1100" b="false" i="false">
                          <a:solidFill>
                            <a:srgbClr val="1F2933"/>
                          </a:solidFill>
                          <a:latin typeface="Segoe UI"/>
                        </a:rPr>
                        <a:t>codigo_producto</a:t>
                      </a:r>
                      <a:endParaRPr sz="1100" lang="es-ES"/>
                    </a:p>
                  </a:txBody>
                  <a:tcPr marL="76200" marR="76200" marT="38100" marB="381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cmpd="sng" algn="ctr" cap="flat" w="9525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l"/>
                      <a:r>
                        <a:rPr lang="es-ES" sz="1100" b="false" i="false">
                          <a:solidFill>
                            <a:srgbClr val="1F2933"/>
                          </a:solidFill>
                          <a:latin typeface="Segoe UI"/>
                        </a:rPr>
                        <a:t>String</a:t>
                      </a:r>
                      <a:endParaRPr sz="1100" lang="es-ES"/>
                    </a:p>
                  </a:txBody>
                  <a:tcPr marL="76200" marR="76200" marT="38100" marB="381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cmpd="sng" algn="ctr" cap="flat" w="9525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r"/>
                      <a:r>
                        <a:rPr lang="es-ES" sz="1100" b="false" i="false">
                          <a:solidFill>
                            <a:srgbClr val="1F2933"/>
                          </a:solidFill>
                          <a:latin typeface="Segoe UI"/>
                        </a:rPr>
                        <a:t> </a:t>
                      </a:r>
                      <a:endParaRPr sz="1100" lang="es-ES"/>
                    </a:p>
                  </a:txBody>
                  <a:tcPr marL="76200" marR="76200" marT="38100" marB="381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cmpd="sng" algn="ctr" cap="flat" w="9525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r"/>
                      <a:r>
                        <a:rPr lang="es-ES" sz="1100" b="false" i="false">
                          <a:solidFill>
                            <a:srgbClr val="1F2933"/>
                          </a:solidFill>
                          <a:latin typeface="Segoe UI"/>
                        </a:rPr>
                        <a:t> </a:t>
                      </a:r>
                      <a:endParaRPr sz="1100" lang="es-ES"/>
                    </a:p>
                  </a:txBody>
                  <a:tcPr marL="76200" marR="76200" marT="38100" marB="381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cmpd="sng" algn="ctr" cap="flat" w="9525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l"/>
                      <a:r>
                        <a:rPr lang="es-ES" sz="1100" b="false" i="false">
                          <a:solidFill>
                            <a:srgbClr val="1F2933"/>
                          </a:solidFill>
                          <a:latin typeface="Segoe UI"/>
                        </a:rPr>
                        <a:t>Leer ventas (CSV)</a:t>
                      </a:r>
                      <a:endParaRPr sz="1100" lang="es-ES"/>
                    </a:p>
                  </a:txBody>
                  <a:tcPr marL="76200" marR="76200" marT="38100" marB="381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cmpd="sng" algn="ctr" cap="flat" w="9525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8704">
                <a:tc>
                  <a:txBody>
                    <a:bodyPr anchor="t" rtlCol="false"/>
                    <a:lstStyle/>
                    <a:p>
                      <a:pPr algn="l"/>
                      <a:r>
                        <a:rPr lang="es-ES" sz="1100" b="false" i="false">
                          <a:solidFill>
                            <a:srgbClr val="1F2933"/>
                          </a:solidFill>
                          <a:latin typeface="Segoe UI"/>
                        </a:rPr>
                        <a:t>cantidad</a:t>
                      </a:r>
                      <a:endParaRPr sz="1100" lang="es-ES"/>
                    </a:p>
                  </a:txBody>
                  <a:tcPr marL="76200" marR="76200" marT="38100" marB="381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cmpd="sng" algn="ctr" cap="flat" w="9525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1F3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l"/>
                      <a:r>
                        <a:rPr lang="es-ES" sz="1100" b="false" i="false">
                          <a:solidFill>
                            <a:srgbClr val="1F2933"/>
                          </a:solidFill>
                          <a:latin typeface="Segoe UI"/>
                        </a:rPr>
                        <a:t>Integer</a:t>
                      </a:r>
                      <a:endParaRPr sz="1100" lang="es-ES"/>
                    </a:p>
                  </a:txBody>
                  <a:tcPr marL="76200" marR="76200" marT="38100" marB="381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cmpd="sng" algn="ctr" cap="flat" w="9525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1F3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r"/>
                      <a:r>
                        <a:rPr lang="es-ES" sz="1100" b="false" i="false">
                          <a:solidFill>
                            <a:srgbClr val="1F2933"/>
                          </a:solidFill>
                          <a:latin typeface="Segoe UI"/>
                        </a:rPr>
                        <a:t> </a:t>
                      </a:r>
                      <a:endParaRPr sz="1100" lang="es-ES"/>
                    </a:p>
                  </a:txBody>
                  <a:tcPr marL="76200" marR="76200" marT="38100" marB="381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cmpd="sng" algn="ctr" cap="flat" w="9525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1F3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r"/>
                      <a:r>
                        <a:rPr lang="es-ES" sz="1100" b="false" i="false">
                          <a:solidFill>
                            <a:srgbClr val="1F2933"/>
                          </a:solidFill>
                          <a:latin typeface="Segoe UI"/>
                        </a:rPr>
                        <a:t>0</a:t>
                      </a:r>
                      <a:endParaRPr sz="1100" lang="es-ES"/>
                    </a:p>
                  </a:txBody>
                  <a:tcPr marL="76200" marR="76200" marT="38100" marB="381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cmpd="sng" algn="ctr" cap="flat" w="9525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1F3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l"/>
                      <a:r>
                        <a:rPr lang="es-ES" sz="1100" b="false" i="false">
                          <a:solidFill>
                            <a:srgbClr val="1F2933"/>
                          </a:solidFill>
                          <a:latin typeface="Segoe UI"/>
                        </a:rPr>
                        <a:t>Leer ventas (CSV)</a:t>
                      </a:r>
                      <a:endParaRPr sz="1100" lang="es-ES"/>
                    </a:p>
                  </a:txBody>
                  <a:tcPr marL="76200" marR="76200" marT="38100" marB="381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cmpd="sng" algn="ctr" cap="flat" w="9525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1F3"/>
                    </a:solidFill>
                  </a:tcPr>
                </a:tc>
              </a:tr>
              <a:tr h="298704">
                <a:tc>
                  <a:txBody>
                    <a:bodyPr anchor="t" rtlCol="false"/>
                    <a:lstStyle/>
                    <a:p>
                      <a:pPr algn="l"/>
                      <a:r>
                        <a:rPr lang="es-ES" sz="1100" b="false" i="false">
                          <a:solidFill>
                            <a:srgbClr val="1F2933"/>
                          </a:solidFill>
                          <a:latin typeface="Segoe UI"/>
                        </a:rPr>
                        <a:t>precio_unitario</a:t>
                      </a:r>
                      <a:endParaRPr sz="1100" lang="es-ES"/>
                    </a:p>
                  </a:txBody>
                  <a:tcPr marL="76200" marR="76200" marT="38100" marB="381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cmpd="sng" algn="ctr" cap="flat" w="9525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l"/>
                      <a:r>
                        <a:rPr lang="es-ES" sz="1100" b="false" i="false">
                          <a:solidFill>
                            <a:srgbClr val="1F2933"/>
                          </a:solidFill>
                          <a:latin typeface="Segoe UI"/>
                        </a:rPr>
                        <a:t>String</a:t>
                      </a:r>
                      <a:endParaRPr sz="1100" lang="es-ES"/>
                    </a:p>
                  </a:txBody>
                  <a:tcPr marL="76200" marR="76200" marT="38100" marB="381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cmpd="sng" algn="ctr" cap="flat" w="9525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r"/>
                      <a:r>
                        <a:rPr lang="es-ES" sz="1100" b="false" i="false">
                          <a:solidFill>
                            <a:srgbClr val="1F2933"/>
                          </a:solidFill>
                          <a:latin typeface="Segoe UI"/>
                        </a:rPr>
                        <a:t> </a:t>
                      </a:r>
                      <a:endParaRPr sz="1100" lang="es-ES"/>
                    </a:p>
                  </a:txBody>
                  <a:tcPr marL="76200" marR="76200" marT="38100" marB="381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cmpd="sng" algn="ctr" cap="flat" w="9525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r"/>
                      <a:r>
                        <a:rPr lang="es-ES" sz="1100" b="false" i="false">
                          <a:solidFill>
                            <a:srgbClr val="1F2933"/>
                          </a:solidFill>
                          <a:latin typeface="Segoe UI"/>
                        </a:rPr>
                        <a:t> </a:t>
                      </a:r>
                      <a:endParaRPr sz="1100" lang="es-ES"/>
                    </a:p>
                  </a:txBody>
                  <a:tcPr marL="76200" marR="76200" marT="38100" marB="381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cmpd="sng" algn="ctr" cap="flat" w="9525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l"/>
                      <a:r>
                        <a:rPr lang="es-ES" sz="1100" b="false" i="false">
                          <a:solidFill>
                            <a:srgbClr val="1F2933"/>
                          </a:solidFill>
                          <a:latin typeface="Segoe UI"/>
                        </a:rPr>
                        <a:t>Leer ventas (CSV)</a:t>
                      </a:r>
                      <a:endParaRPr sz="1100" lang="es-ES"/>
                    </a:p>
                  </a:txBody>
                  <a:tcPr marL="76200" marR="76200" marT="38100" marB="381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cmpd="sng" algn="ctr" cap="flat" w="9525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8704">
                <a:tc>
                  <a:txBody>
                    <a:bodyPr anchor="t" rtlCol="false"/>
                    <a:lstStyle/>
                    <a:p>
                      <a:pPr algn="l"/>
                      <a:r>
                        <a:rPr lang="es-ES" sz="1100" b="false" i="false">
                          <a:solidFill>
                            <a:srgbClr val="1F2933"/>
                          </a:solidFill>
                          <a:latin typeface="Segoe UI"/>
                        </a:rPr>
                        <a:t>metodo_pago</a:t>
                      </a:r>
                      <a:endParaRPr sz="1100" lang="es-ES"/>
                    </a:p>
                  </a:txBody>
                  <a:tcPr marL="76200" marR="76200" marT="38100" marB="381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cmpd="sng" algn="ctr" cap="flat" w="9525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1F3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l"/>
                      <a:r>
                        <a:rPr lang="es-ES" sz="1100" b="false" i="false">
                          <a:solidFill>
                            <a:srgbClr val="1F2933"/>
                          </a:solidFill>
                          <a:latin typeface="Segoe UI"/>
                        </a:rPr>
                        <a:t>String</a:t>
                      </a:r>
                      <a:endParaRPr sz="1100" lang="es-ES"/>
                    </a:p>
                  </a:txBody>
                  <a:tcPr marL="76200" marR="76200" marT="38100" marB="381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cmpd="sng" algn="ctr" cap="flat" w="9525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1F3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r"/>
                      <a:r>
                        <a:rPr lang="es-ES" sz="1100" b="false" i="false">
                          <a:solidFill>
                            <a:srgbClr val="1F2933"/>
                          </a:solidFill>
                          <a:latin typeface="Segoe UI"/>
                        </a:rPr>
                        <a:t> </a:t>
                      </a:r>
                      <a:endParaRPr sz="1100" lang="es-ES"/>
                    </a:p>
                  </a:txBody>
                  <a:tcPr marL="76200" marR="76200" marT="38100" marB="381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cmpd="sng" algn="ctr" cap="flat" w="9525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1F3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r"/>
                      <a:r>
                        <a:rPr lang="es-ES" sz="1100" b="false" i="false">
                          <a:solidFill>
                            <a:srgbClr val="1F2933"/>
                          </a:solidFill>
                          <a:latin typeface="Segoe UI"/>
                        </a:rPr>
                        <a:t> </a:t>
                      </a:r>
                      <a:endParaRPr sz="1100" lang="es-ES"/>
                    </a:p>
                  </a:txBody>
                  <a:tcPr marL="76200" marR="76200" marT="38100" marB="381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cmpd="sng" algn="ctr" cap="flat" w="9525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1F3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l"/>
                      <a:r>
                        <a:rPr lang="es-ES" sz="1100" b="false" i="false">
                          <a:solidFill>
                            <a:srgbClr val="1F2933"/>
                          </a:solidFill>
                          <a:latin typeface="Segoe UI"/>
                        </a:rPr>
                        <a:t>Leer ventas (CSV)</a:t>
                      </a:r>
                      <a:endParaRPr sz="1100" lang="es-ES"/>
                    </a:p>
                  </a:txBody>
                  <a:tcPr marL="76200" marR="76200" marT="38100" marB="381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cmpd="sng" algn="ctr" cap="flat" w="9525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1F3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8000" y="203200"/>
            <a:ext cx="11176000" cy="635000"/>
          </a:xfrm>
        </p:spPr>
        <p:txBody>
          <a:bodyPr lIns="0" rIns="0" wrap="square" anchor="ctr"/>
          <a:lstStyle/>
          <a:p>
            <a:pPr algn="l"/>
            <a:r>
              <a:rPr lang="es-ES" sz="2600" b="true" i="false">
                <a:solidFill>
                  <a:srgbClr val="243B53"/>
                </a:solidFill>
                <a:latin typeface="Segoe UI"/>
              </a:rPr>
              <a:t>Diccionario de datos (cont.)</a:t>
            </a:r>
            <a:endParaRPr sz="2600" lang="es-ES"/>
          </a:p>
        </p:txBody>
      </p:sp>
      <p:pic>
        <p:nvPicPr>
          <p:cNvPr name="Picture 3" id="3"/>
          <p:cNvPicPr>
            <a:picLocks noChangeAspect="true"/>
          </p:cNvPicPr>
          <p:nvPr/>
        </p:nvPicPr>
        <p:blipFill>
          <a:blip r:embed="rId2"/>
          <a:stretch>
            <a:fillRect/>
          </a:stretch>
        </p:blipFill>
        <p:spPr>
          <a:xfrm>
            <a:off x="10248900" y="5510084"/>
            <a:ext cx="1435100" cy="814516"/>
          </a:xfrm>
          <a:prstGeom prst="rect">
            <a:avLst/>
          </a:prstGeom>
        </p:spPr>
      </p:pic>
      <p:sp>
        <p:nvSpPr>
          <p:cNvPr name="AutoShape 4" id="4"/>
          <p:cNvSpPr/>
          <p:nvPr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243B53"/>
          </a:solidFill>
          <a:ln>
            <a:noFill/>
          </a:ln>
        </p:spPr>
      </p:sp>
      <p:pic>
        <p:nvPicPr>
          <p:cNvPr name="Picture 5" id="5"/>
          <p:cNvPicPr>
            <a:picLocks noChangeAspect="true"/>
          </p:cNvPicPr>
          <p:nvPr/>
        </p:nvPicPr>
        <p:blipFill>
          <a:blip r:embed="rId3"/>
          <a:stretch>
            <a:fillRect/>
          </a:stretch>
        </p:blipFill>
        <p:spPr>
          <a:xfrm>
            <a:off x="508000" y="6508750"/>
            <a:ext cx="177800" cy="100914"/>
          </a:xfrm>
          <a:prstGeom prst="rect">
            <a:avLst/>
          </a:prstGeom>
        </p:spPr>
      </p:pic>
      <p:sp>
        <p:nvSpPr>
          <p:cNvPr name="TextBox 6" id="6"/>
          <p:cNvSpPr txBox="true"/>
          <p:nvPr/>
        </p:nvSpPr>
        <p:spPr>
          <a:xfrm>
            <a:off x="749300" y="6451600"/>
            <a:ext cx="5080000" cy="228600"/>
          </a:xfrm>
          <a:prstGeom prst="rect">
            <a:avLst/>
          </a:prstGeom>
        </p:spPr>
        <p:txBody>
          <a:bodyPr anchor="ctr" rtlCol="false" wrap="square" lIns="0" rIns="0" tIns="25400" bIns="25400"/>
          <a:lstStyle/>
          <a:p>
            <a:pPr algn="l"/>
            <a:r>
              <a:rPr lang="es-ES" sz="750" b="false" i="false">
                <a:solidFill>
                  <a:srgbClr val="6B7785"/>
                </a:solidFill>
                <a:latin typeface="Segoe UI"/>
              </a:rPr>
              <a:t>Pentaho Live · IDC Studios</a:t>
            </a:r>
            <a:endParaRPr sz="750" lang="es-ES"/>
          </a:p>
        </p:txBody>
      </p:sp>
      <p:sp>
        <p:nvSpPr>
          <p:cNvPr name="TextBox 7" id="7"/>
          <p:cNvSpPr txBox="true"/>
          <p:nvPr/>
        </p:nvSpPr>
        <p:spPr>
          <a:xfrm>
            <a:off x="10160000" y="6451600"/>
            <a:ext cx="1524000" cy="228600"/>
          </a:xfrm>
          <a:prstGeom prst="rect">
            <a:avLst/>
          </a:prstGeom>
        </p:spPr>
        <p:txBody>
          <a:bodyPr anchor="ctr" rtlCol="false" wrap="square" lIns="0" rIns="0" tIns="25400" bIns="25400"/>
          <a:lstStyle/>
          <a:p>
            <a:pPr algn="r"/>
            <a:fld id="{DCA19814-3690-4CD2-805B-A16BD120D79B}" type="slidenum">
              <a:rPr lang="es-ES" sz="750">
                <a:solidFill>
                  <a:srgbClr val="6B7785"/>
                </a:solidFill>
                <a:latin typeface="Segoe UI"/>
              </a:rPr>
              <a:t>17</a:t>
            </a:fld>
            <a:endParaRPr sz="750" lang="es-ES"/>
          </a:p>
        </p:txBody>
      </p:sp>
      <p:sp>
        <p:nvSpPr>
          <p:cNvPr name="TextBox 8" id="8"/>
          <p:cNvSpPr txBox="true"/>
          <p:nvPr/>
        </p:nvSpPr>
        <p:spPr>
          <a:xfrm>
            <a:off x="508000" y="1016000"/>
            <a:ext cx="11176000" cy="254000"/>
          </a:xfrm>
          <a:prstGeom prst="rect">
            <a:avLst/>
          </a:prstGeom>
        </p:spPr>
        <p:txBody>
          <a:bodyPr anchor="t" rtlCol="false" wrap="square" lIns="0" rIns="0" tIns="25400" bIns="25400"/>
          <a:lstStyle/>
          <a:p>
            <a:pPr algn="l"/>
            <a:r>
              <a:rPr lang="es-ES" sz="1300" b="true" i="false">
                <a:solidFill>
                  <a:srgbClr val="243B53"/>
                </a:solidFill>
                <a:latin typeface="Segoe UI"/>
              </a:rPr>
              <a:t>Estandarizar textos</a:t>
            </a:r>
            <a:endParaRPr sz="1300" lang="es-ES"/>
          </a:p>
        </p:txBody>
      </p:sp>
      <p:graphicFrame>
        <p:nvGraphicFramePr>
          <p:cNvPr name="Table 9" id="9"/>
          <p:cNvGraphicFramePr>
            <a:graphicFrameLocks noGrp="true"/>
          </p:cNvGraphicFramePr>
          <p:nvPr/>
        </p:nvGraphicFramePr>
        <p:xfrm>
          <a:off x="508000" y="1295400"/>
          <a:ext cx="5080000" cy="2688336"/>
        </p:xfrm>
        <a:graphic>
          <a:graphicData uri="http://schemas.openxmlformats.org/drawingml/2006/table">
            <a:tbl>
              <a:tblPr/>
              <a:tblGrid>
                <a:gridCol w="1320800"/>
                <a:gridCol w="711200"/>
                <a:gridCol w="635000"/>
                <a:gridCol w="939800"/>
                <a:gridCol w="1473200"/>
              </a:tblGrid>
              <a:tr h="298704">
                <a:tc>
                  <a:txBody>
                    <a:bodyPr anchor="t" rtlCol="false"/>
                    <a:lstStyle/>
                    <a:p>
                      <a:pPr algn="l"/>
                      <a:r>
                        <a:rPr lang="es-ES" sz="1100" b="true" i="false">
                          <a:solidFill>
                            <a:srgbClr val="FFFFFF"/>
                          </a:solidFill>
                          <a:latin typeface="Segoe UI"/>
                        </a:rPr>
                        <a:t>Campo</a:t>
                      </a:r>
                      <a:endParaRPr sz="1100" lang="es-ES"/>
                    </a:p>
                  </a:txBody>
                  <a:tcPr marL="76200" marR="76200" marT="38100" marB="381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cmpd="sng" algn="ctr" cap="flat" w="9525">
                      <a:solidFill>
                        <a:srgbClr val="243B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3B53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l"/>
                      <a:r>
                        <a:rPr lang="es-ES" sz="1100" b="true" i="false">
                          <a:solidFill>
                            <a:srgbClr val="FFFFFF"/>
                          </a:solidFill>
                          <a:latin typeface="Segoe UI"/>
                        </a:rPr>
                        <a:t>Tipo</a:t>
                      </a:r>
                      <a:endParaRPr sz="1100" lang="es-ES"/>
                    </a:p>
                  </a:txBody>
                  <a:tcPr marL="76200" marR="76200" marT="38100" marB="381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cmpd="sng" algn="ctr" cap="flat" w="9525">
                      <a:solidFill>
                        <a:srgbClr val="243B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3B53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r"/>
                      <a:r>
                        <a:rPr lang="es-ES" sz="1100" b="true" i="false">
                          <a:solidFill>
                            <a:srgbClr val="FFFFFF"/>
                          </a:solidFill>
                          <a:latin typeface="Segoe UI"/>
                        </a:rPr>
                        <a:t>Largo</a:t>
                      </a:r>
                      <a:endParaRPr sz="1100" lang="es-ES"/>
                    </a:p>
                  </a:txBody>
                  <a:tcPr marL="76200" marR="76200" marT="38100" marB="381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cmpd="sng" algn="ctr" cap="flat" w="9525">
                      <a:solidFill>
                        <a:srgbClr val="243B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3B53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r"/>
                      <a:r>
                        <a:rPr lang="es-ES" sz="1100" b="true" i="false">
                          <a:solidFill>
                            <a:srgbClr val="FFFFFF"/>
                          </a:solidFill>
                          <a:latin typeface="Segoe UI"/>
                        </a:rPr>
                        <a:t>Precisión</a:t>
                      </a:r>
                      <a:endParaRPr sz="1100" lang="es-ES"/>
                    </a:p>
                  </a:txBody>
                  <a:tcPr marL="76200" marR="76200" marT="38100" marB="381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cmpd="sng" algn="ctr" cap="flat" w="9525">
                      <a:solidFill>
                        <a:srgbClr val="243B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3B53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l"/>
                      <a:r>
                        <a:rPr lang="es-ES" sz="1100" b="true" i="false">
                          <a:solidFill>
                            <a:srgbClr val="FFFFFF"/>
                          </a:solidFill>
                          <a:latin typeface="Segoe UI"/>
                        </a:rPr>
                        <a:t>Origen</a:t>
                      </a:r>
                      <a:endParaRPr sz="1100" lang="es-ES"/>
                    </a:p>
                  </a:txBody>
                  <a:tcPr marL="76200" marR="76200" marT="38100" marB="381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cmpd="sng" algn="ctr" cap="flat" w="9525">
                      <a:solidFill>
                        <a:srgbClr val="243B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3B53"/>
                    </a:solidFill>
                  </a:tcPr>
                </a:tc>
              </a:tr>
              <a:tr h="298704">
                <a:tc>
                  <a:txBody>
                    <a:bodyPr anchor="t" rtlCol="false"/>
                    <a:lstStyle/>
                    <a:p>
                      <a:pPr algn="l"/>
                      <a:r>
                        <a:rPr lang="es-ES" sz="1100" b="false" i="false">
                          <a:solidFill>
                            <a:srgbClr val="1F2933"/>
                          </a:solidFill>
                          <a:latin typeface="Segoe UI"/>
                        </a:rPr>
                        <a:t>id_ticket</a:t>
                      </a:r>
                      <a:endParaRPr sz="1100" lang="es-ES"/>
                    </a:p>
                  </a:txBody>
                  <a:tcPr marL="76200" marR="76200" marT="38100" marB="381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cmpd="sng" algn="ctr" cap="flat" w="9525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l"/>
                      <a:r>
                        <a:rPr lang="es-ES" sz="1100" b="false" i="false">
                          <a:solidFill>
                            <a:srgbClr val="1F2933"/>
                          </a:solidFill>
                          <a:latin typeface="Segoe UI"/>
                        </a:rPr>
                        <a:t>String</a:t>
                      </a:r>
                      <a:endParaRPr sz="1100" lang="es-ES"/>
                    </a:p>
                  </a:txBody>
                  <a:tcPr marL="76200" marR="76200" marT="38100" marB="381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cmpd="sng" algn="ctr" cap="flat" w="9525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r"/>
                      <a:r>
                        <a:rPr lang="es-ES" sz="1100" b="false" i="false">
                          <a:solidFill>
                            <a:srgbClr val="1F2933"/>
                          </a:solidFill>
                          <a:latin typeface="Segoe UI"/>
                        </a:rPr>
                        <a:t> </a:t>
                      </a:r>
                      <a:endParaRPr sz="1100" lang="es-ES"/>
                    </a:p>
                  </a:txBody>
                  <a:tcPr marL="76200" marR="76200" marT="38100" marB="381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cmpd="sng" algn="ctr" cap="flat" w="9525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r"/>
                      <a:r>
                        <a:rPr lang="es-ES" sz="1100" b="false" i="false">
                          <a:solidFill>
                            <a:srgbClr val="1F2933"/>
                          </a:solidFill>
                          <a:latin typeface="Segoe UI"/>
                        </a:rPr>
                        <a:t> </a:t>
                      </a:r>
                      <a:endParaRPr sz="1100" lang="es-ES"/>
                    </a:p>
                  </a:txBody>
                  <a:tcPr marL="76200" marR="76200" marT="38100" marB="381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cmpd="sng" algn="ctr" cap="flat" w="9525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l"/>
                      <a:r>
                        <a:rPr lang="es-ES" sz="1100" b="false" i="false">
                          <a:solidFill>
                            <a:srgbClr val="1F2933"/>
                          </a:solidFill>
                          <a:latin typeface="Segoe UI"/>
                        </a:rPr>
                        <a:t>Leer ventas (CSV)</a:t>
                      </a:r>
                      <a:endParaRPr sz="1100" lang="es-ES"/>
                    </a:p>
                  </a:txBody>
                  <a:tcPr marL="76200" marR="76200" marT="38100" marB="381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cmpd="sng" algn="ctr" cap="flat" w="9525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8704">
                <a:tc>
                  <a:txBody>
                    <a:bodyPr anchor="t" rtlCol="false"/>
                    <a:lstStyle/>
                    <a:p>
                      <a:pPr algn="l"/>
                      <a:r>
                        <a:rPr lang="es-ES" sz="1100" b="false" i="false">
                          <a:solidFill>
                            <a:srgbClr val="1F2933"/>
                          </a:solidFill>
                          <a:latin typeface="Segoe UI"/>
                        </a:rPr>
                        <a:t>linea</a:t>
                      </a:r>
                      <a:endParaRPr sz="1100" lang="es-ES"/>
                    </a:p>
                  </a:txBody>
                  <a:tcPr marL="76200" marR="76200" marT="38100" marB="381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cmpd="sng" algn="ctr" cap="flat" w="9525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1F3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l"/>
                      <a:r>
                        <a:rPr lang="es-ES" sz="1100" b="false" i="false">
                          <a:solidFill>
                            <a:srgbClr val="1F2933"/>
                          </a:solidFill>
                          <a:latin typeface="Segoe UI"/>
                        </a:rPr>
                        <a:t>Integer</a:t>
                      </a:r>
                      <a:endParaRPr sz="1100" lang="es-ES"/>
                    </a:p>
                  </a:txBody>
                  <a:tcPr marL="76200" marR="76200" marT="38100" marB="381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cmpd="sng" algn="ctr" cap="flat" w="9525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1F3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r"/>
                      <a:r>
                        <a:rPr lang="es-ES" sz="1100" b="false" i="false">
                          <a:solidFill>
                            <a:srgbClr val="1F2933"/>
                          </a:solidFill>
                          <a:latin typeface="Segoe UI"/>
                        </a:rPr>
                        <a:t> </a:t>
                      </a:r>
                      <a:endParaRPr sz="1100" lang="es-ES"/>
                    </a:p>
                  </a:txBody>
                  <a:tcPr marL="76200" marR="76200" marT="38100" marB="381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cmpd="sng" algn="ctr" cap="flat" w="9525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1F3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r"/>
                      <a:r>
                        <a:rPr lang="es-ES" sz="1100" b="false" i="false">
                          <a:solidFill>
                            <a:srgbClr val="1F2933"/>
                          </a:solidFill>
                          <a:latin typeface="Segoe UI"/>
                        </a:rPr>
                        <a:t>0</a:t>
                      </a:r>
                      <a:endParaRPr sz="1100" lang="es-ES"/>
                    </a:p>
                  </a:txBody>
                  <a:tcPr marL="76200" marR="76200" marT="38100" marB="381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cmpd="sng" algn="ctr" cap="flat" w="9525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1F3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l"/>
                      <a:r>
                        <a:rPr lang="es-ES" sz="1100" b="false" i="false">
                          <a:solidFill>
                            <a:srgbClr val="1F2933"/>
                          </a:solidFill>
                          <a:latin typeface="Segoe UI"/>
                        </a:rPr>
                        <a:t>Leer ventas (CSV)</a:t>
                      </a:r>
                      <a:endParaRPr sz="1100" lang="es-ES"/>
                    </a:p>
                  </a:txBody>
                  <a:tcPr marL="76200" marR="76200" marT="38100" marB="381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cmpd="sng" algn="ctr" cap="flat" w="9525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1F3"/>
                    </a:solidFill>
                  </a:tcPr>
                </a:tc>
              </a:tr>
              <a:tr h="298704">
                <a:tc>
                  <a:txBody>
                    <a:bodyPr anchor="t" rtlCol="false"/>
                    <a:lstStyle/>
                    <a:p>
                      <a:pPr algn="l"/>
                      <a:r>
                        <a:rPr lang="es-ES" sz="1100" b="false" i="false">
                          <a:solidFill>
                            <a:srgbClr val="1F2933"/>
                          </a:solidFill>
                          <a:latin typeface="Segoe UI"/>
                        </a:rPr>
                        <a:t>fecha</a:t>
                      </a:r>
                      <a:endParaRPr sz="1100" lang="es-ES"/>
                    </a:p>
                  </a:txBody>
                  <a:tcPr marL="76200" marR="76200" marT="38100" marB="381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cmpd="sng" algn="ctr" cap="flat" w="9525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l"/>
                      <a:r>
                        <a:rPr lang="es-ES" sz="1100" b="false" i="false">
                          <a:solidFill>
                            <a:srgbClr val="1F2933"/>
                          </a:solidFill>
                          <a:latin typeface="Segoe UI"/>
                        </a:rPr>
                        <a:t>String</a:t>
                      </a:r>
                      <a:endParaRPr sz="1100" lang="es-ES"/>
                    </a:p>
                  </a:txBody>
                  <a:tcPr marL="76200" marR="76200" marT="38100" marB="381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cmpd="sng" algn="ctr" cap="flat" w="9525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r"/>
                      <a:r>
                        <a:rPr lang="es-ES" sz="1100" b="false" i="false">
                          <a:solidFill>
                            <a:srgbClr val="1F2933"/>
                          </a:solidFill>
                          <a:latin typeface="Segoe UI"/>
                        </a:rPr>
                        <a:t> </a:t>
                      </a:r>
                      <a:endParaRPr sz="1100" lang="es-ES"/>
                    </a:p>
                  </a:txBody>
                  <a:tcPr marL="76200" marR="76200" marT="38100" marB="381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cmpd="sng" algn="ctr" cap="flat" w="9525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r"/>
                      <a:r>
                        <a:rPr lang="es-ES" sz="1100" b="false" i="false">
                          <a:solidFill>
                            <a:srgbClr val="1F2933"/>
                          </a:solidFill>
                          <a:latin typeface="Segoe UI"/>
                        </a:rPr>
                        <a:t> </a:t>
                      </a:r>
                      <a:endParaRPr sz="1100" lang="es-ES"/>
                    </a:p>
                  </a:txBody>
                  <a:tcPr marL="76200" marR="76200" marT="38100" marB="381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cmpd="sng" algn="ctr" cap="flat" w="9525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l"/>
                      <a:r>
                        <a:rPr lang="es-ES" sz="1100" b="false" i="false">
                          <a:solidFill>
                            <a:srgbClr val="1F2933"/>
                          </a:solidFill>
                          <a:latin typeface="Segoe UI"/>
                        </a:rPr>
                        <a:t>Leer ventas (CSV)</a:t>
                      </a:r>
                      <a:endParaRPr sz="1100" lang="es-ES"/>
                    </a:p>
                  </a:txBody>
                  <a:tcPr marL="76200" marR="76200" marT="38100" marB="381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cmpd="sng" algn="ctr" cap="flat" w="9525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8704">
                <a:tc>
                  <a:txBody>
                    <a:bodyPr anchor="t" rtlCol="false"/>
                    <a:lstStyle/>
                    <a:p>
                      <a:pPr algn="l"/>
                      <a:r>
                        <a:rPr lang="es-ES" sz="1100" b="false" i="false">
                          <a:solidFill>
                            <a:srgbClr val="1F2933"/>
                          </a:solidFill>
                          <a:latin typeface="Segoe UI"/>
                        </a:rPr>
                        <a:t>id_tienda</a:t>
                      </a:r>
                      <a:endParaRPr sz="1100" lang="es-ES"/>
                    </a:p>
                  </a:txBody>
                  <a:tcPr marL="76200" marR="76200" marT="38100" marB="381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cmpd="sng" algn="ctr" cap="flat" w="9525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1F3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l"/>
                      <a:r>
                        <a:rPr lang="es-ES" sz="1100" b="false" i="false">
                          <a:solidFill>
                            <a:srgbClr val="1F2933"/>
                          </a:solidFill>
                          <a:latin typeface="Segoe UI"/>
                        </a:rPr>
                        <a:t>String</a:t>
                      </a:r>
                      <a:endParaRPr sz="1100" lang="es-ES"/>
                    </a:p>
                  </a:txBody>
                  <a:tcPr marL="76200" marR="76200" marT="38100" marB="381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cmpd="sng" algn="ctr" cap="flat" w="9525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1F3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r"/>
                      <a:r>
                        <a:rPr lang="es-ES" sz="1100" b="false" i="false">
                          <a:solidFill>
                            <a:srgbClr val="1F2933"/>
                          </a:solidFill>
                          <a:latin typeface="Segoe UI"/>
                        </a:rPr>
                        <a:t> </a:t>
                      </a:r>
                      <a:endParaRPr sz="1100" lang="es-ES"/>
                    </a:p>
                  </a:txBody>
                  <a:tcPr marL="76200" marR="76200" marT="38100" marB="381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cmpd="sng" algn="ctr" cap="flat" w="9525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1F3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r"/>
                      <a:r>
                        <a:rPr lang="es-ES" sz="1100" b="false" i="false">
                          <a:solidFill>
                            <a:srgbClr val="1F2933"/>
                          </a:solidFill>
                          <a:latin typeface="Segoe UI"/>
                        </a:rPr>
                        <a:t> </a:t>
                      </a:r>
                      <a:endParaRPr sz="1100" lang="es-ES"/>
                    </a:p>
                  </a:txBody>
                  <a:tcPr marL="76200" marR="76200" marT="38100" marB="381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cmpd="sng" algn="ctr" cap="flat" w="9525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1F3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l"/>
                      <a:r>
                        <a:rPr lang="es-ES" sz="1100" b="false" i="false">
                          <a:solidFill>
                            <a:srgbClr val="1F2933"/>
                          </a:solidFill>
                          <a:latin typeface="Segoe UI"/>
                        </a:rPr>
                        <a:t>Leer ventas (CSV)</a:t>
                      </a:r>
                      <a:endParaRPr sz="1100" lang="es-ES"/>
                    </a:p>
                  </a:txBody>
                  <a:tcPr marL="76200" marR="76200" marT="38100" marB="381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cmpd="sng" algn="ctr" cap="flat" w="9525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1F3"/>
                    </a:solidFill>
                  </a:tcPr>
                </a:tc>
              </a:tr>
              <a:tr h="298704">
                <a:tc>
                  <a:txBody>
                    <a:bodyPr anchor="t" rtlCol="false"/>
                    <a:lstStyle/>
                    <a:p>
                      <a:pPr algn="l"/>
                      <a:r>
                        <a:rPr lang="es-ES" sz="1100" b="false" i="false">
                          <a:solidFill>
                            <a:srgbClr val="1F2933"/>
                          </a:solidFill>
                          <a:latin typeface="Segoe UI"/>
                        </a:rPr>
                        <a:t>codigo_producto</a:t>
                      </a:r>
                      <a:endParaRPr sz="1100" lang="es-ES"/>
                    </a:p>
                  </a:txBody>
                  <a:tcPr marL="76200" marR="76200" marT="38100" marB="381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cmpd="sng" algn="ctr" cap="flat" w="9525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l"/>
                      <a:r>
                        <a:rPr lang="es-ES" sz="1100" b="false" i="false">
                          <a:solidFill>
                            <a:srgbClr val="1F2933"/>
                          </a:solidFill>
                          <a:latin typeface="Segoe UI"/>
                        </a:rPr>
                        <a:t>String</a:t>
                      </a:r>
                      <a:endParaRPr sz="1100" lang="es-ES"/>
                    </a:p>
                  </a:txBody>
                  <a:tcPr marL="76200" marR="76200" marT="38100" marB="381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cmpd="sng" algn="ctr" cap="flat" w="9525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r"/>
                      <a:r>
                        <a:rPr lang="es-ES" sz="1100" b="false" i="false">
                          <a:solidFill>
                            <a:srgbClr val="1F2933"/>
                          </a:solidFill>
                          <a:latin typeface="Segoe UI"/>
                        </a:rPr>
                        <a:t> </a:t>
                      </a:r>
                      <a:endParaRPr sz="1100" lang="es-ES"/>
                    </a:p>
                  </a:txBody>
                  <a:tcPr marL="76200" marR="76200" marT="38100" marB="381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cmpd="sng" algn="ctr" cap="flat" w="9525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r"/>
                      <a:r>
                        <a:rPr lang="es-ES" sz="1100" b="false" i="false">
                          <a:solidFill>
                            <a:srgbClr val="1F2933"/>
                          </a:solidFill>
                          <a:latin typeface="Segoe UI"/>
                        </a:rPr>
                        <a:t> </a:t>
                      </a:r>
                      <a:endParaRPr sz="1100" lang="es-ES"/>
                    </a:p>
                  </a:txBody>
                  <a:tcPr marL="76200" marR="76200" marT="38100" marB="381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cmpd="sng" algn="ctr" cap="flat" w="9525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l"/>
                      <a:r>
                        <a:rPr lang="es-ES" sz="1100" b="false" i="false">
                          <a:solidFill>
                            <a:srgbClr val="1F2933"/>
                          </a:solidFill>
                          <a:latin typeface="Segoe UI"/>
                        </a:rPr>
                        <a:t>Leer ventas (CSV)</a:t>
                      </a:r>
                      <a:endParaRPr sz="1100" lang="es-ES"/>
                    </a:p>
                  </a:txBody>
                  <a:tcPr marL="76200" marR="76200" marT="38100" marB="381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cmpd="sng" algn="ctr" cap="flat" w="9525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8704">
                <a:tc>
                  <a:txBody>
                    <a:bodyPr anchor="t" rtlCol="false"/>
                    <a:lstStyle/>
                    <a:p>
                      <a:pPr algn="l"/>
                      <a:r>
                        <a:rPr lang="es-ES" sz="1100" b="false" i="false">
                          <a:solidFill>
                            <a:srgbClr val="1F2933"/>
                          </a:solidFill>
                          <a:latin typeface="Segoe UI"/>
                        </a:rPr>
                        <a:t>cantidad</a:t>
                      </a:r>
                      <a:endParaRPr sz="1100" lang="es-ES"/>
                    </a:p>
                  </a:txBody>
                  <a:tcPr marL="76200" marR="76200" marT="38100" marB="381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cmpd="sng" algn="ctr" cap="flat" w="9525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1F3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l"/>
                      <a:r>
                        <a:rPr lang="es-ES" sz="1100" b="false" i="false">
                          <a:solidFill>
                            <a:srgbClr val="1F2933"/>
                          </a:solidFill>
                          <a:latin typeface="Segoe UI"/>
                        </a:rPr>
                        <a:t>Integer</a:t>
                      </a:r>
                      <a:endParaRPr sz="1100" lang="es-ES"/>
                    </a:p>
                  </a:txBody>
                  <a:tcPr marL="76200" marR="76200" marT="38100" marB="381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cmpd="sng" algn="ctr" cap="flat" w="9525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1F3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r"/>
                      <a:r>
                        <a:rPr lang="es-ES" sz="1100" b="false" i="false">
                          <a:solidFill>
                            <a:srgbClr val="1F2933"/>
                          </a:solidFill>
                          <a:latin typeface="Segoe UI"/>
                        </a:rPr>
                        <a:t> </a:t>
                      </a:r>
                      <a:endParaRPr sz="1100" lang="es-ES"/>
                    </a:p>
                  </a:txBody>
                  <a:tcPr marL="76200" marR="76200" marT="38100" marB="381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cmpd="sng" algn="ctr" cap="flat" w="9525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1F3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r"/>
                      <a:r>
                        <a:rPr lang="es-ES" sz="1100" b="false" i="false">
                          <a:solidFill>
                            <a:srgbClr val="1F2933"/>
                          </a:solidFill>
                          <a:latin typeface="Segoe UI"/>
                        </a:rPr>
                        <a:t>0</a:t>
                      </a:r>
                      <a:endParaRPr sz="1100" lang="es-ES"/>
                    </a:p>
                  </a:txBody>
                  <a:tcPr marL="76200" marR="76200" marT="38100" marB="381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cmpd="sng" algn="ctr" cap="flat" w="9525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1F3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l"/>
                      <a:r>
                        <a:rPr lang="es-ES" sz="1100" b="false" i="false">
                          <a:solidFill>
                            <a:srgbClr val="1F2933"/>
                          </a:solidFill>
                          <a:latin typeface="Segoe UI"/>
                        </a:rPr>
                        <a:t>Leer ventas (CSV)</a:t>
                      </a:r>
                      <a:endParaRPr sz="1100" lang="es-ES"/>
                    </a:p>
                  </a:txBody>
                  <a:tcPr marL="76200" marR="76200" marT="38100" marB="381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cmpd="sng" algn="ctr" cap="flat" w="9525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1F3"/>
                    </a:solidFill>
                  </a:tcPr>
                </a:tc>
              </a:tr>
              <a:tr h="298704">
                <a:tc>
                  <a:txBody>
                    <a:bodyPr anchor="t" rtlCol="false"/>
                    <a:lstStyle/>
                    <a:p>
                      <a:pPr algn="l"/>
                      <a:r>
                        <a:rPr lang="es-ES" sz="1100" b="false" i="false">
                          <a:solidFill>
                            <a:srgbClr val="1F2933"/>
                          </a:solidFill>
                          <a:latin typeface="Segoe UI"/>
                        </a:rPr>
                        <a:t>precio_unitario</a:t>
                      </a:r>
                      <a:endParaRPr sz="1100" lang="es-ES"/>
                    </a:p>
                  </a:txBody>
                  <a:tcPr marL="76200" marR="76200" marT="38100" marB="381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cmpd="sng" algn="ctr" cap="flat" w="9525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l"/>
                      <a:r>
                        <a:rPr lang="es-ES" sz="1100" b="false" i="false">
                          <a:solidFill>
                            <a:srgbClr val="1F2933"/>
                          </a:solidFill>
                          <a:latin typeface="Segoe UI"/>
                        </a:rPr>
                        <a:t>String</a:t>
                      </a:r>
                      <a:endParaRPr sz="1100" lang="es-ES"/>
                    </a:p>
                  </a:txBody>
                  <a:tcPr marL="76200" marR="76200" marT="38100" marB="381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cmpd="sng" algn="ctr" cap="flat" w="9525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r"/>
                      <a:r>
                        <a:rPr lang="es-ES" sz="1100" b="false" i="false">
                          <a:solidFill>
                            <a:srgbClr val="1F2933"/>
                          </a:solidFill>
                          <a:latin typeface="Segoe UI"/>
                        </a:rPr>
                        <a:t> </a:t>
                      </a:r>
                      <a:endParaRPr sz="1100" lang="es-ES"/>
                    </a:p>
                  </a:txBody>
                  <a:tcPr marL="76200" marR="76200" marT="38100" marB="381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cmpd="sng" algn="ctr" cap="flat" w="9525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r"/>
                      <a:r>
                        <a:rPr lang="es-ES" sz="1100" b="false" i="false">
                          <a:solidFill>
                            <a:srgbClr val="1F2933"/>
                          </a:solidFill>
                          <a:latin typeface="Segoe UI"/>
                        </a:rPr>
                        <a:t> </a:t>
                      </a:r>
                      <a:endParaRPr sz="1100" lang="es-ES"/>
                    </a:p>
                  </a:txBody>
                  <a:tcPr marL="76200" marR="76200" marT="38100" marB="381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cmpd="sng" algn="ctr" cap="flat" w="9525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l"/>
                      <a:r>
                        <a:rPr lang="es-ES" sz="1100" b="false" i="false">
                          <a:solidFill>
                            <a:srgbClr val="1F2933"/>
                          </a:solidFill>
                          <a:latin typeface="Segoe UI"/>
                        </a:rPr>
                        <a:t>Leer ventas (CSV)</a:t>
                      </a:r>
                      <a:endParaRPr sz="1100" lang="es-ES"/>
                    </a:p>
                  </a:txBody>
                  <a:tcPr marL="76200" marR="76200" marT="38100" marB="381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cmpd="sng" algn="ctr" cap="flat" w="9525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8704">
                <a:tc>
                  <a:txBody>
                    <a:bodyPr anchor="t" rtlCol="false"/>
                    <a:lstStyle/>
                    <a:p>
                      <a:pPr algn="l"/>
                      <a:r>
                        <a:rPr lang="es-ES" sz="1100" b="false" i="false">
                          <a:solidFill>
                            <a:srgbClr val="1F2933"/>
                          </a:solidFill>
                          <a:latin typeface="Segoe UI"/>
                        </a:rPr>
                        <a:t>metodo_pago</a:t>
                      </a:r>
                      <a:endParaRPr sz="1100" lang="es-ES"/>
                    </a:p>
                  </a:txBody>
                  <a:tcPr marL="76200" marR="76200" marT="38100" marB="381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cmpd="sng" algn="ctr" cap="flat" w="9525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1F3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l"/>
                      <a:r>
                        <a:rPr lang="es-ES" sz="1100" b="false" i="false">
                          <a:solidFill>
                            <a:srgbClr val="1F2933"/>
                          </a:solidFill>
                          <a:latin typeface="Segoe UI"/>
                        </a:rPr>
                        <a:t>String</a:t>
                      </a:r>
                      <a:endParaRPr sz="1100" lang="es-ES"/>
                    </a:p>
                  </a:txBody>
                  <a:tcPr marL="76200" marR="76200" marT="38100" marB="381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cmpd="sng" algn="ctr" cap="flat" w="9525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1F3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r"/>
                      <a:r>
                        <a:rPr lang="es-ES" sz="1100" b="false" i="false">
                          <a:solidFill>
                            <a:srgbClr val="1F2933"/>
                          </a:solidFill>
                          <a:latin typeface="Segoe UI"/>
                        </a:rPr>
                        <a:t> </a:t>
                      </a:r>
                      <a:endParaRPr sz="1100" lang="es-ES"/>
                    </a:p>
                  </a:txBody>
                  <a:tcPr marL="76200" marR="76200" marT="38100" marB="381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cmpd="sng" algn="ctr" cap="flat" w="9525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1F3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r"/>
                      <a:r>
                        <a:rPr lang="es-ES" sz="1100" b="false" i="false">
                          <a:solidFill>
                            <a:srgbClr val="1F2933"/>
                          </a:solidFill>
                          <a:latin typeface="Segoe UI"/>
                        </a:rPr>
                        <a:t> </a:t>
                      </a:r>
                      <a:endParaRPr sz="1100" lang="es-ES"/>
                    </a:p>
                  </a:txBody>
                  <a:tcPr marL="76200" marR="76200" marT="38100" marB="381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cmpd="sng" algn="ctr" cap="flat" w="9525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1F3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l"/>
                      <a:r>
                        <a:rPr lang="es-ES" sz="1100" b="false" i="false">
                          <a:solidFill>
                            <a:srgbClr val="1F2933"/>
                          </a:solidFill>
                          <a:latin typeface="Segoe UI"/>
                        </a:rPr>
                        <a:t>Leer ventas (CSV)</a:t>
                      </a:r>
                      <a:endParaRPr sz="1100" lang="es-ES"/>
                    </a:p>
                  </a:txBody>
                  <a:tcPr marL="76200" marR="76200" marT="38100" marB="381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cmpd="sng" algn="ctr" cap="flat" w="9525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1F3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8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8000" y="203200"/>
            <a:ext cx="11176000" cy="635000"/>
          </a:xfrm>
        </p:spPr>
        <p:txBody>
          <a:bodyPr lIns="0" rIns="0" wrap="square" anchor="ctr"/>
          <a:lstStyle/>
          <a:p>
            <a:pPr algn="l"/>
            <a:r>
              <a:rPr lang="es-ES" sz="2600" b="true" i="false">
                <a:solidFill>
                  <a:srgbClr val="243B53"/>
                </a:solidFill>
                <a:latin typeface="Segoe UI"/>
              </a:rPr>
              <a:t>Diccionario de datos (cont.)</a:t>
            </a:r>
            <a:endParaRPr sz="2600" lang="es-ES"/>
          </a:p>
        </p:txBody>
      </p:sp>
      <p:pic>
        <p:nvPicPr>
          <p:cNvPr name="Picture 3" id="3"/>
          <p:cNvPicPr>
            <a:picLocks noChangeAspect="true"/>
          </p:cNvPicPr>
          <p:nvPr/>
        </p:nvPicPr>
        <p:blipFill>
          <a:blip r:embed="rId2"/>
          <a:stretch>
            <a:fillRect/>
          </a:stretch>
        </p:blipFill>
        <p:spPr>
          <a:xfrm>
            <a:off x="10248900" y="5510084"/>
            <a:ext cx="1435100" cy="814516"/>
          </a:xfrm>
          <a:prstGeom prst="rect">
            <a:avLst/>
          </a:prstGeom>
        </p:spPr>
      </p:pic>
      <p:sp>
        <p:nvSpPr>
          <p:cNvPr name="AutoShape 4" id="4"/>
          <p:cNvSpPr/>
          <p:nvPr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243B53"/>
          </a:solidFill>
          <a:ln>
            <a:noFill/>
          </a:ln>
        </p:spPr>
      </p:sp>
      <p:pic>
        <p:nvPicPr>
          <p:cNvPr name="Picture 5" id="5"/>
          <p:cNvPicPr>
            <a:picLocks noChangeAspect="true"/>
          </p:cNvPicPr>
          <p:nvPr/>
        </p:nvPicPr>
        <p:blipFill>
          <a:blip r:embed="rId3"/>
          <a:stretch>
            <a:fillRect/>
          </a:stretch>
        </p:blipFill>
        <p:spPr>
          <a:xfrm>
            <a:off x="508000" y="6508750"/>
            <a:ext cx="177800" cy="100914"/>
          </a:xfrm>
          <a:prstGeom prst="rect">
            <a:avLst/>
          </a:prstGeom>
        </p:spPr>
      </p:pic>
      <p:sp>
        <p:nvSpPr>
          <p:cNvPr name="TextBox 6" id="6"/>
          <p:cNvSpPr txBox="true"/>
          <p:nvPr/>
        </p:nvSpPr>
        <p:spPr>
          <a:xfrm>
            <a:off x="749300" y="6451600"/>
            <a:ext cx="5080000" cy="228600"/>
          </a:xfrm>
          <a:prstGeom prst="rect">
            <a:avLst/>
          </a:prstGeom>
        </p:spPr>
        <p:txBody>
          <a:bodyPr anchor="ctr" rtlCol="false" wrap="square" lIns="0" rIns="0" tIns="25400" bIns="25400"/>
          <a:lstStyle/>
          <a:p>
            <a:pPr algn="l"/>
            <a:r>
              <a:rPr lang="es-ES" sz="750" b="false" i="false">
                <a:solidFill>
                  <a:srgbClr val="6B7785"/>
                </a:solidFill>
                <a:latin typeface="Segoe UI"/>
              </a:rPr>
              <a:t>Pentaho Live · IDC Studios</a:t>
            </a:r>
            <a:endParaRPr sz="750" lang="es-ES"/>
          </a:p>
        </p:txBody>
      </p:sp>
      <p:sp>
        <p:nvSpPr>
          <p:cNvPr name="TextBox 7" id="7"/>
          <p:cNvSpPr txBox="true"/>
          <p:nvPr/>
        </p:nvSpPr>
        <p:spPr>
          <a:xfrm>
            <a:off x="10160000" y="6451600"/>
            <a:ext cx="1524000" cy="228600"/>
          </a:xfrm>
          <a:prstGeom prst="rect">
            <a:avLst/>
          </a:prstGeom>
        </p:spPr>
        <p:txBody>
          <a:bodyPr anchor="ctr" rtlCol="false" wrap="square" lIns="0" rIns="0" tIns="25400" bIns="25400"/>
          <a:lstStyle/>
          <a:p>
            <a:pPr algn="r"/>
            <a:fld id="{8318678C-9E2E-474A-8C47-96DF00CC9031}" type="slidenum">
              <a:rPr lang="es-ES" sz="750">
                <a:solidFill>
                  <a:srgbClr val="6B7785"/>
                </a:solidFill>
                <a:latin typeface="Segoe UI"/>
              </a:rPr>
              <a:t>18</a:t>
            </a:fld>
            <a:endParaRPr sz="750" lang="es-ES"/>
          </a:p>
        </p:txBody>
      </p:sp>
      <p:sp>
        <p:nvSpPr>
          <p:cNvPr name="TextBox 8" id="8"/>
          <p:cNvSpPr txBox="true"/>
          <p:nvPr/>
        </p:nvSpPr>
        <p:spPr>
          <a:xfrm>
            <a:off x="508000" y="1016000"/>
            <a:ext cx="11176000" cy="254000"/>
          </a:xfrm>
          <a:prstGeom prst="rect">
            <a:avLst/>
          </a:prstGeom>
        </p:spPr>
        <p:txBody>
          <a:bodyPr anchor="t" rtlCol="false" wrap="square" lIns="0" rIns="0" tIns="25400" bIns="25400"/>
          <a:lstStyle/>
          <a:p>
            <a:pPr algn="l"/>
            <a:r>
              <a:rPr lang="es-ES" sz="1300" b="true" i="false">
                <a:solidFill>
                  <a:srgbClr val="243B53"/>
                </a:solidFill>
                <a:latin typeface="Segoe UI"/>
              </a:rPr>
              <a:t>Normalizar fecha y precio</a:t>
            </a:r>
            <a:endParaRPr sz="1300" lang="es-ES"/>
          </a:p>
        </p:txBody>
      </p:sp>
      <p:graphicFrame>
        <p:nvGraphicFramePr>
          <p:cNvPr name="Table 9" id="9"/>
          <p:cNvGraphicFramePr>
            <a:graphicFrameLocks noGrp="true"/>
          </p:cNvGraphicFramePr>
          <p:nvPr/>
        </p:nvGraphicFramePr>
        <p:xfrm>
          <a:off x="508000" y="1295400"/>
          <a:ext cx="5080000" cy="2688336"/>
        </p:xfrm>
        <a:graphic>
          <a:graphicData uri="http://schemas.openxmlformats.org/drawingml/2006/table">
            <a:tbl>
              <a:tblPr/>
              <a:tblGrid>
                <a:gridCol w="1320800"/>
                <a:gridCol w="711200"/>
                <a:gridCol w="635000"/>
                <a:gridCol w="939800"/>
                <a:gridCol w="1473200"/>
              </a:tblGrid>
              <a:tr h="298704">
                <a:tc>
                  <a:txBody>
                    <a:bodyPr anchor="t" rtlCol="false"/>
                    <a:lstStyle/>
                    <a:p>
                      <a:pPr algn="l"/>
                      <a:r>
                        <a:rPr lang="es-ES" sz="1100" b="true" i="false">
                          <a:solidFill>
                            <a:srgbClr val="FFFFFF"/>
                          </a:solidFill>
                          <a:latin typeface="Segoe UI"/>
                        </a:rPr>
                        <a:t>Campo</a:t>
                      </a:r>
                      <a:endParaRPr sz="1100" lang="es-ES"/>
                    </a:p>
                  </a:txBody>
                  <a:tcPr marL="76200" marR="76200" marT="38100" marB="381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cmpd="sng" algn="ctr" cap="flat" w="9525">
                      <a:solidFill>
                        <a:srgbClr val="243B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3B53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l"/>
                      <a:r>
                        <a:rPr lang="es-ES" sz="1100" b="true" i="false">
                          <a:solidFill>
                            <a:srgbClr val="FFFFFF"/>
                          </a:solidFill>
                          <a:latin typeface="Segoe UI"/>
                        </a:rPr>
                        <a:t>Tipo</a:t>
                      </a:r>
                      <a:endParaRPr sz="1100" lang="es-ES"/>
                    </a:p>
                  </a:txBody>
                  <a:tcPr marL="76200" marR="76200" marT="38100" marB="381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cmpd="sng" algn="ctr" cap="flat" w="9525">
                      <a:solidFill>
                        <a:srgbClr val="243B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3B53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r"/>
                      <a:r>
                        <a:rPr lang="es-ES" sz="1100" b="true" i="false">
                          <a:solidFill>
                            <a:srgbClr val="FFFFFF"/>
                          </a:solidFill>
                          <a:latin typeface="Segoe UI"/>
                        </a:rPr>
                        <a:t>Largo</a:t>
                      </a:r>
                      <a:endParaRPr sz="1100" lang="es-ES"/>
                    </a:p>
                  </a:txBody>
                  <a:tcPr marL="76200" marR="76200" marT="38100" marB="381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cmpd="sng" algn="ctr" cap="flat" w="9525">
                      <a:solidFill>
                        <a:srgbClr val="243B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3B53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r"/>
                      <a:r>
                        <a:rPr lang="es-ES" sz="1100" b="true" i="false">
                          <a:solidFill>
                            <a:srgbClr val="FFFFFF"/>
                          </a:solidFill>
                          <a:latin typeface="Segoe UI"/>
                        </a:rPr>
                        <a:t>Precisión</a:t>
                      </a:r>
                      <a:endParaRPr sz="1100" lang="es-ES"/>
                    </a:p>
                  </a:txBody>
                  <a:tcPr marL="76200" marR="76200" marT="38100" marB="381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cmpd="sng" algn="ctr" cap="flat" w="9525">
                      <a:solidFill>
                        <a:srgbClr val="243B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3B53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l"/>
                      <a:r>
                        <a:rPr lang="es-ES" sz="1100" b="true" i="false">
                          <a:solidFill>
                            <a:srgbClr val="FFFFFF"/>
                          </a:solidFill>
                          <a:latin typeface="Segoe UI"/>
                        </a:rPr>
                        <a:t>Origen</a:t>
                      </a:r>
                      <a:endParaRPr sz="1100" lang="es-ES"/>
                    </a:p>
                  </a:txBody>
                  <a:tcPr marL="76200" marR="76200" marT="38100" marB="381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cmpd="sng" algn="ctr" cap="flat" w="9525">
                      <a:solidFill>
                        <a:srgbClr val="243B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3B53"/>
                    </a:solidFill>
                  </a:tcPr>
                </a:tc>
              </a:tr>
              <a:tr h="298704">
                <a:tc>
                  <a:txBody>
                    <a:bodyPr anchor="t" rtlCol="false"/>
                    <a:lstStyle/>
                    <a:p>
                      <a:pPr algn="l"/>
                      <a:r>
                        <a:rPr lang="es-ES" sz="1100" b="false" i="false">
                          <a:solidFill>
                            <a:srgbClr val="1F2933"/>
                          </a:solidFill>
                          <a:latin typeface="Segoe UI"/>
                        </a:rPr>
                        <a:t>id_ticket</a:t>
                      </a:r>
                      <a:endParaRPr sz="1100" lang="es-ES"/>
                    </a:p>
                  </a:txBody>
                  <a:tcPr marL="76200" marR="76200" marT="38100" marB="381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cmpd="sng" algn="ctr" cap="flat" w="9525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l"/>
                      <a:r>
                        <a:rPr lang="es-ES" sz="1100" b="false" i="false">
                          <a:solidFill>
                            <a:srgbClr val="1F2933"/>
                          </a:solidFill>
                          <a:latin typeface="Segoe UI"/>
                        </a:rPr>
                        <a:t>String</a:t>
                      </a:r>
                      <a:endParaRPr sz="1100" lang="es-ES"/>
                    </a:p>
                  </a:txBody>
                  <a:tcPr marL="76200" marR="76200" marT="38100" marB="381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cmpd="sng" algn="ctr" cap="flat" w="9525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r"/>
                      <a:r>
                        <a:rPr lang="es-ES" sz="1100" b="false" i="false">
                          <a:solidFill>
                            <a:srgbClr val="1F2933"/>
                          </a:solidFill>
                          <a:latin typeface="Segoe UI"/>
                        </a:rPr>
                        <a:t> </a:t>
                      </a:r>
                      <a:endParaRPr sz="1100" lang="es-ES"/>
                    </a:p>
                  </a:txBody>
                  <a:tcPr marL="76200" marR="76200" marT="38100" marB="381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cmpd="sng" algn="ctr" cap="flat" w="9525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r"/>
                      <a:r>
                        <a:rPr lang="es-ES" sz="1100" b="false" i="false">
                          <a:solidFill>
                            <a:srgbClr val="1F2933"/>
                          </a:solidFill>
                          <a:latin typeface="Segoe UI"/>
                        </a:rPr>
                        <a:t> </a:t>
                      </a:r>
                      <a:endParaRPr sz="1100" lang="es-ES"/>
                    </a:p>
                  </a:txBody>
                  <a:tcPr marL="76200" marR="76200" marT="38100" marB="381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cmpd="sng" algn="ctr" cap="flat" w="9525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l"/>
                      <a:r>
                        <a:rPr lang="es-ES" sz="1100" b="false" i="false">
                          <a:solidFill>
                            <a:srgbClr val="1F2933"/>
                          </a:solidFill>
                          <a:latin typeface="Segoe UI"/>
                        </a:rPr>
                        <a:t>Leer ventas (CSV)</a:t>
                      </a:r>
                      <a:endParaRPr sz="1100" lang="es-ES"/>
                    </a:p>
                  </a:txBody>
                  <a:tcPr marL="76200" marR="76200" marT="38100" marB="381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cmpd="sng" algn="ctr" cap="flat" w="9525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8704">
                <a:tc>
                  <a:txBody>
                    <a:bodyPr anchor="t" rtlCol="false"/>
                    <a:lstStyle/>
                    <a:p>
                      <a:pPr algn="l"/>
                      <a:r>
                        <a:rPr lang="es-ES" sz="1100" b="false" i="false">
                          <a:solidFill>
                            <a:srgbClr val="1F2933"/>
                          </a:solidFill>
                          <a:latin typeface="Segoe UI"/>
                        </a:rPr>
                        <a:t>linea</a:t>
                      </a:r>
                      <a:endParaRPr sz="1100" lang="es-ES"/>
                    </a:p>
                  </a:txBody>
                  <a:tcPr marL="76200" marR="76200" marT="38100" marB="381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cmpd="sng" algn="ctr" cap="flat" w="9525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1F3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l"/>
                      <a:r>
                        <a:rPr lang="es-ES" sz="1100" b="false" i="false">
                          <a:solidFill>
                            <a:srgbClr val="1F2933"/>
                          </a:solidFill>
                          <a:latin typeface="Segoe UI"/>
                        </a:rPr>
                        <a:t>Integer</a:t>
                      </a:r>
                      <a:endParaRPr sz="1100" lang="es-ES"/>
                    </a:p>
                  </a:txBody>
                  <a:tcPr marL="76200" marR="76200" marT="38100" marB="381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cmpd="sng" algn="ctr" cap="flat" w="9525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1F3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r"/>
                      <a:r>
                        <a:rPr lang="es-ES" sz="1100" b="false" i="false">
                          <a:solidFill>
                            <a:srgbClr val="1F2933"/>
                          </a:solidFill>
                          <a:latin typeface="Segoe UI"/>
                        </a:rPr>
                        <a:t> </a:t>
                      </a:r>
                      <a:endParaRPr sz="1100" lang="es-ES"/>
                    </a:p>
                  </a:txBody>
                  <a:tcPr marL="76200" marR="76200" marT="38100" marB="381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cmpd="sng" algn="ctr" cap="flat" w="9525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1F3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r"/>
                      <a:r>
                        <a:rPr lang="es-ES" sz="1100" b="false" i="false">
                          <a:solidFill>
                            <a:srgbClr val="1F2933"/>
                          </a:solidFill>
                          <a:latin typeface="Segoe UI"/>
                        </a:rPr>
                        <a:t>0</a:t>
                      </a:r>
                      <a:endParaRPr sz="1100" lang="es-ES"/>
                    </a:p>
                  </a:txBody>
                  <a:tcPr marL="76200" marR="76200" marT="38100" marB="381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cmpd="sng" algn="ctr" cap="flat" w="9525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1F3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l"/>
                      <a:r>
                        <a:rPr lang="es-ES" sz="1100" b="false" i="false">
                          <a:solidFill>
                            <a:srgbClr val="1F2933"/>
                          </a:solidFill>
                          <a:latin typeface="Segoe UI"/>
                        </a:rPr>
                        <a:t>Leer ventas (CSV)</a:t>
                      </a:r>
                      <a:endParaRPr sz="1100" lang="es-ES"/>
                    </a:p>
                  </a:txBody>
                  <a:tcPr marL="76200" marR="76200" marT="38100" marB="381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cmpd="sng" algn="ctr" cap="flat" w="9525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1F3"/>
                    </a:solidFill>
                  </a:tcPr>
                </a:tc>
              </a:tr>
              <a:tr h="298704">
                <a:tc>
                  <a:txBody>
                    <a:bodyPr anchor="t" rtlCol="false"/>
                    <a:lstStyle/>
                    <a:p>
                      <a:pPr algn="l"/>
                      <a:r>
                        <a:rPr lang="es-ES" sz="1100" b="false" i="false">
                          <a:solidFill>
                            <a:srgbClr val="1F2933"/>
                          </a:solidFill>
                          <a:latin typeface="Segoe UI"/>
                        </a:rPr>
                        <a:t>fecha</a:t>
                      </a:r>
                      <a:endParaRPr sz="1100" lang="es-ES"/>
                    </a:p>
                  </a:txBody>
                  <a:tcPr marL="76200" marR="76200" marT="38100" marB="381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cmpd="sng" algn="ctr" cap="flat" w="9525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l"/>
                      <a:r>
                        <a:rPr lang="es-ES" sz="1100" b="false" i="false">
                          <a:solidFill>
                            <a:srgbClr val="1F2933"/>
                          </a:solidFill>
                          <a:latin typeface="Segoe UI"/>
                        </a:rPr>
                        <a:t>String</a:t>
                      </a:r>
                      <a:endParaRPr sz="1100" lang="es-ES"/>
                    </a:p>
                  </a:txBody>
                  <a:tcPr marL="76200" marR="76200" marT="38100" marB="381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cmpd="sng" algn="ctr" cap="flat" w="9525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r"/>
                      <a:r>
                        <a:rPr lang="es-ES" sz="1100" b="false" i="false">
                          <a:solidFill>
                            <a:srgbClr val="1F2933"/>
                          </a:solidFill>
                          <a:latin typeface="Segoe UI"/>
                        </a:rPr>
                        <a:t> </a:t>
                      </a:r>
                      <a:endParaRPr sz="1100" lang="es-ES"/>
                    </a:p>
                  </a:txBody>
                  <a:tcPr marL="76200" marR="76200" marT="38100" marB="381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cmpd="sng" algn="ctr" cap="flat" w="9525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r"/>
                      <a:r>
                        <a:rPr lang="es-ES" sz="1100" b="false" i="false">
                          <a:solidFill>
                            <a:srgbClr val="1F2933"/>
                          </a:solidFill>
                          <a:latin typeface="Segoe UI"/>
                        </a:rPr>
                        <a:t> </a:t>
                      </a:r>
                      <a:endParaRPr sz="1100" lang="es-ES"/>
                    </a:p>
                  </a:txBody>
                  <a:tcPr marL="76200" marR="76200" marT="38100" marB="381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cmpd="sng" algn="ctr" cap="flat" w="9525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l"/>
                      <a:r>
                        <a:rPr lang="es-ES" sz="1100" b="false" i="false">
                          <a:solidFill>
                            <a:srgbClr val="1F2933"/>
                          </a:solidFill>
                          <a:latin typeface="Segoe UI"/>
                        </a:rPr>
                        <a:t>Leer ventas (CSV)</a:t>
                      </a:r>
                      <a:endParaRPr sz="1100" lang="es-ES"/>
                    </a:p>
                  </a:txBody>
                  <a:tcPr marL="76200" marR="76200" marT="38100" marB="381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cmpd="sng" algn="ctr" cap="flat" w="9525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8704">
                <a:tc>
                  <a:txBody>
                    <a:bodyPr anchor="t" rtlCol="false"/>
                    <a:lstStyle/>
                    <a:p>
                      <a:pPr algn="l"/>
                      <a:r>
                        <a:rPr lang="es-ES" sz="1100" b="false" i="false">
                          <a:solidFill>
                            <a:srgbClr val="1F2933"/>
                          </a:solidFill>
                          <a:latin typeface="Segoe UI"/>
                        </a:rPr>
                        <a:t>id_tienda</a:t>
                      </a:r>
                      <a:endParaRPr sz="1100" lang="es-ES"/>
                    </a:p>
                  </a:txBody>
                  <a:tcPr marL="76200" marR="76200" marT="38100" marB="381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cmpd="sng" algn="ctr" cap="flat" w="9525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1F3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l"/>
                      <a:r>
                        <a:rPr lang="es-ES" sz="1100" b="false" i="false">
                          <a:solidFill>
                            <a:srgbClr val="1F2933"/>
                          </a:solidFill>
                          <a:latin typeface="Segoe UI"/>
                        </a:rPr>
                        <a:t>String</a:t>
                      </a:r>
                      <a:endParaRPr sz="1100" lang="es-ES"/>
                    </a:p>
                  </a:txBody>
                  <a:tcPr marL="76200" marR="76200" marT="38100" marB="381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cmpd="sng" algn="ctr" cap="flat" w="9525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1F3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r"/>
                      <a:r>
                        <a:rPr lang="es-ES" sz="1100" b="false" i="false">
                          <a:solidFill>
                            <a:srgbClr val="1F2933"/>
                          </a:solidFill>
                          <a:latin typeface="Segoe UI"/>
                        </a:rPr>
                        <a:t> </a:t>
                      </a:r>
                      <a:endParaRPr sz="1100" lang="es-ES"/>
                    </a:p>
                  </a:txBody>
                  <a:tcPr marL="76200" marR="76200" marT="38100" marB="381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cmpd="sng" algn="ctr" cap="flat" w="9525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1F3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r"/>
                      <a:r>
                        <a:rPr lang="es-ES" sz="1100" b="false" i="false">
                          <a:solidFill>
                            <a:srgbClr val="1F2933"/>
                          </a:solidFill>
                          <a:latin typeface="Segoe UI"/>
                        </a:rPr>
                        <a:t> </a:t>
                      </a:r>
                      <a:endParaRPr sz="1100" lang="es-ES"/>
                    </a:p>
                  </a:txBody>
                  <a:tcPr marL="76200" marR="76200" marT="38100" marB="381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cmpd="sng" algn="ctr" cap="flat" w="9525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1F3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l"/>
                      <a:r>
                        <a:rPr lang="es-ES" sz="1100" b="false" i="false">
                          <a:solidFill>
                            <a:srgbClr val="1F2933"/>
                          </a:solidFill>
                          <a:latin typeface="Segoe UI"/>
                        </a:rPr>
                        <a:t>Leer ventas (CSV)</a:t>
                      </a:r>
                      <a:endParaRPr sz="1100" lang="es-ES"/>
                    </a:p>
                  </a:txBody>
                  <a:tcPr marL="76200" marR="76200" marT="38100" marB="381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cmpd="sng" algn="ctr" cap="flat" w="9525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1F3"/>
                    </a:solidFill>
                  </a:tcPr>
                </a:tc>
              </a:tr>
              <a:tr h="298704">
                <a:tc>
                  <a:txBody>
                    <a:bodyPr anchor="t" rtlCol="false"/>
                    <a:lstStyle/>
                    <a:p>
                      <a:pPr algn="l"/>
                      <a:r>
                        <a:rPr lang="es-ES" sz="1100" b="false" i="false">
                          <a:solidFill>
                            <a:srgbClr val="1F2933"/>
                          </a:solidFill>
                          <a:latin typeface="Segoe UI"/>
                        </a:rPr>
                        <a:t>codigo_producto</a:t>
                      </a:r>
                      <a:endParaRPr sz="1100" lang="es-ES"/>
                    </a:p>
                  </a:txBody>
                  <a:tcPr marL="76200" marR="76200" marT="38100" marB="381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cmpd="sng" algn="ctr" cap="flat" w="9525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l"/>
                      <a:r>
                        <a:rPr lang="es-ES" sz="1100" b="false" i="false">
                          <a:solidFill>
                            <a:srgbClr val="1F2933"/>
                          </a:solidFill>
                          <a:latin typeface="Segoe UI"/>
                        </a:rPr>
                        <a:t>String</a:t>
                      </a:r>
                      <a:endParaRPr sz="1100" lang="es-ES"/>
                    </a:p>
                  </a:txBody>
                  <a:tcPr marL="76200" marR="76200" marT="38100" marB="381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cmpd="sng" algn="ctr" cap="flat" w="9525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r"/>
                      <a:r>
                        <a:rPr lang="es-ES" sz="1100" b="false" i="false">
                          <a:solidFill>
                            <a:srgbClr val="1F2933"/>
                          </a:solidFill>
                          <a:latin typeface="Segoe UI"/>
                        </a:rPr>
                        <a:t> </a:t>
                      </a:r>
                      <a:endParaRPr sz="1100" lang="es-ES"/>
                    </a:p>
                  </a:txBody>
                  <a:tcPr marL="76200" marR="76200" marT="38100" marB="381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cmpd="sng" algn="ctr" cap="flat" w="9525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r"/>
                      <a:r>
                        <a:rPr lang="es-ES" sz="1100" b="false" i="false">
                          <a:solidFill>
                            <a:srgbClr val="1F2933"/>
                          </a:solidFill>
                          <a:latin typeface="Segoe UI"/>
                        </a:rPr>
                        <a:t> </a:t>
                      </a:r>
                      <a:endParaRPr sz="1100" lang="es-ES"/>
                    </a:p>
                  </a:txBody>
                  <a:tcPr marL="76200" marR="76200" marT="38100" marB="381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cmpd="sng" algn="ctr" cap="flat" w="9525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l"/>
                      <a:r>
                        <a:rPr lang="es-ES" sz="1100" b="false" i="false">
                          <a:solidFill>
                            <a:srgbClr val="1F2933"/>
                          </a:solidFill>
                          <a:latin typeface="Segoe UI"/>
                        </a:rPr>
                        <a:t>Leer ventas (CSV)</a:t>
                      </a:r>
                      <a:endParaRPr sz="1100" lang="es-ES"/>
                    </a:p>
                  </a:txBody>
                  <a:tcPr marL="76200" marR="76200" marT="38100" marB="381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cmpd="sng" algn="ctr" cap="flat" w="9525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8704">
                <a:tc>
                  <a:txBody>
                    <a:bodyPr anchor="t" rtlCol="false"/>
                    <a:lstStyle/>
                    <a:p>
                      <a:pPr algn="l"/>
                      <a:r>
                        <a:rPr lang="es-ES" sz="1100" b="false" i="false">
                          <a:solidFill>
                            <a:srgbClr val="1F2933"/>
                          </a:solidFill>
                          <a:latin typeface="Segoe UI"/>
                        </a:rPr>
                        <a:t>cantidad</a:t>
                      </a:r>
                      <a:endParaRPr sz="1100" lang="es-ES"/>
                    </a:p>
                  </a:txBody>
                  <a:tcPr marL="76200" marR="76200" marT="38100" marB="381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cmpd="sng" algn="ctr" cap="flat" w="9525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1F3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l"/>
                      <a:r>
                        <a:rPr lang="es-ES" sz="1100" b="false" i="false">
                          <a:solidFill>
                            <a:srgbClr val="1F2933"/>
                          </a:solidFill>
                          <a:latin typeface="Segoe UI"/>
                        </a:rPr>
                        <a:t>Integer</a:t>
                      </a:r>
                      <a:endParaRPr sz="1100" lang="es-ES"/>
                    </a:p>
                  </a:txBody>
                  <a:tcPr marL="76200" marR="76200" marT="38100" marB="381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cmpd="sng" algn="ctr" cap="flat" w="9525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1F3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r"/>
                      <a:r>
                        <a:rPr lang="es-ES" sz="1100" b="false" i="false">
                          <a:solidFill>
                            <a:srgbClr val="1F2933"/>
                          </a:solidFill>
                          <a:latin typeface="Segoe UI"/>
                        </a:rPr>
                        <a:t> </a:t>
                      </a:r>
                      <a:endParaRPr sz="1100" lang="es-ES"/>
                    </a:p>
                  </a:txBody>
                  <a:tcPr marL="76200" marR="76200" marT="38100" marB="381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cmpd="sng" algn="ctr" cap="flat" w="9525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1F3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r"/>
                      <a:r>
                        <a:rPr lang="es-ES" sz="1100" b="false" i="false">
                          <a:solidFill>
                            <a:srgbClr val="1F2933"/>
                          </a:solidFill>
                          <a:latin typeface="Segoe UI"/>
                        </a:rPr>
                        <a:t>0</a:t>
                      </a:r>
                      <a:endParaRPr sz="1100" lang="es-ES"/>
                    </a:p>
                  </a:txBody>
                  <a:tcPr marL="76200" marR="76200" marT="38100" marB="381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cmpd="sng" algn="ctr" cap="flat" w="9525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1F3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l"/>
                      <a:r>
                        <a:rPr lang="es-ES" sz="1100" b="false" i="false">
                          <a:solidFill>
                            <a:srgbClr val="1F2933"/>
                          </a:solidFill>
                          <a:latin typeface="Segoe UI"/>
                        </a:rPr>
                        <a:t>Leer ventas (CSV)</a:t>
                      </a:r>
                      <a:endParaRPr sz="1100" lang="es-ES"/>
                    </a:p>
                  </a:txBody>
                  <a:tcPr marL="76200" marR="76200" marT="38100" marB="381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cmpd="sng" algn="ctr" cap="flat" w="9525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1F3"/>
                    </a:solidFill>
                  </a:tcPr>
                </a:tc>
              </a:tr>
              <a:tr h="298704">
                <a:tc>
                  <a:txBody>
                    <a:bodyPr anchor="t" rtlCol="false"/>
                    <a:lstStyle/>
                    <a:p>
                      <a:pPr algn="l"/>
                      <a:r>
                        <a:rPr lang="es-ES" sz="1100" b="false" i="false">
                          <a:solidFill>
                            <a:srgbClr val="1F2933"/>
                          </a:solidFill>
                          <a:latin typeface="Segoe UI"/>
                        </a:rPr>
                        <a:t>precio_unitario</a:t>
                      </a:r>
                      <a:endParaRPr sz="1100" lang="es-ES"/>
                    </a:p>
                  </a:txBody>
                  <a:tcPr marL="76200" marR="76200" marT="38100" marB="381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cmpd="sng" algn="ctr" cap="flat" w="9525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l"/>
                      <a:r>
                        <a:rPr lang="es-ES" sz="1100" b="false" i="false">
                          <a:solidFill>
                            <a:srgbClr val="1F2933"/>
                          </a:solidFill>
                          <a:latin typeface="Segoe UI"/>
                        </a:rPr>
                        <a:t>String</a:t>
                      </a:r>
                      <a:endParaRPr sz="1100" lang="es-ES"/>
                    </a:p>
                  </a:txBody>
                  <a:tcPr marL="76200" marR="76200" marT="38100" marB="381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cmpd="sng" algn="ctr" cap="flat" w="9525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r"/>
                      <a:r>
                        <a:rPr lang="es-ES" sz="1100" b="false" i="false">
                          <a:solidFill>
                            <a:srgbClr val="1F2933"/>
                          </a:solidFill>
                          <a:latin typeface="Segoe UI"/>
                        </a:rPr>
                        <a:t> </a:t>
                      </a:r>
                      <a:endParaRPr sz="1100" lang="es-ES"/>
                    </a:p>
                  </a:txBody>
                  <a:tcPr marL="76200" marR="76200" marT="38100" marB="381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cmpd="sng" algn="ctr" cap="flat" w="9525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r"/>
                      <a:r>
                        <a:rPr lang="es-ES" sz="1100" b="false" i="false">
                          <a:solidFill>
                            <a:srgbClr val="1F2933"/>
                          </a:solidFill>
                          <a:latin typeface="Segoe UI"/>
                        </a:rPr>
                        <a:t> </a:t>
                      </a:r>
                      <a:endParaRPr sz="1100" lang="es-ES"/>
                    </a:p>
                  </a:txBody>
                  <a:tcPr marL="76200" marR="76200" marT="38100" marB="381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cmpd="sng" algn="ctr" cap="flat" w="9525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l"/>
                      <a:r>
                        <a:rPr lang="es-ES" sz="1100" b="false" i="false">
                          <a:solidFill>
                            <a:srgbClr val="1F2933"/>
                          </a:solidFill>
                          <a:latin typeface="Segoe UI"/>
                        </a:rPr>
                        <a:t>Leer ventas (CSV)</a:t>
                      </a:r>
                      <a:endParaRPr sz="1100" lang="es-ES"/>
                    </a:p>
                  </a:txBody>
                  <a:tcPr marL="76200" marR="76200" marT="38100" marB="381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cmpd="sng" algn="ctr" cap="flat" w="9525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8704">
                <a:tc>
                  <a:txBody>
                    <a:bodyPr anchor="t" rtlCol="false"/>
                    <a:lstStyle/>
                    <a:p>
                      <a:pPr algn="l"/>
                      <a:r>
                        <a:rPr lang="es-ES" sz="1100" b="false" i="false">
                          <a:solidFill>
                            <a:srgbClr val="1F2933"/>
                          </a:solidFill>
                          <a:latin typeface="Segoe UI"/>
                        </a:rPr>
                        <a:t>metodo_pago</a:t>
                      </a:r>
                      <a:endParaRPr sz="1100" lang="es-ES"/>
                    </a:p>
                  </a:txBody>
                  <a:tcPr marL="76200" marR="76200" marT="38100" marB="381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cmpd="sng" algn="ctr" cap="flat" w="9525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1F3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l"/>
                      <a:r>
                        <a:rPr lang="es-ES" sz="1100" b="false" i="false">
                          <a:solidFill>
                            <a:srgbClr val="1F2933"/>
                          </a:solidFill>
                          <a:latin typeface="Segoe UI"/>
                        </a:rPr>
                        <a:t>String</a:t>
                      </a:r>
                      <a:endParaRPr sz="1100" lang="es-ES"/>
                    </a:p>
                  </a:txBody>
                  <a:tcPr marL="76200" marR="76200" marT="38100" marB="381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cmpd="sng" algn="ctr" cap="flat" w="9525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1F3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r"/>
                      <a:r>
                        <a:rPr lang="es-ES" sz="1100" b="false" i="false">
                          <a:solidFill>
                            <a:srgbClr val="1F2933"/>
                          </a:solidFill>
                          <a:latin typeface="Segoe UI"/>
                        </a:rPr>
                        <a:t> </a:t>
                      </a:r>
                      <a:endParaRPr sz="1100" lang="es-ES"/>
                    </a:p>
                  </a:txBody>
                  <a:tcPr marL="76200" marR="76200" marT="38100" marB="381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cmpd="sng" algn="ctr" cap="flat" w="9525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1F3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r"/>
                      <a:r>
                        <a:rPr lang="es-ES" sz="1100" b="false" i="false">
                          <a:solidFill>
                            <a:srgbClr val="1F2933"/>
                          </a:solidFill>
                          <a:latin typeface="Segoe UI"/>
                        </a:rPr>
                        <a:t> </a:t>
                      </a:r>
                      <a:endParaRPr sz="1100" lang="es-ES"/>
                    </a:p>
                  </a:txBody>
                  <a:tcPr marL="76200" marR="76200" marT="38100" marB="381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cmpd="sng" algn="ctr" cap="flat" w="9525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1F3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l"/>
                      <a:r>
                        <a:rPr lang="es-ES" sz="1100" b="false" i="false">
                          <a:solidFill>
                            <a:srgbClr val="1F2933"/>
                          </a:solidFill>
                          <a:latin typeface="Segoe UI"/>
                        </a:rPr>
                        <a:t>Leer ventas (CSV)</a:t>
                      </a:r>
                      <a:endParaRPr sz="1100" lang="es-ES"/>
                    </a:p>
                  </a:txBody>
                  <a:tcPr marL="76200" marR="76200" marT="38100" marB="381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cmpd="sng" algn="ctr" cap="flat" w="9525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1F3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9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8000" y="203200"/>
            <a:ext cx="11176000" cy="635000"/>
          </a:xfrm>
        </p:spPr>
        <p:txBody>
          <a:bodyPr lIns="0" rIns="0" wrap="square" anchor="ctr"/>
          <a:lstStyle/>
          <a:p>
            <a:pPr algn="l"/>
            <a:r>
              <a:rPr lang="es-ES" sz="2600" b="true" i="false">
                <a:solidFill>
                  <a:srgbClr val="243B53"/>
                </a:solidFill>
                <a:latin typeface="Segoe UI"/>
              </a:rPr>
              <a:t>Diccionario de datos (cont.)</a:t>
            </a:r>
            <a:endParaRPr sz="2600" lang="es-ES"/>
          </a:p>
        </p:txBody>
      </p:sp>
      <p:pic>
        <p:nvPicPr>
          <p:cNvPr name="Picture 3" id="3"/>
          <p:cNvPicPr>
            <a:picLocks noChangeAspect="true"/>
          </p:cNvPicPr>
          <p:nvPr/>
        </p:nvPicPr>
        <p:blipFill>
          <a:blip r:embed="rId2"/>
          <a:stretch>
            <a:fillRect/>
          </a:stretch>
        </p:blipFill>
        <p:spPr>
          <a:xfrm>
            <a:off x="10248900" y="5510084"/>
            <a:ext cx="1435100" cy="814516"/>
          </a:xfrm>
          <a:prstGeom prst="rect">
            <a:avLst/>
          </a:prstGeom>
        </p:spPr>
      </p:pic>
      <p:sp>
        <p:nvSpPr>
          <p:cNvPr name="AutoShape 4" id="4"/>
          <p:cNvSpPr/>
          <p:nvPr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243B53"/>
          </a:solidFill>
          <a:ln>
            <a:noFill/>
          </a:ln>
        </p:spPr>
      </p:sp>
      <p:pic>
        <p:nvPicPr>
          <p:cNvPr name="Picture 5" id="5"/>
          <p:cNvPicPr>
            <a:picLocks noChangeAspect="true"/>
          </p:cNvPicPr>
          <p:nvPr/>
        </p:nvPicPr>
        <p:blipFill>
          <a:blip r:embed="rId3"/>
          <a:stretch>
            <a:fillRect/>
          </a:stretch>
        </p:blipFill>
        <p:spPr>
          <a:xfrm>
            <a:off x="508000" y="6508750"/>
            <a:ext cx="177800" cy="100914"/>
          </a:xfrm>
          <a:prstGeom prst="rect">
            <a:avLst/>
          </a:prstGeom>
        </p:spPr>
      </p:pic>
      <p:sp>
        <p:nvSpPr>
          <p:cNvPr name="TextBox 6" id="6"/>
          <p:cNvSpPr txBox="true"/>
          <p:nvPr/>
        </p:nvSpPr>
        <p:spPr>
          <a:xfrm>
            <a:off x="749300" y="6451600"/>
            <a:ext cx="5080000" cy="228600"/>
          </a:xfrm>
          <a:prstGeom prst="rect">
            <a:avLst/>
          </a:prstGeom>
        </p:spPr>
        <p:txBody>
          <a:bodyPr anchor="ctr" rtlCol="false" wrap="square" lIns="0" rIns="0" tIns="25400" bIns="25400"/>
          <a:lstStyle/>
          <a:p>
            <a:pPr algn="l"/>
            <a:r>
              <a:rPr lang="es-ES" sz="750" b="false" i="false">
                <a:solidFill>
                  <a:srgbClr val="6B7785"/>
                </a:solidFill>
                <a:latin typeface="Segoe UI"/>
              </a:rPr>
              <a:t>Pentaho Live · IDC Studios</a:t>
            </a:r>
            <a:endParaRPr sz="750" lang="es-ES"/>
          </a:p>
        </p:txBody>
      </p:sp>
      <p:sp>
        <p:nvSpPr>
          <p:cNvPr name="TextBox 7" id="7"/>
          <p:cNvSpPr txBox="true"/>
          <p:nvPr/>
        </p:nvSpPr>
        <p:spPr>
          <a:xfrm>
            <a:off x="10160000" y="6451600"/>
            <a:ext cx="1524000" cy="228600"/>
          </a:xfrm>
          <a:prstGeom prst="rect">
            <a:avLst/>
          </a:prstGeom>
        </p:spPr>
        <p:txBody>
          <a:bodyPr anchor="ctr" rtlCol="false" wrap="square" lIns="0" rIns="0" tIns="25400" bIns="25400"/>
          <a:lstStyle/>
          <a:p>
            <a:pPr algn="r"/>
            <a:fld id="{338D564A-59B1-44A6-BAEF-185F9E331F62}" type="slidenum">
              <a:rPr lang="es-ES" sz="750">
                <a:solidFill>
                  <a:srgbClr val="6B7785"/>
                </a:solidFill>
                <a:latin typeface="Segoe UI"/>
              </a:rPr>
              <a:t>19</a:t>
            </a:fld>
            <a:endParaRPr sz="750" lang="es-ES"/>
          </a:p>
        </p:txBody>
      </p:sp>
      <p:sp>
        <p:nvSpPr>
          <p:cNvPr name="TextBox 8" id="8"/>
          <p:cNvSpPr txBox="true"/>
          <p:nvPr/>
        </p:nvSpPr>
        <p:spPr>
          <a:xfrm>
            <a:off x="508000" y="1016000"/>
            <a:ext cx="11176000" cy="254000"/>
          </a:xfrm>
          <a:prstGeom prst="rect">
            <a:avLst/>
          </a:prstGeom>
        </p:spPr>
        <p:txBody>
          <a:bodyPr anchor="t" rtlCol="false" wrap="square" lIns="0" rIns="0" tIns="25400" bIns="25400"/>
          <a:lstStyle/>
          <a:p>
            <a:pPr algn="l"/>
            <a:r>
              <a:rPr lang="es-ES" sz="1300" b="true" i="false">
                <a:solidFill>
                  <a:srgbClr val="243B53"/>
                </a:solidFill>
                <a:latin typeface="Segoe UI"/>
              </a:rPr>
              <a:t>Convertir precio a número</a:t>
            </a:r>
            <a:endParaRPr sz="1300" lang="es-ES"/>
          </a:p>
        </p:txBody>
      </p:sp>
      <p:graphicFrame>
        <p:nvGraphicFramePr>
          <p:cNvPr name="Table 9" id="9"/>
          <p:cNvGraphicFramePr>
            <a:graphicFrameLocks noGrp="true"/>
          </p:cNvGraphicFramePr>
          <p:nvPr/>
        </p:nvGraphicFramePr>
        <p:xfrm>
          <a:off x="508000" y="1295400"/>
          <a:ext cx="5702300" cy="2688336"/>
        </p:xfrm>
        <a:graphic>
          <a:graphicData uri="http://schemas.openxmlformats.org/drawingml/2006/table">
            <a:tbl>
              <a:tblPr/>
              <a:tblGrid>
                <a:gridCol w="1320800"/>
                <a:gridCol w="711200"/>
                <a:gridCol w="635000"/>
                <a:gridCol w="939800"/>
                <a:gridCol w="2095500"/>
              </a:tblGrid>
              <a:tr h="298704">
                <a:tc>
                  <a:txBody>
                    <a:bodyPr anchor="t" rtlCol="false"/>
                    <a:lstStyle/>
                    <a:p>
                      <a:pPr algn="l"/>
                      <a:r>
                        <a:rPr lang="es-ES" sz="1100" b="true" i="false">
                          <a:solidFill>
                            <a:srgbClr val="FFFFFF"/>
                          </a:solidFill>
                          <a:latin typeface="Segoe UI"/>
                        </a:rPr>
                        <a:t>Campo</a:t>
                      </a:r>
                      <a:endParaRPr sz="1100" lang="es-ES"/>
                    </a:p>
                  </a:txBody>
                  <a:tcPr marL="76200" marR="76200" marT="38100" marB="381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cmpd="sng" algn="ctr" cap="flat" w="9525">
                      <a:solidFill>
                        <a:srgbClr val="243B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3B53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l"/>
                      <a:r>
                        <a:rPr lang="es-ES" sz="1100" b="true" i="false">
                          <a:solidFill>
                            <a:srgbClr val="FFFFFF"/>
                          </a:solidFill>
                          <a:latin typeface="Segoe UI"/>
                        </a:rPr>
                        <a:t>Tipo</a:t>
                      </a:r>
                      <a:endParaRPr sz="1100" lang="es-ES"/>
                    </a:p>
                  </a:txBody>
                  <a:tcPr marL="76200" marR="76200" marT="38100" marB="381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cmpd="sng" algn="ctr" cap="flat" w="9525">
                      <a:solidFill>
                        <a:srgbClr val="243B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3B53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r"/>
                      <a:r>
                        <a:rPr lang="es-ES" sz="1100" b="true" i="false">
                          <a:solidFill>
                            <a:srgbClr val="FFFFFF"/>
                          </a:solidFill>
                          <a:latin typeface="Segoe UI"/>
                        </a:rPr>
                        <a:t>Largo</a:t>
                      </a:r>
                      <a:endParaRPr sz="1100" lang="es-ES"/>
                    </a:p>
                  </a:txBody>
                  <a:tcPr marL="76200" marR="76200" marT="38100" marB="381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cmpd="sng" algn="ctr" cap="flat" w="9525">
                      <a:solidFill>
                        <a:srgbClr val="243B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3B53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r"/>
                      <a:r>
                        <a:rPr lang="es-ES" sz="1100" b="true" i="false">
                          <a:solidFill>
                            <a:srgbClr val="FFFFFF"/>
                          </a:solidFill>
                          <a:latin typeface="Segoe UI"/>
                        </a:rPr>
                        <a:t>Precisión</a:t>
                      </a:r>
                      <a:endParaRPr sz="1100" lang="es-ES"/>
                    </a:p>
                  </a:txBody>
                  <a:tcPr marL="76200" marR="76200" marT="38100" marB="381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cmpd="sng" algn="ctr" cap="flat" w="9525">
                      <a:solidFill>
                        <a:srgbClr val="243B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3B53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l"/>
                      <a:r>
                        <a:rPr lang="es-ES" sz="1100" b="true" i="false">
                          <a:solidFill>
                            <a:srgbClr val="FFFFFF"/>
                          </a:solidFill>
                          <a:latin typeface="Segoe UI"/>
                        </a:rPr>
                        <a:t>Origen</a:t>
                      </a:r>
                      <a:endParaRPr sz="1100" lang="es-ES"/>
                    </a:p>
                  </a:txBody>
                  <a:tcPr marL="76200" marR="76200" marT="38100" marB="381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cmpd="sng" algn="ctr" cap="flat" w="9525">
                      <a:solidFill>
                        <a:srgbClr val="243B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3B53"/>
                    </a:solidFill>
                  </a:tcPr>
                </a:tc>
              </a:tr>
              <a:tr h="298704">
                <a:tc>
                  <a:txBody>
                    <a:bodyPr anchor="t" rtlCol="false"/>
                    <a:lstStyle/>
                    <a:p>
                      <a:pPr algn="l"/>
                      <a:r>
                        <a:rPr lang="es-ES" sz="1100" b="false" i="false">
                          <a:solidFill>
                            <a:srgbClr val="1F2933"/>
                          </a:solidFill>
                          <a:latin typeface="Segoe UI"/>
                        </a:rPr>
                        <a:t>id_ticket</a:t>
                      </a:r>
                      <a:endParaRPr sz="1100" lang="es-ES"/>
                    </a:p>
                  </a:txBody>
                  <a:tcPr marL="76200" marR="76200" marT="38100" marB="381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cmpd="sng" algn="ctr" cap="flat" w="9525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l"/>
                      <a:r>
                        <a:rPr lang="es-ES" sz="1100" b="false" i="false">
                          <a:solidFill>
                            <a:srgbClr val="1F2933"/>
                          </a:solidFill>
                          <a:latin typeface="Segoe UI"/>
                        </a:rPr>
                        <a:t>String</a:t>
                      </a:r>
                      <a:endParaRPr sz="1100" lang="es-ES"/>
                    </a:p>
                  </a:txBody>
                  <a:tcPr marL="76200" marR="76200" marT="38100" marB="381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cmpd="sng" algn="ctr" cap="flat" w="9525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r"/>
                      <a:r>
                        <a:rPr lang="es-ES" sz="1100" b="false" i="false">
                          <a:solidFill>
                            <a:srgbClr val="1F2933"/>
                          </a:solidFill>
                          <a:latin typeface="Segoe UI"/>
                        </a:rPr>
                        <a:t> </a:t>
                      </a:r>
                      <a:endParaRPr sz="1100" lang="es-ES"/>
                    </a:p>
                  </a:txBody>
                  <a:tcPr marL="76200" marR="76200" marT="38100" marB="381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cmpd="sng" algn="ctr" cap="flat" w="9525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r"/>
                      <a:r>
                        <a:rPr lang="es-ES" sz="1100" b="false" i="false">
                          <a:solidFill>
                            <a:srgbClr val="1F2933"/>
                          </a:solidFill>
                          <a:latin typeface="Segoe UI"/>
                        </a:rPr>
                        <a:t> </a:t>
                      </a:r>
                      <a:endParaRPr sz="1100" lang="es-ES"/>
                    </a:p>
                  </a:txBody>
                  <a:tcPr marL="76200" marR="76200" marT="38100" marB="381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cmpd="sng" algn="ctr" cap="flat" w="9525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l"/>
                      <a:r>
                        <a:rPr lang="es-ES" sz="1100" b="false" i="false">
                          <a:solidFill>
                            <a:srgbClr val="1F2933"/>
                          </a:solidFill>
                          <a:latin typeface="Segoe UI"/>
                        </a:rPr>
                        <a:t>Leer ventas (CSV)</a:t>
                      </a:r>
                      <a:endParaRPr sz="1100" lang="es-ES"/>
                    </a:p>
                  </a:txBody>
                  <a:tcPr marL="76200" marR="76200" marT="38100" marB="381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cmpd="sng" algn="ctr" cap="flat" w="9525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8704">
                <a:tc>
                  <a:txBody>
                    <a:bodyPr anchor="t" rtlCol="false"/>
                    <a:lstStyle/>
                    <a:p>
                      <a:pPr algn="l"/>
                      <a:r>
                        <a:rPr lang="es-ES" sz="1100" b="false" i="false">
                          <a:solidFill>
                            <a:srgbClr val="1F2933"/>
                          </a:solidFill>
                          <a:latin typeface="Segoe UI"/>
                        </a:rPr>
                        <a:t>linea</a:t>
                      </a:r>
                      <a:endParaRPr sz="1100" lang="es-ES"/>
                    </a:p>
                  </a:txBody>
                  <a:tcPr marL="76200" marR="76200" marT="38100" marB="381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cmpd="sng" algn="ctr" cap="flat" w="9525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1F3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l"/>
                      <a:r>
                        <a:rPr lang="es-ES" sz="1100" b="false" i="false">
                          <a:solidFill>
                            <a:srgbClr val="1F2933"/>
                          </a:solidFill>
                          <a:latin typeface="Segoe UI"/>
                        </a:rPr>
                        <a:t>Integer</a:t>
                      </a:r>
                      <a:endParaRPr sz="1100" lang="es-ES"/>
                    </a:p>
                  </a:txBody>
                  <a:tcPr marL="76200" marR="76200" marT="38100" marB="381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cmpd="sng" algn="ctr" cap="flat" w="9525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1F3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r"/>
                      <a:r>
                        <a:rPr lang="es-ES" sz="1100" b="false" i="false">
                          <a:solidFill>
                            <a:srgbClr val="1F2933"/>
                          </a:solidFill>
                          <a:latin typeface="Segoe UI"/>
                        </a:rPr>
                        <a:t> </a:t>
                      </a:r>
                      <a:endParaRPr sz="1100" lang="es-ES"/>
                    </a:p>
                  </a:txBody>
                  <a:tcPr marL="76200" marR="76200" marT="38100" marB="381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cmpd="sng" algn="ctr" cap="flat" w="9525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1F3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r"/>
                      <a:r>
                        <a:rPr lang="es-ES" sz="1100" b="false" i="false">
                          <a:solidFill>
                            <a:srgbClr val="1F2933"/>
                          </a:solidFill>
                          <a:latin typeface="Segoe UI"/>
                        </a:rPr>
                        <a:t>0</a:t>
                      </a:r>
                      <a:endParaRPr sz="1100" lang="es-ES"/>
                    </a:p>
                  </a:txBody>
                  <a:tcPr marL="76200" marR="76200" marT="38100" marB="381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cmpd="sng" algn="ctr" cap="flat" w="9525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1F3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l"/>
                      <a:r>
                        <a:rPr lang="es-ES" sz="1100" b="false" i="false">
                          <a:solidFill>
                            <a:srgbClr val="1F2933"/>
                          </a:solidFill>
                          <a:latin typeface="Segoe UI"/>
                        </a:rPr>
                        <a:t>Leer ventas (CSV)</a:t>
                      </a:r>
                      <a:endParaRPr sz="1100" lang="es-ES"/>
                    </a:p>
                  </a:txBody>
                  <a:tcPr marL="76200" marR="76200" marT="38100" marB="381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cmpd="sng" algn="ctr" cap="flat" w="9525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1F3"/>
                    </a:solidFill>
                  </a:tcPr>
                </a:tc>
              </a:tr>
              <a:tr h="298704">
                <a:tc>
                  <a:txBody>
                    <a:bodyPr anchor="t" rtlCol="false"/>
                    <a:lstStyle/>
                    <a:p>
                      <a:pPr algn="l"/>
                      <a:r>
                        <a:rPr lang="es-ES" sz="1100" b="false" i="false">
                          <a:solidFill>
                            <a:srgbClr val="1F2933"/>
                          </a:solidFill>
                          <a:latin typeface="Segoe UI"/>
                        </a:rPr>
                        <a:t>fecha</a:t>
                      </a:r>
                      <a:endParaRPr sz="1100" lang="es-ES"/>
                    </a:p>
                  </a:txBody>
                  <a:tcPr marL="76200" marR="76200" marT="38100" marB="381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cmpd="sng" algn="ctr" cap="flat" w="9525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l"/>
                      <a:r>
                        <a:rPr lang="es-ES" sz="1100" b="false" i="false">
                          <a:solidFill>
                            <a:srgbClr val="1F2933"/>
                          </a:solidFill>
                          <a:latin typeface="Segoe UI"/>
                        </a:rPr>
                        <a:t>String</a:t>
                      </a:r>
                      <a:endParaRPr sz="1100" lang="es-ES"/>
                    </a:p>
                  </a:txBody>
                  <a:tcPr marL="76200" marR="76200" marT="38100" marB="381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cmpd="sng" algn="ctr" cap="flat" w="9525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r"/>
                      <a:r>
                        <a:rPr lang="es-ES" sz="1100" b="false" i="false">
                          <a:solidFill>
                            <a:srgbClr val="1F2933"/>
                          </a:solidFill>
                          <a:latin typeface="Segoe UI"/>
                        </a:rPr>
                        <a:t> </a:t>
                      </a:r>
                      <a:endParaRPr sz="1100" lang="es-ES"/>
                    </a:p>
                  </a:txBody>
                  <a:tcPr marL="76200" marR="76200" marT="38100" marB="381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cmpd="sng" algn="ctr" cap="flat" w="9525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r"/>
                      <a:r>
                        <a:rPr lang="es-ES" sz="1100" b="false" i="false">
                          <a:solidFill>
                            <a:srgbClr val="1F2933"/>
                          </a:solidFill>
                          <a:latin typeface="Segoe UI"/>
                        </a:rPr>
                        <a:t> </a:t>
                      </a:r>
                      <a:endParaRPr sz="1100" lang="es-ES"/>
                    </a:p>
                  </a:txBody>
                  <a:tcPr marL="76200" marR="76200" marT="38100" marB="381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cmpd="sng" algn="ctr" cap="flat" w="9525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l"/>
                      <a:r>
                        <a:rPr lang="es-ES" sz="1100" b="false" i="false">
                          <a:solidFill>
                            <a:srgbClr val="1F2933"/>
                          </a:solidFill>
                          <a:latin typeface="Segoe UI"/>
                        </a:rPr>
                        <a:t>Leer ventas (CSV)</a:t>
                      </a:r>
                      <a:endParaRPr sz="1100" lang="es-ES"/>
                    </a:p>
                  </a:txBody>
                  <a:tcPr marL="76200" marR="76200" marT="38100" marB="381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cmpd="sng" algn="ctr" cap="flat" w="9525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8704">
                <a:tc>
                  <a:txBody>
                    <a:bodyPr anchor="t" rtlCol="false"/>
                    <a:lstStyle/>
                    <a:p>
                      <a:pPr algn="l"/>
                      <a:r>
                        <a:rPr lang="es-ES" sz="1100" b="false" i="false">
                          <a:solidFill>
                            <a:srgbClr val="1F2933"/>
                          </a:solidFill>
                          <a:latin typeface="Segoe UI"/>
                        </a:rPr>
                        <a:t>id_tienda</a:t>
                      </a:r>
                      <a:endParaRPr sz="1100" lang="es-ES"/>
                    </a:p>
                  </a:txBody>
                  <a:tcPr marL="76200" marR="76200" marT="38100" marB="381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cmpd="sng" algn="ctr" cap="flat" w="9525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1F3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l"/>
                      <a:r>
                        <a:rPr lang="es-ES" sz="1100" b="false" i="false">
                          <a:solidFill>
                            <a:srgbClr val="1F2933"/>
                          </a:solidFill>
                          <a:latin typeface="Segoe UI"/>
                        </a:rPr>
                        <a:t>String</a:t>
                      </a:r>
                      <a:endParaRPr sz="1100" lang="es-ES"/>
                    </a:p>
                  </a:txBody>
                  <a:tcPr marL="76200" marR="76200" marT="38100" marB="381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cmpd="sng" algn="ctr" cap="flat" w="9525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1F3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r"/>
                      <a:r>
                        <a:rPr lang="es-ES" sz="1100" b="false" i="false">
                          <a:solidFill>
                            <a:srgbClr val="1F2933"/>
                          </a:solidFill>
                          <a:latin typeface="Segoe UI"/>
                        </a:rPr>
                        <a:t> </a:t>
                      </a:r>
                      <a:endParaRPr sz="1100" lang="es-ES"/>
                    </a:p>
                  </a:txBody>
                  <a:tcPr marL="76200" marR="76200" marT="38100" marB="381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cmpd="sng" algn="ctr" cap="flat" w="9525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1F3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r"/>
                      <a:r>
                        <a:rPr lang="es-ES" sz="1100" b="false" i="false">
                          <a:solidFill>
                            <a:srgbClr val="1F2933"/>
                          </a:solidFill>
                          <a:latin typeface="Segoe UI"/>
                        </a:rPr>
                        <a:t> </a:t>
                      </a:r>
                      <a:endParaRPr sz="1100" lang="es-ES"/>
                    </a:p>
                  </a:txBody>
                  <a:tcPr marL="76200" marR="76200" marT="38100" marB="381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cmpd="sng" algn="ctr" cap="flat" w="9525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1F3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l"/>
                      <a:r>
                        <a:rPr lang="es-ES" sz="1100" b="false" i="false">
                          <a:solidFill>
                            <a:srgbClr val="1F2933"/>
                          </a:solidFill>
                          <a:latin typeface="Segoe UI"/>
                        </a:rPr>
                        <a:t>Leer ventas (CSV)</a:t>
                      </a:r>
                      <a:endParaRPr sz="1100" lang="es-ES"/>
                    </a:p>
                  </a:txBody>
                  <a:tcPr marL="76200" marR="76200" marT="38100" marB="381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cmpd="sng" algn="ctr" cap="flat" w="9525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1F3"/>
                    </a:solidFill>
                  </a:tcPr>
                </a:tc>
              </a:tr>
              <a:tr h="298704">
                <a:tc>
                  <a:txBody>
                    <a:bodyPr anchor="t" rtlCol="false"/>
                    <a:lstStyle/>
                    <a:p>
                      <a:pPr algn="l"/>
                      <a:r>
                        <a:rPr lang="es-ES" sz="1100" b="false" i="false">
                          <a:solidFill>
                            <a:srgbClr val="1F2933"/>
                          </a:solidFill>
                          <a:latin typeface="Segoe UI"/>
                        </a:rPr>
                        <a:t>codigo_producto</a:t>
                      </a:r>
                      <a:endParaRPr sz="1100" lang="es-ES"/>
                    </a:p>
                  </a:txBody>
                  <a:tcPr marL="76200" marR="76200" marT="38100" marB="381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cmpd="sng" algn="ctr" cap="flat" w="9525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l"/>
                      <a:r>
                        <a:rPr lang="es-ES" sz="1100" b="false" i="false">
                          <a:solidFill>
                            <a:srgbClr val="1F2933"/>
                          </a:solidFill>
                          <a:latin typeface="Segoe UI"/>
                        </a:rPr>
                        <a:t>String</a:t>
                      </a:r>
                      <a:endParaRPr sz="1100" lang="es-ES"/>
                    </a:p>
                  </a:txBody>
                  <a:tcPr marL="76200" marR="76200" marT="38100" marB="381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cmpd="sng" algn="ctr" cap="flat" w="9525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r"/>
                      <a:r>
                        <a:rPr lang="es-ES" sz="1100" b="false" i="false">
                          <a:solidFill>
                            <a:srgbClr val="1F2933"/>
                          </a:solidFill>
                          <a:latin typeface="Segoe UI"/>
                        </a:rPr>
                        <a:t> </a:t>
                      </a:r>
                      <a:endParaRPr sz="1100" lang="es-ES"/>
                    </a:p>
                  </a:txBody>
                  <a:tcPr marL="76200" marR="76200" marT="38100" marB="381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cmpd="sng" algn="ctr" cap="flat" w="9525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r"/>
                      <a:r>
                        <a:rPr lang="es-ES" sz="1100" b="false" i="false">
                          <a:solidFill>
                            <a:srgbClr val="1F2933"/>
                          </a:solidFill>
                          <a:latin typeface="Segoe UI"/>
                        </a:rPr>
                        <a:t> </a:t>
                      </a:r>
                      <a:endParaRPr sz="1100" lang="es-ES"/>
                    </a:p>
                  </a:txBody>
                  <a:tcPr marL="76200" marR="76200" marT="38100" marB="381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cmpd="sng" algn="ctr" cap="flat" w="9525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l"/>
                      <a:r>
                        <a:rPr lang="es-ES" sz="1100" b="false" i="false">
                          <a:solidFill>
                            <a:srgbClr val="1F2933"/>
                          </a:solidFill>
                          <a:latin typeface="Segoe UI"/>
                        </a:rPr>
                        <a:t>Leer ventas (CSV)</a:t>
                      </a:r>
                      <a:endParaRPr sz="1100" lang="es-ES"/>
                    </a:p>
                  </a:txBody>
                  <a:tcPr marL="76200" marR="76200" marT="38100" marB="381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cmpd="sng" algn="ctr" cap="flat" w="9525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8704">
                <a:tc>
                  <a:txBody>
                    <a:bodyPr anchor="t" rtlCol="false"/>
                    <a:lstStyle/>
                    <a:p>
                      <a:pPr algn="l"/>
                      <a:r>
                        <a:rPr lang="es-ES" sz="1100" b="false" i="false">
                          <a:solidFill>
                            <a:srgbClr val="1F2933"/>
                          </a:solidFill>
                          <a:latin typeface="Segoe UI"/>
                        </a:rPr>
                        <a:t>cantidad</a:t>
                      </a:r>
                      <a:endParaRPr sz="1100" lang="es-ES"/>
                    </a:p>
                  </a:txBody>
                  <a:tcPr marL="76200" marR="76200" marT="38100" marB="381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cmpd="sng" algn="ctr" cap="flat" w="9525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1F3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l"/>
                      <a:r>
                        <a:rPr lang="es-ES" sz="1100" b="false" i="false">
                          <a:solidFill>
                            <a:srgbClr val="1F2933"/>
                          </a:solidFill>
                          <a:latin typeface="Segoe UI"/>
                        </a:rPr>
                        <a:t>Integer</a:t>
                      </a:r>
                      <a:endParaRPr sz="1100" lang="es-ES"/>
                    </a:p>
                  </a:txBody>
                  <a:tcPr marL="76200" marR="76200" marT="38100" marB="381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cmpd="sng" algn="ctr" cap="flat" w="9525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1F3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r"/>
                      <a:r>
                        <a:rPr lang="es-ES" sz="1100" b="false" i="false">
                          <a:solidFill>
                            <a:srgbClr val="1F2933"/>
                          </a:solidFill>
                          <a:latin typeface="Segoe UI"/>
                        </a:rPr>
                        <a:t> </a:t>
                      </a:r>
                      <a:endParaRPr sz="1100" lang="es-ES"/>
                    </a:p>
                  </a:txBody>
                  <a:tcPr marL="76200" marR="76200" marT="38100" marB="381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cmpd="sng" algn="ctr" cap="flat" w="9525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1F3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r"/>
                      <a:r>
                        <a:rPr lang="es-ES" sz="1100" b="false" i="false">
                          <a:solidFill>
                            <a:srgbClr val="1F2933"/>
                          </a:solidFill>
                          <a:latin typeface="Segoe UI"/>
                        </a:rPr>
                        <a:t>0</a:t>
                      </a:r>
                      <a:endParaRPr sz="1100" lang="es-ES"/>
                    </a:p>
                  </a:txBody>
                  <a:tcPr marL="76200" marR="76200" marT="38100" marB="381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cmpd="sng" algn="ctr" cap="flat" w="9525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1F3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l"/>
                      <a:r>
                        <a:rPr lang="es-ES" sz="1100" b="false" i="false">
                          <a:solidFill>
                            <a:srgbClr val="1F2933"/>
                          </a:solidFill>
                          <a:latin typeface="Segoe UI"/>
                        </a:rPr>
                        <a:t>Leer ventas (CSV)</a:t>
                      </a:r>
                      <a:endParaRPr sz="1100" lang="es-ES"/>
                    </a:p>
                  </a:txBody>
                  <a:tcPr marL="76200" marR="76200" marT="38100" marB="381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cmpd="sng" algn="ctr" cap="flat" w="9525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1F3"/>
                    </a:solidFill>
                  </a:tcPr>
                </a:tc>
              </a:tr>
              <a:tr h="298704">
                <a:tc>
                  <a:txBody>
                    <a:bodyPr anchor="t" rtlCol="false"/>
                    <a:lstStyle/>
                    <a:p>
                      <a:pPr algn="l"/>
                      <a:r>
                        <a:rPr lang="es-ES" sz="1100" b="false" i="false">
                          <a:solidFill>
                            <a:srgbClr val="1F2933"/>
                          </a:solidFill>
                          <a:latin typeface="Segoe UI"/>
                        </a:rPr>
                        <a:t>precio_unitario</a:t>
                      </a:r>
                      <a:endParaRPr sz="1100" lang="es-ES"/>
                    </a:p>
                  </a:txBody>
                  <a:tcPr marL="76200" marR="76200" marT="38100" marB="381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cmpd="sng" algn="ctr" cap="flat" w="9525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l"/>
                      <a:r>
                        <a:rPr lang="es-ES" sz="1100" b="false" i="false">
                          <a:solidFill>
                            <a:srgbClr val="1F2933"/>
                          </a:solidFill>
                          <a:latin typeface="Segoe UI"/>
                        </a:rPr>
                        <a:t>Number</a:t>
                      </a:r>
                      <a:endParaRPr sz="1100" lang="es-ES"/>
                    </a:p>
                  </a:txBody>
                  <a:tcPr marL="76200" marR="76200" marT="38100" marB="381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cmpd="sng" algn="ctr" cap="flat" w="9525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r"/>
                      <a:r>
                        <a:rPr lang="es-ES" sz="1100" b="false" i="false">
                          <a:solidFill>
                            <a:srgbClr val="1F2933"/>
                          </a:solidFill>
                          <a:latin typeface="Segoe UI"/>
                        </a:rPr>
                        <a:t> </a:t>
                      </a:r>
                      <a:endParaRPr sz="1100" lang="es-ES"/>
                    </a:p>
                  </a:txBody>
                  <a:tcPr marL="76200" marR="76200" marT="38100" marB="381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cmpd="sng" algn="ctr" cap="flat" w="9525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r"/>
                      <a:r>
                        <a:rPr lang="es-ES" sz="1100" b="false" i="false">
                          <a:solidFill>
                            <a:srgbClr val="1F2933"/>
                          </a:solidFill>
                          <a:latin typeface="Segoe UI"/>
                        </a:rPr>
                        <a:t> </a:t>
                      </a:r>
                      <a:endParaRPr sz="1100" lang="es-ES"/>
                    </a:p>
                  </a:txBody>
                  <a:tcPr marL="76200" marR="76200" marT="38100" marB="381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cmpd="sng" algn="ctr" cap="flat" w="9525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l"/>
                      <a:r>
                        <a:rPr lang="es-ES" sz="1100" b="false" i="false">
                          <a:solidFill>
                            <a:srgbClr val="1F2933"/>
                          </a:solidFill>
                          <a:latin typeface="Segoe UI"/>
                        </a:rPr>
                        <a:t>Convertir precio a número</a:t>
                      </a:r>
                      <a:endParaRPr sz="1100" lang="es-ES"/>
                    </a:p>
                  </a:txBody>
                  <a:tcPr marL="76200" marR="76200" marT="38100" marB="381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cmpd="sng" algn="ctr" cap="flat" w="9525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8704">
                <a:tc>
                  <a:txBody>
                    <a:bodyPr anchor="t" rtlCol="false"/>
                    <a:lstStyle/>
                    <a:p>
                      <a:pPr algn="l"/>
                      <a:r>
                        <a:rPr lang="es-ES" sz="1100" b="false" i="false">
                          <a:solidFill>
                            <a:srgbClr val="1F2933"/>
                          </a:solidFill>
                          <a:latin typeface="Segoe UI"/>
                        </a:rPr>
                        <a:t>metodo_pago</a:t>
                      </a:r>
                      <a:endParaRPr sz="1100" lang="es-ES"/>
                    </a:p>
                  </a:txBody>
                  <a:tcPr marL="76200" marR="76200" marT="38100" marB="381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cmpd="sng" algn="ctr" cap="flat" w="9525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1F3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l"/>
                      <a:r>
                        <a:rPr lang="es-ES" sz="1100" b="false" i="false">
                          <a:solidFill>
                            <a:srgbClr val="1F2933"/>
                          </a:solidFill>
                          <a:latin typeface="Segoe UI"/>
                        </a:rPr>
                        <a:t>String</a:t>
                      </a:r>
                      <a:endParaRPr sz="1100" lang="es-ES"/>
                    </a:p>
                  </a:txBody>
                  <a:tcPr marL="76200" marR="76200" marT="38100" marB="381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cmpd="sng" algn="ctr" cap="flat" w="9525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1F3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r"/>
                      <a:r>
                        <a:rPr lang="es-ES" sz="1100" b="false" i="false">
                          <a:solidFill>
                            <a:srgbClr val="1F2933"/>
                          </a:solidFill>
                          <a:latin typeface="Segoe UI"/>
                        </a:rPr>
                        <a:t> </a:t>
                      </a:r>
                      <a:endParaRPr sz="1100" lang="es-ES"/>
                    </a:p>
                  </a:txBody>
                  <a:tcPr marL="76200" marR="76200" marT="38100" marB="381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cmpd="sng" algn="ctr" cap="flat" w="9525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1F3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r"/>
                      <a:r>
                        <a:rPr lang="es-ES" sz="1100" b="false" i="false">
                          <a:solidFill>
                            <a:srgbClr val="1F2933"/>
                          </a:solidFill>
                          <a:latin typeface="Segoe UI"/>
                        </a:rPr>
                        <a:t> </a:t>
                      </a:r>
                      <a:endParaRPr sz="1100" lang="es-ES"/>
                    </a:p>
                  </a:txBody>
                  <a:tcPr marL="76200" marR="76200" marT="38100" marB="381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cmpd="sng" algn="ctr" cap="flat" w="9525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1F3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l"/>
                      <a:r>
                        <a:rPr lang="es-ES" sz="1100" b="false" i="false">
                          <a:solidFill>
                            <a:srgbClr val="1F2933"/>
                          </a:solidFill>
                          <a:latin typeface="Segoe UI"/>
                        </a:rPr>
                        <a:t>Leer ventas (CSV)</a:t>
                      </a:r>
                      <a:endParaRPr sz="1100" lang="es-ES"/>
                    </a:p>
                  </a:txBody>
                  <a:tcPr marL="76200" marR="76200" marT="38100" marB="381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cmpd="sng" algn="ctr" cap="flat" w="9525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1F3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0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8000" y="203200"/>
            <a:ext cx="11176000" cy="635000"/>
          </a:xfrm>
        </p:spPr>
        <p:txBody>
          <a:bodyPr lIns="0" rIns="0" wrap="square" anchor="ctr"/>
          <a:lstStyle/>
          <a:p>
            <a:pPr algn="l"/>
            <a:r>
              <a:rPr lang="es-ES" sz="2600" b="true" i="false">
                <a:solidFill>
                  <a:srgbClr val="243B53"/>
                </a:solidFill>
                <a:latin typeface="Segoe UI"/>
              </a:rPr>
              <a:t>Diccionario de datos (cont.)</a:t>
            </a:r>
            <a:endParaRPr sz="2600" lang="es-ES"/>
          </a:p>
        </p:txBody>
      </p:sp>
      <p:pic>
        <p:nvPicPr>
          <p:cNvPr name="Picture 3" id="3"/>
          <p:cNvPicPr>
            <a:picLocks noChangeAspect="true"/>
          </p:cNvPicPr>
          <p:nvPr/>
        </p:nvPicPr>
        <p:blipFill>
          <a:blip r:embed="rId2"/>
          <a:stretch>
            <a:fillRect/>
          </a:stretch>
        </p:blipFill>
        <p:spPr>
          <a:xfrm>
            <a:off x="10248900" y="5510084"/>
            <a:ext cx="1435100" cy="814516"/>
          </a:xfrm>
          <a:prstGeom prst="rect">
            <a:avLst/>
          </a:prstGeom>
        </p:spPr>
      </p:pic>
      <p:sp>
        <p:nvSpPr>
          <p:cNvPr name="AutoShape 4" id="4"/>
          <p:cNvSpPr/>
          <p:nvPr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243B53"/>
          </a:solidFill>
          <a:ln>
            <a:noFill/>
          </a:ln>
        </p:spPr>
      </p:sp>
      <p:pic>
        <p:nvPicPr>
          <p:cNvPr name="Picture 5" id="5"/>
          <p:cNvPicPr>
            <a:picLocks noChangeAspect="true"/>
          </p:cNvPicPr>
          <p:nvPr/>
        </p:nvPicPr>
        <p:blipFill>
          <a:blip r:embed="rId3"/>
          <a:stretch>
            <a:fillRect/>
          </a:stretch>
        </p:blipFill>
        <p:spPr>
          <a:xfrm>
            <a:off x="508000" y="6508750"/>
            <a:ext cx="177800" cy="100914"/>
          </a:xfrm>
          <a:prstGeom prst="rect">
            <a:avLst/>
          </a:prstGeom>
        </p:spPr>
      </p:pic>
      <p:sp>
        <p:nvSpPr>
          <p:cNvPr name="TextBox 6" id="6"/>
          <p:cNvSpPr txBox="true"/>
          <p:nvPr/>
        </p:nvSpPr>
        <p:spPr>
          <a:xfrm>
            <a:off x="749300" y="6451600"/>
            <a:ext cx="5080000" cy="228600"/>
          </a:xfrm>
          <a:prstGeom prst="rect">
            <a:avLst/>
          </a:prstGeom>
        </p:spPr>
        <p:txBody>
          <a:bodyPr anchor="ctr" rtlCol="false" wrap="square" lIns="0" rIns="0" tIns="25400" bIns="25400"/>
          <a:lstStyle/>
          <a:p>
            <a:pPr algn="l"/>
            <a:r>
              <a:rPr lang="es-ES" sz="750" b="false" i="false">
                <a:solidFill>
                  <a:srgbClr val="6B7785"/>
                </a:solidFill>
                <a:latin typeface="Segoe UI"/>
              </a:rPr>
              <a:t>Pentaho Live · IDC Studios</a:t>
            </a:r>
            <a:endParaRPr sz="750" lang="es-ES"/>
          </a:p>
        </p:txBody>
      </p:sp>
      <p:sp>
        <p:nvSpPr>
          <p:cNvPr name="TextBox 7" id="7"/>
          <p:cNvSpPr txBox="true"/>
          <p:nvPr/>
        </p:nvSpPr>
        <p:spPr>
          <a:xfrm>
            <a:off x="10160000" y="6451600"/>
            <a:ext cx="1524000" cy="228600"/>
          </a:xfrm>
          <a:prstGeom prst="rect">
            <a:avLst/>
          </a:prstGeom>
        </p:spPr>
        <p:txBody>
          <a:bodyPr anchor="ctr" rtlCol="false" wrap="square" lIns="0" rIns="0" tIns="25400" bIns="25400"/>
          <a:lstStyle/>
          <a:p>
            <a:pPr algn="r"/>
            <a:fld id="{D10FD6B5-A0E7-4A4E-8B51-9F08BACE6470}" type="slidenum">
              <a:rPr lang="es-ES" sz="750">
                <a:solidFill>
                  <a:srgbClr val="6B7785"/>
                </a:solidFill>
                <a:latin typeface="Segoe UI"/>
              </a:rPr>
              <a:t>20</a:t>
            </a:fld>
            <a:endParaRPr sz="750" lang="es-ES"/>
          </a:p>
        </p:txBody>
      </p:sp>
      <p:sp>
        <p:nvSpPr>
          <p:cNvPr name="TextBox 8" id="8"/>
          <p:cNvSpPr txBox="true"/>
          <p:nvPr/>
        </p:nvSpPr>
        <p:spPr>
          <a:xfrm>
            <a:off x="508000" y="1016000"/>
            <a:ext cx="11176000" cy="254000"/>
          </a:xfrm>
          <a:prstGeom prst="rect">
            <a:avLst/>
          </a:prstGeom>
        </p:spPr>
        <p:txBody>
          <a:bodyPr anchor="t" rtlCol="false" wrap="square" lIns="0" rIns="0" tIns="25400" bIns="25400"/>
          <a:lstStyle/>
          <a:p>
            <a:pPr algn="l"/>
            <a:r>
              <a:rPr lang="es-ES" sz="1300" b="true" i="false">
                <a:solidFill>
                  <a:srgbClr val="243B53"/>
                </a:solidFill>
                <a:latin typeface="Segoe UI"/>
              </a:rPr>
              <a:t>Ordenar por ticket y línea</a:t>
            </a:r>
            <a:endParaRPr sz="1300" lang="es-ES"/>
          </a:p>
        </p:txBody>
      </p:sp>
      <p:graphicFrame>
        <p:nvGraphicFramePr>
          <p:cNvPr name="Table 9" id="9"/>
          <p:cNvGraphicFramePr>
            <a:graphicFrameLocks noGrp="true"/>
          </p:cNvGraphicFramePr>
          <p:nvPr/>
        </p:nvGraphicFramePr>
        <p:xfrm>
          <a:off x="508000" y="1295400"/>
          <a:ext cx="5702300" cy="2688336"/>
        </p:xfrm>
        <a:graphic>
          <a:graphicData uri="http://schemas.openxmlformats.org/drawingml/2006/table">
            <a:tbl>
              <a:tblPr/>
              <a:tblGrid>
                <a:gridCol w="1320800"/>
                <a:gridCol w="711200"/>
                <a:gridCol w="635000"/>
                <a:gridCol w="939800"/>
                <a:gridCol w="2095500"/>
              </a:tblGrid>
              <a:tr h="298704">
                <a:tc>
                  <a:txBody>
                    <a:bodyPr anchor="t" rtlCol="false"/>
                    <a:lstStyle/>
                    <a:p>
                      <a:pPr algn="l"/>
                      <a:r>
                        <a:rPr lang="es-ES" sz="1100" b="true" i="false">
                          <a:solidFill>
                            <a:srgbClr val="FFFFFF"/>
                          </a:solidFill>
                          <a:latin typeface="Segoe UI"/>
                        </a:rPr>
                        <a:t>Campo</a:t>
                      </a:r>
                      <a:endParaRPr sz="1100" lang="es-ES"/>
                    </a:p>
                  </a:txBody>
                  <a:tcPr marL="76200" marR="76200" marT="38100" marB="381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cmpd="sng" algn="ctr" cap="flat" w="9525">
                      <a:solidFill>
                        <a:srgbClr val="243B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3B53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l"/>
                      <a:r>
                        <a:rPr lang="es-ES" sz="1100" b="true" i="false">
                          <a:solidFill>
                            <a:srgbClr val="FFFFFF"/>
                          </a:solidFill>
                          <a:latin typeface="Segoe UI"/>
                        </a:rPr>
                        <a:t>Tipo</a:t>
                      </a:r>
                      <a:endParaRPr sz="1100" lang="es-ES"/>
                    </a:p>
                  </a:txBody>
                  <a:tcPr marL="76200" marR="76200" marT="38100" marB="381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cmpd="sng" algn="ctr" cap="flat" w="9525">
                      <a:solidFill>
                        <a:srgbClr val="243B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3B53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r"/>
                      <a:r>
                        <a:rPr lang="es-ES" sz="1100" b="true" i="false">
                          <a:solidFill>
                            <a:srgbClr val="FFFFFF"/>
                          </a:solidFill>
                          <a:latin typeface="Segoe UI"/>
                        </a:rPr>
                        <a:t>Largo</a:t>
                      </a:r>
                      <a:endParaRPr sz="1100" lang="es-ES"/>
                    </a:p>
                  </a:txBody>
                  <a:tcPr marL="76200" marR="76200" marT="38100" marB="381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cmpd="sng" algn="ctr" cap="flat" w="9525">
                      <a:solidFill>
                        <a:srgbClr val="243B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3B53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r"/>
                      <a:r>
                        <a:rPr lang="es-ES" sz="1100" b="true" i="false">
                          <a:solidFill>
                            <a:srgbClr val="FFFFFF"/>
                          </a:solidFill>
                          <a:latin typeface="Segoe UI"/>
                        </a:rPr>
                        <a:t>Precisión</a:t>
                      </a:r>
                      <a:endParaRPr sz="1100" lang="es-ES"/>
                    </a:p>
                  </a:txBody>
                  <a:tcPr marL="76200" marR="76200" marT="38100" marB="381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cmpd="sng" algn="ctr" cap="flat" w="9525">
                      <a:solidFill>
                        <a:srgbClr val="243B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3B53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l"/>
                      <a:r>
                        <a:rPr lang="es-ES" sz="1100" b="true" i="false">
                          <a:solidFill>
                            <a:srgbClr val="FFFFFF"/>
                          </a:solidFill>
                          <a:latin typeface="Segoe UI"/>
                        </a:rPr>
                        <a:t>Origen</a:t>
                      </a:r>
                      <a:endParaRPr sz="1100" lang="es-ES"/>
                    </a:p>
                  </a:txBody>
                  <a:tcPr marL="76200" marR="76200" marT="38100" marB="381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cmpd="sng" algn="ctr" cap="flat" w="9525">
                      <a:solidFill>
                        <a:srgbClr val="243B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3B53"/>
                    </a:solidFill>
                  </a:tcPr>
                </a:tc>
              </a:tr>
              <a:tr h="298704">
                <a:tc>
                  <a:txBody>
                    <a:bodyPr anchor="t" rtlCol="false"/>
                    <a:lstStyle/>
                    <a:p>
                      <a:pPr algn="l"/>
                      <a:r>
                        <a:rPr lang="es-ES" sz="1100" b="false" i="false">
                          <a:solidFill>
                            <a:srgbClr val="1F2933"/>
                          </a:solidFill>
                          <a:latin typeface="Segoe UI"/>
                        </a:rPr>
                        <a:t>id_ticket</a:t>
                      </a:r>
                      <a:endParaRPr sz="1100" lang="es-ES"/>
                    </a:p>
                  </a:txBody>
                  <a:tcPr marL="76200" marR="76200" marT="38100" marB="381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cmpd="sng" algn="ctr" cap="flat" w="9525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l"/>
                      <a:r>
                        <a:rPr lang="es-ES" sz="1100" b="false" i="false">
                          <a:solidFill>
                            <a:srgbClr val="1F2933"/>
                          </a:solidFill>
                          <a:latin typeface="Segoe UI"/>
                        </a:rPr>
                        <a:t>String</a:t>
                      </a:r>
                      <a:endParaRPr sz="1100" lang="es-ES"/>
                    </a:p>
                  </a:txBody>
                  <a:tcPr marL="76200" marR="76200" marT="38100" marB="381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cmpd="sng" algn="ctr" cap="flat" w="9525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r"/>
                      <a:r>
                        <a:rPr lang="es-ES" sz="1100" b="false" i="false">
                          <a:solidFill>
                            <a:srgbClr val="1F2933"/>
                          </a:solidFill>
                          <a:latin typeface="Segoe UI"/>
                        </a:rPr>
                        <a:t> </a:t>
                      </a:r>
                      <a:endParaRPr sz="1100" lang="es-ES"/>
                    </a:p>
                  </a:txBody>
                  <a:tcPr marL="76200" marR="76200" marT="38100" marB="381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cmpd="sng" algn="ctr" cap="flat" w="9525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r"/>
                      <a:r>
                        <a:rPr lang="es-ES" sz="1100" b="false" i="false">
                          <a:solidFill>
                            <a:srgbClr val="1F2933"/>
                          </a:solidFill>
                          <a:latin typeface="Segoe UI"/>
                        </a:rPr>
                        <a:t> </a:t>
                      </a:r>
                      <a:endParaRPr sz="1100" lang="es-ES"/>
                    </a:p>
                  </a:txBody>
                  <a:tcPr marL="76200" marR="76200" marT="38100" marB="381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cmpd="sng" algn="ctr" cap="flat" w="9525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l"/>
                      <a:r>
                        <a:rPr lang="es-ES" sz="1100" b="false" i="false">
                          <a:solidFill>
                            <a:srgbClr val="1F2933"/>
                          </a:solidFill>
                          <a:latin typeface="Segoe UI"/>
                        </a:rPr>
                        <a:t>Leer ventas (CSV)</a:t>
                      </a:r>
                      <a:endParaRPr sz="1100" lang="es-ES"/>
                    </a:p>
                  </a:txBody>
                  <a:tcPr marL="76200" marR="76200" marT="38100" marB="381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cmpd="sng" algn="ctr" cap="flat" w="9525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8704">
                <a:tc>
                  <a:txBody>
                    <a:bodyPr anchor="t" rtlCol="false"/>
                    <a:lstStyle/>
                    <a:p>
                      <a:pPr algn="l"/>
                      <a:r>
                        <a:rPr lang="es-ES" sz="1100" b="false" i="false">
                          <a:solidFill>
                            <a:srgbClr val="1F2933"/>
                          </a:solidFill>
                          <a:latin typeface="Segoe UI"/>
                        </a:rPr>
                        <a:t>linea</a:t>
                      </a:r>
                      <a:endParaRPr sz="1100" lang="es-ES"/>
                    </a:p>
                  </a:txBody>
                  <a:tcPr marL="76200" marR="76200" marT="38100" marB="381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cmpd="sng" algn="ctr" cap="flat" w="9525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1F3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l"/>
                      <a:r>
                        <a:rPr lang="es-ES" sz="1100" b="false" i="false">
                          <a:solidFill>
                            <a:srgbClr val="1F2933"/>
                          </a:solidFill>
                          <a:latin typeface="Segoe UI"/>
                        </a:rPr>
                        <a:t>Integer</a:t>
                      </a:r>
                      <a:endParaRPr sz="1100" lang="es-ES"/>
                    </a:p>
                  </a:txBody>
                  <a:tcPr marL="76200" marR="76200" marT="38100" marB="381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cmpd="sng" algn="ctr" cap="flat" w="9525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1F3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r"/>
                      <a:r>
                        <a:rPr lang="es-ES" sz="1100" b="false" i="false">
                          <a:solidFill>
                            <a:srgbClr val="1F2933"/>
                          </a:solidFill>
                          <a:latin typeface="Segoe UI"/>
                        </a:rPr>
                        <a:t> </a:t>
                      </a:r>
                      <a:endParaRPr sz="1100" lang="es-ES"/>
                    </a:p>
                  </a:txBody>
                  <a:tcPr marL="76200" marR="76200" marT="38100" marB="381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cmpd="sng" algn="ctr" cap="flat" w="9525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1F3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r"/>
                      <a:r>
                        <a:rPr lang="es-ES" sz="1100" b="false" i="false">
                          <a:solidFill>
                            <a:srgbClr val="1F2933"/>
                          </a:solidFill>
                          <a:latin typeface="Segoe UI"/>
                        </a:rPr>
                        <a:t>0</a:t>
                      </a:r>
                      <a:endParaRPr sz="1100" lang="es-ES"/>
                    </a:p>
                  </a:txBody>
                  <a:tcPr marL="76200" marR="76200" marT="38100" marB="381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cmpd="sng" algn="ctr" cap="flat" w="9525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1F3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l"/>
                      <a:r>
                        <a:rPr lang="es-ES" sz="1100" b="false" i="false">
                          <a:solidFill>
                            <a:srgbClr val="1F2933"/>
                          </a:solidFill>
                          <a:latin typeface="Segoe UI"/>
                        </a:rPr>
                        <a:t>Leer ventas (CSV)</a:t>
                      </a:r>
                      <a:endParaRPr sz="1100" lang="es-ES"/>
                    </a:p>
                  </a:txBody>
                  <a:tcPr marL="76200" marR="76200" marT="38100" marB="381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cmpd="sng" algn="ctr" cap="flat" w="9525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1F3"/>
                    </a:solidFill>
                  </a:tcPr>
                </a:tc>
              </a:tr>
              <a:tr h="298704">
                <a:tc>
                  <a:txBody>
                    <a:bodyPr anchor="t" rtlCol="false"/>
                    <a:lstStyle/>
                    <a:p>
                      <a:pPr algn="l"/>
                      <a:r>
                        <a:rPr lang="es-ES" sz="1100" b="false" i="false">
                          <a:solidFill>
                            <a:srgbClr val="1F2933"/>
                          </a:solidFill>
                          <a:latin typeface="Segoe UI"/>
                        </a:rPr>
                        <a:t>fecha</a:t>
                      </a:r>
                      <a:endParaRPr sz="1100" lang="es-ES"/>
                    </a:p>
                  </a:txBody>
                  <a:tcPr marL="76200" marR="76200" marT="38100" marB="381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cmpd="sng" algn="ctr" cap="flat" w="9525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l"/>
                      <a:r>
                        <a:rPr lang="es-ES" sz="1100" b="false" i="false">
                          <a:solidFill>
                            <a:srgbClr val="1F2933"/>
                          </a:solidFill>
                          <a:latin typeface="Segoe UI"/>
                        </a:rPr>
                        <a:t>String</a:t>
                      </a:r>
                      <a:endParaRPr sz="1100" lang="es-ES"/>
                    </a:p>
                  </a:txBody>
                  <a:tcPr marL="76200" marR="76200" marT="38100" marB="381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cmpd="sng" algn="ctr" cap="flat" w="9525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r"/>
                      <a:r>
                        <a:rPr lang="es-ES" sz="1100" b="false" i="false">
                          <a:solidFill>
                            <a:srgbClr val="1F2933"/>
                          </a:solidFill>
                          <a:latin typeface="Segoe UI"/>
                        </a:rPr>
                        <a:t> </a:t>
                      </a:r>
                      <a:endParaRPr sz="1100" lang="es-ES"/>
                    </a:p>
                  </a:txBody>
                  <a:tcPr marL="76200" marR="76200" marT="38100" marB="381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cmpd="sng" algn="ctr" cap="flat" w="9525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r"/>
                      <a:r>
                        <a:rPr lang="es-ES" sz="1100" b="false" i="false">
                          <a:solidFill>
                            <a:srgbClr val="1F2933"/>
                          </a:solidFill>
                          <a:latin typeface="Segoe UI"/>
                        </a:rPr>
                        <a:t> </a:t>
                      </a:r>
                      <a:endParaRPr sz="1100" lang="es-ES"/>
                    </a:p>
                  </a:txBody>
                  <a:tcPr marL="76200" marR="76200" marT="38100" marB="381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cmpd="sng" algn="ctr" cap="flat" w="9525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l"/>
                      <a:r>
                        <a:rPr lang="es-ES" sz="1100" b="false" i="false">
                          <a:solidFill>
                            <a:srgbClr val="1F2933"/>
                          </a:solidFill>
                          <a:latin typeface="Segoe UI"/>
                        </a:rPr>
                        <a:t>Leer ventas (CSV)</a:t>
                      </a:r>
                      <a:endParaRPr sz="1100" lang="es-ES"/>
                    </a:p>
                  </a:txBody>
                  <a:tcPr marL="76200" marR="76200" marT="38100" marB="381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cmpd="sng" algn="ctr" cap="flat" w="9525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8704">
                <a:tc>
                  <a:txBody>
                    <a:bodyPr anchor="t" rtlCol="false"/>
                    <a:lstStyle/>
                    <a:p>
                      <a:pPr algn="l"/>
                      <a:r>
                        <a:rPr lang="es-ES" sz="1100" b="false" i="false">
                          <a:solidFill>
                            <a:srgbClr val="1F2933"/>
                          </a:solidFill>
                          <a:latin typeface="Segoe UI"/>
                        </a:rPr>
                        <a:t>id_tienda</a:t>
                      </a:r>
                      <a:endParaRPr sz="1100" lang="es-ES"/>
                    </a:p>
                  </a:txBody>
                  <a:tcPr marL="76200" marR="76200" marT="38100" marB="381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cmpd="sng" algn="ctr" cap="flat" w="9525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1F3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l"/>
                      <a:r>
                        <a:rPr lang="es-ES" sz="1100" b="false" i="false">
                          <a:solidFill>
                            <a:srgbClr val="1F2933"/>
                          </a:solidFill>
                          <a:latin typeface="Segoe UI"/>
                        </a:rPr>
                        <a:t>String</a:t>
                      </a:r>
                      <a:endParaRPr sz="1100" lang="es-ES"/>
                    </a:p>
                  </a:txBody>
                  <a:tcPr marL="76200" marR="76200" marT="38100" marB="381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cmpd="sng" algn="ctr" cap="flat" w="9525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1F3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r"/>
                      <a:r>
                        <a:rPr lang="es-ES" sz="1100" b="false" i="false">
                          <a:solidFill>
                            <a:srgbClr val="1F2933"/>
                          </a:solidFill>
                          <a:latin typeface="Segoe UI"/>
                        </a:rPr>
                        <a:t> </a:t>
                      </a:r>
                      <a:endParaRPr sz="1100" lang="es-ES"/>
                    </a:p>
                  </a:txBody>
                  <a:tcPr marL="76200" marR="76200" marT="38100" marB="381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cmpd="sng" algn="ctr" cap="flat" w="9525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1F3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r"/>
                      <a:r>
                        <a:rPr lang="es-ES" sz="1100" b="false" i="false">
                          <a:solidFill>
                            <a:srgbClr val="1F2933"/>
                          </a:solidFill>
                          <a:latin typeface="Segoe UI"/>
                        </a:rPr>
                        <a:t> </a:t>
                      </a:r>
                      <a:endParaRPr sz="1100" lang="es-ES"/>
                    </a:p>
                  </a:txBody>
                  <a:tcPr marL="76200" marR="76200" marT="38100" marB="381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cmpd="sng" algn="ctr" cap="flat" w="9525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1F3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l"/>
                      <a:r>
                        <a:rPr lang="es-ES" sz="1100" b="false" i="false">
                          <a:solidFill>
                            <a:srgbClr val="1F2933"/>
                          </a:solidFill>
                          <a:latin typeface="Segoe UI"/>
                        </a:rPr>
                        <a:t>Leer ventas (CSV)</a:t>
                      </a:r>
                      <a:endParaRPr sz="1100" lang="es-ES"/>
                    </a:p>
                  </a:txBody>
                  <a:tcPr marL="76200" marR="76200" marT="38100" marB="381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cmpd="sng" algn="ctr" cap="flat" w="9525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1F3"/>
                    </a:solidFill>
                  </a:tcPr>
                </a:tc>
              </a:tr>
              <a:tr h="298704">
                <a:tc>
                  <a:txBody>
                    <a:bodyPr anchor="t" rtlCol="false"/>
                    <a:lstStyle/>
                    <a:p>
                      <a:pPr algn="l"/>
                      <a:r>
                        <a:rPr lang="es-ES" sz="1100" b="false" i="false">
                          <a:solidFill>
                            <a:srgbClr val="1F2933"/>
                          </a:solidFill>
                          <a:latin typeface="Segoe UI"/>
                        </a:rPr>
                        <a:t>codigo_producto</a:t>
                      </a:r>
                      <a:endParaRPr sz="1100" lang="es-ES"/>
                    </a:p>
                  </a:txBody>
                  <a:tcPr marL="76200" marR="76200" marT="38100" marB="381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cmpd="sng" algn="ctr" cap="flat" w="9525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l"/>
                      <a:r>
                        <a:rPr lang="es-ES" sz="1100" b="false" i="false">
                          <a:solidFill>
                            <a:srgbClr val="1F2933"/>
                          </a:solidFill>
                          <a:latin typeface="Segoe UI"/>
                        </a:rPr>
                        <a:t>String</a:t>
                      </a:r>
                      <a:endParaRPr sz="1100" lang="es-ES"/>
                    </a:p>
                  </a:txBody>
                  <a:tcPr marL="76200" marR="76200" marT="38100" marB="381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cmpd="sng" algn="ctr" cap="flat" w="9525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r"/>
                      <a:r>
                        <a:rPr lang="es-ES" sz="1100" b="false" i="false">
                          <a:solidFill>
                            <a:srgbClr val="1F2933"/>
                          </a:solidFill>
                          <a:latin typeface="Segoe UI"/>
                        </a:rPr>
                        <a:t> </a:t>
                      </a:r>
                      <a:endParaRPr sz="1100" lang="es-ES"/>
                    </a:p>
                  </a:txBody>
                  <a:tcPr marL="76200" marR="76200" marT="38100" marB="381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cmpd="sng" algn="ctr" cap="flat" w="9525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r"/>
                      <a:r>
                        <a:rPr lang="es-ES" sz="1100" b="false" i="false">
                          <a:solidFill>
                            <a:srgbClr val="1F2933"/>
                          </a:solidFill>
                          <a:latin typeface="Segoe UI"/>
                        </a:rPr>
                        <a:t> </a:t>
                      </a:r>
                      <a:endParaRPr sz="1100" lang="es-ES"/>
                    </a:p>
                  </a:txBody>
                  <a:tcPr marL="76200" marR="76200" marT="38100" marB="381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cmpd="sng" algn="ctr" cap="flat" w="9525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l"/>
                      <a:r>
                        <a:rPr lang="es-ES" sz="1100" b="false" i="false">
                          <a:solidFill>
                            <a:srgbClr val="1F2933"/>
                          </a:solidFill>
                          <a:latin typeface="Segoe UI"/>
                        </a:rPr>
                        <a:t>Leer ventas (CSV)</a:t>
                      </a:r>
                      <a:endParaRPr sz="1100" lang="es-ES"/>
                    </a:p>
                  </a:txBody>
                  <a:tcPr marL="76200" marR="76200" marT="38100" marB="381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cmpd="sng" algn="ctr" cap="flat" w="9525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8704">
                <a:tc>
                  <a:txBody>
                    <a:bodyPr anchor="t" rtlCol="false"/>
                    <a:lstStyle/>
                    <a:p>
                      <a:pPr algn="l"/>
                      <a:r>
                        <a:rPr lang="es-ES" sz="1100" b="false" i="false">
                          <a:solidFill>
                            <a:srgbClr val="1F2933"/>
                          </a:solidFill>
                          <a:latin typeface="Segoe UI"/>
                        </a:rPr>
                        <a:t>cantidad</a:t>
                      </a:r>
                      <a:endParaRPr sz="1100" lang="es-ES"/>
                    </a:p>
                  </a:txBody>
                  <a:tcPr marL="76200" marR="76200" marT="38100" marB="381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cmpd="sng" algn="ctr" cap="flat" w="9525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1F3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l"/>
                      <a:r>
                        <a:rPr lang="es-ES" sz="1100" b="false" i="false">
                          <a:solidFill>
                            <a:srgbClr val="1F2933"/>
                          </a:solidFill>
                          <a:latin typeface="Segoe UI"/>
                        </a:rPr>
                        <a:t>Integer</a:t>
                      </a:r>
                      <a:endParaRPr sz="1100" lang="es-ES"/>
                    </a:p>
                  </a:txBody>
                  <a:tcPr marL="76200" marR="76200" marT="38100" marB="381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cmpd="sng" algn="ctr" cap="flat" w="9525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1F3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r"/>
                      <a:r>
                        <a:rPr lang="es-ES" sz="1100" b="false" i="false">
                          <a:solidFill>
                            <a:srgbClr val="1F2933"/>
                          </a:solidFill>
                          <a:latin typeface="Segoe UI"/>
                        </a:rPr>
                        <a:t> </a:t>
                      </a:r>
                      <a:endParaRPr sz="1100" lang="es-ES"/>
                    </a:p>
                  </a:txBody>
                  <a:tcPr marL="76200" marR="76200" marT="38100" marB="381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cmpd="sng" algn="ctr" cap="flat" w="9525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1F3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r"/>
                      <a:r>
                        <a:rPr lang="es-ES" sz="1100" b="false" i="false">
                          <a:solidFill>
                            <a:srgbClr val="1F2933"/>
                          </a:solidFill>
                          <a:latin typeface="Segoe UI"/>
                        </a:rPr>
                        <a:t>0</a:t>
                      </a:r>
                      <a:endParaRPr sz="1100" lang="es-ES"/>
                    </a:p>
                  </a:txBody>
                  <a:tcPr marL="76200" marR="76200" marT="38100" marB="381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cmpd="sng" algn="ctr" cap="flat" w="9525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1F3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l"/>
                      <a:r>
                        <a:rPr lang="es-ES" sz="1100" b="false" i="false">
                          <a:solidFill>
                            <a:srgbClr val="1F2933"/>
                          </a:solidFill>
                          <a:latin typeface="Segoe UI"/>
                        </a:rPr>
                        <a:t>Leer ventas (CSV)</a:t>
                      </a:r>
                      <a:endParaRPr sz="1100" lang="es-ES"/>
                    </a:p>
                  </a:txBody>
                  <a:tcPr marL="76200" marR="76200" marT="38100" marB="381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cmpd="sng" algn="ctr" cap="flat" w="9525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1F3"/>
                    </a:solidFill>
                  </a:tcPr>
                </a:tc>
              </a:tr>
              <a:tr h="298704">
                <a:tc>
                  <a:txBody>
                    <a:bodyPr anchor="t" rtlCol="false"/>
                    <a:lstStyle/>
                    <a:p>
                      <a:pPr algn="l"/>
                      <a:r>
                        <a:rPr lang="es-ES" sz="1100" b="false" i="false">
                          <a:solidFill>
                            <a:srgbClr val="1F2933"/>
                          </a:solidFill>
                          <a:latin typeface="Segoe UI"/>
                        </a:rPr>
                        <a:t>precio_unitario</a:t>
                      </a:r>
                      <a:endParaRPr sz="1100" lang="es-ES"/>
                    </a:p>
                  </a:txBody>
                  <a:tcPr marL="76200" marR="76200" marT="38100" marB="381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cmpd="sng" algn="ctr" cap="flat" w="9525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l"/>
                      <a:r>
                        <a:rPr lang="es-ES" sz="1100" b="false" i="false">
                          <a:solidFill>
                            <a:srgbClr val="1F2933"/>
                          </a:solidFill>
                          <a:latin typeface="Segoe UI"/>
                        </a:rPr>
                        <a:t>Number</a:t>
                      </a:r>
                      <a:endParaRPr sz="1100" lang="es-ES"/>
                    </a:p>
                  </a:txBody>
                  <a:tcPr marL="76200" marR="76200" marT="38100" marB="381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cmpd="sng" algn="ctr" cap="flat" w="9525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r"/>
                      <a:r>
                        <a:rPr lang="es-ES" sz="1100" b="false" i="false">
                          <a:solidFill>
                            <a:srgbClr val="1F2933"/>
                          </a:solidFill>
                          <a:latin typeface="Segoe UI"/>
                        </a:rPr>
                        <a:t> </a:t>
                      </a:r>
                      <a:endParaRPr sz="1100" lang="es-ES"/>
                    </a:p>
                  </a:txBody>
                  <a:tcPr marL="76200" marR="76200" marT="38100" marB="381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cmpd="sng" algn="ctr" cap="flat" w="9525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r"/>
                      <a:r>
                        <a:rPr lang="es-ES" sz="1100" b="false" i="false">
                          <a:solidFill>
                            <a:srgbClr val="1F2933"/>
                          </a:solidFill>
                          <a:latin typeface="Segoe UI"/>
                        </a:rPr>
                        <a:t> </a:t>
                      </a:r>
                      <a:endParaRPr sz="1100" lang="es-ES"/>
                    </a:p>
                  </a:txBody>
                  <a:tcPr marL="76200" marR="76200" marT="38100" marB="381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cmpd="sng" algn="ctr" cap="flat" w="9525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l"/>
                      <a:r>
                        <a:rPr lang="es-ES" sz="1100" b="false" i="false">
                          <a:solidFill>
                            <a:srgbClr val="1F2933"/>
                          </a:solidFill>
                          <a:latin typeface="Segoe UI"/>
                        </a:rPr>
                        <a:t>Convertir precio a número</a:t>
                      </a:r>
                      <a:endParaRPr sz="1100" lang="es-ES"/>
                    </a:p>
                  </a:txBody>
                  <a:tcPr marL="76200" marR="76200" marT="38100" marB="381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cmpd="sng" algn="ctr" cap="flat" w="9525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8704">
                <a:tc>
                  <a:txBody>
                    <a:bodyPr anchor="t" rtlCol="false"/>
                    <a:lstStyle/>
                    <a:p>
                      <a:pPr algn="l"/>
                      <a:r>
                        <a:rPr lang="es-ES" sz="1100" b="false" i="false">
                          <a:solidFill>
                            <a:srgbClr val="1F2933"/>
                          </a:solidFill>
                          <a:latin typeface="Segoe UI"/>
                        </a:rPr>
                        <a:t>metodo_pago</a:t>
                      </a:r>
                      <a:endParaRPr sz="1100" lang="es-ES"/>
                    </a:p>
                  </a:txBody>
                  <a:tcPr marL="76200" marR="76200" marT="38100" marB="381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cmpd="sng" algn="ctr" cap="flat" w="9525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1F3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l"/>
                      <a:r>
                        <a:rPr lang="es-ES" sz="1100" b="false" i="false">
                          <a:solidFill>
                            <a:srgbClr val="1F2933"/>
                          </a:solidFill>
                          <a:latin typeface="Segoe UI"/>
                        </a:rPr>
                        <a:t>String</a:t>
                      </a:r>
                      <a:endParaRPr sz="1100" lang="es-ES"/>
                    </a:p>
                  </a:txBody>
                  <a:tcPr marL="76200" marR="76200" marT="38100" marB="381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cmpd="sng" algn="ctr" cap="flat" w="9525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1F3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r"/>
                      <a:r>
                        <a:rPr lang="es-ES" sz="1100" b="false" i="false">
                          <a:solidFill>
                            <a:srgbClr val="1F2933"/>
                          </a:solidFill>
                          <a:latin typeface="Segoe UI"/>
                        </a:rPr>
                        <a:t> </a:t>
                      </a:r>
                      <a:endParaRPr sz="1100" lang="es-ES"/>
                    </a:p>
                  </a:txBody>
                  <a:tcPr marL="76200" marR="76200" marT="38100" marB="381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cmpd="sng" algn="ctr" cap="flat" w="9525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1F3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r"/>
                      <a:r>
                        <a:rPr lang="es-ES" sz="1100" b="false" i="false">
                          <a:solidFill>
                            <a:srgbClr val="1F2933"/>
                          </a:solidFill>
                          <a:latin typeface="Segoe UI"/>
                        </a:rPr>
                        <a:t> </a:t>
                      </a:r>
                      <a:endParaRPr sz="1100" lang="es-ES"/>
                    </a:p>
                  </a:txBody>
                  <a:tcPr marL="76200" marR="76200" marT="38100" marB="381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cmpd="sng" algn="ctr" cap="flat" w="9525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1F3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l"/>
                      <a:r>
                        <a:rPr lang="es-ES" sz="1100" b="false" i="false">
                          <a:solidFill>
                            <a:srgbClr val="1F2933"/>
                          </a:solidFill>
                          <a:latin typeface="Segoe UI"/>
                        </a:rPr>
                        <a:t>Leer ventas (CSV)</a:t>
                      </a:r>
                      <a:endParaRPr sz="1100" lang="es-ES"/>
                    </a:p>
                  </a:txBody>
                  <a:tcPr marL="76200" marR="76200" marT="38100" marB="381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cmpd="sng" algn="ctr" cap="flat" w="9525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1F3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1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8000" y="203200"/>
            <a:ext cx="11176000" cy="635000"/>
          </a:xfrm>
        </p:spPr>
        <p:txBody>
          <a:bodyPr lIns="0" rIns="0" wrap="square" anchor="ctr"/>
          <a:lstStyle/>
          <a:p>
            <a:pPr algn="l"/>
            <a:r>
              <a:rPr lang="es-ES" sz="2600" b="true" i="false">
                <a:solidFill>
                  <a:srgbClr val="243B53"/>
                </a:solidFill>
                <a:latin typeface="Segoe UI"/>
              </a:rPr>
              <a:t>Diccionario de datos (cont.)</a:t>
            </a:r>
            <a:endParaRPr sz="2600" lang="es-ES"/>
          </a:p>
        </p:txBody>
      </p:sp>
      <p:pic>
        <p:nvPicPr>
          <p:cNvPr name="Picture 3" id="3"/>
          <p:cNvPicPr>
            <a:picLocks noChangeAspect="true"/>
          </p:cNvPicPr>
          <p:nvPr/>
        </p:nvPicPr>
        <p:blipFill>
          <a:blip r:embed="rId2"/>
          <a:stretch>
            <a:fillRect/>
          </a:stretch>
        </p:blipFill>
        <p:spPr>
          <a:xfrm>
            <a:off x="10248900" y="5510084"/>
            <a:ext cx="1435100" cy="814516"/>
          </a:xfrm>
          <a:prstGeom prst="rect">
            <a:avLst/>
          </a:prstGeom>
        </p:spPr>
      </p:pic>
      <p:sp>
        <p:nvSpPr>
          <p:cNvPr name="AutoShape 4" id="4"/>
          <p:cNvSpPr/>
          <p:nvPr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243B53"/>
          </a:solidFill>
          <a:ln>
            <a:noFill/>
          </a:ln>
        </p:spPr>
      </p:sp>
      <p:pic>
        <p:nvPicPr>
          <p:cNvPr name="Picture 5" id="5"/>
          <p:cNvPicPr>
            <a:picLocks noChangeAspect="true"/>
          </p:cNvPicPr>
          <p:nvPr/>
        </p:nvPicPr>
        <p:blipFill>
          <a:blip r:embed="rId3"/>
          <a:stretch>
            <a:fillRect/>
          </a:stretch>
        </p:blipFill>
        <p:spPr>
          <a:xfrm>
            <a:off x="508000" y="6508750"/>
            <a:ext cx="177800" cy="100914"/>
          </a:xfrm>
          <a:prstGeom prst="rect">
            <a:avLst/>
          </a:prstGeom>
        </p:spPr>
      </p:pic>
      <p:sp>
        <p:nvSpPr>
          <p:cNvPr name="TextBox 6" id="6"/>
          <p:cNvSpPr txBox="true"/>
          <p:nvPr/>
        </p:nvSpPr>
        <p:spPr>
          <a:xfrm>
            <a:off x="749300" y="6451600"/>
            <a:ext cx="5080000" cy="228600"/>
          </a:xfrm>
          <a:prstGeom prst="rect">
            <a:avLst/>
          </a:prstGeom>
        </p:spPr>
        <p:txBody>
          <a:bodyPr anchor="ctr" rtlCol="false" wrap="square" lIns="0" rIns="0" tIns="25400" bIns="25400"/>
          <a:lstStyle/>
          <a:p>
            <a:pPr algn="l"/>
            <a:r>
              <a:rPr lang="es-ES" sz="750" b="false" i="false">
                <a:solidFill>
                  <a:srgbClr val="6B7785"/>
                </a:solidFill>
                <a:latin typeface="Segoe UI"/>
              </a:rPr>
              <a:t>Pentaho Live · IDC Studios</a:t>
            </a:r>
            <a:endParaRPr sz="750" lang="es-ES"/>
          </a:p>
        </p:txBody>
      </p:sp>
      <p:sp>
        <p:nvSpPr>
          <p:cNvPr name="TextBox 7" id="7"/>
          <p:cNvSpPr txBox="true"/>
          <p:nvPr/>
        </p:nvSpPr>
        <p:spPr>
          <a:xfrm>
            <a:off x="10160000" y="6451600"/>
            <a:ext cx="1524000" cy="228600"/>
          </a:xfrm>
          <a:prstGeom prst="rect">
            <a:avLst/>
          </a:prstGeom>
        </p:spPr>
        <p:txBody>
          <a:bodyPr anchor="ctr" rtlCol="false" wrap="square" lIns="0" rIns="0" tIns="25400" bIns="25400"/>
          <a:lstStyle/>
          <a:p>
            <a:pPr algn="r"/>
            <a:fld id="{67D93FAA-7694-468E-A187-4822AC6B6AFF}" type="slidenum">
              <a:rPr lang="es-ES" sz="750">
                <a:solidFill>
                  <a:srgbClr val="6B7785"/>
                </a:solidFill>
                <a:latin typeface="Segoe UI"/>
              </a:rPr>
              <a:t>21</a:t>
            </a:fld>
            <a:endParaRPr sz="750" lang="es-ES"/>
          </a:p>
        </p:txBody>
      </p:sp>
      <p:sp>
        <p:nvSpPr>
          <p:cNvPr name="TextBox 8" id="8"/>
          <p:cNvSpPr txBox="true"/>
          <p:nvPr/>
        </p:nvSpPr>
        <p:spPr>
          <a:xfrm>
            <a:off x="508000" y="1016000"/>
            <a:ext cx="11176000" cy="254000"/>
          </a:xfrm>
          <a:prstGeom prst="rect">
            <a:avLst/>
          </a:prstGeom>
        </p:spPr>
        <p:txBody>
          <a:bodyPr anchor="t" rtlCol="false" wrap="square" lIns="0" rIns="0" tIns="25400" bIns="25400"/>
          <a:lstStyle/>
          <a:p>
            <a:pPr algn="l"/>
            <a:r>
              <a:rPr lang="es-ES" sz="1300" b="true" i="false">
                <a:solidFill>
                  <a:srgbClr val="243B53"/>
                </a:solidFill>
                <a:latin typeface="Segoe UI"/>
              </a:rPr>
              <a:t>Eliminar duplicados</a:t>
            </a:r>
            <a:endParaRPr sz="1300" lang="es-ES"/>
          </a:p>
        </p:txBody>
      </p:sp>
      <p:graphicFrame>
        <p:nvGraphicFramePr>
          <p:cNvPr name="Table 9" id="9"/>
          <p:cNvGraphicFramePr>
            <a:graphicFrameLocks noGrp="true"/>
          </p:cNvGraphicFramePr>
          <p:nvPr/>
        </p:nvGraphicFramePr>
        <p:xfrm>
          <a:off x="508000" y="1295400"/>
          <a:ext cx="5702300" cy="2688336"/>
        </p:xfrm>
        <a:graphic>
          <a:graphicData uri="http://schemas.openxmlformats.org/drawingml/2006/table">
            <a:tbl>
              <a:tblPr/>
              <a:tblGrid>
                <a:gridCol w="1320800"/>
                <a:gridCol w="711200"/>
                <a:gridCol w="635000"/>
                <a:gridCol w="939800"/>
                <a:gridCol w="2095500"/>
              </a:tblGrid>
              <a:tr h="298704">
                <a:tc>
                  <a:txBody>
                    <a:bodyPr anchor="t" rtlCol="false"/>
                    <a:lstStyle/>
                    <a:p>
                      <a:pPr algn="l"/>
                      <a:r>
                        <a:rPr lang="es-ES" sz="1100" b="true" i="false">
                          <a:solidFill>
                            <a:srgbClr val="FFFFFF"/>
                          </a:solidFill>
                          <a:latin typeface="Segoe UI"/>
                        </a:rPr>
                        <a:t>Campo</a:t>
                      </a:r>
                      <a:endParaRPr sz="1100" lang="es-ES"/>
                    </a:p>
                  </a:txBody>
                  <a:tcPr marL="76200" marR="76200" marT="38100" marB="381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cmpd="sng" algn="ctr" cap="flat" w="9525">
                      <a:solidFill>
                        <a:srgbClr val="243B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3B53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l"/>
                      <a:r>
                        <a:rPr lang="es-ES" sz="1100" b="true" i="false">
                          <a:solidFill>
                            <a:srgbClr val="FFFFFF"/>
                          </a:solidFill>
                          <a:latin typeface="Segoe UI"/>
                        </a:rPr>
                        <a:t>Tipo</a:t>
                      </a:r>
                      <a:endParaRPr sz="1100" lang="es-ES"/>
                    </a:p>
                  </a:txBody>
                  <a:tcPr marL="76200" marR="76200" marT="38100" marB="381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cmpd="sng" algn="ctr" cap="flat" w="9525">
                      <a:solidFill>
                        <a:srgbClr val="243B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3B53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r"/>
                      <a:r>
                        <a:rPr lang="es-ES" sz="1100" b="true" i="false">
                          <a:solidFill>
                            <a:srgbClr val="FFFFFF"/>
                          </a:solidFill>
                          <a:latin typeface="Segoe UI"/>
                        </a:rPr>
                        <a:t>Largo</a:t>
                      </a:r>
                      <a:endParaRPr sz="1100" lang="es-ES"/>
                    </a:p>
                  </a:txBody>
                  <a:tcPr marL="76200" marR="76200" marT="38100" marB="381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cmpd="sng" algn="ctr" cap="flat" w="9525">
                      <a:solidFill>
                        <a:srgbClr val="243B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3B53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r"/>
                      <a:r>
                        <a:rPr lang="es-ES" sz="1100" b="true" i="false">
                          <a:solidFill>
                            <a:srgbClr val="FFFFFF"/>
                          </a:solidFill>
                          <a:latin typeface="Segoe UI"/>
                        </a:rPr>
                        <a:t>Precisión</a:t>
                      </a:r>
                      <a:endParaRPr sz="1100" lang="es-ES"/>
                    </a:p>
                  </a:txBody>
                  <a:tcPr marL="76200" marR="76200" marT="38100" marB="381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cmpd="sng" algn="ctr" cap="flat" w="9525">
                      <a:solidFill>
                        <a:srgbClr val="243B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3B53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l"/>
                      <a:r>
                        <a:rPr lang="es-ES" sz="1100" b="true" i="false">
                          <a:solidFill>
                            <a:srgbClr val="FFFFFF"/>
                          </a:solidFill>
                          <a:latin typeface="Segoe UI"/>
                        </a:rPr>
                        <a:t>Origen</a:t>
                      </a:r>
                      <a:endParaRPr sz="1100" lang="es-ES"/>
                    </a:p>
                  </a:txBody>
                  <a:tcPr marL="76200" marR="76200" marT="38100" marB="381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cmpd="sng" algn="ctr" cap="flat" w="9525">
                      <a:solidFill>
                        <a:srgbClr val="243B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3B53"/>
                    </a:solidFill>
                  </a:tcPr>
                </a:tc>
              </a:tr>
              <a:tr h="298704">
                <a:tc>
                  <a:txBody>
                    <a:bodyPr anchor="t" rtlCol="false"/>
                    <a:lstStyle/>
                    <a:p>
                      <a:pPr algn="l"/>
                      <a:r>
                        <a:rPr lang="es-ES" sz="1100" b="false" i="false">
                          <a:solidFill>
                            <a:srgbClr val="1F2933"/>
                          </a:solidFill>
                          <a:latin typeface="Segoe UI"/>
                        </a:rPr>
                        <a:t>id_ticket</a:t>
                      </a:r>
                      <a:endParaRPr sz="1100" lang="es-ES"/>
                    </a:p>
                  </a:txBody>
                  <a:tcPr marL="76200" marR="76200" marT="38100" marB="381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cmpd="sng" algn="ctr" cap="flat" w="9525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l"/>
                      <a:r>
                        <a:rPr lang="es-ES" sz="1100" b="false" i="false">
                          <a:solidFill>
                            <a:srgbClr val="1F2933"/>
                          </a:solidFill>
                          <a:latin typeface="Segoe UI"/>
                        </a:rPr>
                        <a:t>String</a:t>
                      </a:r>
                      <a:endParaRPr sz="1100" lang="es-ES"/>
                    </a:p>
                  </a:txBody>
                  <a:tcPr marL="76200" marR="76200" marT="38100" marB="381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cmpd="sng" algn="ctr" cap="flat" w="9525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r"/>
                      <a:r>
                        <a:rPr lang="es-ES" sz="1100" b="false" i="false">
                          <a:solidFill>
                            <a:srgbClr val="1F2933"/>
                          </a:solidFill>
                          <a:latin typeface="Segoe UI"/>
                        </a:rPr>
                        <a:t> </a:t>
                      </a:r>
                      <a:endParaRPr sz="1100" lang="es-ES"/>
                    </a:p>
                  </a:txBody>
                  <a:tcPr marL="76200" marR="76200" marT="38100" marB="381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cmpd="sng" algn="ctr" cap="flat" w="9525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r"/>
                      <a:r>
                        <a:rPr lang="es-ES" sz="1100" b="false" i="false">
                          <a:solidFill>
                            <a:srgbClr val="1F2933"/>
                          </a:solidFill>
                          <a:latin typeface="Segoe UI"/>
                        </a:rPr>
                        <a:t> </a:t>
                      </a:r>
                      <a:endParaRPr sz="1100" lang="es-ES"/>
                    </a:p>
                  </a:txBody>
                  <a:tcPr marL="76200" marR="76200" marT="38100" marB="381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cmpd="sng" algn="ctr" cap="flat" w="9525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l"/>
                      <a:r>
                        <a:rPr lang="es-ES" sz="1100" b="false" i="false">
                          <a:solidFill>
                            <a:srgbClr val="1F2933"/>
                          </a:solidFill>
                          <a:latin typeface="Segoe UI"/>
                        </a:rPr>
                        <a:t>Leer ventas (CSV)</a:t>
                      </a:r>
                      <a:endParaRPr sz="1100" lang="es-ES"/>
                    </a:p>
                  </a:txBody>
                  <a:tcPr marL="76200" marR="76200" marT="38100" marB="381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cmpd="sng" algn="ctr" cap="flat" w="9525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8704">
                <a:tc>
                  <a:txBody>
                    <a:bodyPr anchor="t" rtlCol="false"/>
                    <a:lstStyle/>
                    <a:p>
                      <a:pPr algn="l"/>
                      <a:r>
                        <a:rPr lang="es-ES" sz="1100" b="false" i="false">
                          <a:solidFill>
                            <a:srgbClr val="1F2933"/>
                          </a:solidFill>
                          <a:latin typeface="Segoe UI"/>
                        </a:rPr>
                        <a:t>linea</a:t>
                      </a:r>
                      <a:endParaRPr sz="1100" lang="es-ES"/>
                    </a:p>
                  </a:txBody>
                  <a:tcPr marL="76200" marR="76200" marT="38100" marB="381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cmpd="sng" algn="ctr" cap="flat" w="9525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1F3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l"/>
                      <a:r>
                        <a:rPr lang="es-ES" sz="1100" b="false" i="false">
                          <a:solidFill>
                            <a:srgbClr val="1F2933"/>
                          </a:solidFill>
                          <a:latin typeface="Segoe UI"/>
                        </a:rPr>
                        <a:t>Integer</a:t>
                      </a:r>
                      <a:endParaRPr sz="1100" lang="es-ES"/>
                    </a:p>
                  </a:txBody>
                  <a:tcPr marL="76200" marR="76200" marT="38100" marB="381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cmpd="sng" algn="ctr" cap="flat" w="9525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1F3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r"/>
                      <a:r>
                        <a:rPr lang="es-ES" sz="1100" b="false" i="false">
                          <a:solidFill>
                            <a:srgbClr val="1F2933"/>
                          </a:solidFill>
                          <a:latin typeface="Segoe UI"/>
                        </a:rPr>
                        <a:t> </a:t>
                      </a:r>
                      <a:endParaRPr sz="1100" lang="es-ES"/>
                    </a:p>
                  </a:txBody>
                  <a:tcPr marL="76200" marR="76200" marT="38100" marB="381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cmpd="sng" algn="ctr" cap="flat" w="9525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1F3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r"/>
                      <a:r>
                        <a:rPr lang="es-ES" sz="1100" b="false" i="false">
                          <a:solidFill>
                            <a:srgbClr val="1F2933"/>
                          </a:solidFill>
                          <a:latin typeface="Segoe UI"/>
                        </a:rPr>
                        <a:t>0</a:t>
                      </a:r>
                      <a:endParaRPr sz="1100" lang="es-ES"/>
                    </a:p>
                  </a:txBody>
                  <a:tcPr marL="76200" marR="76200" marT="38100" marB="381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cmpd="sng" algn="ctr" cap="flat" w="9525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1F3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l"/>
                      <a:r>
                        <a:rPr lang="es-ES" sz="1100" b="false" i="false">
                          <a:solidFill>
                            <a:srgbClr val="1F2933"/>
                          </a:solidFill>
                          <a:latin typeface="Segoe UI"/>
                        </a:rPr>
                        <a:t>Leer ventas (CSV)</a:t>
                      </a:r>
                      <a:endParaRPr sz="1100" lang="es-ES"/>
                    </a:p>
                  </a:txBody>
                  <a:tcPr marL="76200" marR="76200" marT="38100" marB="381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cmpd="sng" algn="ctr" cap="flat" w="9525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1F3"/>
                    </a:solidFill>
                  </a:tcPr>
                </a:tc>
              </a:tr>
              <a:tr h="298704">
                <a:tc>
                  <a:txBody>
                    <a:bodyPr anchor="t" rtlCol="false"/>
                    <a:lstStyle/>
                    <a:p>
                      <a:pPr algn="l"/>
                      <a:r>
                        <a:rPr lang="es-ES" sz="1100" b="false" i="false">
                          <a:solidFill>
                            <a:srgbClr val="1F2933"/>
                          </a:solidFill>
                          <a:latin typeface="Segoe UI"/>
                        </a:rPr>
                        <a:t>fecha</a:t>
                      </a:r>
                      <a:endParaRPr sz="1100" lang="es-ES"/>
                    </a:p>
                  </a:txBody>
                  <a:tcPr marL="76200" marR="76200" marT="38100" marB="381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cmpd="sng" algn="ctr" cap="flat" w="9525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l"/>
                      <a:r>
                        <a:rPr lang="es-ES" sz="1100" b="false" i="false">
                          <a:solidFill>
                            <a:srgbClr val="1F2933"/>
                          </a:solidFill>
                          <a:latin typeface="Segoe UI"/>
                        </a:rPr>
                        <a:t>String</a:t>
                      </a:r>
                      <a:endParaRPr sz="1100" lang="es-ES"/>
                    </a:p>
                  </a:txBody>
                  <a:tcPr marL="76200" marR="76200" marT="38100" marB="381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cmpd="sng" algn="ctr" cap="flat" w="9525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r"/>
                      <a:r>
                        <a:rPr lang="es-ES" sz="1100" b="false" i="false">
                          <a:solidFill>
                            <a:srgbClr val="1F2933"/>
                          </a:solidFill>
                          <a:latin typeface="Segoe UI"/>
                        </a:rPr>
                        <a:t> </a:t>
                      </a:r>
                      <a:endParaRPr sz="1100" lang="es-ES"/>
                    </a:p>
                  </a:txBody>
                  <a:tcPr marL="76200" marR="76200" marT="38100" marB="381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cmpd="sng" algn="ctr" cap="flat" w="9525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r"/>
                      <a:r>
                        <a:rPr lang="es-ES" sz="1100" b="false" i="false">
                          <a:solidFill>
                            <a:srgbClr val="1F2933"/>
                          </a:solidFill>
                          <a:latin typeface="Segoe UI"/>
                        </a:rPr>
                        <a:t> </a:t>
                      </a:r>
                      <a:endParaRPr sz="1100" lang="es-ES"/>
                    </a:p>
                  </a:txBody>
                  <a:tcPr marL="76200" marR="76200" marT="38100" marB="381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cmpd="sng" algn="ctr" cap="flat" w="9525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l"/>
                      <a:r>
                        <a:rPr lang="es-ES" sz="1100" b="false" i="false">
                          <a:solidFill>
                            <a:srgbClr val="1F2933"/>
                          </a:solidFill>
                          <a:latin typeface="Segoe UI"/>
                        </a:rPr>
                        <a:t>Leer ventas (CSV)</a:t>
                      </a:r>
                      <a:endParaRPr sz="1100" lang="es-ES"/>
                    </a:p>
                  </a:txBody>
                  <a:tcPr marL="76200" marR="76200" marT="38100" marB="381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cmpd="sng" algn="ctr" cap="flat" w="9525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8704">
                <a:tc>
                  <a:txBody>
                    <a:bodyPr anchor="t" rtlCol="false"/>
                    <a:lstStyle/>
                    <a:p>
                      <a:pPr algn="l"/>
                      <a:r>
                        <a:rPr lang="es-ES" sz="1100" b="false" i="false">
                          <a:solidFill>
                            <a:srgbClr val="1F2933"/>
                          </a:solidFill>
                          <a:latin typeface="Segoe UI"/>
                        </a:rPr>
                        <a:t>id_tienda</a:t>
                      </a:r>
                      <a:endParaRPr sz="1100" lang="es-ES"/>
                    </a:p>
                  </a:txBody>
                  <a:tcPr marL="76200" marR="76200" marT="38100" marB="381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cmpd="sng" algn="ctr" cap="flat" w="9525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1F3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l"/>
                      <a:r>
                        <a:rPr lang="es-ES" sz="1100" b="false" i="false">
                          <a:solidFill>
                            <a:srgbClr val="1F2933"/>
                          </a:solidFill>
                          <a:latin typeface="Segoe UI"/>
                        </a:rPr>
                        <a:t>String</a:t>
                      </a:r>
                      <a:endParaRPr sz="1100" lang="es-ES"/>
                    </a:p>
                  </a:txBody>
                  <a:tcPr marL="76200" marR="76200" marT="38100" marB="381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cmpd="sng" algn="ctr" cap="flat" w="9525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1F3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r"/>
                      <a:r>
                        <a:rPr lang="es-ES" sz="1100" b="false" i="false">
                          <a:solidFill>
                            <a:srgbClr val="1F2933"/>
                          </a:solidFill>
                          <a:latin typeface="Segoe UI"/>
                        </a:rPr>
                        <a:t> </a:t>
                      </a:r>
                      <a:endParaRPr sz="1100" lang="es-ES"/>
                    </a:p>
                  </a:txBody>
                  <a:tcPr marL="76200" marR="76200" marT="38100" marB="381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cmpd="sng" algn="ctr" cap="flat" w="9525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1F3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r"/>
                      <a:r>
                        <a:rPr lang="es-ES" sz="1100" b="false" i="false">
                          <a:solidFill>
                            <a:srgbClr val="1F2933"/>
                          </a:solidFill>
                          <a:latin typeface="Segoe UI"/>
                        </a:rPr>
                        <a:t> </a:t>
                      </a:r>
                      <a:endParaRPr sz="1100" lang="es-ES"/>
                    </a:p>
                  </a:txBody>
                  <a:tcPr marL="76200" marR="76200" marT="38100" marB="381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cmpd="sng" algn="ctr" cap="flat" w="9525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1F3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l"/>
                      <a:r>
                        <a:rPr lang="es-ES" sz="1100" b="false" i="false">
                          <a:solidFill>
                            <a:srgbClr val="1F2933"/>
                          </a:solidFill>
                          <a:latin typeface="Segoe UI"/>
                        </a:rPr>
                        <a:t>Leer ventas (CSV)</a:t>
                      </a:r>
                      <a:endParaRPr sz="1100" lang="es-ES"/>
                    </a:p>
                  </a:txBody>
                  <a:tcPr marL="76200" marR="76200" marT="38100" marB="381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cmpd="sng" algn="ctr" cap="flat" w="9525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1F3"/>
                    </a:solidFill>
                  </a:tcPr>
                </a:tc>
              </a:tr>
              <a:tr h="298704">
                <a:tc>
                  <a:txBody>
                    <a:bodyPr anchor="t" rtlCol="false"/>
                    <a:lstStyle/>
                    <a:p>
                      <a:pPr algn="l"/>
                      <a:r>
                        <a:rPr lang="es-ES" sz="1100" b="false" i="false">
                          <a:solidFill>
                            <a:srgbClr val="1F2933"/>
                          </a:solidFill>
                          <a:latin typeface="Segoe UI"/>
                        </a:rPr>
                        <a:t>codigo_producto</a:t>
                      </a:r>
                      <a:endParaRPr sz="1100" lang="es-ES"/>
                    </a:p>
                  </a:txBody>
                  <a:tcPr marL="76200" marR="76200" marT="38100" marB="381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cmpd="sng" algn="ctr" cap="flat" w="9525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l"/>
                      <a:r>
                        <a:rPr lang="es-ES" sz="1100" b="false" i="false">
                          <a:solidFill>
                            <a:srgbClr val="1F2933"/>
                          </a:solidFill>
                          <a:latin typeface="Segoe UI"/>
                        </a:rPr>
                        <a:t>String</a:t>
                      </a:r>
                      <a:endParaRPr sz="1100" lang="es-ES"/>
                    </a:p>
                  </a:txBody>
                  <a:tcPr marL="76200" marR="76200" marT="38100" marB="381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cmpd="sng" algn="ctr" cap="flat" w="9525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r"/>
                      <a:r>
                        <a:rPr lang="es-ES" sz="1100" b="false" i="false">
                          <a:solidFill>
                            <a:srgbClr val="1F2933"/>
                          </a:solidFill>
                          <a:latin typeface="Segoe UI"/>
                        </a:rPr>
                        <a:t> </a:t>
                      </a:r>
                      <a:endParaRPr sz="1100" lang="es-ES"/>
                    </a:p>
                  </a:txBody>
                  <a:tcPr marL="76200" marR="76200" marT="38100" marB="381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cmpd="sng" algn="ctr" cap="flat" w="9525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r"/>
                      <a:r>
                        <a:rPr lang="es-ES" sz="1100" b="false" i="false">
                          <a:solidFill>
                            <a:srgbClr val="1F2933"/>
                          </a:solidFill>
                          <a:latin typeface="Segoe UI"/>
                        </a:rPr>
                        <a:t> </a:t>
                      </a:r>
                      <a:endParaRPr sz="1100" lang="es-ES"/>
                    </a:p>
                  </a:txBody>
                  <a:tcPr marL="76200" marR="76200" marT="38100" marB="381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cmpd="sng" algn="ctr" cap="flat" w="9525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l"/>
                      <a:r>
                        <a:rPr lang="es-ES" sz="1100" b="false" i="false">
                          <a:solidFill>
                            <a:srgbClr val="1F2933"/>
                          </a:solidFill>
                          <a:latin typeface="Segoe UI"/>
                        </a:rPr>
                        <a:t>Leer ventas (CSV)</a:t>
                      </a:r>
                      <a:endParaRPr sz="1100" lang="es-ES"/>
                    </a:p>
                  </a:txBody>
                  <a:tcPr marL="76200" marR="76200" marT="38100" marB="381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cmpd="sng" algn="ctr" cap="flat" w="9525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8704">
                <a:tc>
                  <a:txBody>
                    <a:bodyPr anchor="t" rtlCol="false"/>
                    <a:lstStyle/>
                    <a:p>
                      <a:pPr algn="l"/>
                      <a:r>
                        <a:rPr lang="es-ES" sz="1100" b="false" i="false">
                          <a:solidFill>
                            <a:srgbClr val="1F2933"/>
                          </a:solidFill>
                          <a:latin typeface="Segoe UI"/>
                        </a:rPr>
                        <a:t>cantidad</a:t>
                      </a:r>
                      <a:endParaRPr sz="1100" lang="es-ES"/>
                    </a:p>
                  </a:txBody>
                  <a:tcPr marL="76200" marR="76200" marT="38100" marB="381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cmpd="sng" algn="ctr" cap="flat" w="9525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1F3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l"/>
                      <a:r>
                        <a:rPr lang="es-ES" sz="1100" b="false" i="false">
                          <a:solidFill>
                            <a:srgbClr val="1F2933"/>
                          </a:solidFill>
                          <a:latin typeface="Segoe UI"/>
                        </a:rPr>
                        <a:t>Integer</a:t>
                      </a:r>
                      <a:endParaRPr sz="1100" lang="es-ES"/>
                    </a:p>
                  </a:txBody>
                  <a:tcPr marL="76200" marR="76200" marT="38100" marB="381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cmpd="sng" algn="ctr" cap="flat" w="9525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1F3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r"/>
                      <a:r>
                        <a:rPr lang="es-ES" sz="1100" b="false" i="false">
                          <a:solidFill>
                            <a:srgbClr val="1F2933"/>
                          </a:solidFill>
                          <a:latin typeface="Segoe UI"/>
                        </a:rPr>
                        <a:t> </a:t>
                      </a:r>
                      <a:endParaRPr sz="1100" lang="es-ES"/>
                    </a:p>
                  </a:txBody>
                  <a:tcPr marL="76200" marR="76200" marT="38100" marB="381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cmpd="sng" algn="ctr" cap="flat" w="9525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1F3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r"/>
                      <a:r>
                        <a:rPr lang="es-ES" sz="1100" b="false" i="false">
                          <a:solidFill>
                            <a:srgbClr val="1F2933"/>
                          </a:solidFill>
                          <a:latin typeface="Segoe UI"/>
                        </a:rPr>
                        <a:t>0</a:t>
                      </a:r>
                      <a:endParaRPr sz="1100" lang="es-ES"/>
                    </a:p>
                  </a:txBody>
                  <a:tcPr marL="76200" marR="76200" marT="38100" marB="381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cmpd="sng" algn="ctr" cap="flat" w="9525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1F3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l"/>
                      <a:r>
                        <a:rPr lang="es-ES" sz="1100" b="false" i="false">
                          <a:solidFill>
                            <a:srgbClr val="1F2933"/>
                          </a:solidFill>
                          <a:latin typeface="Segoe UI"/>
                        </a:rPr>
                        <a:t>Leer ventas (CSV)</a:t>
                      </a:r>
                      <a:endParaRPr sz="1100" lang="es-ES"/>
                    </a:p>
                  </a:txBody>
                  <a:tcPr marL="76200" marR="76200" marT="38100" marB="381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cmpd="sng" algn="ctr" cap="flat" w="9525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1F3"/>
                    </a:solidFill>
                  </a:tcPr>
                </a:tc>
              </a:tr>
              <a:tr h="298704">
                <a:tc>
                  <a:txBody>
                    <a:bodyPr anchor="t" rtlCol="false"/>
                    <a:lstStyle/>
                    <a:p>
                      <a:pPr algn="l"/>
                      <a:r>
                        <a:rPr lang="es-ES" sz="1100" b="false" i="false">
                          <a:solidFill>
                            <a:srgbClr val="1F2933"/>
                          </a:solidFill>
                          <a:latin typeface="Segoe UI"/>
                        </a:rPr>
                        <a:t>precio_unitario</a:t>
                      </a:r>
                      <a:endParaRPr sz="1100" lang="es-ES"/>
                    </a:p>
                  </a:txBody>
                  <a:tcPr marL="76200" marR="76200" marT="38100" marB="381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cmpd="sng" algn="ctr" cap="flat" w="9525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l"/>
                      <a:r>
                        <a:rPr lang="es-ES" sz="1100" b="false" i="false">
                          <a:solidFill>
                            <a:srgbClr val="1F2933"/>
                          </a:solidFill>
                          <a:latin typeface="Segoe UI"/>
                        </a:rPr>
                        <a:t>Number</a:t>
                      </a:r>
                      <a:endParaRPr sz="1100" lang="es-ES"/>
                    </a:p>
                  </a:txBody>
                  <a:tcPr marL="76200" marR="76200" marT="38100" marB="381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cmpd="sng" algn="ctr" cap="flat" w="9525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r"/>
                      <a:r>
                        <a:rPr lang="es-ES" sz="1100" b="false" i="false">
                          <a:solidFill>
                            <a:srgbClr val="1F2933"/>
                          </a:solidFill>
                          <a:latin typeface="Segoe UI"/>
                        </a:rPr>
                        <a:t> </a:t>
                      </a:r>
                      <a:endParaRPr sz="1100" lang="es-ES"/>
                    </a:p>
                  </a:txBody>
                  <a:tcPr marL="76200" marR="76200" marT="38100" marB="381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cmpd="sng" algn="ctr" cap="flat" w="9525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r"/>
                      <a:r>
                        <a:rPr lang="es-ES" sz="1100" b="false" i="false">
                          <a:solidFill>
                            <a:srgbClr val="1F2933"/>
                          </a:solidFill>
                          <a:latin typeface="Segoe UI"/>
                        </a:rPr>
                        <a:t> </a:t>
                      </a:r>
                      <a:endParaRPr sz="1100" lang="es-ES"/>
                    </a:p>
                  </a:txBody>
                  <a:tcPr marL="76200" marR="76200" marT="38100" marB="381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cmpd="sng" algn="ctr" cap="flat" w="9525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l"/>
                      <a:r>
                        <a:rPr lang="es-ES" sz="1100" b="false" i="false">
                          <a:solidFill>
                            <a:srgbClr val="1F2933"/>
                          </a:solidFill>
                          <a:latin typeface="Segoe UI"/>
                        </a:rPr>
                        <a:t>Convertir precio a número</a:t>
                      </a:r>
                      <a:endParaRPr sz="1100" lang="es-ES"/>
                    </a:p>
                  </a:txBody>
                  <a:tcPr marL="76200" marR="76200" marT="38100" marB="381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cmpd="sng" algn="ctr" cap="flat" w="9525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8704">
                <a:tc>
                  <a:txBody>
                    <a:bodyPr anchor="t" rtlCol="false"/>
                    <a:lstStyle/>
                    <a:p>
                      <a:pPr algn="l"/>
                      <a:r>
                        <a:rPr lang="es-ES" sz="1100" b="false" i="false">
                          <a:solidFill>
                            <a:srgbClr val="1F2933"/>
                          </a:solidFill>
                          <a:latin typeface="Segoe UI"/>
                        </a:rPr>
                        <a:t>metodo_pago</a:t>
                      </a:r>
                      <a:endParaRPr sz="1100" lang="es-ES"/>
                    </a:p>
                  </a:txBody>
                  <a:tcPr marL="76200" marR="76200" marT="38100" marB="381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cmpd="sng" algn="ctr" cap="flat" w="9525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1F3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l"/>
                      <a:r>
                        <a:rPr lang="es-ES" sz="1100" b="false" i="false">
                          <a:solidFill>
                            <a:srgbClr val="1F2933"/>
                          </a:solidFill>
                          <a:latin typeface="Segoe UI"/>
                        </a:rPr>
                        <a:t>String</a:t>
                      </a:r>
                      <a:endParaRPr sz="1100" lang="es-ES"/>
                    </a:p>
                  </a:txBody>
                  <a:tcPr marL="76200" marR="76200" marT="38100" marB="381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cmpd="sng" algn="ctr" cap="flat" w="9525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1F3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r"/>
                      <a:r>
                        <a:rPr lang="es-ES" sz="1100" b="false" i="false">
                          <a:solidFill>
                            <a:srgbClr val="1F2933"/>
                          </a:solidFill>
                          <a:latin typeface="Segoe UI"/>
                        </a:rPr>
                        <a:t> </a:t>
                      </a:r>
                      <a:endParaRPr sz="1100" lang="es-ES"/>
                    </a:p>
                  </a:txBody>
                  <a:tcPr marL="76200" marR="76200" marT="38100" marB="381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cmpd="sng" algn="ctr" cap="flat" w="9525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1F3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r"/>
                      <a:r>
                        <a:rPr lang="es-ES" sz="1100" b="false" i="false">
                          <a:solidFill>
                            <a:srgbClr val="1F2933"/>
                          </a:solidFill>
                          <a:latin typeface="Segoe UI"/>
                        </a:rPr>
                        <a:t> </a:t>
                      </a:r>
                      <a:endParaRPr sz="1100" lang="es-ES"/>
                    </a:p>
                  </a:txBody>
                  <a:tcPr marL="76200" marR="76200" marT="38100" marB="381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cmpd="sng" algn="ctr" cap="flat" w="9525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1F3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l"/>
                      <a:r>
                        <a:rPr lang="es-ES" sz="1100" b="false" i="false">
                          <a:solidFill>
                            <a:srgbClr val="1F2933"/>
                          </a:solidFill>
                          <a:latin typeface="Segoe UI"/>
                        </a:rPr>
                        <a:t>Leer ventas (CSV)</a:t>
                      </a:r>
                      <a:endParaRPr sz="1100" lang="es-ES"/>
                    </a:p>
                  </a:txBody>
                  <a:tcPr marL="76200" marR="76200" marT="38100" marB="381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cmpd="sng" algn="ctr" cap="flat" w="9525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1F3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2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8000" y="203200"/>
            <a:ext cx="11176000" cy="635000"/>
          </a:xfrm>
        </p:spPr>
        <p:txBody>
          <a:bodyPr lIns="0" rIns="0" wrap="square" anchor="ctr"/>
          <a:lstStyle/>
          <a:p>
            <a:pPr algn="l"/>
            <a:r>
              <a:rPr lang="es-ES" sz="2600" b="true" i="false">
                <a:solidFill>
                  <a:srgbClr val="243B53"/>
                </a:solidFill>
                <a:latin typeface="Segoe UI"/>
              </a:rPr>
              <a:t>Diccionario de datos (cont.)</a:t>
            </a:r>
            <a:endParaRPr sz="2600" lang="es-ES"/>
          </a:p>
        </p:txBody>
      </p:sp>
      <p:pic>
        <p:nvPicPr>
          <p:cNvPr name="Picture 3" id="3"/>
          <p:cNvPicPr>
            <a:picLocks noChangeAspect="true"/>
          </p:cNvPicPr>
          <p:nvPr/>
        </p:nvPicPr>
        <p:blipFill>
          <a:blip r:embed="rId2"/>
          <a:stretch>
            <a:fillRect/>
          </a:stretch>
        </p:blipFill>
        <p:spPr>
          <a:xfrm>
            <a:off x="10248900" y="5510084"/>
            <a:ext cx="1435100" cy="814516"/>
          </a:xfrm>
          <a:prstGeom prst="rect">
            <a:avLst/>
          </a:prstGeom>
        </p:spPr>
      </p:pic>
      <p:sp>
        <p:nvSpPr>
          <p:cNvPr name="AutoShape 4" id="4"/>
          <p:cNvSpPr/>
          <p:nvPr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243B53"/>
          </a:solidFill>
          <a:ln>
            <a:noFill/>
          </a:ln>
        </p:spPr>
      </p:sp>
      <p:pic>
        <p:nvPicPr>
          <p:cNvPr name="Picture 5" id="5"/>
          <p:cNvPicPr>
            <a:picLocks noChangeAspect="true"/>
          </p:cNvPicPr>
          <p:nvPr/>
        </p:nvPicPr>
        <p:blipFill>
          <a:blip r:embed="rId3"/>
          <a:stretch>
            <a:fillRect/>
          </a:stretch>
        </p:blipFill>
        <p:spPr>
          <a:xfrm>
            <a:off x="508000" y="6508750"/>
            <a:ext cx="177800" cy="100914"/>
          </a:xfrm>
          <a:prstGeom prst="rect">
            <a:avLst/>
          </a:prstGeom>
        </p:spPr>
      </p:pic>
      <p:sp>
        <p:nvSpPr>
          <p:cNvPr name="TextBox 6" id="6"/>
          <p:cNvSpPr txBox="true"/>
          <p:nvPr/>
        </p:nvSpPr>
        <p:spPr>
          <a:xfrm>
            <a:off x="749300" y="6451600"/>
            <a:ext cx="5080000" cy="228600"/>
          </a:xfrm>
          <a:prstGeom prst="rect">
            <a:avLst/>
          </a:prstGeom>
        </p:spPr>
        <p:txBody>
          <a:bodyPr anchor="ctr" rtlCol="false" wrap="square" lIns="0" rIns="0" tIns="25400" bIns="25400"/>
          <a:lstStyle/>
          <a:p>
            <a:pPr algn="l"/>
            <a:r>
              <a:rPr lang="es-ES" sz="750" b="false" i="false">
                <a:solidFill>
                  <a:srgbClr val="6B7785"/>
                </a:solidFill>
                <a:latin typeface="Segoe UI"/>
              </a:rPr>
              <a:t>Pentaho Live · IDC Studios</a:t>
            </a:r>
            <a:endParaRPr sz="750" lang="es-ES"/>
          </a:p>
        </p:txBody>
      </p:sp>
      <p:sp>
        <p:nvSpPr>
          <p:cNvPr name="TextBox 7" id="7"/>
          <p:cNvSpPr txBox="true"/>
          <p:nvPr/>
        </p:nvSpPr>
        <p:spPr>
          <a:xfrm>
            <a:off x="10160000" y="6451600"/>
            <a:ext cx="1524000" cy="228600"/>
          </a:xfrm>
          <a:prstGeom prst="rect">
            <a:avLst/>
          </a:prstGeom>
        </p:spPr>
        <p:txBody>
          <a:bodyPr anchor="ctr" rtlCol="false" wrap="square" lIns="0" rIns="0" tIns="25400" bIns="25400"/>
          <a:lstStyle/>
          <a:p>
            <a:pPr algn="r"/>
            <a:fld id="{1E86ECC1-D0CA-4DB0-83EE-1D1AA35B25B6}" type="slidenum">
              <a:rPr lang="es-ES" sz="750">
                <a:solidFill>
                  <a:srgbClr val="6B7785"/>
                </a:solidFill>
                <a:latin typeface="Segoe UI"/>
              </a:rPr>
              <a:t>22</a:t>
            </a:fld>
            <a:endParaRPr sz="750" lang="es-ES"/>
          </a:p>
        </p:txBody>
      </p:sp>
      <p:sp>
        <p:nvSpPr>
          <p:cNvPr name="TextBox 8" id="8"/>
          <p:cNvSpPr txBox="true"/>
          <p:nvPr/>
        </p:nvSpPr>
        <p:spPr>
          <a:xfrm>
            <a:off x="508000" y="1016000"/>
            <a:ext cx="11176000" cy="254000"/>
          </a:xfrm>
          <a:prstGeom prst="rect">
            <a:avLst/>
          </a:prstGeom>
        </p:spPr>
        <p:txBody>
          <a:bodyPr anchor="t" rtlCol="false" wrap="square" lIns="0" rIns="0" tIns="25400" bIns="25400"/>
          <a:lstStyle/>
          <a:p>
            <a:pPr algn="l"/>
            <a:r>
              <a:rPr lang="es-ES" sz="1300" b="true" i="false">
                <a:solidFill>
                  <a:srgbClr val="243B53"/>
                </a:solidFill>
                <a:latin typeface="Segoe UI"/>
              </a:rPr>
              <a:t>Buscar tienda</a:t>
            </a:r>
            <a:endParaRPr sz="1300" lang="es-ES"/>
          </a:p>
        </p:txBody>
      </p:sp>
      <p:graphicFrame>
        <p:nvGraphicFramePr>
          <p:cNvPr name="Table 9" id="9"/>
          <p:cNvGraphicFramePr>
            <a:graphicFrameLocks noGrp="true"/>
          </p:cNvGraphicFramePr>
          <p:nvPr/>
        </p:nvGraphicFramePr>
        <p:xfrm>
          <a:off x="508000" y="1295400"/>
          <a:ext cx="5702300" cy="2987040"/>
        </p:xfrm>
        <a:graphic>
          <a:graphicData uri="http://schemas.openxmlformats.org/drawingml/2006/table">
            <a:tbl>
              <a:tblPr/>
              <a:tblGrid>
                <a:gridCol w="1320800"/>
                <a:gridCol w="711200"/>
                <a:gridCol w="635000"/>
                <a:gridCol w="939800"/>
                <a:gridCol w="2095500"/>
              </a:tblGrid>
              <a:tr h="298704">
                <a:tc>
                  <a:txBody>
                    <a:bodyPr anchor="t" rtlCol="false"/>
                    <a:lstStyle/>
                    <a:p>
                      <a:pPr algn="l"/>
                      <a:r>
                        <a:rPr lang="es-ES" sz="1100" b="true" i="false">
                          <a:solidFill>
                            <a:srgbClr val="FFFFFF"/>
                          </a:solidFill>
                          <a:latin typeface="Segoe UI"/>
                        </a:rPr>
                        <a:t>Campo</a:t>
                      </a:r>
                      <a:endParaRPr sz="1100" lang="es-ES"/>
                    </a:p>
                  </a:txBody>
                  <a:tcPr marL="76200" marR="76200" marT="38100" marB="381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cmpd="sng" algn="ctr" cap="flat" w="9525">
                      <a:solidFill>
                        <a:srgbClr val="243B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3B53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l"/>
                      <a:r>
                        <a:rPr lang="es-ES" sz="1100" b="true" i="false">
                          <a:solidFill>
                            <a:srgbClr val="FFFFFF"/>
                          </a:solidFill>
                          <a:latin typeface="Segoe UI"/>
                        </a:rPr>
                        <a:t>Tipo</a:t>
                      </a:r>
                      <a:endParaRPr sz="1100" lang="es-ES"/>
                    </a:p>
                  </a:txBody>
                  <a:tcPr marL="76200" marR="76200" marT="38100" marB="381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cmpd="sng" algn="ctr" cap="flat" w="9525">
                      <a:solidFill>
                        <a:srgbClr val="243B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3B53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r"/>
                      <a:r>
                        <a:rPr lang="es-ES" sz="1100" b="true" i="false">
                          <a:solidFill>
                            <a:srgbClr val="FFFFFF"/>
                          </a:solidFill>
                          <a:latin typeface="Segoe UI"/>
                        </a:rPr>
                        <a:t>Largo</a:t>
                      </a:r>
                      <a:endParaRPr sz="1100" lang="es-ES"/>
                    </a:p>
                  </a:txBody>
                  <a:tcPr marL="76200" marR="76200" marT="38100" marB="381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cmpd="sng" algn="ctr" cap="flat" w="9525">
                      <a:solidFill>
                        <a:srgbClr val="243B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3B53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r"/>
                      <a:r>
                        <a:rPr lang="es-ES" sz="1100" b="true" i="false">
                          <a:solidFill>
                            <a:srgbClr val="FFFFFF"/>
                          </a:solidFill>
                          <a:latin typeface="Segoe UI"/>
                        </a:rPr>
                        <a:t>Precisión</a:t>
                      </a:r>
                      <a:endParaRPr sz="1100" lang="es-ES"/>
                    </a:p>
                  </a:txBody>
                  <a:tcPr marL="76200" marR="76200" marT="38100" marB="381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cmpd="sng" algn="ctr" cap="flat" w="9525">
                      <a:solidFill>
                        <a:srgbClr val="243B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3B53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l"/>
                      <a:r>
                        <a:rPr lang="es-ES" sz="1100" b="true" i="false">
                          <a:solidFill>
                            <a:srgbClr val="FFFFFF"/>
                          </a:solidFill>
                          <a:latin typeface="Segoe UI"/>
                        </a:rPr>
                        <a:t>Origen</a:t>
                      </a:r>
                      <a:endParaRPr sz="1100" lang="es-ES"/>
                    </a:p>
                  </a:txBody>
                  <a:tcPr marL="76200" marR="76200" marT="38100" marB="381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cmpd="sng" algn="ctr" cap="flat" w="9525">
                      <a:solidFill>
                        <a:srgbClr val="243B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3B53"/>
                    </a:solidFill>
                  </a:tcPr>
                </a:tc>
              </a:tr>
              <a:tr h="298704">
                <a:tc>
                  <a:txBody>
                    <a:bodyPr anchor="t" rtlCol="false"/>
                    <a:lstStyle/>
                    <a:p>
                      <a:pPr algn="l"/>
                      <a:r>
                        <a:rPr lang="es-ES" sz="1100" b="false" i="false">
                          <a:solidFill>
                            <a:srgbClr val="1F2933"/>
                          </a:solidFill>
                          <a:latin typeface="Segoe UI"/>
                        </a:rPr>
                        <a:t>id_ticket</a:t>
                      </a:r>
                      <a:endParaRPr sz="1100" lang="es-ES"/>
                    </a:p>
                  </a:txBody>
                  <a:tcPr marL="76200" marR="76200" marT="38100" marB="381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cmpd="sng" algn="ctr" cap="flat" w="9525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l"/>
                      <a:r>
                        <a:rPr lang="es-ES" sz="1100" b="false" i="false">
                          <a:solidFill>
                            <a:srgbClr val="1F2933"/>
                          </a:solidFill>
                          <a:latin typeface="Segoe UI"/>
                        </a:rPr>
                        <a:t>String</a:t>
                      </a:r>
                      <a:endParaRPr sz="1100" lang="es-ES"/>
                    </a:p>
                  </a:txBody>
                  <a:tcPr marL="76200" marR="76200" marT="38100" marB="381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cmpd="sng" algn="ctr" cap="flat" w="9525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r"/>
                      <a:r>
                        <a:rPr lang="es-ES" sz="1100" b="false" i="false">
                          <a:solidFill>
                            <a:srgbClr val="1F2933"/>
                          </a:solidFill>
                          <a:latin typeface="Segoe UI"/>
                        </a:rPr>
                        <a:t> </a:t>
                      </a:r>
                      <a:endParaRPr sz="1100" lang="es-ES"/>
                    </a:p>
                  </a:txBody>
                  <a:tcPr marL="76200" marR="76200" marT="38100" marB="381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cmpd="sng" algn="ctr" cap="flat" w="9525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r"/>
                      <a:r>
                        <a:rPr lang="es-ES" sz="1100" b="false" i="false">
                          <a:solidFill>
                            <a:srgbClr val="1F2933"/>
                          </a:solidFill>
                          <a:latin typeface="Segoe UI"/>
                        </a:rPr>
                        <a:t> </a:t>
                      </a:r>
                      <a:endParaRPr sz="1100" lang="es-ES"/>
                    </a:p>
                  </a:txBody>
                  <a:tcPr marL="76200" marR="76200" marT="38100" marB="381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cmpd="sng" algn="ctr" cap="flat" w="9525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l"/>
                      <a:r>
                        <a:rPr lang="es-ES" sz="1100" b="false" i="false">
                          <a:solidFill>
                            <a:srgbClr val="1F2933"/>
                          </a:solidFill>
                          <a:latin typeface="Segoe UI"/>
                        </a:rPr>
                        <a:t>Leer ventas (CSV)</a:t>
                      </a:r>
                      <a:endParaRPr sz="1100" lang="es-ES"/>
                    </a:p>
                  </a:txBody>
                  <a:tcPr marL="76200" marR="76200" marT="38100" marB="381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cmpd="sng" algn="ctr" cap="flat" w="9525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8704">
                <a:tc>
                  <a:txBody>
                    <a:bodyPr anchor="t" rtlCol="false"/>
                    <a:lstStyle/>
                    <a:p>
                      <a:pPr algn="l"/>
                      <a:r>
                        <a:rPr lang="es-ES" sz="1100" b="false" i="false">
                          <a:solidFill>
                            <a:srgbClr val="1F2933"/>
                          </a:solidFill>
                          <a:latin typeface="Segoe UI"/>
                        </a:rPr>
                        <a:t>linea</a:t>
                      </a:r>
                      <a:endParaRPr sz="1100" lang="es-ES"/>
                    </a:p>
                  </a:txBody>
                  <a:tcPr marL="76200" marR="76200" marT="38100" marB="381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cmpd="sng" algn="ctr" cap="flat" w="9525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1F3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l"/>
                      <a:r>
                        <a:rPr lang="es-ES" sz="1100" b="false" i="false">
                          <a:solidFill>
                            <a:srgbClr val="1F2933"/>
                          </a:solidFill>
                          <a:latin typeface="Segoe UI"/>
                        </a:rPr>
                        <a:t>Integer</a:t>
                      </a:r>
                      <a:endParaRPr sz="1100" lang="es-ES"/>
                    </a:p>
                  </a:txBody>
                  <a:tcPr marL="76200" marR="76200" marT="38100" marB="381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cmpd="sng" algn="ctr" cap="flat" w="9525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1F3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r"/>
                      <a:r>
                        <a:rPr lang="es-ES" sz="1100" b="false" i="false">
                          <a:solidFill>
                            <a:srgbClr val="1F2933"/>
                          </a:solidFill>
                          <a:latin typeface="Segoe UI"/>
                        </a:rPr>
                        <a:t> </a:t>
                      </a:r>
                      <a:endParaRPr sz="1100" lang="es-ES"/>
                    </a:p>
                  </a:txBody>
                  <a:tcPr marL="76200" marR="76200" marT="38100" marB="381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cmpd="sng" algn="ctr" cap="flat" w="9525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1F3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r"/>
                      <a:r>
                        <a:rPr lang="es-ES" sz="1100" b="false" i="false">
                          <a:solidFill>
                            <a:srgbClr val="1F2933"/>
                          </a:solidFill>
                          <a:latin typeface="Segoe UI"/>
                        </a:rPr>
                        <a:t>0</a:t>
                      </a:r>
                      <a:endParaRPr sz="1100" lang="es-ES"/>
                    </a:p>
                  </a:txBody>
                  <a:tcPr marL="76200" marR="76200" marT="38100" marB="381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cmpd="sng" algn="ctr" cap="flat" w="9525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1F3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l"/>
                      <a:r>
                        <a:rPr lang="es-ES" sz="1100" b="false" i="false">
                          <a:solidFill>
                            <a:srgbClr val="1F2933"/>
                          </a:solidFill>
                          <a:latin typeface="Segoe UI"/>
                        </a:rPr>
                        <a:t>Leer ventas (CSV)</a:t>
                      </a:r>
                      <a:endParaRPr sz="1100" lang="es-ES"/>
                    </a:p>
                  </a:txBody>
                  <a:tcPr marL="76200" marR="76200" marT="38100" marB="381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cmpd="sng" algn="ctr" cap="flat" w="9525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1F3"/>
                    </a:solidFill>
                  </a:tcPr>
                </a:tc>
              </a:tr>
              <a:tr h="298704">
                <a:tc>
                  <a:txBody>
                    <a:bodyPr anchor="t" rtlCol="false"/>
                    <a:lstStyle/>
                    <a:p>
                      <a:pPr algn="l"/>
                      <a:r>
                        <a:rPr lang="es-ES" sz="1100" b="false" i="false">
                          <a:solidFill>
                            <a:srgbClr val="1F2933"/>
                          </a:solidFill>
                          <a:latin typeface="Segoe UI"/>
                        </a:rPr>
                        <a:t>fecha</a:t>
                      </a:r>
                      <a:endParaRPr sz="1100" lang="es-ES"/>
                    </a:p>
                  </a:txBody>
                  <a:tcPr marL="76200" marR="76200" marT="38100" marB="381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cmpd="sng" algn="ctr" cap="flat" w="9525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l"/>
                      <a:r>
                        <a:rPr lang="es-ES" sz="1100" b="false" i="false">
                          <a:solidFill>
                            <a:srgbClr val="1F2933"/>
                          </a:solidFill>
                          <a:latin typeface="Segoe UI"/>
                        </a:rPr>
                        <a:t>String</a:t>
                      </a:r>
                      <a:endParaRPr sz="1100" lang="es-ES"/>
                    </a:p>
                  </a:txBody>
                  <a:tcPr marL="76200" marR="76200" marT="38100" marB="381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cmpd="sng" algn="ctr" cap="flat" w="9525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r"/>
                      <a:r>
                        <a:rPr lang="es-ES" sz="1100" b="false" i="false">
                          <a:solidFill>
                            <a:srgbClr val="1F2933"/>
                          </a:solidFill>
                          <a:latin typeface="Segoe UI"/>
                        </a:rPr>
                        <a:t> </a:t>
                      </a:r>
                      <a:endParaRPr sz="1100" lang="es-ES"/>
                    </a:p>
                  </a:txBody>
                  <a:tcPr marL="76200" marR="76200" marT="38100" marB="381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cmpd="sng" algn="ctr" cap="flat" w="9525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r"/>
                      <a:r>
                        <a:rPr lang="es-ES" sz="1100" b="false" i="false">
                          <a:solidFill>
                            <a:srgbClr val="1F2933"/>
                          </a:solidFill>
                          <a:latin typeface="Segoe UI"/>
                        </a:rPr>
                        <a:t> </a:t>
                      </a:r>
                      <a:endParaRPr sz="1100" lang="es-ES"/>
                    </a:p>
                  </a:txBody>
                  <a:tcPr marL="76200" marR="76200" marT="38100" marB="381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cmpd="sng" algn="ctr" cap="flat" w="9525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l"/>
                      <a:r>
                        <a:rPr lang="es-ES" sz="1100" b="false" i="false">
                          <a:solidFill>
                            <a:srgbClr val="1F2933"/>
                          </a:solidFill>
                          <a:latin typeface="Segoe UI"/>
                        </a:rPr>
                        <a:t>Leer ventas (CSV)</a:t>
                      </a:r>
                      <a:endParaRPr sz="1100" lang="es-ES"/>
                    </a:p>
                  </a:txBody>
                  <a:tcPr marL="76200" marR="76200" marT="38100" marB="381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cmpd="sng" algn="ctr" cap="flat" w="9525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8704">
                <a:tc>
                  <a:txBody>
                    <a:bodyPr anchor="t" rtlCol="false"/>
                    <a:lstStyle/>
                    <a:p>
                      <a:pPr algn="l"/>
                      <a:r>
                        <a:rPr lang="es-ES" sz="1100" b="false" i="false">
                          <a:solidFill>
                            <a:srgbClr val="1F2933"/>
                          </a:solidFill>
                          <a:latin typeface="Segoe UI"/>
                        </a:rPr>
                        <a:t>id_tienda</a:t>
                      </a:r>
                      <a:endParaRPr sz="1100" lang="es-ES"/>
                    </a:p>
                  </a:txBody>
                  <a:tcPr marL="76200" marR="76200" marT="38100" marB="381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cmpd="sng" algn="ctr" cap="flat" w="9525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1F3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l"/>
                      <a:r>
                        <a:rPr lang="es-ES" sz="1100" b="false" i="false">
                          <a:solidFill>
                            <a:srgbClr val="1F2933"/>
                          </a:solidFill>
                          <a:latin typeface="Segoe UI"/>
                        </a:rPr>
                        <a:t>String</a:t>
                      </a:r>
                      <a:endParaRPr sz="1100" lang="es-ES"/>
                    </a:p>
                  </a:txBody>
                  <a:tcPr marL="76200" marR="76200" marT="38100" marB="381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cmpd="sng" algn="ctr" cap="flat" w="9525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1F3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r"/>
                      <a:r>
                        <a:rPr lang="es-ES" sz="1100" b="false" i="false">
                          <a:solidFill>
                            <a:srgbClr val="1F2933"/>
                          </a:solidFill>
                          <a:latin typeface="Segoe UI"/>
                        </a:rPr>
                        <a:t> </a:t>
                      </a:r>
                      <a:endParaRPr sz="1100" lang="es-ES"/>
                    </a:p>
                  </a:txBody>
                  <a:tcPr marL="76200" marR="76200" marT="38100" marB="381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cmpd="sng" algn="ctr" cap="flat" w="9525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1F3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r"/>
                      <a:r>
                        <a:rPr lang="es-ES" sz="1100" b="false" i="false">
                          <a:solidFill>
                            <a:srgbClr val="1F2933"/>
                          </a:solidFill>
                          <a:latin typeface="Segoe UI"/>
                        </a:rPr>
                        <a:t> </a:t>
                      </a:r>
                      <a:endParaRPr sz="1100" lang="es-ES"/>
                    </a:p>
                  </a:txBody>
                  <a:tcPr marL="76200" marR="76200" marT="38100" marB="381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cmpd="sng" algn="ctr" cap="flat" w="9525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1F3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l"/>
                      <a:r>
                        <a:rPr lang="es-ES" sz="1100" b="false" i="false">
                          <a:solidFill>
                            <a:srgbClr val="1F2933"/>
                          </a:solidFill>
                          <a:latin typeface="Segoe UI"/>
                        </a:rPr>
                        <a:t>Leer ventas (CSV)</a:t>
                      </a:r>
                      <a:endParaRPr sz="1100" lang="es-ES"/>
                    </a:p>
                  </a:txBody>
                  <a:tcPr marL="76200" marR="76200" marT="38100" marB="381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cmpd="sng" algn="ctr" cap="flat" w="9525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1F3"/>
                    </a:solidFill>
                  </a:tcPr>
                </a:tc>
              </a:tr>
              <a:tr h="298704">
                <a:tc>
                  <a:txBody>
                    <a:bodyPr anchor="t" rtlCol="false"/>
                    <a:lstStyle/>
                    <a:p>
                      <a:pPr algn="l"/>
                      <a:r>
                        <a:rPr lang="es-ES" sz="1100" b="false" i="false">
                          <a:solidFill>
                            <a:srgbClr val="1F2933"/>
                          </a:solidFill>
                          <a:latin typeface="Segoe UI"/>
                        </a:rPr>
                        <a:t>codigo_producto</a:t>
                      </a:r>
                      <a:endParaRPr sz="1100" lang="es-ES"/>
                    </a:p>
                  </a:txBody>
                  <a:tcPr marL="76200" marR="76200" marT="38100" marB="381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cmpd="sng" algn="ctr" cap="flat" w="9525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l"/>
                      <a:r>
                        <a:rPr lang="es-ES" sz="1100" b="false" i="false">
                          <a:solidFill>
                            <a:srgbClr val="1F2933"/>
                          </a:solidFill>
                          <a:latin typeface="Segoe UI"/>
                        </a:rPr>
                        <a:t>String</a:t>
                      </a:r>
                      <a:endParaRPr sz="1100" lang="es-ES"/>
                    </a:p>
                  </a:txBody>
                  <a:tcPr marL="76200" marR="76200" marT="38100" marB="381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cmpd="sng" algn="ctr" cap="flat" w="9525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r"/>
                      <a:r>
                        <a:rPr lang="es-ES" sz="1100" b="false" i="false">
                          <a:solidFill>
                            <a:srgbClr val="1F2933"/>
                          </a:solidFill>
                          <a:latin typeface="Segoe UI"/>
                        </a:rPr>
                        <a:t> </a:t>
                      </a:r>
                      <a:endParaRPr sz="1100" lang="es-ES"/>
                    </a:p>
                  </a:txBody>
                  <a:tcPr marL="76200" marR="76200" marT="38100" marB="381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cmpd="sng" algn="ctr" cap="flat" w="9525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r"/>
                      <a:r>
                        <a:rPr lang="es-ES" sz="1100" b="false" i="false">
                          <a:solidFill>
                            <a:srgbClr val="1F2933"/>
                          </a:solidFill>
                          <a:latin typeface="Segoe UI"/>
                        </a:rPr>
                        <a:t> </a:t>
                      </a:r>
                      <a:endParaRPr sz="1100" lang="es-ES"/>
                    </a:p>
                  </a:txBody>
                  <a:tcPr marL="76200" marR="76200" marT="38100" marB="381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cmpd="sng" algn="ctr" cap="flat" w="9525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l"/>
                      <a:r>
                        <a:rPr lang="es-ES" sz="1100" b="false" i="false">
                          <a:solidFill>
                            <a:srgbClr val="1F2933"/>
                          </a:solidFill>
                          <a:latin typeface="Segoe UI"/>
                        </a:rPr>
                        <a:t>Leer ventas (CSV)</a:t>
                      </a:r>
                      <a:endParaRPr sz="1100" lang="es-ES"/>
                    </a:p>
                  </a:txBody>
                  <a:tcPr marL="76200" marR="76200" marT="38100" marB="381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cmpd="sng" algn="ctr" cap="flat" w="9525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8704">
                <a:tc>
                  <a:txBody>
                    <a:bodyPr anchor="t" rtlCol="false"/>
                    <a:lstStyle/>
                    <a:p>
                      <a:pPr algn="l"/>
                      <a:r>
                        <a:rPr lang="es-ES" sz="1100" b="false" i="false">
                          <a:solidFill>
                            <a:srgbClr val="1F2933"/>
                          </a:solidFill>
                          <a:latin typeface="Segoe UI"/>
                        </a:rPr>
                        <a:t>cantidad</a:t>
                      </a:r>
                      <a:endParaRPr sz="1100" lang="es-ES"/>
                    </a:p>
                  </a:txBody>
                  <a:tcPr marL="76200" marR="76200" marT="38100" marB="381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cmpd="sng" algn="ctr" cap="flat" w="9525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1F3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l"/>
                      <a:r>
                        <a:rPr lang="es-ES" sz="1100" b="false" i="false">
                          <a:solidFill>
                            <a:srgbClr val="1F2933"/>
                          </a:solidFill>
                          <a:latin typeface="Segoe UI"/>
                        </a:rPr>
                        <a:t>Integer</a:t>
                      </a:r>
                      <a:endParaRPr sz="1100" lang="es-ES"/>
                    </a:p>
                  </a:txBody>
                  <a:tcPr marL="76200" marR="76200" marT="38100" marB="381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cmpd="sng" algn="ctr" cap="flat" w="9525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1F3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r"/>
                      <a:r>
                        <a:rPr lang="es-ES" sz="1100" b="false" i="false">
                          <a:solidFill>
                            <a:srgbClr val="1F2933"/>
                          </a:solidFill>
                          <a:latin typeface="Segoe UI"/>
                        </a:rPr>
                        <a:t> </a:t>
                      </a:r>
                      <a:endParaRPr sz="1100" lang="es-ES"/>
                    </a:p>
                  </a:txBody>
                  <a:tcPr marL="76200" marR="76200" marT="38100" marB="381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cmpd="sng" algn="ctr" cap="flat" w="9525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1F3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r"/>
                      <a:r>
                        <a:rPr lang="es-ES" sz="1100" b="false" i="false">
                          <a:solidFill>
                            <a:srgbClr val="1F2933"/>
                          </a:solidFill>
                          <a:latin typeface="Segoe UI"/>
                        </a:rPr>
                        <a:t>0</a:t>
                      </a:r>
                      <a:endParaRPr sz="1100" lang="es-ES"/>
                    </a:p>
                  </a:txBody>
                  <a:tcPr marL="76200" marR="76200" marT="38100" marB="381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cmpd="sng" algn="ctr" cap="flat" w="9525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1F3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l"/>
                      <a:r>
                        <a:rPr lang="es-ES" sz="1100" b="false" i="false">
                          <a:solidFill>
                            <a:srgbClr val="1F2933"/>
                          </a:solidFill>
                          <a:latin typeface="Segoe UI"/>
                        </a:rPr>
                        <a:t>Leer ventas (CSV)</a:t>
                      </a:r>
                      <a:endParaRPr sz="1100" lang="es-ES"/>
                    </a:p>
                  </a:txBody>
                  <a:tcPr marL="76200" marR="76200" marT="38100" marB="381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cmpd="sng" algn="ctr" cap="flat" w="9525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1F3"/>
                    </a:solidFill>
                  </a:tcPr>
                </a:tc>
              </a:tr>
              <a:tr h="298704">
                <a:tc>
                  <a:txBody>
                    <a:bodyPr anchor="t" rtlCol="false"/>
                    <a:lstStyle/>
                    <a:p>
                      <a:pPr algn="l"/>
                      <a:r>
                        <a:rPr lang="es-ES" sz="1100" b="false" i="false">
                          <a:solidFill>
                            <a:srgbClr val="1F2933"/>
                          </a:solidFill>
                          <a:latin typeface="Segoe UI"/>
                        </a:rPr>
                        <a:t>precio_unitario</a:t>
                      </a:r>
                      <a:endParaRPr sz="1100" lang="es-ES"/>
                    </a:p>
                  </a:txBody>
                  <a:tcPr marL="76200" marR="76200" marT="38100" marB="381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cmpd="sng" algn="ctr" cap="flat" w="9525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l"/>
                      <a:r>
                        <a:rPr lang="es-ES" sz="1100" b="false" i="false">
                          <a:solidFill>
                            <a:srgbClr val="1F2933"/>
                          </a:solidFill>
                          <a:latin typeface="Segoe UI"/>
                        </a:rPr>
                        <a:t>Number</a:t>
                      </a:r>
                      <a:endParaRPr sz="1100" lang="es-ES"/>
                    </a:p>
                  </a:txBody>
                  <a:tcPr marL="76200" marR="76200" marT="38100" marB="381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cmpd="sng" algn="ctr" cap="flat" w="9525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r"/>
                      <a:r>
                        <a:rPr lang="es-ES" sz="1100" b="false" i="false">
                          <a:solidFill>
                            <a:srgbClr val="1F2933"/>
                          </a:solidFill>
                          <a:latin typeface="Segoe UI"/>
                        </a:rPr>
                        <a:t> </a:t>
                      </a:r>
                      <a:endParaRPr sz="1100" lang="es-ES"/>
                    </a:p>
                  </a:txBody>
                  <a:tcPr marL="76200" marR="76200" marT="38100" marB="381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cmpd="sng" algn="ctr" cap="flat" w="9525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r"/>
                      <a:r>
                        <a:rPr lang="es-ES" sz="1100" b="false" i="false">
                          <a:solidFill>
                            <a:srgbClr val="1F2933"/>
                          </a:solidFill>
                          <a:latin typeface="Segoe UI"/>
                        </a:rPr>
                        <a:t> </a:t>
                      </a:r>
                      <a:endParaRPr sz="1100" lang="es-ES"/>
                    </a:p>
                  </a:txBody>
                  <a:tcPr marL="76200" marR="76200" marT="38100" marB="381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cmpd="sng" algn="ctr" cap="flat" w="9525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l"/>
                      <a:r>
                        <a:rPr lang="es-ES" sz="1100" b="false" i="false">
                          <a:solidFill>
                            <a:srgbClr val="1F2933"/>
                          </a:solidFill>
                          <a:latin typeface="Segoe UI"/>
                        </a:rPr>
                        <a:t>Convertir precio a número</a:t>
                      </a:r>
                      <a:endParaRPr sz="1100" lang="es-ES"/>
                    </a:p>
                  </a:txBody>
                  <a:tcPr marL="76200" marR="76200" marT="38100" marB="381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cmpd="sng" algn="ctr" cap="flat" w="9525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8704">
                <a:tc>
                  <a:txBody>
                    <a:bodyPr anchor="t" rtlCol="false"/>
                    <a:lstStyle/>
                    <a:p>
                      <a:pPr algn="l"/>
                      <a:r>
                        <a:rPr lang="es-ES" sz="1100" b="false" i="false">
                          <a:solidFill>
                            <a:srgbClr val="1F2933"/>
                          </a:solidFill>
                          <a:latin typeface="Segoe UI"/>
                        </a:rPr>
                        <a:t>metodo_pago</a:t>
                      </a:r>
                      <a:endParaRPr sz="1100" lang="es-ES"/>
                    </a:p>
                  </a:txBody>
                  <a:tcPr marL="76200" marR="76200" marT="38100" marB="381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cmpd="sng" algn="ctr" cap="flat" w="9525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1F3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l"/>
                      <a:r>
                        <a:rPr lang="es-ES" sz="1100" b="false" i="false">
                          <a:solidFill>
                            <a:srgbClr val="1F2933"/>
                          </a:solidFill>
                          <a:latin typeface="Segoe UI"/>
                        </a:rPr>
                        <a:t>String</a:t>
                      </a:r>
                      <a:endParaRPr sz="1100" lang="es-ES"/>
                    </a:p>
                  </a:txBody>
                  <a:tcPr marL="76200" marR="76200" marT="38100" marB="381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cmpd="sng" algn="ctr" cap="flat" w="9525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1F3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r"/>
                      <a:r>
                        <a:rPr lang="es-ES" sz="1100" b="false" i="false">
                          <a:solidFill>
                            <a:srgbClr val="1F2933"/>
                          </a:solidFill>
                          <a:latin typeface="Segoe UI"/>
                        </a:rPr>
                        <a:t> </a:t>
                      </a:r>
                      <a:endParaRPr sz="1100" lang="es-ES"/>
                    </a:p>
                  </a:txBody>
                  <a:tcPr marL="76200" marR="76200" marT="38100" marB="381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cmpd="sng" algn="ctr" cap="flat" w="9525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1F3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r"/>
                      <a:r>
                        <a:rPr lang="es-ES" sz="1100" b="false" i="false">
                          <a:solidFill>
                            <a:srgbClr val="1F2933"/>
                          </a:solidFill>
                          <a:latin typeface="Segoe UI"/>
                        </a:rPr>
                        <a:t> </a:t>
                      </a:r>
                      <a:endParaRPr sz="1100" lang="es-ES"/>
                    </a:p>
                  </a:txBody>
                  <a:tcPr marL="76200" marR="76200" marT="38100" marB="381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cmpd="sng" algn="ctr" cap="flat" w="9525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1F3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l"/>
                      <a:r>
                        <a:rPr lang="es-ES" sz="1100" b="false" i="false">
                          <a:solidFill>
                            <a:srgbClr val="1F2933"/>
                          </a:solidFill>
                          <a:latin typeface="Segoe UI"/>
                        </a:rPr>
                        <a:t>Leer ventas (CSV)</a:t>
                      </a:r>
                      <a:endParaRPr sz="1100" lang="es-ES"/>
                    </a:p>
                  </a:txBody>
                  <a:tcPr marL="76200" marR="76200" marT="38100" marB="381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cmpd="sng" algn="ctr" cap="flat" w="9525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1F3"/>
                    </a:solidFill>
                  </a:tcPr>
                </a:tc>
              </a:tr>
              <a:tr h="298704">
                <a:tc>
                  <a:txBody>
                    <a:bodyPr anchor="t" rtlCol="false"/>
                    <a:lstStyle/>
                    <a:p>
                      <a:pPr algn="l"/>
                      <a:r>
                        <a:rPr lang="es-ES" sz="1100" b="false" i="false">
                          <a:solidFill>
                            <a:srgbClr val="1F2933"/>
                          </a:solidFill>
                          <a:latin typeface="Segoe UI"/>
                        </a:rPr>
                        <a:t>sk_tienda</a:t>
                      </a:r>
                      <a:endParaRPr sz="1100" lang="es-ES"/>
                    </a:p>
                  </a:txBody>
                  <a:tcPr marL="76200" marR="76200" marT="38100" marB="381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cmpd="sng" algn="ctr" cap="flat" w="9525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l"/>
                      <a:r>
                        <a:rPr lang="es-ES" sz="1100" b="false" i="false">
                          <a:solidFill>
                            <a:srgbClr val="1F2933"/>
                          </a:solidFill>
                          <a:latin typeface="Segoe UI"/>
                        </a:rPr>
                        <a:t>Integer</a:t>
                      </a:r>
                      <a:endParaRPr sz="1100" lang="es-ES"/>
                    </a:p>
                  </a:txBody>
                  <a:tcPr marL="76200" marR="76200" marT="38100" marB="381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cmpd="sng" algn="ctr" cap="flat" w="9525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r"/>
                      <a:r>
                        <a:rPr lang="es-ES" sz="1100" b="false" i="false">
                          <a:solidFill>
                            <a:srgbClr val="1F2933"/>
                          </a:solidFill>
                          <a:latin typeface="Segoe UI"/>
                        </a:rPr>
                        <a:t>9</a:t>
                      </a:r>
                      <a:endParaRPr sz="1100" lang="es-ES"/>
                    </a:p>
                  </a:txBody>
                  <a:tcPr marL="76200" marR="76200" marT="38100" marB="381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cmpd="sng" algn="ctr" cap="flat" w="9525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r"/>
                      <a:r>
                        <a:rPr lang="es-ES" sz="1100" b="false" i="false">
                          <a:solidFill>
                            <a:srgbClr val="1F2933"/>
                          </a:solidFill>
                          <a:latin typeface="Segoe UI"/>
                        </a:rPr>
                        <a:t>0</a:t>
                      </a:r>
                      <a:endParaRPr sz="1100" lang="es-ES"/>
                    </a:p>
                  </a:txBody>
                  <a:tcPr marL="76200" marR="76200" marT="38100" marB="381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cmpd="sng" algn="ctr" cap="flat" w="9525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l"/>
                      <a:r>
                        <a:rPr lang="es-ES" sz="1100" b="false" i="false">
                          <a:solidFill>
                            <a:srgbClr val="1F2933"/>
                          </a:solidFill>
                          <a:latin typeface="Segoe UI"/>
                        </a:rPr>
                        <a:t>Buscar tienda</a:t>
                      </a:r>
                      <a:endParaRPr sz="1100" lang="es-ES"/>
                    </a:p>
                  </a:txBody>
                  <a:tcPr marL="76200" marR="76200" marT="38100" marB="381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cmpd="sng" algn="ctr" cap="flat" w="9525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3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8000" y="203200"/>
            <a:ext cx="11176000" cy="635000"/>
          </a:xfrm>
        </p:spPr>
        <p:txBody>
          <a:bodyPr lIns="0" rIns="0" wrap="square" anchor="ctr"/>
          <a:lstStyle/>
          <a:p>
            <a:pPr algn="l"/>
            <a:r>
              <a:rPr lang="es-ES" sz="2600" b="true" i="false">
                <a:solidFill>
                  <a:srgbClr val="243B53"/>
                </a:solidFill>
                <a:latin typeface="Segoe UI"/>
              </a:rPr>
              <a:t>Diccionario de datos (cont.)</a:t>
            </a:r>
            <a:endParaRPr sz="2600" lang="es-ES"/>
          </a:p>
        </p:txBody>
      </p:sp>
      <p:pic>
        <p:nvPicPr>
          <p:cNvPr name="Picture 3" id="3"/>
          <p:cNvPicPr>
            <a:picLocks noChangeAspect="true"/>
          </p:cNvPicPr>
          <p:nvPr/>
        </p:nvPicPr>
        <p:blipFill>
          <a:blip r:embed="rId2"/>
          <a:stretch>
            <a:fillRect/>
          </a:stretch>
        </p:blipFill>
        <p:spPr>
          <a:xfrm>
            <a:off x="10248900" y="5510084"/>
            <a:ext cx="1435100" cy="814516"/>
          </a:xfrm>
          <a:prstGeom prst="rect">
            <a:avLst/>
          </a:prstGeom>
        </p:spPr>
      </p:pic>
      <p:sp>
        <p:nvSpPr>
          <p:cNvPr name="AutoShape 4" id="4"/>
          <p:cNvSpPr/>
          <p:nvPr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243B53"/>
          </a:solidFill>
          <a:ln>
            <a:noFill/>
          </a:ln>
        </p:spPr>
      </p:sp>
      <p:pic>
        <p:nvPicPr>
          <p:cNvPr name="Picture 5" id="5"/>
          <p:cNvPicPr>
            <a:picLocks noChangeAspect="true"/>
          </p:cNvPicPr>
          <p:nvPr/>
        </p:nvPicPr>
        <p:blipFill>
          <a:blip r:embed="rId3"/>
          <a:stretch>
            <a:fillRect/>
          </a:stretch>
        </p:blipFill>
        <p:spPr>
          <a:xfrm>
            <a:off x="508000" y="6508750"/>
            <a:ext cx="177800" cy="100914"/>
          </a:xfrm>
          <a:prstGeom prst="rect">
            <a:avLst/>
          </a:prstGeom>
        </p:spPr>
      </p:pic>
      <p:sp>
        <p:nvSpPr>
          <p:cNvPr name="TextBox 6" id="6"/>
          <p:cNvSpPr txBox="true"/>
          <p:nvPr/>
        </p:nvSpPr>
        <p:spPr>
          <a:xfrm>
            <a:off x="749300" y="6451600"/>
            <a:ext cx="5080000" cy="228600"/>
          </a:xfrm>
          <a:prstGeom prst="rect">
            <a:avLst/>
          </a:prstGeom>
        </p:spPr>
        <p:txBody>
          <a:bodyPr anchor="ctr" rtlCol="false" wrap="square" lIns="0" rIns="0" tIns="25400" bIns="25400"/>
          <a:lstStyle/>
          <a:p>
            <a:pPr algn="l"/>
            <a:r>
              <a:rPr lang="es-ES" sz="750" b="false" i="false">
                <a:solidFill>
                  <a:srgbClr val="6B7785"/>
                </a:solidFill>
                <a:latin typeface="Segoe UI"/>
              </a:rPr>
              <a:t>Pentaho Live · IDC Studios</a:t>
            </a:r>
            <a:endParaRPr sz="750" lang="es-ES"/>
          </a:p>
        </p:txBody>
      </p:sp>
      <p:sp>
        <p:nvSpPr>
          <p:cNvPr name="TextBox 7" id="7"/>
          <p:cNvSpPr txBox="true"/>
          <p:nvPr/>
        </p:nvSpPr>
        <p:spPr>
          <a:xfrm>
            <a:off x="10160000" y="6451600"/>
            <a:ext cx="1524000" cy="228600"/>
          </a:xfrm>
          <a:prstGeom prst="rect">
            <a:avLst/>
          </a:prstGeom>
        </p:spPr>
        <p:txBody>
          <a:bodyPr anchor="ctr" rtlCol="false" wrap="square" lIns="0" rIns="0" tIns="25400" bIns="25400"/>
          <a:lstStyle/>
          <a:p>
            <a:pPr algn="r"/>
            <a:fld id="{3480CCAA-7C17-4ECC-92B7-594A1CD80A4E}" type="slidenum">
              <a:rPr lang="es-ES" sz="750">
                <a:solidFill>
                  <a:srgbClr val="6B7785"/>
                </a:solidFill>
                <a:latin typeface="Segoe UI"/>
              </a:rPr>
              <a:t>23</a:t>
            </a:fld>
            <a:endParaRPr sz="750" lang="es-ES"/>
          </a:p>
        </p:txBody>
      </p:sp>
      <p:sp>
        <p:nvSpPr>
          <p:cNvPr name="TextBox 8" id="8"/>
          <p:cNvSpPr txBox="true"/>
          <p:nvPr/>
        </p:nvSpPr>
        <p:spPr>
          <a:xfrm>
            <a:off x="508000" y="1016000"/>
            <a:ext cx="11176000" cy="254000"/>
          </a:xfrm>
          <a:prstGeom prst="rect">
            <a:avLst/>
          </a:prstGeom>
        </p:spPr>
        <p:txBody>
          <a:bodyPr anchor="t" rtlCol="false" wrap="square" lIns="0" rIns="0" tIns="25400" bIns="25400"/>
          <a:lstStyle/>
          <a:p>
            <a:pPr algn="l"/>
            <a:r>
              <a:rPr lang="es-ES" sz="1300" b="true" i="false">
                <a:solidFill>
                  <a:srgbClr val="243B53"/>
                </a:solidFill>
                <a:latin typeface="Segoe UI"/>
              </a:rPr>
              <a:t>Buscar producto</a:t>
            </a:r>
            <a:endParaRPr sz="1300" lang="es-ES"/>
          </a:p>
        </p:txBody>
      </p:sp>
      <p:graphicFrame>
        <p:nvGraphicFramePr>
          <p:cNvPr name="Table 9" id="9"/>
          <p:cNvGraphicFramePr>
            <a:graphicFrameLocks noGrp="true"/>
          </p:cNvGraphicFramePr>
          <p:nvPr/>
        </p:nvGraphicFramePr>
        <p:xfrm>
          <a:off x="508000" y="1295400"/>
          <a:ext cx="5702300" cy="3285744"/>
        </p:xfrm>
        <a:graphic>
          <a:graphicData uri="http://schemas.openxmlformats.org/drawingml/2006/table">
            <a:tbl>
              <a:tblPr/>
              <a:tblGrid>
                <a:gridCol w="1320800"/>
                <a:gridCol w="711200"/>
                <a:gridCol w="635000"/>
                <a:gridCol w="939800"/>
                <a:gridCol w="2095500"/>
              </a:tblGrid>
              <a:tr h="298704">
                <a:tc>
                  <a:txBody>
                    <a:bodyPr anchor="t" rtlCol="false"/>
                    <a:lstStyle/>
                    <a:p>
                      <a:pPr algn="l"/>
                      <a:r>
                        <a:rPr lang="es-ES" sz="1100" b="true" i="false">
                          <a:solidFill>
                            <a:srgbClr val="FFFFFF"/>
                          </a:solidFill>
                          <a:latin typeface="Segoe UI"/>
                        </a:rPr>
                        <a:t>Campo</a:t>
                      </a:r>
                      <a:endParaRPr sz="1100" lang="es-ES"/>
                    </a:p>
                  </a:txBody>
                  <a:tcPr marL="76200" marR="76200" marT="38100" marB="381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cmpd="sng" algn="ctr" cap="flat" w="9525">
                      <a:solidFill>
                        <a:srgbClr val="243B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3B53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l"/>
                      <a:r>
                        <a:rPr lang="es-ES" sz="1100" b="true" i="false">
                          <a:solidFill>
                            <a:srgbClr val="FFFFFF"/>
                          </a:solidFill>
                          <a:latin typeface="Segoe UI"/>
                        </a:rPr>
                        <a:t>Tipo</a:t>
                      </a:r>
                      <a:endParaRPr sz="1100" lang="es-ES"/>
                    </a:p>
                  </a:txBody>
                  <a:tcPr marL="76200" marR="76200" marT="38100" marB="381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cmpd="sng" algn="ctr" cap="flat" w="9525">
                      <a:solidFill>
                        <a:srgbClr val="243B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3B53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r"/>
                      <a:r>
                        <a:rPr lang="es-ES" sz="1100" b="true" i="false">
                          <a:solidFill>
                            <a:srgbClr val="FFFFFF"/>
                          </a:solidFill>
                          <a:latin typeface="Segoe UI"/>
                        </a:rPr>
                        <a:t>Largo</a:t>
                      </a:r>
                      <a:endParaRPr sz="1100" lang="es-ES"/>
                    </a:p>
                  </a:txBody>
                  <a:tcPr marL="76200" marR="76200" marT="38100" marB="381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cmpd="sng" algn="ctr" cap="flat" w="9525">
                      <a:solidFill>
                        <a:srgbClr val="243B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3B53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r"/>
                      <a:r>
                        <a:rPr lang="es-ES" sz="1100" b="true" i="false">
                          <a:solidFill>
                            <a:srgbClr val="FFFFFF"/>
                          </a:solidFill>
                          <a:latin typeface="Segoe UI"/>
                        </a:rPr>
                        <a:t>Precisión</a:t>
                      </a:r>
                      <a:endParaRPr sz="1100" lang="es-ES"/>
                    </a:p>
                  </a:txBody>
                  <a:tcPr marL="76200" marR="76200" marT="38100" marB="381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cmpd="sng" algn="ctr" cap="flat" w="9525">
                      <a:solidFill>
                        <a:srgbClr val="243B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3B53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l"/>
                      <a:r>
                        <a:rPr lang="es-ES" sz="1100" b="true" i="false">
                          <a:solidFill>
                            <a:srgbClr val="FFFFFF"/>
                          </a:solidFill>
                          <a:latin typeface="Segoe UI"/>
                        </a:rPr>
                        <a:t>Origen</a:t>
                      </a:r>
                      <a:endParaRPr sz="1100" lang="es-ES"/>
                    </a:p>
                  </a:txBody>
                  <a:tcPr marL="76200" marR="76200" marT="38100" marB="381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cmpd="sng" algn="ctr" cap="flat" w="9525">
                      <a:solidFill>
                        <a:srgbClr val="243B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3B53"/>
                    </a:solidFill>
                  </a:tcPr>
                </a:tc>
              </a:tr>
              <a:tr h="298704">
                <a:tc>
                  <a:txBody>
                    <a:bodyPr anchor="t" rtlCol="false"/>
                    <a:lstStyle/>
                    <a:p>
                      <a:pPr algn="l"/>
                      <a:r>
                        <a:rPr lang="es-ES" sz="1100" b="false" i="false">
                          <a:solidFill>
                            <a:srgbClr val="1F2933"/>
                          </a:solidFill>
                          <a:latin typeface="Segoe UI"/>
                        </a:rPr>
                        <a:t>id_ticket</a:t>
                      </a:r>
                      <a:endParaRPr sz="1100" lang="es-ES"/>
                    </a:p>
                  </a:txBody>
                  <a:tcPr marL="76200" marR="76200" marT="38100" marB="381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cmpd="sng" algn="ctr" cap="flat" w="9525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l"/>
                      <a:r>
                        <a:rPr lang="es-ES" sz="1100" b="false" i="false">
                          <a:solidFill>
                            <a:srgbClr val="1F2933"/>
                          </a:solidFill>
                          <a:latin typeface="Segoe UI"/>
                        </a:rPr>
                        <a:t>String</a:t>
                      </a:r>
                      <a:endParaRPr sz="1100" lang="es-ES"/>
                    </a:p>
                  </a:txBody>
                  <a:tcPr marL="76200" marR="76200" marT="38100" marB="381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cmpd="sng" algn="ctr" cap="flat" w="9525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r"/>
                      <a:r>
                        <a:rPr lang="es-ES" sz="1100" b="false" i="false">
                          <a:solidFill>
                            <a:srgbClr val="1F2933"/>
                          </a:solidFill>
                          <a:latin typeface="Segoe UI"/>
                        </a:rPr>
                        <a:t> </a:t>
                      </a:r>
                      <a:endParaRPr sz="1100" lang="es-ES"/>
                    </a:p>
                  </a:txBody>
                  <a:tcPr marL="76200" marR="76200" marT="38100" marB="381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cmpd="sng" algn="ctr" cap="flat" w="9525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r"/>
                      <a:r>
                        <a:rPr lang="es-ES" sz="1100" b="false" i="false">
                          <a:solidFill>
                            <a:srgbClr val="1F2933"/>
                          </a:solidFill>
                          <a:latin typeface="Segoe UI"/>
                        </a:rPr>
                        <a:t> </a:t>
                      </a:r>
                      <a:endParaRPr sz="1100" lang="es-ES"/>
                    </a:p>
                  </a:txBody>
                  <a:tcPr marL="76200" marR="76200" marT="38100" marB="381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cmpd="sng" algn="ctr" cap="flat" w="9525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l"/>
                      <a:r>
                        <a:rPr lang="es-ES" sz="1100" b="false" i="false">
                          <a:solidFill>
                            <a:srgbClr val="1F2933"/>
                          </a:solidFill>
                          <a:latin typeface="Segoe UI"/>
                        </a:rPr>
                        <a:t>Leer ventas (CSV)</a:t>
                      </a:r>
                      <a:endParaRPr sz="1100" lang="es-ES"/>
                    </a:p>
                  </a:txBody>
                  <a:tcPr marL="76200" marR="76200" marT="38100" marB="381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cmpd="sng" algn="ctr" cap="flat" w="9525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8704">
                <a:tc>
                  <a:txBody>
                    <a:bodyPr anchor="t" rtlCol="false"/>
                    <a:lstStyle/>
                    <a:p>
                      <a:pPr algn="l"/>
                      <a:r>
                        <a:rPr lang="es-ES" sz="1100" b="false" i="false">
                          <a:solidFill>
                            <a:srgbClr val="1F2933"/>
                          </a:solidFill>
                          <a:latin typeface="Segoe UI"/>
                        </a:rPr>
                        <a:t>linea</a:t>
                      </a:r>
                      <a:endParaRPr sz="1100" lang="es-ES"/>
                    </a:p>
                  </a:txBody>
                  <a:tcPr marL="76200" marR="76200" marT="38100" marB="381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cmpd="sng" algn="ctr" cap="flat" w="9525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1F3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l"/>
                      <a:r>
                        <a:rPr lang="es-ES" sz="1100" b="false" i="false">
                          <a:solidFill>
                            <a:srgbClr val="1F2933"/>
                          </a:solidFill>
                          <a:latin typeface="Segoe UI"/>
                        </a:rPr>
                        <a:t>Integer</a:t>
                      </a:r>
                      <a:endParaRPr sz="1100" lang="es-ES"/>
                    </a:p>
                  </a:txBody>
                  <a:tcPr marL="76200" marR="76200" marT="38100" marB="381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cmpd="sng" algn="ctr" cap="flat" w="9525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1F3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r"/>
                      <a:r>
                        <a:rPr lang="es-ES" sz="1100" b="false" i="false">
                          <a:solidFill>
                            <a:srgbClr val="1F2933"/>
                          </a:solidFill>
                          <a:latin typeface="Segoe UI"/>
                        </a:rPr>
                        <a:t> </a:t>
                      </a:r>
                      <a:endParaRPr sz="1100" lang="es-ES"/>
                    </a:p>
                  </a:txBody>
                  <a:tcPr marL="76200" marR="76200" marT="38100" marB="381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cmpd="sng" algn="ctr" cap="flat" w="9525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1F3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r"/>
                      <a:r>
                        <a:rPr lang="es-ES" sz="1100" b="false" i="false">
                          <a:solidFill>
                            <a:srgbClr val="1F2933"/>
                          </a:solidFill>
                          <a:latin typeface="Segoe UI"/>
                        </a:rPr>
                        <a:t>0</a:t>
                      </a:r>
                      <a:endParaRPr sz="1100" lang="es-ES"/>
                    </a:p>
                  </a:txBody>
                  <a:tcPr marL="76200" marR="76200" marT="38100" marB="381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cmpd="sng" algn="ctr" cap="flat" w="9525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1F3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l"/>
                      <a:r>
                        <a:rPr lang="es-ES" sz="1100" b="false" i="false">
                          <a:solidFill>
                            <a:srgbClr val="1F2933"/>
                          </a:solidFill>
                          <a:latin typeface="Segoe UI"/>
                        </a:rPr>
                        <a:t>Leer ventas (CSV)</a:t>
                      </a:r>
                      <a:endParaRPr sz="1100" lang="es-ES"/>
                    </a:p>
                  </a:txBody>
                  <a:tcPr marL="76200" marR="76200" marT="38100" marB="381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cmpd="sng" algn="ctr" cap="flat" w="9525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1F3"/>
                    </a:solidFill>
                  </a:tcPr>
                </a:tc>
              </a:tr>
              <a:tr h="298704">
                <a:tc>
                  <a:txBody>
                    <a:bodyPr anchor="t" rtlCol="false"/>
                    <a:lstStyle/>
                    <a:p>
                      <a:pPr algn="l"/>
                      <a:r>
                        <a:rPr lang="es-ES" sz="1100" b="false" i="false">
                          <a:solidFill>
                            <a:srgbClr val="1F2933"/>
                          </a:solidFill>
                          <a:latin typeface="Segoe UI"/>
                        </a:rPr>
                        <a:t>fecha</a:t>
                      </a:r>
                      <a:endParaRPr sz="1100" lang="es-ES"/>
                    </a:p>
                  </a:txBody>
                  <a:tcPr marL="76200" marR="76200" marT="38100" marB="381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cmpd="sng" algn="ctr" cap="flat" w="9525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l"/>
                      <a:r>
                        <a:rPr lang="es-ES" sz="1100" b="false" i="false">
                          <a:solidFill>
                            <a:srgbClr val="1F2933"/>
                          </a:solidFill>
                          <a:latin typeface="Segoe UI"/>
                        </a:rPr>
                        <a:t>String</a:t>
                      </a:r>
                      <a:endParaRPr sz="1100" lang="es-ES"/>
                    </a:p>
                  </a:txBody>
                  <a:tcPr marL="76200" marR="76200" marT="38100" marB="381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cmpd="sng" algn="ctr" cap="flat" w="9525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r"/>
                      <a:r>
                        <a:rPr lang="es-ES" sz="1100" b="false" i="false">
                          <a:solidFill>
                            <a:srgbClr val="1F2933"/>
                          </a:solidFill>
                          <a:latin typeface="Segoe UI"/>
                        </a:rPr>
                        <a:t> </a:t>
                      </a:r>
                      <a:endParaRPr sz="1100" lang="es-ES"/>
                    </a:p>
                  </a:txBody>
                  <a:tcPr marL="76200" marR="76200" marT="38100" marB="381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cmpd="sng" algn="ctr" cap="flat" w="9525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r"/>
                      <a:r>
                        <a:rPr lang="es-ES" sz="1100" b="false" i="false">
                          <a:solidFill>
                            <a:srgbClr val="1F2933"/>
                          </a:solidFill>
                          <a:latin typeface="Segoe UI"/>
                        </a:rPr>
                        <a:t> </a:t>
                      </a:r>
                      <a:endParaRPr sz="1100" lang="es-ES"/>
                    </a:p>
                  </a:txBody>
                  <a:tcPr marL="76200" marR="76200" marT="38100" marB="381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cmpd="sng" algn="ctr" cap="flat" w="9525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l"/>
                      <a:r>
                        <a:rPr lang="es-ES" sz="1100" b="false" i="false">
                          <a:solidFill>
                            <a:srgbClr val="1F2933"/>
                          </a:solidFill>
                          <a:latin typeface="Segoe UI"/>
                        </a:rPr>
                        <a:t>Leer ventas (CSV)</a:t>
                      </a:r>
                      <a:endParaRPr sz="1100" lang="es-ES"/>
                    </a:p>
                  </a:txBody>
                  <a:tcPr marL="76200" marR="76200" marT="38100" marB="381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cmpd="sng" algn="ctr" cap="flat" w="9525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8704">
                <a:tc>
                  <a:txBody>
                    <a:bodyPr anchor="t" rtlCol="false"/>
                    <a:lstStyle/>
                    <a:p>
                      <a:pPr algn="l"/>
                      <a:r>
                        <a:rPr lang="es-ES" sz="1100" b="false" i="false">
                          <a:solidFill>
                            <a:srgbClr val="1F2933"/>
                          </a:solidFill>
                          <a:latin typeface="Segoe UI"/>
                        </a:rPr>
                        <a:t>id_tienda</a:t>
                      </a:r>
                      <a:endParaRPr sz="1100" lang="es-ES"/>
                    </a:p>
                  </a:txBody>
                  <a:tcPr marL="76200" marR="76200" marT="38100" marB="381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cmpd="sng" algn="ctr" cap="flat" w="9525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1F3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l"/>
                      <a:r>
                        <a:rPr lang="es-ES" sz="1100" b="false" i="false">
                          <a:solidFill>
                            <a:srgbClr val="1F2933"/>
                          </a:solidFill>
                          <a:latin typeface="Segoe UI"/>
                        </a:rPr>
                        <a:t>String</a:t>
                      </a:r>
                      <a:endParaRPr sz="1100" lang="es-ES"/>
                    </a:p>
                  </a:txBody>
                  <a:tcPr marL="76200" marR="76200" marT="38100" marB="381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cmpd="sng" algn="ctr" cap="flat" w="9525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1F3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r"/>
                      <a:r>
                        <a:rPr lang="es-ES" sz="1100" b="false" i="false">
                          <a:solidFill>
                            <a:srgbClr val="1F2933"/>
                          </a:solidFill>
                          <a:latin typeface="Segoe UI"/>
                        </a:rPr>
                        <a:t> </a:t>
                      </a:r>
                      <a:endParaRPr sz="1100" lang="es-ES"/>
                    </a:p>
                  </a:txBody>
                  <a:tcPr marL="76200" marR="76200" marT="38100" marB="381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cmpd="sng" algn="ctr" cap="flat" w="9525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1F3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r"/>
                      <a:r>
                        <a:rPr lang="es-ES" sz="1100" b="false" i="false">
                          <a:solidFill>
                            <a:srgbClr val="1F2933"/>
                          </a:solidFill>
                          <a:latin typeface="Segoe UI"/>
                        </a:rPr>
                        <a:t> </a:t>
                      </a:r>
                      <a:endParaRPr sz="1100" lang="es-ES"/>
                    </a:p>
                  </a:txBody>
                  <a:tcPr marL="76200" marR="76200" marT="38100" marB="381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cmpd="sng" algn="ctr" cap="flat" w="9525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1F3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l"/>
                      <a:r>
                        <a:rPr lang="es-ES" sz="1100" b="false" i="false">
                          <a:solidFill>
                            <a:srgbClr val="1F2933"/>
                          </a:solidFill>
                          <a:latin typeface="Segoe UI"/>
                        </a:rPr>
                        <a:t>Leer ventas (CSV)</a:t>
                      </a:r>
                      <a:endParaRPr sz="1100" lang="es-ES"/>
                    </a:p>
                  </a:txBody>
                  <a:tcPr marL="76200" marR="76200" marT="38100" marB="381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cmpd="sng" algn="ctr" cap="flat" w="9525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1F3"/>
                    </a:solidFill>
                  </a:tcPr>
                </a:tc>
              </a:tr>
              <a:tr h="298704">
                <a:tc>
                  <a:txBody>
                    <a:bodyPr anchor="t" rtlCol="false"/>
                    <a:lstStyle/>
                    <a:p>
                      <a:pPr algn="l"/>
                      <a:r>
                        <a:rPr lang="es-ES" sz="1100" b="false" i="false">
                          <a:solidFill>
                            <a:srgbClr val="1F2933"/>
                          </a:solidFill>
                          <a:latin typeface="Segoe UI"/>
                        </a:rPr>
                        <a:t>codigo_producto</a:t>
                      </a:r>
                      <a:endParaRPr sz="1100" lang="es-ES"/>
                    </a:p>
                  </a:txBody>
                  <a:tcPr marL="76200" marR="76200" marT="38100" marB="381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cmpd="sng" algn="ctr" cap="flat" w="9525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l"/>
                      <a:r>
                        <a:rPr lang="es-ES" sz="1100" b="false" i="false">
                          <a:solidFill>
                            <a:srgbClr val="1F2933"/>
                          </a:solidFill>
                          <a:latin typeface="Segoe UI"/>
                        </a:rPr>
                        <a:t>String</a:t>
                      </a:r>
                      <a:endParaRPr sz="1100" lang="es-ES"/>
                    </a:p>
                  </a:txBody>
                  <a:tcPr marL="76200" marR="76200" marT="38100" marB="381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cmpd="sng" algn="ctr" cap="flat" w="9525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r"/>
                      <a:r>
                        <a:rPr lang="es-ES" sz="1100" b="false" i="false">
                          <a:solidFill>
                            <a:srgbClr val="1F2933"/>
                          </a:solidFill>
                          <a:latin typeface="Segoe UI"/>
                        </a:rPr>
                        <a:t> </a:t>
                      </a:r>
                      <a:endParaRPr sz="1100" lang="es-ES"/>
                    </a:p>
                  </a:txBody>
                  <a:tcPr marL="76200" marR="76200" marT="38100" marB="381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cmpd="sng" algn="ctr" cap="flat" w="9525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r"/>
                      <a:r>
                        <a:rPr lang="es-ES" sz="1100" b="false" i="false">
                          <a:solidFill>
                            <a:srgbClr val="1F2933"/>
                          </a:solidFill>
                          <a:latin typeface="Segoe UI"/>
                        </a:rPr>
                        <a:t> </a:t>
                      </a:r>
                      <a:endParaRPr sz="1100" lang="es-ES"/>
                    </a:p>
                  </a:txBody>
                  <a:tcPr marL="76200" marR="76200" marT="38100" marB="381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cmpd="sng" algn="ctr" cap="flat" w="9525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l"/>
                      <a:r>
                        <a:rPr lang="es-ES" sz="1100" b="false" i="false">
                          <a:solidFill>
                            <a:srgbClr val="1F2933"/>
                          </a:solidFill>
                          <a:latin typeface="Segoe UI"/>
                        </a:rPr>
                        <a:t>Leer ventas (CSV)</a:t>
                      </a:r>
                      <a:endParaRPr sz="1100" lang="es-ES"/>
                    </a:p>
                  </a:txBody>
                  <a:tcPr marL="76200" marR="76200" marT="38100" marB="381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cmpd="sng" algn="ctr" cap="flat" w="9525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8704">
                <a:tc>
                  <a:txBody>
                    <a:bodyPr anchor="t" rtlCol="false"/>
                    <a:lstStyle/>
                    <a:p>
                      <a:pPr algn="l"/>
                      <a:r>
                        <a:rPr lang="es-ES" sz="1100" b="false" i="false">
                          <a:solidFill>
                            <a:srgbClr val="1F2933"/>
                          </a:solidFill>
                          <a:latin typeface="Segoe UI"/>
                        </a:rPr>
                        <a:t>cantidad</a:t>
                      </a:r>
                      <a:endParaRPr sz="1100" lang="es-ES"/>
                    </a:p>
                  </a:txBody>
                  <a:tcPr marL="76200" marR="76200" marT="38100" marB="381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cmpd="sng" algn="ctr" cap="flat" w="9525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1F3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l"/>
                      <a:r>
                        <a:rPr lang="es-ES" sz="1100" b="false" i="false">
                          <a:solidFill>
                            <a:srgbClr val="1F2933"/>
                          </a:solidFill>
                          <a:latin typeface="Segoe UI"/>
                        </a:rPr>
                        <a:t>Integer</a:t>
                      </a:r>
                      <a:endParaRPr sz="1100" lang="es-ES"/>
                    </a:p>
                  </a:txBody>
                  <a:tcPr marL="76200" marR="76200" marT="38100" marB="381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cmpd="sng" algn="ctr" cap="flat" w="9525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1F3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r"/>
                      <a:r>
                        <a:rPr lang="es-ES" sz="1100" b="false" i="false">
                          <a:solidFill>
                            <a:srgbClr val="1F2933"/>
                          </a:solidFill>
                          <a:latin typeface="Segoe UI"/>
                        </a:rPr>
                        <a:t> </a:t>
                      </a:r>
                      <a:endParaRPr sz="1100" lang="es-ES"/>
                    </a:p>
                  </a:txBody>
                  <a:tcPr marL="76200" marR="76200" marT="38100" marB="381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cmpd="sng" algn="ctr" cap="flat" w="9525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1F3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r"/>
                      <a:r>
                        <a:rPr lang="es-ES" sz="1100" b="false" i="false">
                          <a:solidFill>
                            <a:srgbClr val="1F2933"/>
                          </a:solidFill>
                          <a:latin typeface="Segoe UI"/>
                        </a:rPr>
                        <a:t>0</a:t>
                      </a:r>
                      <a:endParaRPr sz="1100" lang="es-ES"/>
                    </a:p>
                  </a:txBody>
                  <a:tcPr marL="76200" marR="76200" marT="38100" marB="381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cmpd="sng" algn="ctr" cap="flat" w="9525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1F3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l"/>
                      <a:r>
                        <a:rPr lang="es-ES" sz="1100" b="false" i="false">
                          <a:solidFill>
                            <a:srgbClr val="1F2933"/>
                          </a:solidFill>
                          <a:latin typeface="Segoe UI"/>
                        </a:rPr>
                        <a:t>Leer ventas (CSV)</a:t>
                      </a:r>
                      <a:endParaRPr sz="1100" lang="es-ES"/>
                    </a:p>
                  </a:txBody>
                  <a:tcPr marL="76200" marR="76200" marT="38100" marB="381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cmpd="sng" algn="ctr" cap="flat" w="9525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1F3"/>
                    </a:solidFill>
                  </a:tcPr>
                </a:tc>
              </a:tr>
              <a:tr h="298704">
                <a:tc>
                  <a:txBody>
                    <a:bodyPr anchor="t" rtlCol="false"/>
                    <a:lstStyle/>
                    <a:p>
                      <a:pPr algn="l"/>
                      <a:r>
                        <a:rPr lang="es-ES" sz="1100" b="false" i="false">
                          <a:solidFill>
                            <a:srgbClr val="1F2933"/>
                          </a:solidFill>
                          <a:latin typeface="Segoe UI"/>
                        </a:rPr>
                        <a:t>precio_unitario</a:t>
                      </a:r>
                      <a:endParaRPr sz="1100" lang="es-ES"/>
                    </a:p>
                  </a:txBody>
                  <a:tcPr marL="76200" marR="76200" marT="38100" marB="381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cmpd="sng" algn="ctr" cap="flat" w="9525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l"/>
                      <a:r>
                        <a:rPr lang="es-ES" sz="1100" b="false" i="false">
                          <a:solidFill>
                            <a:srgbClr val="1F2933"/>
                          </a:solidFill>
                          <a:latin typeface="Segoe UI"/>
                        </a:rPr>
                        <a:t>Number</a:t>
                      </a:r>
                      <a:endParaRPr sz="1100" lang="es-ES"/>
                    </a:p>
                  </a:txBody>
                  <a:tcPr marL="76200" marR="76200" marT="38100" marB="381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cmpd="sng" algn="ctr" cap="flat" w="9525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r"/>
                      <a:r>
                        <a:rPr lang="es-ES" sz="1100" b="false" i="false">
                          <a:solidFill>
                            <a:srgbClr val="1F2933"/>
                          </a:solidFill>
                          <a:latin typeface="Segoe UI"/>
                        </a:rPr>
                        <a:t> </a:t>
                      </a:r>
                      <a:endParaRPr sz="1100" lang="es-ES"/>
                    </a:p>
                  </a:txBody>
                  <a:tcPr marL="76200" marR="76200" marT="38100" marB="381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cmpd="sng" algn="ctr" cap="flat" w="9525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r"/>
                      <a:r>
                        <a:rPr lang="es-ES" sz="1100" b="false" i="false">
                          <a:solidFill>
                            <a:srgbClr val="1F2933"/>
                          </a:solidFill>
                          <a:latin typeface="Segoe UI"/>
                        </a:rPr>
                        <a:t> </a:t>
                      </a:r>
                      <a:endParaRPr sz="1100" lang="es-ES"/>
                    </a:p>
                  </a:txBody>
                  <a:tcPr marL="76200" marR="76200" marT="38100" marB="381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cmpd="sng" algn="ctr" cap="flat" w="9525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l"/>
                      <a:r>
                        <a:rPr lang="es-ES" sz="1100" b="false" i="false">
                          <a:solidFill>
                            <a:srgbClr val="1F2933"/>
                          </a:solidFill>
                          <a:latin typeface="Segoe UI"/>
                        </a:rPr>
                        <a:t>Convertir precio a número</a:t>
                      </a:r>
                      <a:endParaRPr sz="1100" lang="es-ES"/>
                    </a:p>
                  </a:txBody>
                  <a:tcPr marL="76200" marR="76200" marT="38100" marB="381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cmpd="sng" algn="ctr" cap="flat" w="9525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8704">
                <a:tc>
                  <a:txBody>
                    <a:bodyPr anchor="t" rtlCol="false"/>
                    <a:lstStyle/>
                    <a:p>
                      <a:pPr algn="l"/>
                      <a:r>
                        <a:rPr lang="es-ES" sz="1100" b="false" i="false">
                          <a:solidFill>
                            <a:srgbClr val="1F2933"/>
                          </a:solidFill>
                          <a:latin typeface="Segoe UI"/>
                        </a:rPr>
                        <a:t>metodo_pago</a:t>
                      </a:r>
                      <a:endParaRPr sz="1100" lang="es-ES"/>
                    </a:p>
                  </a:txBody>
                  <a:tcPr marL="76200" marR="76200" marT="38100" marB="381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cmpd="sng" algn="ctr" cap="flat" w="9525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1F3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l"/>
                      <a:r>
                        <a:rPr lang="es-ES" sz="1100" b="false" i="false">
                          <a:solidFill>
                            <a:srgbClr val="1F2933"/>
                          </a:solidFill>
                          <a:latin typeface="Segoe UI"/>
                        </a:rPr>
                        <a:t>String</a:t>
                      </a:r>
                      <a:endParaRPr sz="1100" lang="es-ES"/>
                    </a:p>
                  </a:txBody>
                  <a:tcPr marL="76200" marR="76200" marT="38100" marB="381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cmpd="sng" algn="ctr" cap="flat" w="9525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1F3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r"/>
                      <a:r>
                        <a:rPr lang="es-ES" sz="1100" b="false" i="false">
                          <a:solidFill>
                            <a:srgbClr val="1F2933"/>
                          </a:solidFill>
                          <a:latin typeface="Segoe UI"/>
                        </a:rPr>
                        <a:t> </a:t>
                      </a:r>
                      <a:endParaRPr sz="1100" lang="es-ES"/>
                    </a:p>
                  </a:txBody>
                  <a:tcPr marL="76200" marR="76200" marT="38100" marB="381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cmpd="sng" algn="ctr" cap="flat" w="9525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1F3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r"/>
                      <a:r>
                        <a:rPr lang="es-ES" sz="1100" b="false" i="false">
                          <a:solidFill>
                            <a:srgbClr val="1F2933"/>
                          </a:solidFill>
                          <a:latin typeface="Segoe UI"/>
                        </a:rPr>
                        <a:t> </a:t>
                      </a:r>
                      <a:endParaRPr sz="1100" lang="es-ES"/>
                    </a:p>
                  </a:txBody>
                  <a:tcPr marL="76200" marR="76200" marT="38100" marB="381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cmpd="sng" algn="ctr" cap="flat" w="9525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1F3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l"/>
                      <a:r>
                        <a:rPr lang="es-ES" sz="1100" b="false" i="false">
                          <a:solidFill>
                            <a:srgbClr val="1F2933"/>
                          </a:solidFill>
                          <a:latin typeface="Segoe UI"/>
                        </a:rPr>
                        <a:t>Leer ventas (CSV)</a:t>
                      </a:r>
                      <a:endParaRPr sz="1100" lang="es-ES"/>
                    </a:p>
                  </a:txBody>
                  <a:tcPr marL="76200" marR="76200" marT="38100" marB="381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cmpd="sng" algn="ctr" cap="flat" w="9525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1F3"/>
                    </a:solidFill>
                  </a:tcPr>
                </a:tc>
              </a:tr>
              <a:tr h="298704">
                <a:tc>
                  <a:txBody>
                    <a:bodyPr anchor="t" rtlCol="false"/>
                    <a:lstStyle/>
                    <a:p>
                      <a:pPr algn="l"/>
                      <a:r>
                        <a:rPr lang="es-ES" sz="1100" b="false" i="false">
                          <a:solidFill>
                            <a:srgbClr val="1F2933"/>
                          </a:solidFill>
                          <a:latin typeface="Segoe UI"/>
                        </a:rPr>
                        <a:t>sk_tienda</a:t>
                      </a:r>
                      <a:endParaRPr sz="1100" lang="es-ES"/>
                    </a:p>
                  </a:txBody>
                  <a:tcPr marL="76200" marR="76200" marT="38100" marB="381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cmpd="sng" algn="ctr" cap="flat" w="9525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l"/>
                      <a:r>
                        <a:rPr lang="es-ES" sz="1100" b="false" i="false">
                          <a:solidFill>
                            <a:srgbClr val="1F2933"/>
                          </a:solidFill>
                          <a:latin typeface="Segoe UI"/>
                        </a:rPr>
                        <a:t>Integer</a:t>
                      </a:r>
                      <a:endParaRPr sz="1100" lang="es-ES"/>
                    </a:p>
                  </a:txBody>
                  <a:tcPr marL="76200" marR="76200" marT="38100" marB="381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cmpd="sng" algn="ctr" cap="flat" w="9525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r"/>
                      <a:r>
                        <a:rPr lang="es-ES" sz="1100" b="false" i="false">
                          <a:solidFill>
                            <a:srgbClr val="1F2933"/>
                          </a:solidFill>
                          <a:latin typeface="Segoe UI"/>
                        </a:rPr>
                        <a:t>9</a:t>
                      </a:r>
                      <a:endParaRPr sz="1100" lang="es-ES"/>
                    </a:p>
                  </a:txBody>
                  <a:tcPr marL="76200" marR="76200" marT="38100" marB="381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cmpd="sng" algn="ctr" cap="flat" w="9525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r"/>
                      <a:r>
                        <a:rPr lang="es-ES" sz="1100" b="false" i="false">
                          <a:solidFill>
                            <a:srgbClr val="1F2933"/>
                          </a:solidFill>
                          <a:latin typeface="Segoe UI"/>
                        </a:rPr>
                        <a:t>0</a:t>
                      </a:r>
                      <a:endParaRPr sz="1100" lang="es-ES"/>
                    </a:p>
                  </a:txBody>
                  <a:tcPr marL="76200" marR="76200" marT="38100" marB="381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cmpd="sng" algn="ctr" cap="flat" w="9525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l"/>
                      <a:r>
                        <a:rPr lang="es-ES" sz="1100" b="false" i="false">
                          <a:solidFill>
                            <a:srgbClr val="1F2933"/>
                          </a:solidFill>
                          <a:latin typeface="Segoe UI"/>
                        </a:rPr>
                        <a:t>Buscar tienda</a:t>
                      </a:r>
                      <a:endParaRPr sz="1100" lang="es-ES"/>
                    </a:p>
                  </a:txBody>
                  <a:tcPr marL="76200" marR="76200" marT="38100" marB="381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cmpd="sng" algn="ctr" cap="flat" w="9525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8704">
                <a:tc>
                  <a:txBody>
                    <a:bodyPr anchor="t" rtlCol="false"/>
                    <a:lstStyle/>
                    <a:p>
                      <a:pPr algn="l"/>
                      <a:r>
                        <a:rPr lang="es-ES" sz="1100" b="false" i="false">
                          <a:solidFill>
                            <a:srgbClr val="1F2933"/>
                          </a:solidFill>
                          <a:latin typeface="Segoe UI"/>
                        </a:rPr>
                        <a:t>sk_producto</a:t>
                      </a:r>
                      <a:endParaRPr sz="1100" lang="es-ES"/>
                    </a:p>
                  </a:txBody>
                  <a:tcPr marL="76200" marR="76200" marT="38100" marB="381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cmpd="sng" algn="ctr" cap="flat" w="9525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1F3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l"/>
                      <a:r>
                        <a:rPr lang="es-ES" sz="1100" b="false" i="false">
                          <a:solidFill>
                            <a:srgbClr val="1F2933"/>
                          </a:solidFill>
                          <a:latin typeface="Segoe UI"/>
                        </a:rPr>
                        <a:t>Integer</a:t>
                      </a:r>
                      <a:endParaRPr sz="1100" lang="es-ES"/>
                    </a:p>
                  </a:txBody>
                  <a:tcPr marL="76200" marR="76200" marT="38100" marB="381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cmpd="sng" algn="ctr" cap="flat" w="9525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1F3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r"/>
                      <a:r>
                        <a:rPr lang="es-ES" sz="1100" b="false" i="false">
                          <a:solidFill>
                            <a:srgbClr val="1F2933"/>
                          </a:solidFill>
                          <a:latin typeface="Segoe UI"/>
                        </a:rPr>
                        <a:t>9</a:t>
                      </a:r>
                      <a:endParaRPr sz="1100" lang="es-ES"/>
                    </a:p>
                  </a:txBody>
                  <a:tcPr marL="76200" marR="76200" marT="38100" marB="381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cmpd="sng" algn="ctr" cap="flat" w="9525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1F3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r"/>
                      <a:r>
                        <a:rPr lang="es-ES" sz="1100" b="false" i="false">
                          <a:solidFill>
                            <a:srgbClr val="1F2933"/>
                          </a:solidFill>
                          <a:latin typeface="Segoe UI"/>
                        </a:rPr>
                        <a:t>0</a:t>
                      </a:r>
                      <a:endParaRPr sz="1100" lang="es-ES"/>
                    </a:p>
                  </a:txBody>
                  <a:tcPr marL="76200" marR="76200" marT="38100" marB="381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cmpd="sng" algn="ctr" cap="flat" w="9525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1F3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l"/>
                      <a:r>
                        <a:rPr lang="es-ES" sz="1100" b="false" i="false">
                          <a:solidFill>
                            <a:srgbClr val="1F2933"/>
                          </a:solidFill>
                          <a:latin typeface="Segoe UI"/>
                        </a:rPr>
                        <a:t>Buscar producto</a:t>
                      </a:r>
                      <a:endParaRPr sz="1100" lang="es-ES"/>
                    </a:p>
                  </a:txBody>
                  <a:tcPr marL="76200" marR="76200" marT="38100" marB="381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cmpd="sng" algn="ctr" cap="flat" w="9525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1F3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4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8000" y="203200"/>
            <a:ext cx="11176000" cy="635000"/>
          </a:xfrm>
        </p:spPr>
        <p:txBody>
          <a:bodyPr lIns="0" rIns="0" wrap="square" anchor="ctr"/>
          <a:lstStyle/>
          <a:p>
            <a:pPr algn="l"/>
            <a:r>
              <a:rPr lang="es-ES" sz="2600" b="true" i="false">
                <a:solidFill>
                  <a:srgbClr val="243B53"/>
                </a:solidFill>
                <a:latin typeface="Segoe UI"/>
              </a:rPr>
              <a:t>Diccionario de datos (cont.)</a:t>
            </a:r>
            <a:endParaRPr sz="2600" lang="es-ES"/>
          </a:p>
        </p:txBody>
      </p:sp>
      <p:pic>
        <p:nvPicPr>
          <p:cNvPr name="Picture 3" id="3"/>
          <p:cNvPicPr>
            <a:picLocks noChangeAspect="true"/>
          </p:cNvPicPr>
          <p:nvPr/>
        </p:nvPicPr>
        <p:blipFill>
          <a:blip r:embed="rId2"/>
          <a:stretch>
            <a:fillRect/>
          </a:stretch>
        </p:blipFill>
        <p:spPr>
          <a:xfrm>
            <a:off x="10248900" y="5510084"/>
            <a:ext cx="1435100" cy="814516"/>
          </a:xfrm>
          <a:prstGeom prst="rect">
            <a:avLst/>
          </a:prstGeom>
        </p:spPr>
      </p:pic>
      <p:sp>
        <p:nvSpPr>
          <p:cNvPr name="AutoShape 4" id="4"/>
          <p:cNvSpPr/>
          <p:nvPr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243B53"/>
          </a:solidFill>
          <a:ln>
            <a:noFill/>
          </a:ln>
        </p:spPr>
      </p:sp>
      <p:pic>
        <p:nvPicPr>
          <p:cNvPr name="Picture 5" id="5"/>
          <p:cNvPicPr>
            <a:picLocks noChangeAspect="true"/>
          </p:cNvPicPr>
          <p:nvPr/>
        </p:nvPicPr>
        <p:blipFill>
          <a:blip r:embed="rId3"/>
          <a:stretch>
            <a:fillRect/>
          </a:stretch>
        </p:blipFill>
        <p:spPr>
          <a:xfrm>
            <a:off x="508000" y="6508750"/>
            <a:ext cx="177800" cy="100914"/>
          </a:xfrm>
          <a:prstGeom prst="rect">
            <a:avLst/>
          </a:prstGeom>
        </p:spPr>
      </p:pic>
      <p:sp>
        <p:nvSpPr>
          <p:cNvPr name="TextBox 6" id="6"/>
          <p:cNvSpPr txBox="true"/>
          <p:nvPr/>
        </p:nvSpPr>
        <p:spPr>
          <a:xfrm>
            <a:off x="749300" y="6451600"/>
            <a:ext cx="5080000" cy="228600"/>
          </a:xfrm>
          <a:prstGeom prst="rect">
            <a:avLst/>
          </a:prstGeom>
        </p:spPr>
        <p:txBody>
          <a:bodyPr anchor="ctr" rtlCol="false" wrap="square" lIns="0" rIns="0" tIns="25400" bIns="25400"/>
          <a:lstStyle/>
          <a:p>
            <a:pPr algn="l"/>
            <a:r>
              <a:rPr lang="es-ES" sz="750" b="false" i="false">
                <a:solidFill>
                  <a:srgbClr val="6B7785"/>
                </a:solidFill>
                <a:latin typeface="Segoe UI"/>
              </a:rPr>
              <a:t>Pentaho Live · IDC Studios</a:t>
            </a:r>
            <a:endParaRPr sz="750" lang="es-ES"/>
          </a:p>
        </p:txBody>
      </p:sp>
      <p:sp>
        <p:nvSpPr>
          <p:cNvPr name="TextBox 7" id="7"/>
          <p:cNvSpPr txBox="true"/>
          <p:nvPr/>
        </p:nvSpPr>
        <p:spPr>
          <a:xfrm>
            <a:off x="10160000" y="6451600"/>
            <a:ext cx="1524000" cy="228600"/>
          </a:xfrm>
          <a:prstGeom prst="rect">
            <a:avLst/>
          </a:prstGeom>
        </p:spPr>
        <p:txBody>
          <a:bodyPr anchor="ctr" rtlCol="false" wrap="square" lIns="0" rIns="0" tIns="25400" bIns="25400"/>
          <a:lstStyle/>
          <a:p>
            <a:pPr algn="r"/>
            <a:fld id="{93AE1C87-586E-4585-B0AF-E7E045D51AB6}" type="slidenum">
              <a:rPr lang="es-ES" sz="750">
                <a:solidFill>
                  <a:srgbClr val="6B7785"/>
                </a:solidFill>
                <a:latin typeface="Segoe UI"/>
              </a:rPr>
              <a:t>24</a:t>
            </a:fld>
            <a:endParaRPr sz="750" lang="es-ES"/>
          </a:p>
        </p:txBody>
      </p:sp>
      <p:sp>
        <p:nvSpPr>
          <p:cNvPr name="TextBox 8" id="8"/>
          <p:cNvSpPr txBox="true"/>
          <p:nvPr/>
        </p:nvSpPr>
        <p:spPr>
          <a:xfrm>
            <a:off x="508000" y="1016000"/>
            <a:ext cx="11176000" cy="254000"/>
          </a:xfrm>
          <a:prstGeom prst="rect">
            <a:avLst/>
          </a:prstGeom>
        </p:spPr>
        <p:txBody>
          <a:bodyPr anchor="t" rtlCol="false" wrap="square" lIns="0" rIns="0" tIns="25400" bIns="25400"/>
          <a:lstStyle/>
          <a:p>
            <a:pPr algn="l"/>
            <a:r>
              <a:rPr lang="es-ES" sz="1300" b="true" i="false">
                <a:solidFill>
                  <a:srgbClr val="243B53"/>
                </a:solidFill>
                <a:latin typeface="Segoe UI"/>
              </a:rPr>
              <a:t>Buscar fecha</a:t>
            </a:r>
            <a:endParaRPr sz="1300" lang="es-ES"/>
          </a:p>
        </p:txBody>
      </p:sp>
      <p:graphicFrame>
        <p:nvGraphicFramePr>
          <p:cNvPr name="Table 9" id="9"/>
          <p:cNvGraphicFramePr>
            <a:graphicFrameLocks noGrp="true"/>
          </p:cNvGraphicFramePr>
          <p:nvPr/>
        </p:nvGraphicFramePr>
        <p:xfrm>
          <a:off x="508000" y="1295400"/>
          <a:ext cx="5702300" cy="3584448"/>
        </p:xfrm>
        <a:graphic>
          <a:graphicData uri="http://schemas.openxmlformats.org/drawingml/2006/table">
            <a:tbl>
              <a:tblPr/>
              <a:tblGrid>
                <a:gridCol w="1320800"/>
                <a:gridCol w="711200"/>
                <a:gridCol w="635000"/>
                <a:gridCol w="939800"/>
                <a:gridCol w="2095500"/>
              </a:tblGrid>
              <a:tr h="298704">
                <a:tc>
                  <a:txBody>
                    <a:bodyPr anchor="t" rtlCol="false"/>
                    <a:lstStyle/>
                    <a:p>
                      <a:pPr algn="l"/>
                      <a:r>
                        <a:rPr lang="es-ES" sz="1100" b="true" i="false">
                          <a:solidFill>
                            <a:srgbClr val="FFFFFF"/>
                          </a:solidFill>
                          <a:latin typeface="Segoe UI"/>
                        </a:rPr>
                        <a:t>Campo</a:t>
                      </a:r>
                      <a:endParaRPr sz="1100" lang="es-ES"/>
                    </a:p>
                  </a:txBody>
                  <a:tcPr marL="76200" marR="76200" marT="38100" marB="381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cmpd="sng" algn="ctr" cap="flat" w="9525">
                      <a:solidFill>
                        <a:srgbClr val="243B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3B53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l"/>
                      <a:r>
                        <a:rPr lang="es-ES" sz="1100" b="true" i="false">
                          <a:solidFill>
                            <a:srgbClr val="FFFFFF"/>
                          </a:solidFill>
                          <a:latin typeface="Segoe UI"/>
                        </a:rPr>
                        <a:t>Tipo</a:t>
                      </a:r>
                      <a:endParaRPr sz="1100" lang="es-ES"/>
                    </a:p>
                  </a:txBody>
                  <a:tcPr marL="76200" marR="76200" marT="38100" marB="381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cmpd="sng" algn="ctr" cap="flat" w="9525">
                      <a:solidFill>
                        <a:srgbClr val="243B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3B53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r"/>
                      <a:r>
                        <a:rPr lang="es-ES" sz="1100" b="true" i="false">
                          <a:solidFill>
                            <a:srgbClr val="FFFFFF"/>
                          </a:solidFill>
                          <a:latin typeface="Segoe UI"/>
                        </a:rPr>
                        <a:t>Largo</a:t>
                      </a:r>
                      <a:endParaRPr sz="1100" lang="es-ES"/>
                    </a:p>
                  </a:txBody>
                  <a:tcPr marL="76200" marR="76200" marT="38100" marB="381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cmpd="sng" algn="ctr" cap="flat" w="9525">
                      <a:solidFill>
                        <a:srgbClr val="243B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3B53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r"/>
                      <a:r>
                        <a:rPr lang="es-ES" sz="1100" b="true" i="false">
                          <a:solidFill>
                            <a:srgbClr val="FFFFFF"/>
                          </a:solidFill>
                          <a:latin typeface="Segoe UI"/>
                        </a:rPr>
                        <a:t>Precisión</a:t>
                      </a:r>
                      <a:endParaRPr sz="1100" lang="es-ES"/>
                    </a:p>
                  </a:txBody>
                  <a:tcPr marL="76200" marR="76200" marT="38100" marB="381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cmpd="sng" algn="ctr" cap="flat" w="9525">
                      <a:solidFill>
                        <a:srgbClr val="243B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3B53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l"/>
                      <a:r>
                        <a:rPr lang="es-ES" sz="1100" b="true" i="false">
                          <a:solidFill>
                            <a:srgbClr val="FFFFFF"/>
                          </a:solidFill>
                          <a:latin typeface="Segoe UI"/>
                        </a:rPr>
                        <a:t>Origen</a:t>
                      </a:r>
                      <a:endParaRPr sz="1100" lang="es-ES"/>
                    </a:p>
                  </a:txBody>
                  <a:tcPr marL="76200" marR="76200" marT="38100" marB="381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cmpd="sng" algn="ctr" cap="flat" w="9525">
                      <a:solidFill>
                        <a:srgbClr val="243B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3B53"/>
                    </a:solidFill>
                  </a:tcPr>
                </a:tc>
              </a:tr>
              <a:tr h="298704">
                <a:tc>
                  <a:txBody>
                    <a:bodyPr anchor="t" rtlCol="false"/>
                    <a:lstStyle/>
                    <a:p>
                      <a:pPr algn="l"/>
                      <a:r>
                        <a:rPr lang="es-ES" sz="1100" b="false" i="false">
                          <a:solidFill>
                            <a:srgbClr val="1F2933"/>
                          </a:solidFill>
                          <a:latin typeface="Segoe UI"/>
                        </a:rPr>
                        <a:t>id_ticket</a:t>
                      </a:r>
                      <a:endParaRPr sz="1100" lang="es-ES"/>
                    </a:p>
                  </a:txBody>
                  <a:tcPr marL="76200" marR="76200" marT="38100" marB="381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cmpd="sng" algn="ctr" cap="flat" w="9525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l"/>
                      <a:r>
                        <a:rPr lang="es-ES" sz="1100" b="false" i="false">
                          <a:solidFill>
                            <a:srgbClr val="1F2933"/>
                          </a:solidFill>
                          <a:latin typeface="Segoe UI"/>
                        </a:rPr>
                        <a:t>String</a:t>
                      </a:r>
                      <a:endParaRPr sz="1100" lang="es-ES"/>
                    </a:p>
                  </a:txBody>
                  <a:tcPr marL="76200" marR="76200" marT="38100" marB="381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cmpd="sng" algn="ctr" cap="flat" w="9525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r"/>
                      <a:r>
                        <a:rPr lang="es-ES" sz="1100" b="false" i="false">
                          <a:solidFill>
                            <a:srgbClr val="1F2933"/>
                          </a:solidFill>
                          <a:latin typeface="Segoe UI"/>
                        </a:rPr>
                        <a:t> </a:t>
                      </a:r>
                      <a:endParaRPr sz="1100" lang="es-ES"/>
                    </a:p>
                  </a:txBody>
                  <a:tcPr marL="76200" marR="76200" marT="38100" marB="381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cmpd="sng" algn="ctr" cap="flat" w="9525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r"/>
                      <a:r>
                        <a:rPr lang="es-ES" sz="1100" b="false" i="false">
                          <a:solidFill>
                            <a:srgbClr val="1F2933"/>
                          </a:solidFill>
                          <a:latin typeface="Segoe UI"/>
                        </a:rPr>
                        <a:t> </a:t>
                      </a:r>
                      <a:endParaRPr sz="1100" lang="es-ES"/>
                    </a:p>
                  </a:txBody>
                  <a:tcPr marL="76200" marR="76200" marT="38100" marB="381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cmpd="sng" algn="ctr" cap="flat" w="9525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l"/>
                      <a:r>
                        <a:rPr lang="es-ES" sz="1100" b="false" i="false">
                          <a:solidFill>
                            <a:srgbClr val="1F2933"/>
                          </a:solidFill>
                          <a:latin typeface="Segoe UI"/>
                        </a:rPr>
                        <a:t>Leer ventas (CSV)</a:t>
                      </a:r>
                      <a:endParaRPr sz="1100" lang="es-ES"/>
                    </a:p>
                  </a:txBody>
                  <a:tcPr marL="76200" marR="76200" marT="38100" marB="381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cmpd="sng" algn="ctr" cap="flat" w="9525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8704">
                <a:tc>
                  <a:txBody>
                    <a:bodyPr anchor="t" rtlCol="false"/>
                    <a:lstStyle/>
                    <a:p>
                      <a:pPr algn="l"/>
                      <a:r>
                        <a:rPr lang="es-ES" sz="1100" b="false" i="false">
                          <a:solidFill>
                            <a:srgbClr val="1F2933"/>
                          </a:solidFill>
                          <a:latin typeface="Segoe UI"/>
                        </a:rPr>
                        <a:t>linea</a:t>
                      </a:r>
                      <a:endParaRPr sz="1100" lang="es-ES"/>
                    </a:p>
                  </a:txBody>
                  <a:tcPr marL="76200" marR="76200" marT="38100" marB="381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cmpd="sng" algn="ctr" cap="flat" w="9525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1F3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l"/>
                      <a:r>
                        <a:rPr lang="es-ES" sz="1100" b="false" i="false">
                          <a:solidFill>
                            <a:srgbClr val="1F2933"/>
                          </a:solidFill>
                          <a:latin typeface="Segoe UI"/>
                        </a:rPr>
                        <a:t>Integer</a:t>
                      </a:r>
                      <a:endParaRPr sz="1100" lang="es-ES"/>
                    </a:p>
                  </a:txBody>
                  <a:tcPr marL="76200" marR="76200" marT="38100" marB="381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cmpd="sng" algn="ctr" cap="flat" w="9525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1F3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r"/>
                      <a:r>
                        <a:rPr lang="es-ES" sz="1100" b="false" i="false">
                          <a:solidFill>
                            <a:srgbClr val="1F2933"/>
                          </a:solidFill>
                          <a:latin typeface="Segoe UI"/>
                        </a:rPr>
                        <a:t> </a:t>
                      </a:r>
                      <a:endParaRPr sz="1100" lang="es-ES"/>
                    </a:p>
                  </a:txBody>
                  <a:tcPr marL="76200" marR="76200" marT="38100" marB="381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cmpd="sng" algn="ctr" cap="flat" w="9525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1F3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r"/>
                      <a:r>
                        <a:rPr lang="es-ES" sz="1100" b="false" i="false">
                          <a:solidFill>
                            <a:srgbClr val="1F2933"/>
                          </a:solidFill>
                          <a:latin typeface="Segoe UI"/>
                        </a:rPr>
                        <a:t>0</a:t>
                      </a:r>
                      <a:endParaRPr sz="1100" lang="es-ES"/>
                    </a:p>
                  </a:txBody>
                  <a:tcPr marL="76200" marR="76200" marT="38100" marB="381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cmpd="sng" algn="ctr" cap="flat" w="9525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1F3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l"/>
                      <a:r>
                        <a:rPr lang="es-ES" sz="1100" b="false" i="false">
                          <a:solidFill>
                            <a:srgbClr val="1F2933"/>
                          </a:solidFill>
                          <a:latin typeface="Segoe UI"/>
                        </a:rPr>
                        <a:t>Leer ventas (CSV)</a:t>
                      </a:r>
                      <a:endParaRPr sz="1100" lang="es-ES"/>
                    </a:p>
                  </a:txBody>
                  <a:tcPr marL="76200" marR="76200" marT="38100" marB="381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cmpd="sng" algn="ctr" cap="flat" w="9525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1F3"/>
                    </a:solidFill>
                  </a:tcPr>
                </a:tc>
              </a:tr>
              <a:tr h="298704">
                <a:tc>
                  <a:txBody>
                    <a:bodyPr anchor="t" rtlCol="false"/>
                    <a:lstStyle/>
                    <a:p>
                      <a:pPr algn="l"/>
                      <a:r>
                        <a:rPr lang="es-ES" sz="1100" b="false" i="false">
                          <a:solidFill>
                            <a:srgbClr val="1F2933"/>
                          </a:solidFill>
                          <a:latin typeface="Segoe UI"/>
                        </a:rPr>
                        <a:t>fecha</a:t>
                      </a:r>
                      <a:endParaRPr sz="1100" lang="es-ES"/>
                    </a:p>
                  </a:txBody>
                  <a:tcPr marL="76200" marR="76200" marT="38100" marB="381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cmpd="sng" algn="ctr" cap="flat" w="9525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l"/>
                      <a:r>
                        <a:rPr lang="es-ES" sz="1100" b="false" i="false">
                          <a:solidFill>
                            <a:srgbClr val="1F2933"/>
                          </a:solidFill>
                          <a:latin typeface="Segoe UI"/>
                        </a:rPr>
                        <a:t>String</a:t>
                      </a:r>
                      <a:endParaRPr sz="1100" lang="es-ES"/>
                    </a:p>
                  </a:txBody>
                  <a:tcPr marL="76200" marR="76200" marT="38100" marB="381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cmpd="sng" algn="ctr" cap="flat" w="9525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r"/>
                      <a:r>
                        <a:rPr lang="es-ES" sz="1100" b="false" i="false">
                          <a:solidFill>
                            <a:srgbClr val="1F2933"/>
                          </a:solidFill>
                          <a:latin typeface="Segoe UI"/>
                        </a:rPr>
                        <a:t> </a:t>
                      </a:r>
                      <a:endParaRPr sz="1100" lang="es-ES"/>
                    </a:p>
                  </a:txBody>
                  <a:tcPr marL="76200" marR="76200" marT="38100" marB="381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cmpd="sng" algn="ctr" cap="flat" w="9525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r"/>
                      <a:r>
                        <a:rPr lang="es-ES" sz="1100" b="false" i="false">
                          <a:solidFill>
                            <a:srgbClr val="1F2933"/>
                          </a:solidFill>
                          <a:latin typeface="Segoe UI"/>
                        </a:rPr>
                        <a:t> </a:t>
                      </a:r>
                      <a:endParaRPr sz="1100" lang="es-ES"/>
                    </a:p>
                  </a:txBody>
                  <a:tcPr marL="76200" marR="76200" marT="38100" marB="381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cmpd="sng" algn="ctr" cap="flat" w="9525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l"/>
                      <a:r>
                        <a:rPr lang="es-ES" sz="1100" b="false" i="false">
                          <a:solidFill>
                            <a:srgbClr val="1F2933"/>
                          </a:solidFill>
                          <a:latin typeface="Segoe UI"/>
                        </a:rPr>
                        <a:t>Leer ventas (CSV)</a:t>
                      </a:r>
                      <a:endParaRPr sz="1100" lang="es-ES"/>
                    </a:p>
                  </a:txBody>
                  <a:tcPr marL="76200" marR="76200" marT="38100" marB="381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cmpd="sng" algn="ctr" cap="flat" w="9525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8704">
                <a:tc>
                  <a:txBody>
                    <a:bodyPr anchor="t" rtlCol="false"/>
                    <a:lstStyle/>
                    <a:p>
                      <a:pPr algn="l"/>
                      <a:r>
                        <a:rPr lang="es-ES" sz="1100" b="false" i="false">
                          <a:solidFill>
                            <a:srgbClr val="1F2933"/>
                          </a:solidFill>
                          <a:latin typeface="Segoe UI"/>
                        </a:rPr>
                        <a:t>id_tienda</a:t>
                      </a:r>
                      <a:endParaRPr sz="1100" lang="es-ES"/>
                    </a:p>
                  </a:txBody>
                  <a:tcPr marL="76200" marR="76200" marT="38100" marB="381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cmpd="sng" algn="ctr" cap="flat" w="9525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1F3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l"/>
                      <a:r>
                        <a:rPr lang="es-ES" sz="1100" b="false" i="false">
                          <a:solidFill>
                            <a:srgbClr val="1F2933"/>
                          </a:solidFill>
                          <a:latin typeface="Segoe UI"/>
                        </a:rPr>
                        <a:t>String</a:t>
                      </a:r>
                      <a:endParaRPr sz="1100" lang="es-ES"/>
                    </a:p>
                  </a:txBody>
                  <a:tcPr marL="76200" marR="76200" marT="38100" marB="381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cmpd="sng" algn="ctr" cap="flat" w="9525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1F3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r"/>
                      <a:r>
                        <a:rPr lang="es-ES" sz="1100" b="false" i="false">
                          <a:solidFill>
                            <a:srgbClr val="1F2933"/>
                          </a:solidFill>
                          <a:latin typeface="Segoe UI"/>
                        </a:rPr>
                        <a:t> </a:t>
                      </a:r>
                      <a:endParaRPr sz="1100" lang="es-ES"/>
                    </a:p>
                  </a:txBody>
                  <a:tcPr marL="76200" marR="76200" marT="38100" marB="381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cmpd="sng" algn="ctr" cap="flat" w="9525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1F3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r"/>
                      <a:r>
                        <a:rPr lang="es-ES" sz="1100" b="false" i="false">
                          <a:solidFill>
                            <a:srgbClr val="1F2933"/>
                          </a:solidFill>
                          <a:latin typeface="Segoe UI"/>
                        </a:rPr>
                        <a:t> </a:t>
                      </a:r>
                      <a:endParaRPr sz="1100" lang="es-ES"/>
                    </a:p>
                  </a:txBody>
                  <a:tcPr marL="76200" marR="76200" marT="38100" marB="381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cmpd="sng" algn="ctr" cap="flat" w="9525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1F3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l"/>
                      <a:r>
                        <a:rPr lang="es-ES" sz="1100" b="false" i="false">
                          <a:solidFill>
                            <a:srgbClr val="1F2933"/>
                          </a:solidFill>
                          <a:latin typeface="Segoe UI"/>
                        </a:rPr>
                        <a:t>Leer ventas (CSV)</a:t>
                      </a:r>
                      <a:endParaRPr sz="1100" lang="es-ES"/>
                    </a:p>
                  </a:txBody>
                  <a:tcPr marL="76200" marR="76200" marT="38100" marB="381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cmpd="sng" algn="ctr" cap="flat" w="9525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1F3"/>
                    </a:solidFill>
                  </a:tcPr>
                </a:tc>
              </a:tr>
              <a:tr h="298704">
                <a:tc>
                  <a:txBody>
                    <a:bodyPr anchor="t" rtlCol="false"/>
                    <a:lstStyle/>
                    <a:p>
                      <a:pPr algn="l"/>
                      <a:r>
                        <a:rPr lang="es-ES" sz="1100" b="false" i="false">
                          <a:solidFill>
                            <a:srgbClr val="1F2933"/>
                          </a:solidFill>
                          <a:latin typeface="Segoe UI"/>
                        </a:rPr>
                        <a:t>codigo_producto</a:t>
                      </a:r>
                      <a:endParaRPr sz="1100" lang="es-ES"/>
                    </a:p>
                  </a:txBody>
                  <a:tcPr marL="76200" marR="76200" marT="38100" marB="381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cmpd="sng" algn="ctr" cap="flat" w="9525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l"/>
                      <a:r>
                        <a:rPr lang="es-ES" sz="1100" b="false" i="false">
                          <a:solidFill>
                            <a:srgbClr val="1F2933"/>
                          </a:solidFill>
                          <a:latin typeface="Segoe UI"/>
                        </a:rPr>
                        <a:t>String</a:t>
                      </a:r>
                      <a:endParaRPr sz="1100" lang="es-ES"/>
                    </a:p>
                  </a:txBody>
                  <a:tcPr marL="76200" marR="76200" marT="38100" marB="381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cmpd="sng" algn="ctr" cap="flat" w="9525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r"/>
                      <a:r>
                        <a:rPr lang="es-ES" sz="1100" b="false" i="false">
                          <a:solidFill>
                            <a:srgbClr val="1F2933"/>
                          </a:solidFill>
                          <a:latin typeface="Segoe UI"/>
                        </a:rPr>
                        <a:t> </a:t>
                      </a:r>
                      <a:endParaRPr sz="1100" lang="es-ES"/>
                    </a:p>
                  </a:txBody>
                  <a:tcPr marL="76200" marR="76200" marT="38100" marB="381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cmpd="sng" algn="ctr" cap="flat" w="9525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r"/>
                      <a:r>
                        <a:rPr lang="es-ES" sz="1100" b="false" i="false">
                          <a:solidFill>
                            <a:srgbClr val="1F2933"/>
                          </a:solidFill>
                          <a:latin typeface="Segoe UI"/>
                        </a:rPr>
                        <a:t> </a:t>
                      </a:r>
                      <a:endParaRPr sz="1100" lang="es-ES"/>
                    </a:p>
                  </a:txBody>
                  <a:tcPr marL="76200" marR="76200" marT="38100" marB="381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cmpd="sng" algn="ctr" cap="flat" w="9525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l"/>
                      <a:r>
                        <a:rPr lang="es-ES" sz="1100" b="false" i="false">
                          <a:solidFill>
                            <a:srgbClr val="1F2933"/>
                          </a:solidFill>
                          <a:latin typeface="Segoe UI"/>
                        </a:rPr>
                        <a:t>Leer ventas (CSV)</a:t>
                      </a:r>
                      <a:endParaRPr sz="1100" lang="es-ES"/>
                    </a:p>
                  </a:txBody>
                  <a:tcPr marL="76200" marR="76200" marT="38100" marB="381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cmpd="sng" algn="ctr" cap="flat" w="9525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8704">
                <a:tc>
                  <a:txBody>
                    <a:bodyPr anchor="t" rtlCol="false"/>
                    <a:lstStyle/>
                    <a:p>
                      <a:pPr algn="l"/>
                      <a:r>
                        <a:rPr lang="es-ES" sz="1100" b="false" i="false">
                          <a:solidFill>
                            <a:srgbClr val="1F2933"/>
                          </a:solidFill>
                          <a:latin typeface="Segoe UI"/>
                        </a:rPr>
                        <a:t>cantidad</a:t>
                      </a:r>
                      <a:endParaRPr sz="1100" lang="es-ES"/>
                    </a:p>
                  </a:txBody>
                  <a:tcPr marL="76200" marR="76200" marT="38100" marB="381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cmpd="sng" algn="ctr" cap="flat" w="9525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1F3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l"/>
                      <a:r>
                        <a:rPr lang="es-ES" sz="1100" b="false" i="false">
                          <a:solidFill>
                            <a:srgbClr val="1F2933"/>
                          </a:solidFill>
                          <a:latin typeface="Segoe UI"/>
                        </a:rPr>
                        <a:t>Integer</a:t>
                      </a:r>
                      <a:endParaRPr sz="1100" lang="es-ES"/>
                    </a:p>
                  </a:txBody>
                  <a:tcPr marL="76200" marR="76200" marT="38100" marB="381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cmpd="sng" algn="ctr" cap="flat" w="9525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1F3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r"/>
                      <a:r>
                        <a:rPr lang="es-ES" sz="1100" b="false" i="false">
                          <a:solidFill>
                            <a:srgbClr val="1F2933"/>
                          </a:solidFill>
                          <a:latin typeface="Segoe UI"/>
                        </a:rPr>
                        <a:t> </a:t>
                      </a:r>
                      <a:endParaRPr sz="1100" lang="es-ES"/>
                    </a:p>
                  </a:txBody>
                  <a:tcPr marL="76200" marR="76200" marT="38100" marB="381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cmpd="sng" algn="ctr" cap="flat" w="9525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1F3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r"/>
                      <a:r>
                        <a:rPr lang="es-ES" sz="1100" b="false" i="false">
                          <a:solidFill>
                            <a:srgbClr val="1F2933"/>
                          </a:solidFill>
                          <a:latin typeface="Segoe UI"/>
                        </a:rPr>
                        <a:t>0</a:t>
                      </a:r>
                      <a:endParaRPr sz="1100" lang="es-ES"/>
                    </a:p>
                  </a:txBody>
                  <a:tcPr marL="76200" marR="76200" marT="38100" marB="381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cmpd="sng" algn="ctr" cap="flat" w="9525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1F3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l"/>
                      <a:r>
                        <a:rPr lang="es-ES" sz="1100" b="false" i="false">
                          <a:solidFill>
                            <a:srgbClr val="1F2933"/>
                          </a:solidFill>
                          <a:latin typeface="Segoe UI"/>
                        </a:rPr>
                        <a:t>Leer ventas (CSV)</a:t>
                      </a:r>
                      <a:endParaRPr sz="1100" lang="es-ES"/>
                    </a:p>
                  </a:txBody>
                  <a:tcPr marL="76200" marR="76200" marT="38100" marB="381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cmpd="sng" algn="ctr" cap="flat" w="9525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1F3"/>
                    </a:solidFill>
                  </a:tcPr>
                </a:tc>
              </a:tr>
              <a:tr h="298704">
                <a:tc>
                  <a:txBody>
                    <a:bodyPr anchor="t" rtlCol="false"/>
                    <a:lstStyle/>
                    <a:p>
                      <a:pPr algn="l"/>
                      <a:r>
                        <a:rPr lang="es-ES" sz="1100" b="false" i="false">
                          <a:solidFill>
                            <a:srgbClr val="1F2933"/>
                          </a:solidFill>
                          <a:latin typeface="Segoe UI"/>
                        </a:rPr>
                        <a:t>precio_unitario</a:t>
                      </a:r>
                      <a:endParaRPr sz="1100" lang="es-ES"/>
                    </a:p>
                  </a:txBody>
                  <a:tcPr marL="76200" marR="76200" marT="38100" marB="381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cmpd="sng" algn="ctr" cap="flat" w="9525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l"/>
                      <a:r>
                        <a:rPr lang="es-ES" sz="1100" b="false" i="false">
                          <a:solidFill>
                            <a:srgbClr val="1F2933"/>
                          </a:solidFill>
                          <a:latin typeface="Segoe UI"/>
                        </a:rPr>
                        <a:t>Number</a:t>
                      </a:r>
                      <a:endParaRPr sz="1100" lang="es-ES"/>
                    </a:p>
                  </a:txBody>
                  <a:tcPr marL="76200" marR="76200" marT="38100" marB="381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cmpd="sng" algn="ctr" cap="flat" w="9525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r"/>
                      <a:r>
                        <a:rPr lang="es-ES" sz="1100" b="false" i="false">
                          <a:solidFill>
                            <a:srgbClr val="1F2933"/>
                          </a:solidFill>
                          <a:latin typeface="Segoe UI"/>
                        </a:rPr>
                        <a:t> </a:t>
                      </a:r>
                      <a:endParaRPr sz="1100" lang="es-ES"/>
                    </a:p>
                  </a:txBody>
                  <a:tcPr marL="76200" marR="76200" marT="38100" marB="381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cmpd="sng" algn="ctr" cap="flat" w="9525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r"/>
                      <a:r>
                        <a:rPr lang="es-ES" sz="1100" b="false" i="false">
                          <a:solidFill>
                            <a:srgbClr val="1F2933"/>
                          </a:solidFill>
                          <a:latin typeface="Segoe UI"/>
                        </a:rPr>
                        <a:t> </a:t>
                      </a:r>
                      <a:endParaRPr sz="1100" lang="es-ES"/>
                    </a:p>
                  </a:txBody>
                  <a:tcPr marL="76200" marR="76200" marT="38100" marB="381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cmpd="sng" algn="ctr" cap="flat" w="9525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l"/>
                      <a:r>
                        <a:rPr lang="es-ES" sz="1100" b="false" i="false">
                          <a:solidFill>
                            <a:srgbClr val="1F2933"/>
                          </a:solidFill>
                          <a:latin typeface="Segoe UI"/>
                        </a:rPr>
                        <a:t>Convertir precio a número</a:t>
                      </a:r>
                      <a:endParaRPr sz="1100" lang="es-ES"/>
                    </a:p>
                  </a:txBody>
                  <a:tcPr marL="76200" marR="76200" marT="38100" marB="381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cmpd="sng" algn="ctr" cap="flat" w="9525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8704">
                <a:tc>
                  <a:txBody>
                    <a:bodyPr anchor="t" rtlCol="false"/>
                    <a:lstStyle/>
                    <a:p>
                      <a:pPr algn="l"/>
                      <a:r>
                        <a:rPr lang="es-ES" sz="1100" b="false" i="false">
                          <a:solidFill>
                            <a:srgbClr val="1F2933"/>
                          </a:solidFill>
                          <a:latin typeface="Segoe UI"/>
                        </a:rPr>
                        <a:t>metodo_pago</a:t>
                      </a:r>
                      <a:endParaRPr sz="1100" lang="es-ES"/>
                    </a:p>
                  </a:txBody>
                  <a:tcPr marL="76200" marR="76200" marT="38100" marB="381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cmpd="sng" algn="ctr" cap="flat" w="9525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1F3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l"/>
                      <a:r>
                        <a:rPr lang="es-ES" sz="1100" b="false" i="false">
                          <a:solidFill>
                            <a:srgbClr val="1F2933"/>
                          </a:solidFill>
                          <a:latin typeface="Segoe UI"/>
                        </a:rPr>
                        <a:t>String</a:t>
                      </a:r>
                      <a:endParaRPr sz="1100" lang="es-ES"/>
                    </a:p>
                  </a:txBody>
                  <a:tcPr marL="76200" marR="76200" marT="38100" marB="381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cmpd="sng" algn="ctr" cap="flat" w="9525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1F3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r"/>
                      <a:r>
                        <a:rPr lang="es-ES" sz="1100" b="false" i="false">
                          <a:solidFill>
                            <a:srgbClr val="1F2933"/>
                          </a:solidFill>
                          <a:latin typeface="Segoe UI"/>
                        </a:rPr>
                        <a:t> </a:t>
                      </a:r>
                      <a:endParaRPr sz="1100" lang="es-ES"/>
                    </a:p>
                  </a:txBody>
                  <a:tcPr marL="76200" marR="76200" marT="38100" marB="381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cmpd="sng" algn="ctr" cap="flat" w="9525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1F3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r"/>
                      <a:r>
                        <a:rPr lang="es-ES" sz="1100" b="false" i="false">
                          <a:solidFill>
                            <a:srgbClr val="1F2933"/>
                          </a:solidFill>
                          <a:latin typeface="Segoe UI"/>
                        </a:rPr>
                        <a:t> </a:t>
                      </a:r>
                      <a:endParaRPr sz="1100" lang="es-ES"/>
                    </a:p>
                  </a:txBody>
                  <a:tcPr marL="76200" marR="76200" marT="38100" marB="381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cmpd="sng" algn="ctr" cap="flat" w="9525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1F3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l"/>
                      <a:r>
                        <a:rPr lang="es-ES" sz="1100" b="false" i="false">
                          <a:solidFill>
                            <a:srgbClr val="1F2933"/>
                          </a:solidFill>
                          <a:latin typeface="Segoe UI"/>
                        </a:rPr>
                        <a:t>Leer ventas (CSV)</a:t>
                      </a:r>
                      <a:endParaRPr sz="1100" lang="es-ES"/>
                    </a:p>
                  </a:txBody>
                  <a:tcPr marL="76200" marR="76200" marT="38100" marB="381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cmpd="sng" algn="ctr" cap="flat" w="9525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1F3"/>
                    </a:solidFill>
                  </a:tcPr>
                </a:tc>
              </a:tr>
              <a:tr h="298704">
                <a:tc>
                  <a:txBody>
                    <a:bodyPr anchor="t" rtlCol="false"/>
                    <a:lstStyle/>
                    <a:p>
                      <a:pPr algn="l"/>
                      <a:r>
                        <a:rPr lang="es-ES" sz="1100" b="false" i="false">
                          <a:solidFill>
                            <a:srgbClr val="1F2933"/>
                          </a:solidFill>
                          <a:latin typeface="Segoe UI"/>
                        </a:rPr>
                        <a:t>sk_tienda</a:t>
                      </a:r>
                      <a:endParaRPr sz="1100" lang="es-ES"/>
                    </a:p>
                  </a:txBody>
                  <a:tcPr marL="76200" marR="76200" marT="38100" marB="381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cmpd="sng" algn="ctr" cap="flat" w="9525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l"/>
                      <a:r>
                        <a:rPr lang="es-ES" sz="1100" b="false" i="false">
                          <a:solidFill>
                            <a:srgbClr val="1F2933"/>
                          </a:solidFill>
                          <a:latin typeface="Segoe UI"/>
                        </a:rPr>
                        <a:t>Integer</a:t>
                      </a:r>
                      <a:endParaRPr sz="1100" lang="es-ES"/>
                    </a:p>
                  </a:txBody>
                  <a:tcPr marL="76200" marR="76200" marT="38100" marB="381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cmpd="sng" algn="ctr" cap="flat" w="9525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r"/>
                      <a:r>
                        <a:rPr lang="es-ES" sz="1100" b="false" i="false">
                          <a:solidFill>
                            <a:srgbClr val="1F2933"/>
                          </a:solidFill>
                          <a:latin typeface="Segoe UI"/>
                        </a:rPr>
                        <a:t>9</a:t>
                      </a:r>
                      <a:endParaRPr sz="1100" lang="es-ES"/>
                    </a:p>
                  </a:txBody>
                  <a:tcPr marL="76200" marR="76200" marT="38100" marB="381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cmpd="sng" algn="ctr" cap="flat" w="9525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r"/>
                      <a:r>
                        <a:rPr lang="es-ES" sz="1100" b="false" i="false">
                          <a:solidFill>
                            <a:srgbClr val="1F2933"/>
                          </a:solidFill>
                          <a:latin typeface="Segoe UI"/>
                        </a:rPr>
                        <a:t>0</a:t>
                      </a:r>
                      <a:endParaRPr sz="1100" lang="es-ES"/>
                    </a:p>
                  </a:txBody>
                  <a:tcPr marL="76200" marR="76200" marT="38100" marB="381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cmpd="sng" algn="ctr" cap="flat" w="9525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l"/>
                      <a:r>
                        <a:rPr lang="es-ES" sz="1100" b="false" i="false">
                          <a:solidFill>
                            <a:srgbClr val="1F2933"/>
                          </a:solidFill>
                          <a:latin typeface="Segoe UI"/>
                        </a:rPr>
                        <a:t>Buscar tienda</a:t>
                      </a:r>
                      <a:endParaRPr sz="1100" lang="es-ES"/>
                    </a:p>
                  </a:txBody>
                  <a:tcPr marL="76200" marR="76200" marT="38100" marB="381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cmpd="sng" algn="ctr" cap="flat" w="9525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8704">
                <a:tc>
                  <a:txBody>
                    <a:bodyPr anchor="t" rtlCol="false"/>
                    <a:lstStyle/>
                    <a:p>
                      <a:pPr algn="l"/>
                      <a:r>
                        <a:rPr lang="es-ES" sz="1100" b="false" i="false">
                          <a:solidFill>
                            <a:srgbClr val="1F2933"/>
                          </a:solidFill>
                          <a:latin typeface="Segoe UI"/>
                        </a:rPr>
                        <a:t>sk_producto</a:t>
                      </a:r>
                      <a:endParaRPr sz="1100" lang="es-ES"/>
                    </a:p>
                  </a:txBody>
                  <a:tcPr marL="76200" marR="76200" marT="38100" marB="381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cmpd="sng" algn="ctr" cap="flat" w="9525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1F3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l"/>
                      <a:r>
                        <a:rPr lang="es-ES" sz="1100" b="false" i="false">
                          <a:solidFill>
                            <a:srgbClr val="1F2933"/>
                          </a:solidFill>
                          <a:latin typeface="Segoe UI"/>
                        </a:rPr>
                        <a:t>Integer</a:t>
                      </a:r>
                      <a:endParaRPr sz="1100" lang="es-ES"/>
                    </a:p>
                  </a:txBody>
                  <a:tcPr marL="76200" marR="76200" marT="38100" marB="381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cmpd="sng" algn="ctr" cap="flat" w="9525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1F3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r"/>
                      <a:r>
                        <a:rPr lang="es-ES" sz="1100" b="false" i="false">
                          <a:solidFill>
                            <a:srgbClr val="1F2933"/>
                          </a:solidFill>
                          <a:latin typeface="Segoe UI"/>
                        </a:rPr>
                        <a:t>9</a:t>
                      </a:r>
                      <a:endParaRPr sz="1100" lang="es-ES"/>
                    </a:p>
                  </a:txBody>
                  <a:tcPr marL="76200" marR="76200" marT="38100" marB="381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cmpd="sng" algn="ctr" cap="flat" w="9525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1F3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r"/>
                      <a:r>
                        <a:rPr lang="es-ES" sz="1100" b="false" i="false">
                          <a:solidFill>
                            <a:srgbClr val="1F2933"/>
                          </a:solidFill>
                          <a:latin typeface="Segoe UI"/>
                        </a:rPr>
                        <a:t>0</a:t>
                      </a:r>
                      <a:endParaRPr sz="1100" lang="es-ES"/>
                    </a:p>
                  </a:txBody>
                  <a:tcPr marL="76200" marR="76200" marT="38100" marB="381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cmpd="sng" algn="ctr" cap="flat" w="9525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1F3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l"/>
                      <a:r>
                        <a:rPr lang="es-ES" sz="1100" b="false" i="false">
                          <a:solidFill>
                            <a:srgbClr val="1F2933"/>
                          </a:solidFill>
                          <a:latin typeface="Segoe UI"/>
                        </a:rPr>
                        <a:t>Buscar producto</a:t>
                      </a:r>
                      <a:endParaRPr sz="1100" lang="es-ES"/>
                    </a:p>
                  </a:txBody>
                  <a:tcPr marL="76200" marR="76200" marT="38100" marB="381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cmpd="sng" algn="ctr" cap="flat" w="9525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1F3"/>
                    </a:solidFill>
                  </a:tcPr>
                </a:tc>
              </a:tr>
              <a:tr h="298704">
                <a:tc>
                  <a:txBody>
                    <a:bodyPr anchor="t" rtlCol="false"/>
                    <a:lstStyle/>
                    <a:p>
                      <a:pPr algn="l"/>
                      <a:r>
                        <a:rPr lang="es-ES" sz="1100" b="false" i="false">
                          <a:solidFill>
                            <a:srgbClr val="1F2933"/>
                          </a:solidFill>
                          <a:latin typeface="Segoe UI"/>
                        </a:rPr>
                        <a:t>sk_fecha</a:t>
                      </a:r>
                      <a:endParaRPr sz="1100" lang="es-ES"/>
                    </a:p>
                  </a:txBody>
                  <a:tcPr marL="76200" marR="76200" marT="38100" marB="381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cmpd="sng" algn="ctr" cap="flat" w="9525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l"/>
                      <a:r>
                        <a:rPr lang="es-ES" sz="1100" b="false" i="false">
                          <a:solidFill>
                            <a:srgbClr val="1F2933"/>
                          </a:solidFill>
                          <a:latin typeface="Segoe UI"/>
                        </a:rPr>
                        <a:t>Integer</a:t>
                      </a:r>
                      <a:endParaRPr sz="1100" lang="es-ES"/>
                    </a:p>
                  </a:txBody>
                  <a:tcPr marL="76200" marR="76200" marT="38100" marB="381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cmpd="sng" algn="ctr" cap="flat" w="9525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r"/>
                      <a:r>
                        <a:rPr lang="es-ES" sz="1100" b="false" i="false">
                          <a:solidFill>
                            <a:srgbClr val="1F2933"/>
                          </a:solidFill>
                          <a:latin typeface="Segoe UI"/>
                        </a:rPr>
                        <a:t>9</a:t>
                      </a:r>
                      <a:endParaRPr sz="1100" lang="es-ES"/>
                    </a:p>
                  </a:txBody>
                  <a:tcPr marL="76200" marR="76200" marT="38100" marB="381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cmpd="sng" algn="ctr" cap="flat" w="9525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r"/>
                      <a:r>
                        <a:rPr lang="es-ES" sz="1100" b="false" i="false">
                          <a:solidFill>
                            <a:srgbClr val="1F2933"/>
                          </a:solidFill>
                          <a:latin typeface="Segoe UI"/>
                        </a:rPr>
                        <a:t>0</a:t>
                      </a:r>
                      <a:endParaRPr sz="1100" lang="es-ES"/>
                    </a:p>
                  </a:txBody>
                  <a:tcPr marL="76200" marR="76200" marT="38100" marB="381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cmpd="sng" algn="ctr" cap="flat" w="9525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l"/>
                      <a:r>
                        <a:rPr lang="es-ES" sz="1100" b="false" i="false">
                          <a:solidFill>
                            <a:srgbClr val="1F2933"/>
                          </a:solidFill>
                          <a:latin typeface="Segoe UI"/>
                        </a:rPr>
                        <a:t>Buscar fecha</a:t>
                      </a:r>
                      <a:endParaRPr sz="1100" lang="es-ES"/>
                    </a:p>
                  </a:txBody>
                  <a:tcPr marL="76200" marR="76200" marT="38100" marB="381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cmpd="sng" algn="ctr" cap="flat" w="9525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5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8000" y="203200"/>
            <a:ext cx="11176000" cy="635000"/>
          </a:xfrm>
        </p:spPr>
        <p:txBody>
          <a:bodyPr lIns="0" rIns="0" wrap="square" anchor="ctr"/>
          <a:lstStyle/>
          <a:p>
            <a:pPr algn="l"/>
            <a:r>
              <a:rPr lang="es-ES" sz="2600" b="true" i="false">
                <a:solidFill>
                  <a:srgbClr val="243B53"/>
                </a:solidFill>
                <a:latin typeface="Segoe UI"/>
              </a:rPr>
              <a:t>Diccionario de datos (cont.)</a:t>
            </a:r>
            <a:endParaRPr sz="2600" lang="es-ES"/>
          </a:p>
        </p:txBody>
      </p:sp>
      <p:pic>
        <p:nvPicPr>
          <p:cNvPr name="Picture 3" id="3"/>
          <p:cNvPicPr>
            <a:picLocks noChangeAspect="true"/>
          </p:cNvPicPr>
          <p:nvPr/>
        </p:nvPicPr>
        <p:blipFill>
          <a:blip r:embed="rId2"/>
          <a:stretch>
            <a:fillRect/>
          </a:stretch>
        </p:blipFill>
        <p:spPr>
          <a:xfrm>
            <a:off x="10248900" y="5510084"/>
            <a:ext cx="1435100" cy="814516"/>
          </a:xfrm>
          <a:prstGeom prst="rect">
            <a:avLst/>
          </a:prstGeom>
        </p:spPr>
      </p:pic>
      <p:sp>
        <p:nvSpPr>
          <p:cNvPr name="AutoShape 4" id="4"/>
          <p:cNvSpPr/>
          <p:nvPr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243B53"/>
          </a:solidFill>
          <a:ln>
            <a:noFill/>
          </a:ln>
        </p:spPr>
      </p:sp>
      <p:pic>
        <p:nvPicPr>
          <p:cNvPr name="Picture 5" id="5"/>
          <p:cNvPicPr>
            <a:picLocks noChangeAspect="true"/>
          </p:cNvPicPr>
          <p:nvPr/>
        </p:nvPicPr>
        <p:blipFill>
          <a:blip r:embed="rId3"/>
          <a:stretch>
            <a:fillRect/>
          </a:stretch>
        </p:blipFill>
        <p:spPr>
          <a:xfrm>
            <a:off x="508000" y="6508750"/>
            <a:ext cx="177800" cy="100914"/>
          </a:xfrm>
          <a:prstGeom prst="rect">
            <a:avLst/>
          </a:prstGeom>
        </p:spPr>
      </p:pic>
      <p:sp>
        <p:nvSpPr>
          <p:cNvPr name="TextBox 6" id="6"/>
          <p:cNvSpPr txBox="true"/>
          <p:nvPr/>
        </p:nvSpPr>
        <p:spPr>
          <a:xfrm>
            <a:off x="749300" y="6451600"/>
            <a:ext cx="5080000" cy="228600"/>
          </a:xfrm>
          <a:prstGeom prst="rect">
            <a:avLst/>
          </a:prstGeom>
        </p:spPr>
        <p:txBody>
          <a:bodyPr anchor="ctr" rtlCol="false" wrap="square" lIns="0" rIns="0" tIns="25400" bIns="25400"/>
          <a:lstStyle/>
          <a:p>
            <a:pPr algn="l"/>
            <a:r>
              <a:rPr lang="es-ES" sz="750" b="false" i="false">
                <a:solidFill>
                  <a:srgbClr val="6B7785"/>
                </a:solidFill>
                <a:latin typeface="Segoe UI"/>
              </a:rPr>
              <a:t>Pentaho Live · IDC Studios</a:t>
            </a:r>
            <a:endParaRPr sz="750" lang="es-ES"/>
          </a:p>
        </p:txBody>
      </p:sp>
      <p:sp>
        <p:nvSpPr>
          <p:cNvPr name="TextBox 7" id="7"/>
          <p:cNvSpPr txBox="true"/>
          <p:nvPr/>
        </p:nvSpPr>
        <p:spPr>
          <a:xfrm>
            <a:off x="10160000" y="6451600"/>
            <a:ext cx="1524000" cy="228600"/>
          </a:xfrm>
          <a:prstGeom prst="rect">
            <a:avLst/>
          </a:prstGeom>
        </p:spPr>
        <p:txBody>
          <a:bodyPr anchor="ctr" rtlCol="false" wrap="square" lIns="0" rIns="0" tIns="25400" bIns="25400"/>
          <a:lstStyle/>
          <a:p>
            <a:pPr algn="r"/>
            <a:fld id="{E87DEAB5-8A3E-4B21-AC40-9446D536EF32}" type="slidenum">
              <a:rPr lang="es-ES" sz="750">
                <a:solidFill>
                  <a:srgbClr val="6B7785"/>
                </a:solidFill>
                <a:latin typeface="Segoe UI"/>
              </a:rPr>
              <a:t>25</a:t>
            </a:fld>
            <a:endParaRPr sz="750" lang="es-ES"/>
          </a:p>
        </p:txBody>
      </p:sp>
      <p:sp>
        <p:nvSpPr>
          <p:cNvPr name="TextBox 8" id="8"/>
          <p:cNvSpPr txBox="true"/>
          <p:nvPr/>
        </p:nvSpPr>
        <p:spPr>
          <a:xfrm>
            <a:off x="508000" y="1016000"/>
            <a:ext cx="11176000" cy="254000"/>
          </a:xfrm>
          <a:prstGeom prst="rect">
            <a:avLst/>
          </a:prstGeom>
        </p:spPr>
        <p:txBody>
          <a:bodyPr anchor="t" rtlCol="false" wrap="square" lIns="0" rIns="0" tIns="25400" bIns="25400"/>
          <a:lstStyle/>
          <a:p>
            <a:pPr algn="l"/>
            <a:r>
              <a:rPr lang="es-ES" sz="1300" b="true" i="false">
                <a:solidFill>
                  <a:srgbClr val="243B53"/>
                </a:solidFill>
                <a:latin typeface="Segoe UI"/>
              </a:rPr>
              <a:t>Clasificar línea</a:t>
            </a:r>
            <a:endParaRPr sz="1300" lang="es-ES"/>
          </a:p>
        </p:txBody>
      </p:sp>
      <p:graphicFrame>
        <p:nvGraphicFramePr>
          <p:cNvPr name="Table 9" id="9"/>
          <p:cNvGraphicFramePr>
            <a:graphicFrameLocks noGrp="true"/>
          </p:cNvGraphicFramePr>
          <p:nvPr/>
        </p:nvGraphicFramePr>
        <p:xfrm>
          <a:off x="508000" y="1295400"/>
          <a:ext cx="5702300" cy="3883152"/>
        </p:xfrm>
        <a:graphic>
          <a:graphicData uri="http://schemas.openxmlformats.org/drawingml/2006/table">
            <a:tbl>
              <a:tblPr/>
              <a:tblGrid>
                <a:gridCol w="1320800"/>
                <a:gridCol w="711200"/>
                <a:gridCol w="635000"/>
                <a:gridCol w="939800"/>
                <a:gridCol w="2095500"/>
              </a:tblGrid>
              <a:tr h="298704">
                <a:tc>
                  <a:txBody>
                    <a:bodyPr anchor="t" rtlCol="false"/>
                    <a:lstStyle/>
                    <a:p>
                      <a:pPr algn="l"/>
                      <a:r>
                        <a:rPr lang="es-ES" sz="1100" b="true" i="false">
                          <a:solidFill>
                            <a:srgbClr val="FFFFFF"/>
                          </a:solidFill>
                          <a:latin typeface="Segoe UI"/>
                        </a:rPr>
                        <a:t>Campo</a:t>
                      </a:r>
                      <a:endParaRPr sz="1100" lang="es-ES"/>
                    </a:p>
                  </a:txBody>
                  <a:tcPr marL="76200" marR="76200" marT="38100" marB="381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cmpd="sng" algn="ctr" cap="flat" w="9525">
                      <a:solidFill>
                        <a:srgbClr val="243B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3B53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l"/>
                      <a:r>
                        <a:rPr lang="es-ES" sz="1100" b="true" i="false">
                          <a:solidFill>
                            <a:srgbClr val="FFFFFF"/>
                          </a:solidFill>
                          <a:latin typeface="Segoe UI"/>
                        </a:rPr>
                        <a:t>Tipo</a:t>
                      </a:r>
                      <a:endParaRPr sz="1100" lang="es-ES"/>
                    </a:p>
                  </a:txBody>
                  <a:tcPr marL="76200" marR="76200" marT="38100" marB="381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cmpd="sng" algn="ctr" cap="flat" w="9525">
                      <a:solidFill>
                        <a:srgbClr val="243B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3B53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r"/>
                      <a:r>
                        <a:rPr lang="es-ES" sz="1100" b="true" i="false">
                          <a:solidFill>
                            <a:srgbClr val="FFFFFF"/>
                          </a:solidFill>
                          <a:latin typeface="Segoe UI"/>
                        </a:rPr>
                        <a:t>Largo</a:t>
                      </a:r>
                      <a:endParaRPr sz="1100" lang="es-ES"/>
                    </a:p>
                  </a:txBody>
                  <a:tcPr marL="76200" marR="76200" marT="38100" marB="381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cmpd="sng" algn="ctr" cap="flat" w="9525">
                      <a:solidFill>
                        <a:srgbClr val="243B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3B53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r"/>
                      <a:r>
                        <a:rPr lang="es-ES" sz="1100" b="true" i="false">
                          <a:solidFill>
                            <a:srgbClr val="FFFFFF"/>
                          </a:solidFill>
                          <a:latin typeface="Segoe UI"/>
                        </a:rPr>
                        <a:t>Precisión</a:t>
                      </a:r>
                      <a:endParaRPr sz="1100" lang="es-ES"/>
                    </a:p>
                  </a:txBody>
                  <a:tcPr marL="76200" marR="76200" marT="38100" marB="381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cmpd="sng" algn="ctr" cap="flat" w="9525">
                      <a:solidFill>
                        <a:srgbClr val="243B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3B53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l"/>
                      <a:r>
                        <a:rPr lang="es-ES" sz="1100" b="true" i="false">
                          <a:solidFill>
                            <a:srgbClr val="FFFFFF"/>
                          </a:solidFill>
                          <a:latin typeface="Segoe UI"/>
                        </a:rPr>
                        <a:t>Origen</a:t>
                      </a:r>
                      <a:endParaRPr sz="1100" lang="es-ES"/>
                    </a:p>
                  </a:txBody>
                  <a:tcPr marL="76200" marR="76200" marT="38100" marB="381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cmpd="sng" algn="ctr" cap="flat" w="9525">
                      <a:solidFill>
                        <a:srgbClr val="243B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3B53"/>
                    </a:solidFill>
                  </a:tcPr>
                </a:tc>
              </a:tr>
              <a:tr h="298704">
                <a:tc>
                  <a:txBody>
                    <a:bodyPr anchor="t" rtlCol="false"/>
                    <a:lstStyle/>
                    <a:p>
                      <a:pPr algn="l"/>
                      <a:r>
                        <a:rPr lang="es-ES" sz="1100" b="false" i="false">
                          <a:solidFill>
                            <a:srgbClr val="1F2933"/>
                          </a:solidFill>
                          <a:latin typeface="Segoe UI"/>
                        </a:rPr>
                        <a:t>id_ticket</a:t>
                      </a:r>
                      <a:endParaRPr sz="1100" lang="es-ES"/>
                    </a:p>
                  </a:txBody>
                  <a:tcPr marL="76200" marR="76200" marT="38100" marB="381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cmpd="sng" algn="ctr" cap="flat" w="9525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l"/>
                      <a:r>
                        <a:rPr lang="es-ES" sz="1100" b="false" i="false">
                          <a:solidFill>
                            <a:srgbClr val="1F2933"/>
                          </a:solidFill>
                          <a:latin typeface="Segoe UI"/>
                        </a:rPr>
                        <a:t>String</a:t>
                      </a:r>
                      <a:endParaRPr sz="1100" lang="es-ES"/>
                    </a:p>
                  </a:txBody>
                  <a:tcPr marL="76200" marR="76200" marT="38100" marB="381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cmpd="sng" algn="ctr" cap="flat" w="9525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r"/>
                      <a:r>
                        <a:rPr lang="es-ES" sz="1100" b="false" i="false">
                          <a:solidFill>
                            <a:srgbClr val="1F2933"/>
                          </a:solidFill>
                          <a:latin typeface="Segoe UI"/>
                        </a:rPr>
                        <a:t> </a:t>
                      </a:r>
                      <a:endParaRPr sz="1100" lang="es-ES"/>
                    </a:p>
                  </a:txBody>
                  <a:tcPr marL="76200" marR="76200" marT="38100" marB="381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cmpd="sng" algn="ctr" cap="flat" w="9525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r"/>
                      <a:r>
                        <a:rPr lang="es-ES" sz="1100" b="false" i="false">
                          <a:solidFill>
                            <a:srgbClr val="1F2933"/>
                          </a:solidFill>
                          <a:latin typeface="Segoe UI"/>
                        </a:rPr>
                        <a:t> </a:t>
                      </a:r>
                      <a:endParaRPr sz="1100" lang="es-ES"/>
                    </a:p>
                  </a:txBody>
                  <a:tcPr marL="76200" marR="76200" marT="38100" marB="381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cmpd="sng" algn="ctr" cap="flat" w="9525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l"/>
                      <a:r>
                        <a:rPr lang="es-ES" sz="1100" b="false" i="false">
                          <a:solidFill>
                            <a:srgbClr val="1F2933"/>
                          </a:solidFill>
                          <a:latin typeface="Segoe UI"/>
                        </a:rPr>
                        <a:t>Leer ventas (CSV)</a:t>
                      </a:r>
                      <a:endParaRPr sz="1100" lang="es-ES"/>
                    </a:p>
                  </a:txBody>
                  <a:tcPr marL="76200" marR="76200" marT="38100" marB="381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cmpd="sng" algn="ctr" cap="flat" w="9525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8704">
                <a:tc>
                  <a:txBody>
                    <a:bodyPr anchor="t" rtlCol="false"/>
                    <a:lstStyle/>
                    <a:p>
                      <a:pPr algn="l"/>
                      <a:r>
                        <a:rPr lang="es-ES" sz="1100" b="false" i="false">
                          <a:solidFill>
                            <a:srgbClr val="1F2933"/>
                          </a:solidFill>
                          <a:latin typeface="Segoe UI"/>
                        </a:rPr>
                        <a:t>linea</a:t>
                      </a:r>
                      <a:endParaRPr sz="1100" lang="es-ES"/>
                    </a:p>
                  </a:txBody>
                  <a:tcPr marL="76200" marR="76200" marT="38100" marB="381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cmpd="sng" algn="ctr" cap="flat" w="9525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1F3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l"/>
                      <a:r>
                        <a:rPr lang="es-ES" sz="1100" b="false" i="false">
                          <a:solidFill>
                            <a:srgbClr val="1F2933"/>
                          </a:solidFill>
                          <a:latin typeface="Segoe UI"/>
                        </a:rPr>
                        <a:t>Integer</a:t>
                      </a:r>
                      <a:endParaRPr sz="1100" lang="es-ES"/>
                    </a:p>
                  </a:txBody>
                  <a:tcPr marL="76200" marR="76200" marT="38100" marB="381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cmpd="sng" algn="ctr" cap="flat" w="9525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1F3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r"/>
                      <a:r>
                        <a:rPr lang="es-ES" sz="1100" b="false" i="false">
                          <a:solidFill>
                            <a:srgbClr val="1F2933"/>
                          </a:solidFill>
                          <a:latin typeface="Segoe UI"/>
                        </a:rPr>
                        <a:t> </a:t>
                      </a:r>
                      <a:endParaRPr sz="1100" lang="es-ES"/>
                    </a:p>
                  </a:txBody>
                  <a:tcPr marL="76200" marR="76200" marT="38100" marB="381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cmpd="sng" algn="ctr" cap="flat" w="9525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1F3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r"/>
                      <a:r>
                        <a:rPr lang="es-ES" sz="1100" b="false" i="false">
                          <a:solidFill>
                            <a:srgbClr val="1F2933"/>
                          </a:solidFill>
                          <a:latin typeface="Segoe UI"/>
                        </a:rPr>
                        <a:t>0</a:t>
                      </a:r>
                      <a:endParaRPr sz="1100" lang="es-ES"/>
                    </a:p>
                  </a:txBody>
                  <a:tcPr marL="76200" marR="76200" marT="38100" marB="381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cmpd="sng" algn="ctr" cap="flat" w="9525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1F3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l"/>
                      <a:r>
                        <a:rPr lang="es-ES" sz="1100" b="false" i="false">
                          <a:solidFill>
                            <a:srgbClr val="1F2933"/>
                          </a:solidFill>
                          <a:latin typeface="Segoe UI"/>
                        </a:rPr>
                        <a:t>Leer ventas (CSV)</a:t>
                      </a:r>
                      <a:endParaRPr sz="1100" lang="es-ES"/>
                    </a:p>
                  </a:txBody>
                  <a:tcPr marL="76200" marR="76200" marT="38100" marB="381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cmpd="sng" algn="ctr" cap="flat" w="9525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1F3"/>
                    </a:solidFill>
                  </a:tcPr>
                </a:tc>
              </a:tr>
              <a:tr h="298704">
                <a:tc>
                  <a:txBody>
                    <a:bodyPr anchor="t" rtlCol="false"/>
                    <a:lstStyle/>
                    <a:p>
                      <a:pPr algn="l"/>
                      <a:r>
                        <a:rPr lang="es-ES" sz="1100" b="false" i="false">
                          <a:solidFill>
                            <a:srgbClr val="1F2933"/>
                          </a:solidFill>
                          <a:latin typeface="Segoe UI"/>
                        </a:rPr>
                        <a:t>fecha</a:t>
                      </a:r>
                      <a:endParaRPr sz="1100" lang="es-ES"/>
                    </a:p>
                  </a:txBody>
                  <a:tcPr marL="76200" marR="76200" marT="38100" marB="381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cmpd="sng" algn="ctr" cap="flat" w="9525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l"/>
                      <a:r>
                        <a:rPr lang="es-ES" sz="1100" b="false" i="false">
                          <a:solidFill>
                            <a:srgbClr val="1F2933"/>
                          </a:solidFill>
                          <a:latin typeface="Segoe UI"/>
                        </a:rPr>
                        <a:t>String</a:t>
                      </a:r>
                      <a:endParaRPr sz="1100" lang="es-ES"/>
                    </a:p>
                  </a:txBody>
                  <a:tcPr marL="76200" marR="76200" marT="38100" marB="381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cmpd="sng" algn="ctr" cap="flat" w="9525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r"/>
                      <a:r>
                        <a:rPr lang="es-ES" sz="1100" b="false" i="false">
                          <a:solidFill>
                            <a:srgbClr val="1F2933"/>
                          </a:solidFill>
                          <a:latin typeface="Segoe UI"/>
                        </a:rPr>
                        <a:t> </a:t>
                      </a:r>
                      <a:endParaRPr sz="1100" lang="es-ES"/>
                    </a:p>
                  </a:txBody>
                  <a:tcPr marL="76200" marR="76200" marT="38100" marB="381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cmpd="sng" algn="ctr" cap="flat" w="9525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r"/>
                      <a:r>
                        <a:rPr lang="es-ES" sz="1100" b="false" i="false">
                          <a:solidFill>
                            <a:srgbClr val="1F2933"/>
                          </a:solidFill>
                          <a:latin typeface="Segoe UI"/>
                        </a:rPr>
                        <a:t> </a:t>
                      </a:r>
                      <a:endParaRPr sz="1100" lang="es-ES"/>
                    </a:p>
                  </a:txBody>
                  <a:tcPr marL="76200" marR="76200" marT="38100" marB="381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cmpd="sng" algn="ctr" cap="flat" w="9525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l"/>
                      <a:r>
                        <a:rPr lang="es-ES" sz="1100" b="false" i="false">
                          <a:solidFill>
                            <a:srgbClr val="1F2933"/>
                          </a:solidFill>
                          <a:latin typeface="Segoe UI"/>
                        </a:rPr>
                        <a:t>Leer ventas (CSV)</a:t>
                      </a:r>
                      <a:endParaRPr sz="1100" lang="es-ES"/>
                    </a:p>
                  </a:txBody>
                  <a:tcPr marL="76200" marR="76200" marT="38100" marB="381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cmpd="sng" algn="ctr" cap="flat" w="9525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8704">
                <a:tc>
                  <a:txBody>
                    <a:bodyPr anchor="t" rtlCol="false"/>
                    <a:lstStyle/>
                    <a:p>
                      <a:pPr algn="l"/>
                      <a:r>
                        <a:rPr lang="es-ES" sz="1100" b="false" i="false">
                          <a:solidFill>
                            <a:srgbClr val="1F2933"/>
                          </a:solidFill>
                          <a:latin typeface="Segoe UI"/>
                        </a:rPr>
                        <a:t>id_tienda</a:t>
                      </a:r>
                      <a:endParaRPr sz="1100" lang="es-ES"/>
                    </a:p>
                  </a:txBody>
                  <a:tcPr marL="76200" marR="76200" marT="38100" marB="381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cmpd="sng" algn="ctr" cap="flat" w="9525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1F3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l"/>
                      <a:r>
                        <a:rPr lang="es-ES" sz="1100" b="false" i="false">
                          <a:solidFill>
                            <a:srgbClr val="1F2933"/>
                          </a:solidFill>
                          <a:latin typeface="Segoe UI"/>
                        </a:rPr>
                        <a:t>String</a:t>
                      </a:r>
                      <a:endParaRPr sz="1100" lang="es-ES"/>
                    </a:p>
                  </a:txBody>
                  <a:tcPr marL="76200" marR="76200" marT="38100" marB="381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cmpd="sng" algn="ctr" cap="flat" w="9525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1F3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r"/>
                      <a:r>
                        <a:rPr lang="es-ES" sz="1100" b="false" i="false">
                          <a:solidFill>
                            <a:srgbClr val="1F2933"/>
                          </a:solidFill>
                          <a:latin typeface="Segoe UI"/>
                        </a:rPr>
                        <a:t> </a:t>
                      </a:r>
                      <a:endParaRPr sz="1100" lang="es-ES"/>
                    </a:p>
                  </a:txBody>
                  <a:tcPr marL="76200" marR="76200" marT="38100" marB="381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cmpd="sng" algn="ctr" cap="flat" w="9525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1F3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r"/>
                      <a:r>
                        <a:rPr lang="es-ES" sz="1100" b="false" i="false">
                          <a:solidFill>
                            <a:srgbClr val="1F2933"/>
                          </a:solidFill>
                          <a:latin typeface="Segoe UI"/>
                        </a:rPr>
                        <a:t> </a:t>
                      </a:r>
                      <a:endParaRPr sz="1100" lang="es-ES"/>
                    </a:p>
                  </a:txBody>
                  <a:tcPr marL="76200" marR="76200" marT="38100" marB="381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cmpd="sng" algn="ctr" cap="flat" w="9525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1F3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l"/>
                      <a:r>
                        <a:rPr lang="es-ES" sz="1100" b="false" i="false">
                          <a:solidFill>
                            <a:srgbClr val="1F2933"/>
                          </a:solidFill>
                          <a:latin typeface="Segoe UI"/>
                        </a:rPr>
                        <a:t>Leer ventas (CSV)</a:t>
                      </a:r>
                      <a:endParaRPr sz="1100" lang="es-ES"/>
                    </a:p>
                  </a:txBody>
                  <a:tcPr marL="76200" marR="76200" marT="38100" marB="381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cmpd="sng" algn="ctr" cap="flat" w="9525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1F3"/>
                    </a:solidFill>
                  </a:tcPr>
                </a:tc>
              </a:tr>
              <a:tr h="298704">
                <a:tc>
                  <a:txBody>
                    <a:bodyPr anchor="t" rtlCol="false"/>
                    <a:lstStyle/>
                    <a:p>
                      <a:pPr algn="l"/>
                      <a:r>
                        <a:rPr lang="es-ES" sz="1100" b="false" i="false">
                          <a:solidFill>
                            <a:srgbClr val="1F2933"/>
                          </a:solidFill>
                          <a:latin typeface="Segoe UI"/>
                        </a:rPr>
                        <a:t>codigo_producto</a:t>
                      </a:r>
                      <a:endParaRPr sz="1100" lang="es-ES"/>
                    </a:p>
                  </a:txBody>
                  <a:tcPr marL="76200" marR="76200" marT="38100" marB="381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cmpd="sng" algn="ctr" cap="flat" w="9525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l"/>
                      <a:r>
                        <a:rPr lang="es-ES" sz="1100" b="false" i="false">
                          <a:solidFill>
                            <a:srgbClr val="1F2933"/>
                          </a:solidFill>
                          <a:latin typeface="Segoe UI"/>
                        </a:rPr>
                        <a:t>String</a:t>
                      </a:r>
                      <a:endParaRPr sz="1100" lang="es-ES"/>
                    </a:p>
                  </a:txBody>
                  <a:tcPr marL="76200" marR="76200" marT="38100" marB="381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cmpd="sng" algn="ctr" cap="flat" w="9525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r"/>
                      <a:r>
                        <a:rPr lang="es-ES" sz="1100" b="false" i="false">
                          <a:solidFill>
                            <a:srgbClr val="1F2933"/>
                          </a:solidFill>
                          <a:latin typeface="Segoe UI"/>
                        </a:rPr>
                        <a:t> </a:t>
                      </a:r>
                      <a:endParaRPr sz="1100" lang="es-ES"/>
                    </a:p>
                  </a:txBody>
                  <a:tcPr marL="76200" marR="76200" marT="38100" marB="381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cmpd="sng" algn="ctr" cap="flat" w="9525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r"/>
                      <a:r>
                        <a:rPr lang="es-ES" sz="1100" b="false" i="false">
                          <a:solidFill>
                            <a:srgbClr val="1F2933"/>
                          </a:solidFill>
                          <a:latin typeface="Segoe UI"/>
                        </a:rPr>
                        <a:t> </a:t>
                      </a:r>
                      <a:endParaRPr sz="1100" lang="es-ES"/>
                    </a:p>
                  </a:txBody>
                  <a:tcPr marL="76200" marR="76200" marT="38100" marB="381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cmpd="sng" algn="ctr" cap="flat" w="9525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l"/>
                      <a:r>
                        <a:rPr lang="es-ES" sz="1100" b="false" i="false">
                          <a:solidFill>
                            <a:srgbClr val="1F2933"/>
                          </a:solidFill>
                          <a:latin typeface="Segoe UI"/>
                        </a:rPr>
                        <a:t>Leer ventas (CSV)</a:t>
                      </a:r>
                      <a:endParaRPr sz="1100" lang="es-ES"/>
                    </a:p>
                  </a:txBody>
                  <a:tcPr marL="76200" marR="76200" marT="38100" marB="381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cmpd="sng" algn="ctr" cap="flat" w="9525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8704">
                <a:tc>
                  <a:txBody>
                    <a:bodyPr anchor="t" rtlCol="false"/>
                    <a:lstStyle/>
                    <a:p>
                      <a:pPr algn="l"/>
                      <a:r>
                        <a:rPr lang="es-ES" sz="1100" b="false" i="false">
                          <a:solidFill>
                            <a:srgbClr val="1F2933"/>
                          </a:solidFill>
                          <a:latin typeface="Segoe UI"/>
                        </a:rPr>
                        <a:t>cantidad</a:t>
                      </a:r>
                      <a:endParaRPr sz="1100" lang="es-ES"/>
                    </a:p>
                  </a:txBody>
                  <a:tcPr marL="76200" marR="76200" marT="38100" marB="381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cmpd="sng" algn="ctr" cap="flat" w="9525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1F3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l"/>
                      <a:r>
                        <a:rPr lang="es-ES" sz="1100" b="false" i="false">
                          <a:solidFill>
                            <a:srgbClr val="1F2933"/>
                          </a:solidFill>
                          <a:latin typeface="Segoe UI"/>
                        </a:rPr>
                        <a:t>Integer</a:t>
                      </a:r>
                      <a:endParaRPr sz="1100" lang="es-ES"/>
                    </a:p>
                  </a:txBody>
                  <a:tcPr marL="76200" marR="76200" marT="38100" marB="381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cmpd="sng" algn="ctr" cap="flat" w="9525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1F3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r"/>
                      <a:r>
                        <a:rPr lang="es-ES" sz="1100" b="false" i="false">
                          <a:solidFill>
                            <a:srgbClr val="1F2933"/>
                          </a:solidFill>
                          <a:latin typeface="Segoe UI"/>
                        </a:rPr>
                        <a:t> </a:t>
                      </a:r>
                      <a:endParaRPr sz="1100" lang="es-ES"/>
                    </a:p>
                  </a:txBody>
                  <a:tcPr marL="76200" marR="76200" marT="38100" marB="381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cmpd="sng" algn="ctr" cap="flat" w="9525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1F3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r"/>
                      <a:r>
                        <a:rPr lang="es-ES" sz="1100" b="false" i="false">
                          <a:solidFill>
                            <a:srgbClr val="1F2933"/>
                          </a:solidFill>
                          <a:latin typeface="Segoe UI"/>
                        </a:rPr>
                        <a:t>0</a:t>
                      </a:r>
                      <a:endParaRPr sz="1100" lang="es-ES"/>
                    </a:p>
                  </a:txBody>
                  <a:tcPr marL="76200" marR="76200" marT="38100" marB="381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cmpd="sng" algn="ctr" cap="flat" w="9525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1F3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l"/>
                      <a:r>
                        <a:rPr lang="es-ES" sz="1100" b="false" i="false">
                          <a:solidFill>
                            <a:srgbClr val="1F2933"/>
                          </a:solidFill>
                          <a:latin typeface="Segoe UI"/>
                        </a:rPr>
                        <a:t>Leer ventas (CSV)</a:t>
                      </a:r>
                      <a:endParaRPr sz="1100" lang="es-ES"/>
                    </a:p>
                  </a:txBody>
                  <a:tcPr marL="76200" marR="76200" marT="38100" marB="381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cmpd="sng" algn="ctr" cap="flat" w="9525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1F3"/>
                    </a:solidFill>
                  </a:tcPr>
                </a:tc>
              </a:tr>
              <a:tr h="298704">
                <a:tc>
                  <a:txBody>
                    <a:bodyPr anchor="t" rtlCol="false"/>
                    <a:lstStyle/>
                    <a:p>
                      <a:pPr algn="l"/>
                      <a:r>
                        <a:rPr lang="es-ES" sz="1100" b="false" i="false">
                          <a:solidFill>
                            <a:srgbClr val="1F2933"/>
                          </a:solidFill>
                          <a:latin typeface="Segoe UI"/>
                        </a:rPr>
                        <a:t>precio_unitario</a:t>
                      </a:r>
                      <a:endParaRPr sz="1100" lang="es-ES"/>
                    </a:p>
                  </a:txBody>
                  <a:tcPr marL="76200" marR="76200" marT="38100" marB="381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cmpd="sng" algn="ctr" cap="flat" w="9525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l"/>
                      <a:r>
                        <a:rPr lang="es-ES" sz="1100" b="false" i="false">
                          <a:solidFill>
                            <a:srgbClr val="1F2933"/>
                          </a:solidFill>
                          <a:latin typeface="Segoe UI"/>
                        </a:rPr>
                        <a:t>Number</a:t>
                      </a:r>
                      <a:endParaRPr sz="1100" lang="es-ES"/>
                    </a:p>
                  </a:txBody>
                  <a:tcPr marL="76200" marR="76200" marT="38100" marB="381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cmpd="sng" algn="ctr" cap="flat" w="9525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r"/>
                      <a:r>
                        <a:rPr lang="es-ES" sz="1100" b="false" i="false">
                          <a:solidFill>
                            <a:srgbClr val="1F2933"/>
                          </a:solidFill>
                          <a:latin typeface="Segoe UI"/>
                        </a:rPr>
                        <a:t> </a:t>
                      </a:r>
                      <a:endParaRPr sz="1100" lang="es-ES"/>
                    </a:p>
                  </a:txBody>
                  <a:tcPr marL="76200" marR="76200" marT="38100" marB="381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cmpd="sng" algn="ctr" cap="flat" w="9525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r"/>
                      <a:r>
                        <a:rPr lang="es-ES" sz="1100" b="false" i="false">
                          <a:solidFill>
                            <a:srgbClr val="1F2933"/>
                          </a:solidFill>
                          <a:latin typeface="Segoe UI"/>
                        </a:rPr>
                        <a:t> </a:t>
                      </a:r>
                      <a:endParaRPr sz="1100" lang="es-ES"/>
                    </a:p>
                  </a:txBody>
                  <a:tcPr marL="76200" marR="76200" marT="38100" marB="381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cmpd="sng" algn="ctr" cap="flat" w="9525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l"/>
                      <a:r>
                        <a:rPr lang="es-ES" sz="1100" b="false" i="false">
                          <a:solidFill>
                            <a:srgbClr val="1F2933"/>
                          </a:solidFill>
                          <a:latin typeface="Segoe UI"/>
                        </a:rPr>
                        <a:t>Convertir precio a número</a:t>
                      </a:r>
                      <a:endParaRPr sz="1100" lang="es-ES"/>
                    </a:p>
                  </a:txBody>
                  <a:tcPr marL="76200" marR="76200" marT="38100" marB="381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cmpd="sng" algn="ctr" cap="flat" w="9525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8704">
                <a:tc>
                  <a:txBody>
                    <a:bodyPr anchor="t" rtlCol="false"/>
                    <a:lstStyle/>
                    <a:p>
                      <a:pPr algn="l"/>
                      <a:r>
                        <a:rPr lang="es-ES" sz="1100" b="false" i="false">
                          <a:solidFill>
                            <a:srgbClr val="1F2933"/>
                          </a:solidFill>
                          <a:latin typeface="Segoe UI"/>
                        </a:rPr>
                        <a:t>metodo_pago</a:t>
                      </a:r>
                      <a:endParaRPr sz="1100" lang="es-ES"/>
                    </a:p>
                  </a:txBody>
                  <a:tcPr marL="76200" marR="76200" marT="38100" marB="381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cmpd="sng" algn="ctr" cap="flat" w="9525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1F3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l"/>
                      <a:r>
                        <a:rPr lang="es-ES" sz="1100" b="false" i="false">
                          <a:solidFill>
                            <a:srgbClr val="1F2933"/>
                          </a:solidFill>
                          <a:latin typeface="Segoe UI"/>
                        </a:rPr>
                        <a:t>String</a:t>
                      </a:r>
                      <a:endParaRPr sz="1100" lang="es-ES"/>
                    </a:p>
                  </a:txBody>
                  <a:tcPr marL="76200" marR="76200" marT="38100" marB="381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cmpd="sng" algn="ctr" cap="flat" w="9525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1F3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r"/>
                      <a:r>
                        <a:rPr lang="es-ES" sz="1100" b="false" i="false">
                          <a:solidFill>
                            <a:srgbClr val="1F2933"/>
                          </a:solidFill>
                          <a:latin typeface="Segoe UI"/>
                        </a:rPr>
                        <a:t> </a:t>
                      </a:r>
                      <a:endParaRPr sz="1100" lang="es-ES"/>
                    </a:p>
                  </a:txBody>
                  <a:tcPr marL="76200" marR="76200" marT="38100" marB="381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cmpd="sng" algn="ctr" cap="flat" w="9525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1F3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r"/>
                      <a:r>
                        <a:rPr lang="es-ES" sz="1100" b="false" i="false">
                          <a:solidFill>
                            <a:srgbClr val="1F2933"/>
                          </a:solidFill>
                          <a:latin typeface="Segoe UI"/>
                        </a:rPr>
                        <a:t> </a:t>
                      </a:r>
                      <a:endParaRPr sz="1100" lang="es-ES"/>
                    </a:p>
                  </a:txBody>
                  <a:tcPr marL="76200" marR="76200" marT="38100" marB="381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cmpd="sng" algn="ctr" cap="flat" w="9525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1F3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l"/>
                      <a:r>
                        <a:rPr lang="es-ES" sz="1100" b="false" i="false">
                          <a:solidFill>
                            <a:srgbClr val="1F2933"/>
                          </a:solidFill>
                          <a:latin typeface="Segoe UI"/>
                        </a:rPr>
                        <a:t>Leer ventas (CSV)</a:t>
                      </a:r>
                      <a:endParaRPr sz="1100" lang="es-ES"/>
                    </a:p>
                  </a:txBody>
                  <a:tcPr marL="76200" marR="76200" marT="38100" marB="381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cmpd="sng" algn="ctr" cap="flat" w="9525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1F3"/>
                    </a:solidFill>
                  </a:tcPr>
                </a:tc>
              </a:tr>
              <a:tr h="298704">
                <a:tc>
                  <a:txBody>
                    <a:bodyPr anchor="t" rtlCol="false"/>
                    <a:lstStyle/>
                    <a:p>
                      <a:pPr algn="l"/>
                      <a:r>
                        <a:rPr lang="es-ES" sz="1100" b="false" i="false">
                          <a:solidFill>
                            <a:srgbClr val="1F2933"/>
                          </a:solidFill>
                          <a:latin typeface="Segoe UI"/>
                        </a:rPr>
                        <a:t>sk_tienda</a:t>
                      </a:r>
                      <a:endParaRPr sz="1100" lang="es-ES"/>
                    </a:p>
                  </a:txBody>
                  <a:tcPr marL="76200" marR="76200" marT="38100" marB="381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cmpd="sng" algn="ctr" cap="flat" w="9525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l"/>
                      <a:r>
                        <a:rPr lang="es-ES" sz="1100" b="false" i="false">
                          <a:solidFill>
                            <a:srgbClr val="1F2933"/>
                          </a:solidFill>
                          <a:latin typeface="Segoe UI"/>
                        </a:rPr>
                        <a:t>Integer</a:t>
                      </a:r>
                      <a:endParaRPr sz="1100" lang="es-ES"/>
                    </a:p>
                  </a:txBody>
                  <a:tcPr marL="76200" marR="76200" marT="38100" marB="381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cmpd="sng" algn="ctr" cap="flat" w="9525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r"/>
                      <a:r>
                        <a:rPr lang="es-ES" sz="1100" b="false" i="false">
                          <a:solidFill>
                            <a:srgbClr val="1F2933"/>
                          </a:solidFill>
                          <a:latin typeface="Segoe UI"/>
                        </a:rPr>
                        <a:t>9</a:t>
                      </a:r>
                      <a:endParaRPr sz="1100" lang="es-ES"/>
                    </a:p>
                  </a:txBody>
                  <a:tcPr marL="76200" marR="76200" marT="38100" marB="381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cmpd="sng" algn="ctr" cap="flat" w="9525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r"/>
                      <a:r>
                        <a:rPr lang="es-ES" sz="1100" b="false" i="false">
                          <a:solidFill>
                            <a:srgbClr val="1F2933"/>
                          </a:solidFill>
                          <a:latin typeface="Segoe UI"/>
                        </a:rPr>
                        <a:t>0</a:t>
                      </a:r>
                      <a:endParaRPr sz="1100" lang="es-ES"/>
                    </a:p>
                  </a:txBody>
                  <a:tcPr marL="76200" marR="76200" marT="38100" marB="381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cmpd="sng" algn="ctr" cap="flat" w="9525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l"/>
                      <a:r>
                        <a:rPr lang="es-ES" sz="1100" b="false" i="false">
                          <a:solidFill>
                            <a:srgbClr val="1F2933"/>
                          </a:solidFill>
                          <a:latin typeface="Segoe UI"/>
                        </a:rPr>
                        <a:t>Buscar tienda</a:t>
                      </a:r>
                      <a:endParaRPr sz="1100" lang="es-ES"/>
                    </a:p>
                  </a:txBody>
                  <a:tcPr marL="76200" marR="76200" marT="38100" marB="381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cmpd="sng" algn="ctr" cap="flat" w="9525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8704">
                <a:tc>
                  <a:txBody>
                    <a:bodyPr anchor="t" rtlCol="false"/>
                    <a:lstStyle/>
                    <a:p>
                      <a:pPr algn="l"/>
                      <a:r>
                        <a:rPr lang="es-ES" sz="1100" b="false" i="false">
                          <a:solidFill>
                            <a:srgbClr val="1F2933"/>
                          </a:solidFill>
                          <a:latin typeface="Segoe UI"/>
                        </a:rPr>
                        <a:t>sk_producto</a:t>
                      </a:r>
                      <a:endParaRPr sz="1100" lang="es-ES"/>
                    </a:p>
                  </a:txBody>
                  <a:tcPr marL="76200" marR="76200" marT="38100" marB="381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cmpd="sng" algn="ctr" cap="flat" w="9525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1F3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l"/>
                      <a:r>
                        <a:rPr lang="es-ES" sz="1100" b="false" i="false">
                          <a:solidFill>
                            <a:srgbClr val="1F2933"/>
                          </a:solidFill>
                          <a:latin typeface="Segoe UI"/>
                        </a:rPr>
                        <a:t>Integer</a:t>
                      </a:r>
                      <a:endParaRPr sz="1100" lang="es-ES"/>
                    </a:p>
                  </a:txBody>
                  <a:tcPr marL="76200" marR="76200" marT="38100" marB="381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cmpd="sng" algn="ctr" cap="flat" w="9525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1F3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r"/>
                      <a:r>
                        <a:rPr lang="es-ES" sz="1100" b="false" i="false">
                          <a:solidFill>
                            <a:srgbClr val="1F2933"/>
                          </a:solidFill>
                          <a:latin typeface="Segoe UI"/>
                        </a:rPr>
                        <a:t>9</a:t>
                      </a:r>
                      <a:endParaRPr sz="1100" lang="es-ES"/>
                    </a:p>
                  </a:txBody>
                  <a:tcPr marL="76200" marR="76200" marT="38100" marB="381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cmpd="sng" algn="ctr" cap="flat" w="9525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1F3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r"/>
                      <a:r>
                        <a:rPr lang="es-ES" sz="1100" b="false" i="false">
                          <a:solidFill>
                            <a:srgbClr val="1F2933"/>
                          </a:solidFill>
                          <a:latin typeface="Segoe UI"/>
                        </a:rPr>
                        <a:t>0</a:t>
                      </a:r>
                      <a:endParaRPr sz="1100" lang="es-ES"/>
                    </a:p>
                  </a:txBody>
                  <a:tcPr marL="76200" marR="76200" marT="38100" marB="381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cmpd="sng" algn="ctr" cap="flat" w="9525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1F3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l"/>
                      <a:r>
                        <a:rPr lang="es-ES" sz="1100" b="false" i="false">
                          <a:solidFill>
                            <a:srgbClr val="1F2933"/>
                          </a:solidFill>
                          <a:latin typeface="Segoe UI"/>
                        </a:rPr>
                        <a:t>Buscar producto</a:t>
                      </a:r>
                      <a:endParaRPr sz="1100" lang="es-ES"/>
                    </a:p>
                  </a:txBody>
                  <a:tcPr marL="76200" marR="76200" marT="38100" marB="381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cmpd="sng" algn="ctr" cap="flat" w="9525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1F3"/>
                    </a:solidFill>
                  </a:tcPr>
                </a:tc>
              </a:tr>
              <a:tr h="298704">
                <a:tc>
                  <a:txBody>
                    <a:bodyPr anchor="t" rtlCol="false"/>
                    <a:lstStyle/>
                    <a:p>
                      <a:pPr algn="l"/>
                      <a:r>
                        <a:rPr lang="es-ES" sz="1100" b="false" i="false">
                          <a:solidFill>
                            <a:srgbClr val="1F2933"/>
                          </a:solidFill>
                          <a:latin typeface="Segoe UI"/>
                        </a:rPr>
                        <a:t>sk_fecha</a:t>
                      </a:r>
                      <a:endParaRPr sz="1100" lang="es-ES"/>
                    </a:p>
                  </a:txBody>
                  <a:tcPr marL="76200" marR="76200" marT="38100" marB="381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cmpd="sng" algn="ctr" cap="flat" w="9525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l"/>
                      <a:r>
                        <a:rPr lang="es-ES" sz="1100" b="false" i="false">
                          <a:solidFill>
                            <a:srgbClr val="1F2933"/>
                          </a:solidFill>
                          <a:latin typeface="Segoe UI"/>
                        </a:rPr>
                        <a:t>Integer</a:t>
                      </a:r>
                      <a:endParaRPr sz="1100" lang="es-ES"/>
                    </a:p>
                  </a:txBody>
                  <a:tcPr marL="76200" marR="76200" marT="38100" marB="381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cmpd="sng" algn="ctr" cap="flat" w="9525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r"/>
                      <a:r>
                        <a:rPr lang="es-ES" sz="1100" b="false" i="false">
                          <a:solidFill>
                            <a:srgbClr val="1F2933"/>
                          </a:solidFill>
                          <a:latin typeface="Segoe UI"/>
                        </a:rPr>
                        <a:t>9</a:t>
                      </a:r>
                      <a:endParaRPr sz="1100" lang="es-ES"/>
                    </a:p>
                  </a:txBody>
                  <a:tcPr marL="76200" marR="76200" marT="38100" marB="381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cmpd="sng" algn="ctr" cap="flat" w="9525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r"/>
                      <a:r>
                        <a:rPr lang="es-ES" sz="1100" b="false" i="false">
                          <a:solidFill>
                            <a:srgbClr val="1F2933"/>
                          </a:solidFill>
                          <a:latin typeface="Segoe UI"/>
                        </a:rPr>
                        <a:t>0</a:t>
                      </a:r>
                      <a:endParaRPr sz="1100" lang="es-ES"/>
                    </a:p>
                  </a:txBody>
                  <a:tcPr marL="76200" marR="76200" marT="38100" marB="381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cmpd="sng" algn="ctr" cap="flat" w="9525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l"/>
                      <a:r>
                        <a:rPr lang="es-ES" sz="1100" b="false" i="false">
                          <a:solidFill>
                            <a:srgbClr val="1F2933"/>
                          </a:solidFill>
                          <a:latin typeface="Segoe UI"/>
                        </a:rPr>
                        <a:t>Buscar fecha</a:t>
                      </a:r>
                      <a:endParaRPr sz="1100" lang="es-ES"/>
                    </a:p>
                  </a:txBody>
                  <a:tcPr marL="76200" marR="76200" marT="38100" marB="381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cmpd="sng" algn="ctr" cap="flat" w="9525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8704">
                <a:tc>
                  <a:txBody>
                    <a:bodyPr anchor="t" rtlCol="false"/>
                    <a:lstStyle/>
                    <a:p>
                      <a:pPr algn="l"/>
                      <a:r>
                        <a:rPr lang="es-ES" sz="1100" b="false" i="false">
                          <a:solidFill>
                            <a:srgbClr val="1F2933"/>
                          </a:solidFill>
                          <a:latin typeface="Segoe UI"/>
                        </a:rPr>
                        <a:t>motivo_rechazo</a:t>
                      </a:r>
                      <a:endParaRPr sz="1100" lang="es-ES"/>
                    </a:p>
                  </a:txBody>
                  <a:tcPr marL="76200" marR="76200" marT="38100" marB="381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cmpd="sng" algn="ctr" cap="flat" w="9525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1F3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l"/>
                      <a:r>
                        <a:rPr lang="es-ES" sz="1100" b="false" i="false">
                          <a:solidFill>
                            <a:srgbClr val="1F2933"/>
                          </a:solidFill>
                          <a:latin typeface="Segoe UI"/>
                        </a:rPr>
                        <a:t>String</a:t>
                      </a:r>
                      <a:endParaRPr sz="1100" lang="es-ES"/>
                    </a:p>
                  </a:txBody>
                  <a:tcPr marL="76200" marR="76200" marT="38100" marB="381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cmpd="sng" algn="ctr" cap="flat" w="9525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1F3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r"/>
                      <a:r>
                        <a:rPr lang="es-ES" sz="1100" b="false" i="false">
                          <a:solidFill>
                            <a:srgbClr val="1F2933"/>
                          </a:solidFill>
                          <a:latin typeface="Segoe UI"/>
                        </a:rPr>
                        <a:t> </a:t>
                      </a:r>
                      <a:endParaRPr sz="1100" lang="es-ES"/>
                    </a:p>
                  </a:txBody>
                  <a:tcPr marL="76200" marR="76200" marT="38100" marB="381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cmpd="sng" algn="ctr" cap="flat" w="9525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1F3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r"/>
                      <a:r>
                        <a:rPr lang="es-ES" sz="1100" b="false" i="false">
                          <a:solidFill>
                            <a:srgbClr val="1F2933"/>
                          </a:solidFill>
                          <a:latin typeface="Segoe UI"/>
                        </a:rPr>
                        <a:t> </a:t>
                      </a:r>
                      <a:endParaRPr sz="1100" lang="es-ES"/>
                    </a:p>
                  </a:txBody>
                  <a:tcPr marL="76200" marR="76200" marT="38100" marB="381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cmpd="sng" algn="ctr" cap="flat" w="9525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1F3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l"/>
                      <a:r>
                        <a:rPr lang="es-ES" sz="1100" b="false" i="false">
                          <a:solidFill>
                            <a:srgbClr val="1F2933"/>
                          </a:solidFill>
                          <a:latin typeface="Segoe UI"/>
                        </a:rPr>
                        <a:t>Clasificar línea</a:t>
                      </a:r>
                      <a:endParaRPr sz="1100" lang="es-ES"/>
                    </a:p>
                  </a:txBody>
                  <a:tcPr marL="76200" marR="76200" marT="38100" marB="381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cmpd="sng" algn="ctr" cap="flat" w="9525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1F3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6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8000" y="203200"/>
            <a:ext cx="11176000" cy="635000"/>
          </a:xfrm>
        </p:spPr>
        <p:txBody>
          <a:bodyPr lIns="0" rIns="0" wrap="square" anchor="ctr"/>
          <a:lstStyle/>
          <a:p>
            <a:pPr algn="l"/>
            <a:r>
              <a:rPr lang="es-ES" sz="2600" b="true" i="false">
                <a:solidFill>
                  <a:srgbClr val="243B53"/>
                </a:solidFill>
                <a:latin typeface="Segoe UI"/>
              </a:rPr>
              <a:t>Diccionario de datos (cont.)</a:t>
            </a:r>
            <a:endParaRPr sz="2600" lang="es-ES"/>
          </a:p>
        </p:txBody>
      </p:sp>
      <p:pic>
        <p:nvPicPr>
          <p:cNvPr name="Picture 3" id="3"/>
          <p:cNvPicPr>
            <a:picLocks noChangeAspect="true"/>
          </p:cNvPicPr>
          <p:nvPr/>
        </p:nvPicPr>
        <p:blipFill>
          <a:blip r:embed="rId2"/>
          <a:stretch>
            <a:fillRect/>
          </a:stretch>
        </p:blipFill>
        <p:spPr>
          <a:xfrm>
            <a:off x="10248900" y="5510084"/>
            <a:ext cx="1435100" cy="814516"/>
          </a:xfrm>
          <a:prstGeom prst="rect">
            <a:avLst/>
          </a:prstGeom>
        </p:spPr>
      </p:pic>
      <p:sp>
        <p:nvSpPr>
          <p:cNvPr name="AutoShape 4" id="4"/>
          <p:cNvSpPr/>
          <p:nvPr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243B53"/>
          </a:solidFill>
          <a:ln>
            <a:noFill/>
          </a:ln>
        </p:spPr>
      </p:sp>
      <p:pic>
        <p:nvPicPr>
          <p:cNvPr name="Picture 5" id="5"/>
          <p:cNvPicPr>
            <a:picLocks noChangeAspect="true"/>
          </p:cNvPicPr>
          <p:nvPr/>
        </p:nvPicPr>
        <p:blipFill>
          <a:blip r:embed="rId3"/>
          <a:stretch>
            <a:fillRect/>
          </a:stretch>
        </p:blipFill>
        <p:spPr>
          <a:xfrm>
            <a:off x="508000" y="6508750"/>
            <a:ext cx="177800" cy="100914"/>
          </a:xfrm>
          <a:prstGeom prst="rect">
            <a:avLst/>
          </a:prstGeom>
        </p:spPr>
      </p:pic>
      <p:sp>
        <p:nvSpPr>
          <p:cNvPr name="TextBox 6" id="6"/>
          <p:cNvSpPr txBox="true"/>
          <p:nvPr/>
        </p:nvSpPr>
        <p:spPr>
          <a:xfrm>
            <a:off x="749300" y="6451600"/>
            <a:ext cx="5080000" cy="228600"/>
          </a:xfrm>
          <a:prstGeom prst="rect">
            <a:avLst/>
          </a:prstGeom>
        </p:spPr>
        <p:txBody>
          <a:bodyPr anchor="ctr" rtlCol="false" wrap="square" lIns="0" rIns="0" tIns="25400" bIns="25400"/>
          <a:lstStyle/>
          <a:p>
            <a:pPr algn="l"/>
            <a:r>
              <a:rPr lang="es-ES" sz="750" b="false" i="false">
                <a:solidFill>
                  <a:srgbClr val="6B7785"/>
                </a:solidFill>
                <a:latin typeface="Segoe UI"/>
              </a:rPr>
              <a:t>Pentaho Live · IDC Studios</a:t>
            </a:r>
            <a:endParaRPr sz="750" lang="es-ES"/>
          </a:p>
        </p:txBody>
      </p:sp>
      <p:sp>
        <p:nvSpPr>
          <p:cNvPr name="TextBox 7" id="7"/>
          <p:cNvSpPr txBox="true"/>
          <p:nvPr/>
        </p:nvSpPr>
        <p:spPr>
          <a:xfrm>
            <a:off x="10160000" y="6451600"/>
            <a:ext cx="1524000" cy="228600"/>
          </a:xfrm>
          <a:prstGeom prst="rect">
            <a:avLst/>
          </a:prstGeom>
        </p:spPr>
        <p:txBody>
          <a:bodyPr anchor="ctr" rtlCol="false" wrap="square" lIns="0" rIns="0" tIns="25400" bIns="25400"/>
          <a:lstStyle/>
          <a:p>
            <a:pPr algn="r"/>
            <a:fld id="{C173AA9B-57AD-4A38-B322-F7BC78909160}" type="slidenum">
              <a:rPr lang="es-ES" sz="750">
                <a:solidFill>
                  <a:srgbClr val="6B7785"/>
                </a:solidFill>
                <a:latin typeface="Segoe UI"/>
              </a:rPr>
              <a:t>26</a:t>
            </a:fld>
            <a:endParaRPr sz="750" lang="es-ES"/>
          </a:p>
        </p:txBody>
      </p:sp>
      <p:sp>
        <p:nvSpPr>
          <p:cNvPr name="TextBox 8" id="8"/>
          <p:cNvSpPr txBox="true"/>
          <p:nvPr/>
        </p:nvSpPr>
        <p:spPr>
          <a:xfrm>
            <a:off x="508000" y="1016000"/>
            <a:ext cx="11176000" cy="254000"/>
          </a:xfrm>
          <a:prstGeom prst="rect">
            <a:avLst/>
          </a:prstGeom>
        </p:spPr>
        <p:txBody>
          <a:bodyPr anchor="t" rtlCol="false" wrap="square" lIns="0" rIns="0" tIns="25400" bIns="25400"/>
          <a:lstStyle/>
          <a:p>
            <a:pPr algn="l"/>
            <a:r>
              <a:rPr lang="es-ES" sz="1300" b="true" i="false">
                <a:solidFill>
                  <a:srgbClr val="243B53"/>
                </a:solidFill>
                <a:latin typeface="Segoe UI"/>
              </a:rPr>
              <a:t>Marcar duplicado</a:t>
            </a:r>
            <a:endParaRPr sz="1300" lang="es-ES"/>
          </a:p>
        </p:txBody>
      </p:sp>
      <p:graphicFrame>
        <p:nvGraphicFramePr>
          <p:cNvPr name="Table 9" id="9"/>
          <p:cNvGraphicFramePr>
            <a:graphicFrameLocks noGrp="true"/>
          </p:cNvGraphicFramePr>
          <p:nvPr/>
        </p:nvGraphicFramePr>
        <p:xfrm>
          <a:off x="508000" y="1295400"/>
          <a:ext cx="5702300" cy="2987040"/>
        </p:xfrm>
        <a:graphic>
          <a:graphicData uri="http://schemas.openxmlformats.org/drawingml/2006/table">
            <a:tbl>
              <a:tblPr/>
              <a:tblGrid>
                <a:gridCol w="1320800"/>
                <a:gridCol w="711200"/>
                <a:gridCol w="635000"/>
                <a:gridCol w="939800"/>
                <a:gridCol w="2095500"/>
              </a:tblGrid>
              <a:tr h="298704">
                <a:tc>
                  <a:txBody>
                    <a:bodyPr anchor="t" rtlCol="false"/>
                    <a:lstStyle/>
                    <a:p>
                      <a:pPr algn="l"/>
                      <a:r>
                        <a:rPr lang="es-ES" sz="1100" b="true" i="false">
                          <a:solidFill>
                            <a:srgbClr val="FFFFFF"/>
                          </a:solidFill>
                          <a:latin typeface="Segoe UI"/>
                        </a:rPr>
                        <a:t>Campo</a:t>
                      </a:r>
                      <a:endParaRPr sz="1100" lang="es-ES"/>
                    </a:p>
                  </a:txBody>
                  <a:tcPr marL="76200" marR="76200" marT="38100" marB="381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cmpd="sng" algn="ctr" cap="flat" w="9525">
                      <a:solidFill>
                        <a:srgbClr val="243B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3B53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l"/>
                      <a:r>
                        <a:rPr lang="es-ES" sz="1100" b="true" i="false">
                          <a:solidFill>
                            <a:srgbClr val="FFFFFF"/>
                          </a:solidFill>
                          <a:latin typeface="Segoe UI"/>
                        </a:rPr>
                        <a:t>Tipo</a:t>
                      </a:r>
                      <a:endParaRPr sz="1100" lang="es-ES"/>
                    </a:p>
                  </a:txBody>
                  <a:tcPr marL="76200" marR="76200" marT="38100" marB="381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cmpd="sng" algn="ctr" cap="flat" w="9525">
                      <a:solidFill>
                        <a:srgbClr val="243B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3B53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r"/>
                      <a:r>
                        <a:rPr lang="es-ES" sz="1100" b="true" i="false">
                          <a:solidFill>
                            <a:srgbClr val="FFFFFF"/>
                          </a:solidFill>
                          <a:latin typeface="Segoe UI"/>
                        </a:rPr>
                        <a:t>Largo</a:t>
                      </a:r>
                      <a:endParaRPr sz="1100" lang="es-ES"/>
                    </a:p>
                  </a:txBody>
                  <a:tcPr marL="76200" marR="76200" marT="38100" marB="381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cmpd="sng" algn="ctr" cap="flat" w="9525">
                      <a:solidFill>
                        <a:srgbClr val="243B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3B53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r"/>
                      <a:r>
                        <a:rPr lang="es-ES" sz="1100" b="true" i="false">
                          <a:solidFill>
                            <a:srgbClr val="FFFFFF"/>
                          </a:solidFill>
                          <a:latin typeface="Segoe UI"/>
                        </a:rPr>
                        <a:t>Precisión</a:t>
                      </a:r>
                      <a:endParaRPr sz="1100" lang="es-ES"/>
                    </a:p>
                  </a:txBody>
                  <a:tcPr marL="76200" marR="76200" marT="38100" marB="381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cmpd="sng" algn="ctr" cap="flat" w="9525">
                      <a:solidFill>
                        <a:srgbClr val="243B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3B53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l"/>
                      <a:r>
                        <a:rPr lang="es-ES" sz="1100" b="true" i="false">
                          <a:solidFill>
                            <a:srgbClr val="FFFFFF"/>
                          </a:solidFill>
                          <a:latin typeface="Segoe UI"/>
                        </a:rPr>
                        <a:t>Origen</a:t>
                      </a:r>
                      <a:endParaRPr sz="1100" lang="es-ES"/>
                    </a:p>
                  </a:txBody>
                  <a:tcPr marL="76200" marR="76200" marT="38100" marB="381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cmpd="sng" algn="ctr" cap="flat" w="9525">
                      <a:solidFill>
                        <a:srgbClr val="243B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3B53"/>
                    </a:solidFill>
                  </a:tcPr>
                </a:tc>
              </a:tr>
              <a:tr h="298704">
                <a:tc>
                  <a:txBody>
                    <a:bodyPr anchor="t" rtlCol="false"/>
                    <a:lstStyle/>
                    <a:p>
                      <a:pPr algn="l"/>
                      <a:r>
                        <a:rPr lang="es-ES" sz="1100" b="false" i="false">
                          <a:solidFill>
                            <a:srgbClr val="1F2933"/>
                          </a:solidFill>
                          <a:latin typeface="Segoe UI"/>
                        </a:rPr>
                        <a:t>id_ticket</a:t>
                      </a:r>
                      <a:endParaRPr sz="1100" lang="es-ES"/>
                    </a:p>
                  </a:txBody>
                  <a:tcPr marL="76200" marR="76200" marT="38100" marB="381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cmpd="sng" algn="ctr" cap="flat" w="9525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l"/>
                      <a:r>
                        <a:rPr lang="es-ES" sz="1100" b="false" i="false">
                          <a:solidFill>
                            <a:srgbClr val="1F2933"/>
                          </a:solidFill>
                          <a:latin typeface="Segoe UI"/>
                        </a:rPr>
                        <a:t>String</a:t>
                      </a:r>
                      <a:endParaRPr sz="1100" lang="es-ES"/>
                    </a:p>
                  </a:txBody>
                  <a:tcPr marL="76200" marR="76200" marT="38100" marB="381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cmpd="sng" algn="ctr" cap="flat" w="9525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r"/>
                      <a:r>
                        <a:rPr lang="es-ES" sz="1100" b="false" i="false">
                          <a:solidFill>
                            <a:srgbClr val="1F2933"/>
                          </a:solidFill>
                          <a:latin typeface="Segoe UI"/>
                        </a:rPr>
                        <a:t> </a:t>
                      </a:r>
                      <a:endParaRPr sz="1100" lang="es-ES"/>
                    </a:p>
                  </a:txBody>
                  <a:tcPr marL="76200" marR="76200" marT="38100" marB="381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cmpd="sng" algn="ctr" cap="flat" w="9525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r"/>
                      <a:r>
                        <a:rPr lang="es-ES" sz="1100" b="false" i="false">
                          <a:solidFill>
                            <a:srgbClr val="1F2933"/>
                          </a:solidFill>
                          <a:latin typeface="Segoe UI"/>
                        </a:rPr>
                        <a:t> </a:t>
                      </a:r>
                      <a:endParaRPr sz="1100" lang="es-ES"/>
                    </a:p>
                  </a:txBody>
                  <a:tcPr marL="76200" marR="76200" marT="38100" marB="381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cmpd="sng" algn="ctr" cap="flat" w="9525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l"/>
                      <a:r>
                        <a:rPr lang="es-ES" sz="1100" b="false" i="false">
                          <a:solidFill>
                            <a:srgbClr val="1F2933"/>
                          </a:solidFill>
                          <a:latin typeface="Segoe UI"/>
                        </a:rPr>
                        <a:t>Leer ventas (CSV)</a:t>
                      </a:r>
                      <a:endParaRPr sz="1100" lang="es-ES"/>
                    </a:p>
                  </a:txBody>
                  <a:tcPr marL="76200" marR="76200" marT="38100" marB="381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cmpd="sng" algn="ctr" cap="flat" w="9525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8704">
                <a:tc>
                  <a:txBody>
                    <a:bodyPr anchor="t" rtlCol="false"/>
                    <a:lstStyle/>
                    <a:p>
                      <a:pPr algn="l"/>
                      <a:r>
                        <a:rPr lang="es-ES" sz="1100" b="false" i="false">
                          <a:solidFill>
                            <a:srgbClr val="1F2933"/>
                          </a:solidFill>
                          <a:latin typeface="Segoe UI"/>
                        </a:rPr>
                        <a:t>linea</a:t>
                      </a:r>
                      <a:endParaRPr sz="1100" lang="es-ES"/>
                    </a:p>
                  </a:txBody>
                  <a:tcPr marL="76200" marR="76200" marT="38100" marB="381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cmpd="sng" algn="ctr" cap="flat" w="9525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1F3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l"/>
                      <a:r>
                        <a:rPr lang="es-ES" sz="1100" b="false" i="false">
                          <a:solidFill>
                            <a:srgbClr val="1F2933"/>
                          </a:solidFill>
                          <a:latin typeface="Segoe UI"/>
                        </a:rPr>
                        <a:t>Integer</a:t>
                      </a:r>
                      <a:endParaRPr sz="1100" lang="es-ES"/>
                    </a:p>
                  </a:txBody>
                  <a:tcPr marL="76200" marR="76200" marT="38100" marB="381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cmpd="sng" algn="ctr" cap="flat" w="9525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1F3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r"/>
                      <a:r>
                        <a:rPr lang="es-ES" sz="1100" b="false" i="false">
                          <a:solidFill>
                            <a:srgbClr val="1F2933"/>
                          </a:solidFill>
                          <a:latin typeface="Segoe UI"/>
                        </a:rPr>
                        <a:t> </a:t>
                      </a:r>
                      <a:endParaRPr sz="1100" lang="es-ES"/>
                    </a:p>
                  </a:txBody>
                  <a:tcPr marL="76200" marR="76200" marT="38100" marB="381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cmpd="sng" algn="ctr" cap="flat" w="9525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1F3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r"/>
                      <a:r>
                        <a:rPr lang="es-ES" sz="1100" b="false" i="false">
                          <a:solidFill>
                            <a:srgbClr val="1F2933"/>
                          </a:solidFill>
                          <a:latin typeface="Segoe UI"/>
                        </a:rPr>
                        <a:t>0</a:t>
                      </a:r>
                      <a:endParaRPr sz="1100" lang="es-ES"/>
                    </a:p>
                  </a:txBody>
                  <a:tcPr marL="76200" marR="76200" marT="38100" marB="381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cmpd="sng" algn="ctr" cap="flat" w="9525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1F3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l"/>
                      <a:r>
                        <a:rPr lang="es-ES" sz="1100" b="false" i="false">
                          <a:solidFill>
                            <a:srgbClr val="1F2933"/>
                          </a:solidFill>
                          <a:latin typeface="Segoe UI"/>
                        </a:rPr>
                        <a:t>Leer ventas (CSV)</a:t>
                      </a:r>
                      <a:endParaRPr sz="1100" lang="es-ES"/>
                    </a:p>
                  </a:txBody>
                  <a:tcPr marL="76200" marR="76200" marT="38100" marB="381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cmpd="sng" algn="ctr" cap="flat" w="9525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1F3"/>
                    </a:solidFill>
                  </a:tcPr>
                </a:tc>
              </a:tr>
              <a:tr h="298704">
                <a:tc>
                  <a:txBody>
                    <a:bodyPr anchor="t" rtlCol="false"/>
                    <a:lstStyle/>
                    <a:p>
                      <a:pPr algn="l"/>
                      <a:r>
                        <a:rPr lang="es-ES" sz="1100" b="false" i="false">
                          <a:solidFill>
                            <a:srgbClr val="1F2933"/>
                          </a:solidFill>
                          <a:latin typeface="Segoe UI"/>
                        </a:rPr>
                        <a:t>fecha</a:t>
                      </a:r>
                      <a:endParaRPr sz="1100" lang="es-ES"/>
                    </a:p>
                  </a:txBody>
                  <a:tcPr marL="76200" marR="76200" marT="38100" marB="381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cmpd="sng" algn="ctr" cap="flat" w="9525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l"/>
                      <a:r>
                        <a:rPr lang="es-ES" sz="1100" b="false" i="false">
                          <a:solidFill>
                            <a:srgbClr val="1F2933"/>
                          </a:solidFill>
                          <a:latin typeface="Segoe UI"/>
                        </a:rPr>
                        <a:t>String</a:t>
                      </a:r>
                      <a:endParaRPr sz="1100" lang="es-ES"/>
                    </a:p>
                  </a:txBody>
                  <a:tcPr marL="76200" marR="76200" marT="38100" marB="381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cmpd="sng" algn="ctr" cap="flat" w="9525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r"/>
                      <a:r>
                        <a:rPr lang="es-ES" sz="1100" b="false" i="false">
                          <a:solidFill>
                            <a:srgbClr val="1F2933"/>
                          </a:solidFill>
                          <a:latin typeface="Segoe UI"/>
                        </a:rPr>
                        <a:t> </a:t>
                      </a:r>
                      <a:endParaRPr sz="1100" lang="es-ES"/>
                    </a:p>
                  </a:txBody>
                  <a:tcPr marL="76200" marR="76200" marT="38100" marB="381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cmpd="sng" algn="ctr" cap="flat" w="9525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r"/>
                      <a:r>
                        <a:rPr lang="es-ES" sz="1100" b="false" i="false">
                          <a:solidFill>
                            <a:srgbClr val="1F2933"/>
                          </a:solidFill>
                          <a:latin typeface="Segoe UI"/>
                        </a:rPr>
                        <a:t> </a:t>
                      </a:r>
                      <a:endParaRPr sz="1100" lang="es-ES"/>
                    </a:p>
                  </a:txBody>
                  <a:tcPr marL="76200" marR="76200" marT="38100" marB="381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cmpd="sng" algn="ctr" cap="flat" w="9525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l"/>
                      <a:r>
                        <a:rPr lang="es-ES" sz="1100" b="false" i="false">
                          <a:solidFill>
                            <a:srgbClr val="1F2933"/>
                          </a:solidFill>
                          <a:latin typeface="Segoe UI"/>
                        </a:rPr>
                        <a:t>Leer ventas (CSV)</a:t>
                      </a:r>
                      <a:endParaRPr sz="1100" lang="es-ES"/>
                    </a:p>
                  </a:txBody>
                  <a:tcPr marL="76200" marR="76200" marT="38100" marB="381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cmpd="sng" algn="ctr" cap="flat" w="9525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8704">
                <a:tc>
                  <a:txBody>
                    <a:bodyPr anchor="t" rtlCol="false"/>
                    <a:lstStyle/>
                    <a:p>
                      <a:pPr algn="l"/>
                      <a:r>
                        <a:rPr lang="es-ES" sz="1100" b="false" i="false">
                          <a:solidFill>
                            <a:srgbClr val="1F2933"/>
                          </a:solidFill>
                          <a:latin typeface="Segoe UI"/>
                        </a:rPr>
                        <a:t>id_tienda</a:t>
                      </a:r>
                      <a:endParaRPr sz="1100" lang="es-ES"/>
                    </a:p>
                  </a:txBody>
                  <a:tcPr marL="76200" marR="76200" marT="38100" marB="381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cmpd="sng" algn="ctr" cap="flat" w="9525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1F3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l"/>
                      <a:r>
                        <a:rPr lang="es-ES" sz="1100" b="false" i="false">
                          <a:solidFill>
                            <a:srgbClr val="1F2933"/>
                          </a:solidFill>
                          <a:latin typeface="Segoe UI"/>
                        </a:rPr>
                        <a:t>String</a:t>
                      </a:r>
                      <a:endParaRPr sz="1100" lang="es-ES"/>
                    </a:p>
                  </a:txBody>
                  <a:tcPr marL="76200" marR="76200" marT="38100" marB="381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cmpd="sng" algn="ctr" cap="flat" w="9525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1F3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r"/>
                      <a:r>
                        <a:rPr lang="es-ES" sz="1100" b="false" i="false">
                          <a:solidFill>
                            <a:srgbClr val="1F2933"/>
                          </a:solidFill>
                          <a:latin typeface="Segoe UI"/>
                        </a:rPr>
                        <a:t> </a:t>
                      </a:r>
                      <a:endParaRPr sz="1100" lang="es-ES"/>
                    </a:p>
                  </a:txBody>
                  <a:tcPr marL="76200" marR="76200" marT="38100" marB="381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cmpd="sng" algn="ctr" cap="flat" w="9525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1F3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r"/>
                      <a:r>
                        <a:rPr lang="es-ES" sz="1100" b="false" i="false">
                          <a:solidFill>
                            <a:srgbClr val="1F2933"/>
                          </a:solidFill>
                          <a:latin typeface="Segoe UI"/>
                        </a:rPr>
                        <a:t> </a:t>
                      </a:r>
                      <a:endParaRPr sz="1100" lang="es-ES"/>
                    </a:p>
                  </a:txBody>
                  <a:tcPr marL="76200" marR="76200" marT="38100" marB="381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cmpd="sng" algn="ctr" cap="flat" w="9525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1F3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l"/>
                      <a:r>
                        <a:rPr lang="es-ES" sz="1100" b="false" i="false">
                          <a:solidFill>
                            <a:srgbClr val="1F2933"/>
                          </a:solidFill>
                          <a:latin typeface="Segoe UI"/>
                        </a:rPr>
                        <a:t>Leer ventas (CSV)</a:t>
                      </a:r>
                      <a:endParaRPr sz="1100" lang="es-ES"/>
                    </a:p>
                  </a:txBody>
                  <a:tcPr marL="76200" marR="76200" marT="38100" marB="381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cmpd="sng" algn="ctr" cap="flat" w="9525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1F3"/>
                    </a:solidFill>
                  </a:tcPr>
                </a:tc>
              </a:tr>
              <a:tr h="298704">
                <a:tc>
                  <a:txBody>
                    <a:bodyPr anchor="t" rtlCol="false"/>
                    <a:lstStyle/>
                    <a:p>
                      <a:pPr algn="l"/>
                      <a:r>
                        <a:rPr lang="es-ES" sz="1100" b="false" i="false">
                          <a:solidFill>
                            <a:srgbClr val="1F2933"/>
                          </a:solidFill>
                          <a:latin typeface="Segoe UI"/>
                        </a:rPr>
                        <a:t>codigo_producto</a:t>
                      </a:r>
                      <a:endParaRPr sz="1100" lang="es-ES"/>
                    </a:p>
                  </a:txBody>
                  <a:tcPr marL="76200" marR="76200" marT="38100" marB="381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cmpd="sng" algn="ctr" cap="flat" w="9525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l"/>
                      <a:r>
                        <a:rPr lang="es-ES" sz="1100" b="false" i="false">
                          <a:solidFill>
                            <a:srgbClr val="1F2933"/>
                          </a:solidFill>
                          <a:latin typeface="Segoe UI"/>
                        </a:rPr>
                        <a:t>String</a:t>
                      </a:r>
                      <a:endParaRPr sz="1100" lang="es-ES"/>
                    </a:p>
                  </a:txBody>
                  <a:tcPr marL="76200" marR="76200" marT="38100" marB="381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cmpd="sng" algn="ctr" cap="flat" w="9525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r"/>
                      <a:r>
                        <a:rPr lang="es-ES" sz="1100" b="false" i="false">
                          <a:solidFill>
                            <a:srgbClr val="1F2933"/>
                          </a:solidFill>
                          <a:latin typeface="Segoe UI"/>
                        </a:rPr>
                        <a:t> </a:t>
                      </a:r>
                      <a:endParaRPr sz="1100" lang="es-ES"/>
                    </a:p>
                  </a:txBody>
                  <a:tcPr marL="76200" marR="76200" marT="38100" marB="381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cmpd="sng" algn="ctr" cap="flat" w="9525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r"/>
                      <a:r>
                        <a:rPr lang="es-ES" sz="1100" b="false" i="false">
                          <a:solidFill>
                            <a:srgbClr val="1F2933"/>
                          </a:solidFill>
                          <a:latin typeface="Segoe UI"/>
                        </a:rPr>
                        <a:t> </a:t>
                      </a:r>
                      <a:endParaRPr sz="1100" lang="es-ES"/>
                    </a:p>
                  </a:txBody>
                  <a:tcPr marL="76200" marR="76200" marT="38100" marB="381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cmpd="sng" algn="ctr" cap="flat" w="9525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l"/>
                      <a:r>
                        <a:rPr lang="es-ES" sz="1100" b="false" i="false">
                          <a:solidFill>
                            <a:srgbClr val="1F2933"/>
                          </a:solidFill>
                          <a:latin typeface="Segoe UI"/>
                        </a:rPr>
                        <a:t>Leer ventas (CSV)</a:t>
                      </a:r>
                      <a:endParaRPr sz="1100" lang="es-ES"/>
                    </a:p>
                  </a:txBody>
                  <a:tcPr marL="76200" marR="76200" marT="38100" marB="381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cmpd="sng" algn="ctr" cap="flat" w="9525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8704">
                <a:tc>
                  <a:txBody>
                    <a:bodyPr anchor="t" rtlCol="false"/>
                    <a:lstStyle/>
                    <a:p>
                      <a:pPr algn="l"/>
                      <a:r>
                        <a:rPr lang="es-ES" sz="1100" b="false" i="false">
                          <a:solidFill>
                            <a:srgbClr val="1F2933"/>
                          </a:solidFill>
                          <a:latin typeface="Segoe UI"/>
                        </a:rPr>
                        <a:t>cantidad</a:t>
                      </a:r>
                      <a:endParaRPr sz="1100" lang="es-ES"/>
                    </a:p>
                  </a:txBody>
                  <a:tcPr marL="76200" marR="76200" marT="38100" marB="381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cmpd="sng" algn="ctr" cap="flat" w="9525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1F3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l"/>
                      <a:r>
                        <a:rPr lang="es-ES" sz="1100" b="false" i="false">
                          <a:solidFill>
                            <a:srgbClr val="1F2933"/>
                          </a:solidFill>
                          <a:latin typeface="Segoe UI"/>
                        </a:rPr>
                        <a:t>Integer</a:t>
                      </a:r>
                      <a:endParaRPr sz="1100" lang="es-ES"/>
                    </a:p>
                  </a:txBody>
                  <a:tcPr marL="76200" marR="76200" marT="38100" marB="381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cmpd="sng" algn="ctr" cap="flat" w="9525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1F3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r"/>
                      <a:r>
                        <a:rPr lang="es-ES" sz="1100" b="false" i="false">
                          <a:solidFill>
                            <a:srgbClr val="1F2933"/>
                          </a:solidFill>
                          <a:latin typeface="Segoe UI"/>
                        </a:rPr>
                        <a:t> </a:t>
                      </a:r>
                      <a:endParaRPr sz="1100" lang="es-ES"/>
                    </a:p>
                  </a:txBody>
                  <a:tcPr marL="76200" marR="76200" marT="38100" marB="381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cmpd="sng" algn="ctr" cap="flat" w="9525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1F3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r"/>
                      <a:r>
                        <a:rPr lang="es-ES" sz="1100" b="false" i="false">
                          <a:solidFill>
                            <a:srgbClr val="1F2933"/>
                          </a:solidFill>
                          <a:latin typeface="Segoe UI"/>
                        </a:rPr>
                        <a:t>0</a:t>
                      </a:r>
                      <a:endParaRPr sz="1100" lang="es-ES"/>
                    </a:p>
                  </a:txBody>
                  <a:tcPr marL="76200" marR="76200" marT="38100" marB="381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cmpd="sng" algn="ctr" cap="flat" w="9525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1F3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l"/>
                      <a:r>
                        <a:rPr lang="es-ES" sz="1100" b="false" i="false">
                          <a:solidFill>
                            <a:srgbClr val="1F2933"/>
                          </a:solidFill>
                          <a:latin typeface="Segoe UI"/>
                        </a:rPr>
                        <a:t>Leer ventas (CSV)</a:t>
                      </a:r>
                      <a:endParaRPr sz="1100" lang="es-ES"/>
                    </a:p>
                  </a:txBody>
                  <a:tcPr marL="76200" marR="76200" marT="38100" marB="381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cmpd="sng" algn="ctr" cap="flat" w="9525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1F3"/>
                    </a:solidFill>
                  </a:tcPr>
                </a:tc>
              </a:tr>
              <a:tr h="298704">
                <a:tc>
                  <a:txBody>
                    <a:bodyPr anchor="t" rtlCol="false"/>
                    <a:lstStyle/>
                    <a:p>
                      <a:pPr algn="l"/>
                      <a:r>
                        <a:rPr lang="es-ES" sz="1100" b="false" i="false">
                          <a:solidFill>
                            <a:srgbClr val="1F2933"/>
                          </a:solidFill>
                          <a:latin typeface="Segoe UI"/>
                        </a:rPr>
                        <a:t>precio_unitario</a:t>
                      </a:r>
                      <a:endParaRPr sz="1100" lang="es-ES"/>
                    </a:p>
                  </a:txBody>
                  <a:tcPr marL="76200" marR="76200" marT="38100" marB="381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cmpd="sng" algn="ctr" cap="flat" w="9525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l"/>
                      <a:r>
                        <a:rPr lang="es-ES" sz="1100" b="false" i="false">
                          <a:solidFill>
                            <a:srgbClr val="1F2933"/>
                          </a:solidFill>
                          <a:latin typeface="Segoe UI"/>
                        </a:rPr>
                        <a:t>Number</a:t>
                      </a:r>
                      <a:endParaRPr sz="1100" lang="es-ES"/>
                    </a:p>
                  </a:txBody>
                  <a:tcPr marL="76200" marR="76200" marT="38100" marB="381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cmpd="sng" algn="ctr" cap="flat" w="9525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r"/>
                      <a:r>
                        <a:rPr lang="es-ES" sz="1100" b="false" i="false">
                          <a:solidFill>
                            <a:srgbClr val="1F2933"/>
                          </a:solidFill>
                          <a:latin typeface="Segoe UI"/>
                        </a:rPr>
                        <a:t> </a:t>
                      </a:r>
                      <a:endParaRPr sz="1100" lang="es-ES"/>
                    </a:p>
                  </a:txBody>
                  <a:tcPr marL="76200" marR="76200" marT="38100" marB="381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cmpd="sng" algn="ctr" cap="flat" w="9525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r"/>
                      <a:r>
                        <a:rPr lang="es-ES" sz="1100" b="false" i="false">
                          <a:solidFill>
                            <a:srgbClr val="1F2933"/>
                          </a:solidFill>
                          <a:latin typeface="Segoe UI"/>
                        </a:rPr>
                        <a:t> </a:t>
                      </a:r>
                      <a:endParaRPr sz="1100" lang="es-ES"/>
                    </a:p>
                  </a:txBody>
                  <a:tcPr marL="76200" marR="76200" marT="38100" marB="381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cmpd="sng" algn="ctr" cap="flat" w="9525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l"/>
                      <a:r>
                        <a:rPr lang="es-ES" sz="1100" b="false" i="false">
                          <a:solidFill>
                            <a:srgbClr val="1F2933"/>
                          </a:solidFill>
                          <a:latin typeface="Segoe UI"/>
                        </a:rPr>
                        <a:t>Convertir precio a número</a:t>
                      </a:r>
                      <a:endParaRPr sz="1100" lang="es-ES"/>
                    </a:p>
                  </a:txBody>
                  <a:tcPr marL="76200" marR="76200" marT="38100" marB="381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cmpd="sng" algn="ctr" cap="flat" w="9525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8704">
                <a:tc>
                  <a:txBody>
                    <a:bodyPr anchor="t" rtlCol="false"/>
                    <a:lstStyle/>
                    <a:p>
                      <a:pPr algn="l"/>
                      <a:r>
                        <a:rPr lang="es-ES" sz="1100" b="false" i="false">
                          <a:solidFill>
                            <a:srgbClr val="1F2933"/>
                          </a:solidFill>
                          <a:latin typeface="Segoe UI"/>
                        </a:rPr>
                        <a:t>metodo_pago</a:t>
                      </a:r>
                      <a:endParaRPr sz="1100" lang="es-ES"/>
                    </a:p>
                  </a:txBody>
                  <a:tcPr marL="76200" marR="76200" marT="38100" marB="381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cmpd="sng" algn="ctr" cap="flat" w="9525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1F3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l"/>
                      <a:r>
                        <a:rPr lang="es-ES" sz="1100" b="false" i="false">
                          <a:solidFill>
                            <a:srgbClr val="1F2933"/>
                          </a:solidFill>
                          <a:latin typeface="Segoe UI"/>
                        </a:rPr>
                        <a:t>String</a:t>
                      </a:r>
                      <a:endParaRPr sz="1100" lang="es-ES"/>
                    </a:p>
                  </a:txBody>
                  <a:tcPr marL="76200" marR="76200" marT="38100" marB="381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cmpd="sng" algn="ctr" cap="flat" w="9525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1F3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r"/>
                      <a:r>
                        <a:rPr lang="es-ES" sz="1100" b="false" i="false">
                          <a:solidFill>
                            <a:srgbClr val="1F2933"/>
                          </a:solidFill>
                          <a:latin typeface="Segoe UI"/>
                        </a:rPr>
                        <a:t> </a:t>
                      </a:r>
                      <a:endParaRPr sz="1100" lang="es-ES"/>
                    </a:p>
                  </a:txBody>
                  <a:tcPr marL="76200" marR="76200" marT="38100" marB="381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cmpd="sng" algn="ctr" cap="flat" w="9525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1F3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r"/>
                      <a:r>
                        <a:rPr lang="es-ES" sz="1100" b="false" i="false">
                          <a:solidFill>
                            <a:srgbClr val="1F2933"/>
                          </a:solidFill>
                          <a:latin typeface="Segoe UI"/>
                        </a:rPr>
                        <a:t> </a:t>
                      </a:r>
                      <a:endParaRPr sz="1100" lang="es-ES"/>
                    </a:p>
                  </a:txBody>
                  <a:tcPr marL="76200" marR="76200" marT="38100" marB="381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cmpd="sng" algn="ctr" cap="flat" w="9525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1F3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l"/>
                      <a:r>
                        <a:rPr lang="es-ES" sz="1100" b="false" i="false">
                          <a:solidFill>
                            <a:srgbClr val="1F2933"/>
                          </a:solidFill>
                          <a:latin typeface="Segoe UI"/>
                        </a:rPr>
                        <a:t>Leer ventas (CSV)</a:t>
                      </a:r>
                      <a:endParaRPr sz="1100" lang="es-ES"/>
                    </a:p>
                  </a:txBody>
                  <a:tcPr marL="76200" marR="76200" marT="38100" marB="381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cmpd="sng" algn="ctr" cap="flat" w="9525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1F3"/>
                    </a:solidFill>
                  </a:tcPr>
                </a:tc>
              </a:tr>
              <a:tr h="298704">
                <a:tc>
                  <a:txBody>
                    <a:bodyPr anchor="t" rtlCol="false"/>
                    <a:lstStyle/>
                    <a:p>
                      <a:pPr algn="l"/>
                      <a:r>
                        <a:rPr lang="es-ES" sz="1100" b="false" i="false">
                          <a:solidFill>
                            <a:srgbClr val="1F2933"/>
                          </a:solidFill>
                          <a:latin typeface="Segoe UI"/>
                        </a:rPr>
                        <a:t>motivo_rechazo</a:t>
                      </a:r>
                      <a:endParaRPr sz="1100" lang="es-ES"/>
                    </a:p>
                  </a:txBody>
                  <a:tcPr marL="76200" marR="76200" marT="38100" marB="381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cmpd="sng" algn="ctr" cap="flat" w="9525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l"/>
                      <a:r>
                        <a:rPr lang="es-ES" sz="1100" b="false" i="false">
                          <a:solidFill>
                            <a:srgbClr val="1F2933"/>
                          </a:solidFill>
                          <a:latin typeface="Segoe UI"/>
                        </a:rPr>
                        <a:t>String</a:t>
                      </a:r>
                      <a:endParaRPr sz="1100" lang="es-ES"/>
                    </a:p>
                  </a:txBody>
                  <a:tcPr marL="76200" marR="76200" marT="38100" marB="381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cmpd="sng" algn="ctr" cap="flat" w="9525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r"/>
                      <a:r>
                        <a:rPr lang="es-ES" sz="1100" b="false" i="false">
                          <a:solidFill>
                            <a:srgbClr val="1F2933"/>
                          </a:solidFill>
                          <a:latin typeface="Segoe UI"/>
                        </a:rPr>
                        <a:t> </a:t>
                      </a:r>
                      <a:endParaRPr sz="1100" lang="es-ES"/>
                    </a:p>
                  </a:txBody>
                  <a:tcPr marL="76200" marR="76200" marT="38100" marB="381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cmpd="sng" algn="ctr" cap="flat" w="9525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r"/>
                      <a:r>
                        <a:rPr lang="es-ES" sz="1100" b="false" i="false">
                          <a:solidFill>
                            <a:srgbClr val="1F2933"/>
                          </a:solidFill>
                          <a:latin typeface="Segoe UI"/>
                        </a:rPr>
                        <a:t> </a:t>
                      </a:r>
                      <a:endParaRPr sz="1100" lang="es-ES"/>
                    </a:p>
                  </a:txBody>
                  <a:tcPr marL="76200" marR="76200" marT="38100" marB="381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cmpd="sng" algn="ctr" cap="flat" w="9525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l"/>
                      <a:r>
                        <a:rPr lang="es-ES" sz="1100" b="false" i="false">
                          <a:solidFill>
                            <a:srgbClr val="1F2933"/>
                          </a:solidFill>
                          <a:latin typeface="Segoe UI"/>
                        </a:rPr>
                        <a:t>Marcar duplicado</a:t>
                      </a:r>
                      <a:endParaRPr sz="1100" lang="es-ES"/>
                    </a:p>
                  </a:txBody>
                  <a:tcPr marL="76200" marR="76200" marT="38100" marB="381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cmpd="sng" algn="ctr" cap="flat" w="9525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7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8000" y="203200"/>
            <a:ext cx="11176000" cy="635000"/>
          </a:xfrm>
        </p:spPr>
        <p:txBody>
          <a:bodyPr lIns="0" rIns="0" wrap="square" anchor="ctr"/>
          <a:lstStyle/>
          <a:p>
            <a:pPr algn="l"/>
            <a:r>
              <a:rPr lang="es-ES" sz="2600" b="true" i="false">
                <a:solidFill>
                  <a:srgbClr val="243B53"/>
                </a:solidFill>
                <a:latin typeface="Segoe UI"/>
              </a:rPr>
              <a:t>Diccionario de datos (cont.)</a:t>
            </a:r>
            <a:endParaRPr sz="2600" lang="es-ES"/>
          </a:p>
        </p:txBody>
      </p:sp>
      <p:pic>
        <p:nvPicPr>
          <p:cNvPr name="Picture 3" id="3"/>
          <p:cNvPicPr>
            <a:picLocks noChangeAspect="true"/>
          </p:cNvPicPr>
          <p:nvPr/>
        </p:nvPicPr>
        <p:blipFill>
          <a:blip r:embed="rId2"/>
          <a:stretch>
            <a:fillRect/>
          </a:stretch>
        </p:blipFill>
        <p:spPr>
          <a:xfrm>
            <a:off x="10248900" y="5510084"/>
            <a:ext cx="1435100" cy="814516"/>
          </a:xfrm>
          <a:prstGeom prst="rect">
            <a:avLst/>
          </a:prstGeom>
        </p:spPr>
      </p:pic>
      <p:sp>
        <p:nvSpPr>
          <p:cNvPr name="AutoShape 4" id="4"/>
          <p:cNvSpPr/>
          <p:nvPr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243B53"/>
          </a:solidFill>
          <a:ln>
            <a:noFill/>
          </a:ln>
        </p:spPr>
      </p:sp>
      <p:pic>
        <p:nvPicPr>
          <p:cNvPr name="Picture 5" id="5"/>
          <p:cNvPicPr>
            <a:picLocks noChangeAspect="true"/>
          </p:cNvPicPr>
          <p:nvPr/>
        </p:nvPicPr>
        <p:blipFill>
          <a:blip r:embed="rId3"/>
          <a:stretch>
            <a:fillRect/>
          </a:stretch>
        </p:blipFill>
        <p:spPr>
          <a:xfrm>
            <a:off x="508000" y="6508750"/>
            <a:ext cx="177800" cy="100914"/>
          </a:xfrm>
          <a:prstGeom prst="rect">
            <a:avLst/>
          </a:prstGeom>
        </p:spPr>
      </p:pic>
      <p:sp>
        <p:nvSpPr>
          <p:cNvPr name="TextBox 6" id="6"/>
          <p:cNvSpPr txBox="true"/>
          <p:nvPr/>
        </p:nvSpPr>
        <p:spPr>
          <a:xfrm>
            <a:off x="749300" y="6451600"/>
            <a:ext cx="5080000" cy="228600"/>
          </a:xfrm>
          <a:prstGeom prst="rect">
            <a:avLst/>
          </a:prstGeom>
        </p:spPr>
        <p:txBody>
          <a:bodyPr anchor="ctr" rtlCol="false" wrap="square" lIns="0" rIns="0" tIns="25400" bIns="25400"/>
          <a:lstStyle/>
          <a:p>
            <a:pPr algn="l"/>
            <a:r>
              <a:rPr lang="es-ES" sz="750" b="false" i="false">
                <a:solidFill>
                  <a:srgbClr val="6B7785"/>
                </a:solidFill>
                <a:latin typeface="Segoe UI"/>
              </a:rPr>
              <a:t>Pentaho Live · IDC Studios</a:t>
            </a:r>
            <a:endParaRPr sz="750" lang="es-ES"/>
          </a:p>
        </p:txBody>
      </p:sp>
      <p:sp>
        <p:nvSpPr>
          <p:cNvPr name="TextBox 7" id="7"/>
          <p:cNvSpPr txBox="true"/>
          <p:nvPr/>
        </p:nvSpPr>
        <p:spPr>
          <a:xfrm>
            <a:off x="10160000" y="6451600"/>
            <a:ext cx="1524000" cy="228600"/>
          </a:xfrm>
          <a:prstGeom prst="rect">
            <a:avLst/>
          </a:prstGeom>
        </p:spPr>
        <p:txBody>
          <a:bodyPr anchor="ctr" rtlCol="false" wrap="square" lIns="0" rIns="0" tIns="25400" bIns="25400"/>
          <a:lstStyle/>
          <a:p>
            <a:pPr algn="r"/>
            <a:fld id="{33C0E370-5E6C-4364-8213-B322DE8AE166}" type="slidenum">
              <a:rPr lang="es-ES" sz="750">
                <a:solidFill>
                  <a:srgbClr val="6B7785"/>
                </a:solidFill>
                <a:latin typeface="Segoe UI"/>
              </a:rPr>
              <a:t>27</a:t>
            </a:fld>
            <a:endParaRPr sz="750" lang="es-ES"/>
          </a:p>
        </p:txBody>
      </p:sp>
      <p:sp>
        <p:nvSpPr>
          <p:cNvPr name="TextBox 8" id="8"/>
          <p:cNvSpPr txBox="true"/>
          <p:nvPr/>
        </p:nvSpPr>
        <p:spPr>
          <a:xfrm>
            <a:off x="508000" y="1016000"/>
            <a:ext cx="11176000" cy="254000"/>
          </a:xfrm>
          <a:prstGeom prst="rect">
            <a:avLst/>
          </a:prstGeom>
        </p:spPr>
        <p:txBody>
          <a:bodyPr anchor="t" rtlCol="false" wrap="square" lIns="0" rIns="0" tIns="25400" bIns="25400"/>
          <a:lstStyle/>
          <a:p>
            <a:pPr algn="l"/>
            <a:r>
              <a:rPr lang="es-ES" sz="1300" b="true" i="false">
                <a:solidFill>
                  <a:srgbClr val="243B53"/>
                </a:solidFill>
                <a:latin typeface="Segoe UI"/>
              </a:rPr>
              <a:t>¿Línea válida?</a:t>
            </a:r>
            <a:endParaRPr sz="1300" lang="es-ES"/>
          </a:p>
        </p:txBody>
      </p:sp>
      <p:graphicFrame>
        <p:nvGraphicFramePr>
          <p:cNvPr name="Table 9" id="9"/>
          <p:cNvGraphicFramePr>
            <a:graphicFrameLocks noGrp="true"/>
          </p:cNvGraphicFramePr>
          <p:nvPr/>
        </p:nvGraphicFramePr>
        <p:xfrm>
          <a:off x="508000" y="1295400"/>
          <a:ext cx="5702300" cy="3883152"/>
        </p:xfrm>
        <a:graphic>
          <a:graphicData uri="http://schemas.openxmlformats.org/drawingml/2006/table">
            <a:tbl>
              <a:tblPr/>
              <a:tblGrid>
                <a:gridCol w="1320800"/>
                <a:gridCol w="711200"/>
                <a:gridCol w="635000"/>
                <a:gridCol w="939800"/>
                <a:gridCol w="2095500"/>
              </a:tblGrid>
              <a:tr h="298704">
                <a:tc>
                  <a:txBody>
                    <a:bodyPr anchor="t" rtlCol="false"/>
                    <a:lstStyle/>
                    <a:p>
                      <a:pPr algn="l"/>
                      <a:r>
                        <a:rPr lang="es-ES" sz="1100" b="true" i="false">
                          <a:solidFill>
                            <a:srgbClr val="FFFFFF"/>
                          </a:solidFill>
                          <a:latin typeface="Segoe UI"/>
                        </a:rPr>
                        <a:t>Campo</a:t>
                      </a:r>
                      <a:endParaRPr sz="1100" lang="es-ES"/>
                    </a:p>
                  </a:txBody>
                  <a:tcPr marL="76200" marR="76200" marT="38100" marB="381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cmpd="sng" algn="ctr" cap="flat" w="9525">
                      <a:solidFill>
                        <a:srgbClr val="243B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3B53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l"/>
                      <a:r>
                        <a:rPr lang="es-ES" sz="1100" b="true" i="false">
                          <a:solidFill>
                            <a:srgbClr val="FFFFFF"/>
                          </a:solidFill>
                          <a:latin typeface="Segoe UI"/>
                        </a:rPr>
                        <a:t>Tipo</a:t>
                      </a:r>
                      <a:endParaRPr sz="1100" lang="es-ES"/>
                    </a:p>
                  </a:txBody>
                  <a:tcPr marL="76200" marR="76200" marT="38100" marB="381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cmpd="sng" algn="ctr" cap="flat" w="9525">
                      <a:solidFill>
                        <a:srgbClr val="243B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3B53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r"/>
                      <a:r>
                        <a:rPr lang="es-ES" sz="1100" b="true" i="false">
                          <a:solidFill>
                            <a:srgbClr val="FFFFFF"/>
                          </a:solidFill>
                          <a:latin typeface="Segoe UI"/>
                        </a:rPr>
                        <a:t>Largo</a:t>
                      </a:r>
                      <a:endParaRPr sz="1100" lang="es-ES"/>
                    </a:p>
                  </a:txBody>
                  <a:tcPr marL="76200" marR="76200" marT="38100" marB="381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cmpd="sng" algn="ctr" cap="flat" w="9525">
                      <a:solidFill>
                        <a:srgbClr val="243B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3B53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r"/>
                      <a:r>
                        <a:rPr lang="es-ES" sz="1100" b="true" i="false">
                          <a:solidFill>
                            <a:srgbClr val="FFFFFF"/>
                          </a:solidFill>
                          <a:latin typeface="Segoe UI"/>
                        </a:rPr>
                        <a:t>Precisión</a:t>
                      </a:r>
                      <a:endParaRPr sz="1100" lang="es-ES"/>
                    </a:p>
                  </a:txBody>
                  <a:tcPr marL="76200" marR="76200" marT="38100" marB="381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cmpd="sng" algn="ctr" cap="flat" w="9525">
                      <a:solidFill>
                        <a:srgbClr val="243B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3B53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l"/>
                      <a:r>
                        <a:rPr lang="es-ES" sz="1100" b="true" i="false">
                          <a:solidFill>
                            <a:srgbClr val="FFFFFF"/>
                          </a:solidFill>
                          <a:latin typeface="Segoe UI"/>
                        </a:rPr>
                        <a:t>Origen</a:t>
                      </a:r>
                      <a:endParaRPr sz="1100" lang="es-ES"/>
                    </a:p>
                  </a:txBody>
                  <a:tcPr marL="76200" marR="76200" marT="38100" marB="381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cmpd="sng" algn="ctr" cap="flat" w="9525">
                      <a:solidFill>
                        <a:srgbClr val="243B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3B53"/>
                    </a:solidFill>
                  </a:tcPr>
                </a:tc>
              </a:tr>
              <a:tr h="298704">
                <a:tc>
                  <a:txBody>
                    <a:bodyPr anchor="t" rtlCol="false"/>
                    <a:lstStyle/>
                    <a:p>
                      <a:pPr algn="l"/>
                      <a:r>
                        <a:rPr lang="es-ES" sz="1100" b="false" i="false">
                          <a:solidFill>
                            <a:srgbClr val="1F2933"/>
                          </a:solidFill>
                          <a:latin typeface="Segoe UI"/>
                        </a:rPr>
                        <a:t>id_ticket</a:t>
                      </a:r>
                      <a:endParaRPr sz="1100" lang="es-ES"/>
                    </a:p>
                  </a:txBody>
                  <a:tcPr marL="76200" marR="76200" marT="38100" marB="381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cmpd="sng" algn="ctr" cap="flat" w="9525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l"/>
                      <a:r>
                        <a:rPr lang="es-ES" sz="1100" b="false" i="false">
                          <a:solidFill>
                            <a:srgbClr val="1F2933"/>
                          </a:solidFill>
                          <a:latin typeface="Segoe UI"/>
                        </a:rPr>
                        <a:t>String</a:t>
                      </a:r>
                      <a:endParaRPr sz="1100" lang="es-ES"/>
                    </a:p>
                  </a:txBody>
                  <a:tcPr marL="76200" marR="76200" marT="38100" marB="381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cmpd="sng" algn="ctr" cap="flat" w="9525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r"/>
                      <a:r>
                        <a:rPr lang="es-ES" sz="1100" b="false" i="false">
                          <a:solidFill>
                            <a:srgbClr val="1F2933"/>
                          </a:solidFill>
                          <a:latin typeface="Segoe UI"/>
                        </a:rPr>
                        <a:t> </a:t>
                      </a:r>
                      <a:endParaRPr sz="1100" lang="es-ES"/>
                    </a:p>
                  </a:txBody>
                  <a:tcPr marL="76200" marR="76200" marT="38100" marB="381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cmpd="sng" algn="ctr" cap="flat" w="9525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r"/>
                      <a:r>
                        <a:rPr lang="es-ES" sz="1100" b="false" i="false">
                          <a:solidFill>
                            <a:srgbClr val="1F2933"/>
                          </a:solidFill>
                          <a:latin typeface="Segoe UI"/>
                        </a:rPr>
                        <a:t> </a:t>
                      </a:r>
                      <a:endParaRPr sz="1100" lang="es-ES"/>
                    </a:p>
                  </a:txBody>
                  <a:tcPr marL="76200" marR="76200" marT="38100" marB="381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cmpd="sng" algn="ctr" cap="flat" w="9525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l"/>
                      <a:r>
                        <a:rPr lang="es-ES" sz="1100" b="false" i="false">
                          <a:solidFill>
                            <a:srgbClr val="1F2933"/>
                          </a:solidFill>
                          <a:latin typeface="Segoe UI"/>
                        </a:rPr>
                        <a:t>Leer ventas (CSV)</a:t>
                      </a:r>
                      <a:endParaRPr sz="1100" lang="es-ES"/>
                    </a:p>
                  </a:txBody>
                  <a:tcPr marL="76200" marR="76200" marT="38100" marB="381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cmpd="sng" algn="ctr" cap="flat" w="9525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8704">
                <a:tc>
                  <a:txBody>
                    <a:bodyPr anchor="t" rtlCol="false"/>
                    <a:lstStyle/>
                    <a:p>
                      <a:pPr algn="l"/>
                      <a:r>
                        <a:rPr lang="es-ES" sz="1100" b="false" i="false">
                          <a:solidFill>
                            <a:srgbClr val="1F2933"/>
                          </a:solidFill>
                          <a:latin typeface="Segoe UI"/>
                        </a:rPr>
                        <a:t>linea</a:t>
                      </a:r>
                      <a:endParaRPr sz="1100" lang="es-ES"/>
                    </a:p>
                  </a:txBody>
                  <a:tcPr marL="76200" marR="76200" marT="38100" marB="381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cmpd="sng" algn="ctr" cap="flat" w="9525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1F3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l"/>
                      <a:r>
                        <a:rPr lang="es-ES" sz="1100" b="false" i="false">
                          <a:solidFill>
                            <a:srgbClr val="1F2933"/>
                          </a:solidFill>
                          <a:latin typeface="Segoe UI"/>
                        </a:rPr>
                        <a:t>Integer</a:t>
                      </a:r>
                      <a:endParaRPr sz="1100" lang="es-ES"/>
                    </a:p>
                  </a:txBody>
                  <a:tcPr marL="76200" marR="76200" marT="38100" marB="381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cmpd="sng" algn="ctr" cap="flat" w="9525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1F3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r"/>
                      <a:r>
                        <a:rPr lang="es-ES" sz="1100" b="false" i="false">
                          <a:solidFill>
                            <a:srgbClr val="1F2933"/>
                          </a:solidFill>
                          <a:latin typeface="Segoe UI"/>
                        </a:rPr>
                        <a:t> </a:t>
                      </a:r>
                      <a:endParaRPr sz="1100" lang="es-ES"/>
                    </a:p>
                  </a:txBody>
                  <a:tcPr marL="76200" marR="76200" marT="38100" marB="381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cmpd="sng" algn="ctr" cap="flat" w="9525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1F3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r"/>
                      <a:r>
                        <a:rPr lang="es-ES" sz="1100" b="false" i="false">
                          <a:solidFill>
                            <a:srgbClr val="1F2933"/>
                          </a:solidFill>
                          <a:latin typeface="Segoe UI"/>
                        </a:rPr>
                        <a:t>0</a:t>
                      </a:r>
                      <a:endParaRPr sz="1100" lang="es-ES"/>
                    </a:p>
                  </a:txBody>
                  <a:tcPr marL="76200" marR="76200" marT="38100" marB="381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cmpd="sng" algn="ctr" cap="flat" w="9525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1F3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l"/>
                      <a:r>
                        <a:rPr lang="es-ES" sz="1100" b="false" i="false">
                          <a:solidFill>
                            <a:srgbClr val="1F2933"/>
                          </a:solidFill>
                          <a:latin typeface="Segoe UI"/>
                        </a:rPr>
                        <a:t>Leer ventas (CSV)</a:t>
                      </a:r>
                      <a:endParaRPr sz="1100" lang="es-ES"/>
                    </a:p>
                  </a:txBody>
                  <a:tcPr marL="76200" marR="76200" marT="38100" marB="381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cmpd="sng" algn="ctr" cap="flat" w="9525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1F3"/>
                    </a:solidFill>
                  </a:tcPr>
                </a:tc>
              </a:tr>
              <a:tr h="298704">
                <a:tc>
                  <a:txBody>
                    <a:bodyPr anchor="t" rtlCol="false"/>
                    <a:lstStyle/>
                    <a:p>
                      <a:pPr algn="l"/>
                      <a:r>
                        <a:rPr lang="es-ES" sz="1100" b="false" i="false">
                          <a:solidFill>
                            <a:srgbClr val="1F2933"/>
                          </a:solidFill>
                          <a:latin typeface="Segoe UI"/>
                        </a:rPr>
                        <a:t>fecha</a:t>
                      </a:r>
                      <a:endParaRPr sz="1100" lang="es-ES"/>
                    </a:p>
                  </a:txBody>
                  <a:tcPr marL="76200" marR="76200" marT="38100" marB="381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cmpd="sng" algn="ctr" cap="flat" w="9525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l"/>
                      <a:r>
                        <a:rPr lang="es-ES" sz="1100" b="false" i="false">
                          <a:solidFill>
                            <a:srgbClr val="1F2933"/>
                          </a:solidFill>
                          <a:latin typeface="Segoe UI"/>
                        </a:rPr>
                        <a:t>String</a:t>
                      </a:r>
                      <a:endParaRPr sz="1100" lang="es-ES"/>
                    </a:p>
                  </a:txBody>
                  <a:tcPr marL="76200" marR="76200" marT="38100" marB="381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cmpd="sng" algn="ctr" cap="flat" w="9525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r"/>
                      <a:r>
                        <a:rPr lang="es-ES" sz="1100" b="false" i="false">
                          <a:solidFill>
                            <a:srgbClr val="1F2933"/>
                          </a:solidFill>
                          <a:latin typeface="Segoe UI"/>
                        </a:rPr>
                        <a:t> </a:t>
                      </a:r>
                      <a:endParaRPr sz="1100" lang="es-ES"/>
                    </a:p>
                  </a:txBody>
                  <a:tcPr marL="76200" marR="76200" marT="38100" marB="381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cmpd="sng" algn="ctr" cap="flat" w="9525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r"/>
                      <a:r>
                        <a:rPr lang="es-ES" sz="1100" b="false" i="false">
                          <a:solidFill>
                            <a:srgbClr val="1F2933"/>
                          </a:solidFill>
                          <a:latin typeface="Segoe UI"/>
                        </a:rPr>
                        <a:t> </a:t>
                      </a:r>
                      <a:endParaRPr sz="1100" lang="es-ES"/>
                    </a:p>
                  </a:txBody>
                  <a:tcPr marL="76200" marR="76200" marT="38100" marB="381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cmpd="sng" algn="ctr" cap="flat" w="9525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l"/>
                      <a:r>
                        <a:rPr lang="es-ES" sz="1100" b="false" i="false">
                          <a:solidFill>
                            <a:srgbClr val="1F2933"/>
                          </a:solidFill>
                          <a:latin typeface="Segoe UI"/>
                        </a:rPr>
                        <a:t>Leer ventas (CSV)</a:t>
                      </a:r>
                      <a:endParaRPr sz="1100" lang="es-ES"/>
                    </a:p>
                  </a:txBody>
                  <a:tcPr marL="76200" marR="76200" marT="38100" marB="381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cmpd="sng" algn="ctr" cap="flat" w="9525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8704">
                <a:tc>
                  <a:txBody>
                    <a:bodyPr anchor="t" rtlCol="false"/>
                    <a:lstStyle/>
                    <a:p>
                      <a:pPr algn="l"/>
                      <a:r>
                        <a:rPr lang="es-ES" sz="1100" b="false" i="false">
                          <a:solidFill>
                            <a:srgbClr val="1F2933"/>
                          </a:solidFill>
                          <a:latin typeface="Segoe UI"/>
                        </a:rPr>
                        <a:t>id_tienda</a:t>
                      </a:r>
                      <a:endParaRPr sz="1100" lang="es-ES"/>
                    </a:p>
                  </a:txBody>
                  <a:tcPr marL="76200" marR="76200" marT="38100" marB="381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cmpd="sng" algn="ctr" cap="flat" w="9525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1F3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l"/>
                      <a:r>
                        <a:rPr lang="es-ES" sz="1100" b="false" i="false">
                          <a:solidFill>
                            <a:srgbClr val="1F2933"/>
                          </a:solidFill>
                          <a:latin typeface="Segoe UI"/>
                        </a:rPr>
                        <a:t>String</a:t>
                      </a:r>
                      <a:endParaRPr sz="1100" lang="es-ES"/>
                    </a:p>
                  </a:txBody>
                  <a:tcPr marL="76200" marR="76200" marT="38100" marB="381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cmpd="sng" algn="ctr" cap="flat" w="9525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1F3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r"/>
                      <a:r>
                        <a:rPr lang="es-ES" sz="1100" b="false" i="false">
                          <a:solidFill>
                            <a:srgbClr val="1F2933"/>
                          </a:solidFill>
                          <a:latin typeface="Segoe UI"/>
                        </a:rPr>
                        <a:t> </a:t>
                      </a:r>
                      <a:endParaRPr sz="1100" lang="es-ES"/>
                    </a:p>
                  </a:txBody>
                  <a:tcPr marL="76200" marR="76200" marT="38100" marB="381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cmpd="sng" algn="ctr" cap="flat" w="9525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1F3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r"/>
                      <a:r>
                        <a:rPr lang="es-ES" sz="1100" b="false" i="false">
                          <a:solidFill>
                            <a:srgbClr val="1F2933"/>
                          </a:solidFill>
                          <a:latin typeface="Segoe UI"/>
                        </a:rPr>
                        <a:t> </a:t>
                      </a:r>
                      <a:endParaRPr sz="1100" lang="es-ES"/>
                    </a:p>
                  </a:txBody>
                  <a:tcPr marL="76200" marR="76200" marT="38100" marB="381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cmpd="sng" algn="ctr" cap="flat" w="9525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1F3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l"/>
                      <a:r>
                        <a:rPr lang="es-ES" sz="1100" b="false" i="false">
                          <a:solidFill>
                            <a:srgbClr val="1F2933"/>
                          </a:solidFill>
                          <a:latin typeface="Segoe UI"/>
                        </a:rPr>
                        <a:t>Leer ventas (CSV)</a:t>
                      </a:r>
                      <a:endParaRPr sz="1100" lang="es-ES"/>
                    </a:p>
                  </a:txBody>
                  <a:tcPr marL="76200" marR="76200" marT="38100" marB="381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cmpd="sng" algn="ctr" cap="flat" w="9525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1F3"/>
                    </a:solidFill>
                  </a:tcPr>
                </a:tc>
              </a:tr>
              <a:tr h="298704">
                <a:tc>
                  <a:txBody>
                    <a:bodyPr anchor="t" rtlCol="false"/>
                    <a:lstStyle/>
                    <a:p>
                      <a:pPr algn="l"/>
                      <a:r>
                        <a:rPr lang="es-ES" sz="1100" b="false" i="false">
                          <a:solidFill>
                            <a:srgbClr val="1F2933"/>
                          </a:solidFill>
                          <a:latin typeface="Segoe UI"/>
                        </a:rPr>
                        <a:t>codigo_producto</a:t>
                      </a:r>
                      <a:endParaRPr sz="1100" lang="es-ES"/>
                    </a:p>
                  </a:txBody>
                  <a:tcPr marL="76200" marR="76200" marT="38100" marB="381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cmpd="sng" algn="ctr" cap="flat" w="9525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l"/>
                      <a:r>
                        <a:rPr lang="es-ES" sz="1100" b="false" i="false">
                          <a:solidFill>
                            <a:srgbClr val="1F2933"/>
                          </a:solidFill>
                          <a:latin typeface="Segoe UI"/>
                        </a:rPr>
                        <a:t>String</a:t>
                      </a:r>
                      <a:endParaRPr sz="1100" lang="es-ES"/>
                    </a:p>
                  </a:txBody>
                  <a:tcPr marL="76200" marR="76200" marT="38100" marB="381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cmpd="sng" algn="ctr" cap="flat" w="9525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r"/>
                      <a:r>
                        <a:rPr lang="es-ES" sz="1100" b="false" i="false">
                          <a:solidFill>
                            <a:srgbClr val="1F2933"/>
                          </a:solidFill>
                          <a:latin typeface="Segoe UI"/>
                        </a:rPr>
                        <a:t> </a:t>
                      </a:r>
                      <a:endParaRPr sz="1100" lang="es-ES"/>
                    </a:p>
                  </a:txBody>
                  <a:tcPr marL="76200" marR="76200" marT="38100" marB="381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cmpd="sng" algn="ctr" cap="flat" w="9525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r"/>
                      <a:r>
                        <a:rPr lang="es-ES" sz="1100" b="false" i="false">
                          <a:solidFill>
                            <a:srgbClr val="1F2933"/>
                          </a:solidFill>
                          <a:latin typeface="Segoe UI"/>
                        </a:rPr>
                        <a:t> </a:t>
                      </a:r>
                      <a:endParaRPr sz="1100" lang="es-ES"/>
                    </a:p>
                  </a:txBody>
                  <a:tcPr marL="76200" marR="76200" marT="38100" marB="381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cmpd="sng" algn="ctr" cap="flat" w="9525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l"/>
                      <a:r>
                        <a:rPr lang="es-ES" sz="1100" b="false" i="false">
                          <a:solidFill>
                            <a:srgbClr val="1F2933"/>
                          </a:solidFill>
                          <a:latin typeface="Segoe UI"/>
                        </a:rPr>
                        <a:t>Leer ventas (CSV)</a:t>
                      </a:r>
                      <a:endParaRPr sz="1100" lang="es-ES"/>
                    </a:p>
                  </a:txBody>
                  <a:tcPr marL="76200" marR="76200" marT="38100" marB="381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cmpd="sng" algn="ctr" cap="flat" w="9525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8704">
                <a:tc>
                  <a:txBody>
                    <a:bodyPr anchor="t" rtlCol="false"/>
                    <a:lstStyle/>
                    <a:p>
                      <a:pPr algn="l"/>
                      <a:r>
                        <a:rPr lang="es-ES" sz="1100" b="false" i="false">
                          <a:solidFill>
                            <a:srgbClr val="1F2933"/>
                          </a:solidFill>
                          <a:latin typeface="Segoe UI"/>
                        </a:rPr>
                        <a:t>cantidad</a:t>
                      </a:r>
                      <a:endParaRPr sz="1100" lang="es-ES"/>
                    </a:p>
                  </a:txBody>
                  <a:tcPr marL="76200" marR="76200" marT="38100" marB="381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cmpd="sng" algn="ctr" cap="flat" w="9525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1F3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l"/>
                      <a:r>
                        <a:rPr lang="es-ES" sz="1100" b="false" i="false">
                          <a:solidFill>
                            <a:srgbClr val="1F2933"/>
                          </a:solidFill>
                          <a:latin typeface="Segoe UI"/>
                        </a:rPr>
                        <a:t>Integer</a:t>
                      </a:r>
                      <a:endParaRPr sz="1100" lang="es-ES"/>
                    </a:p>
                  </a:txBody>
                  <a:tcPr marL="76200" marR="76200" marT="38100" marB="381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cmpd="sng" algn="ctr" cap="flat" w="9525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1F3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r"/>
                      <a:r>
                        <a:rPr lang="es-ES" sz="1100" b="false" i="false">
                          <a:solidFill>
                            <a:srgbClr val="1F2933"/>
                          </a:solidFill>
                          <a:latin typeface="Segoe UI"/>
                        </a:rPr>
                        <a:t> </a:t>
                      </a:r>
                      <a:endParaRPr sz="1100" lang="es-ES"/>
                    </a:p>
                  </a:txBody>
                  <a:tcPr marL="76200" marR="76200" marT="38100" marB="381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cmpd="sng" algn="ctr" cap="flat" w="9525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1F3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r"/>
                      <a:r>
                        <a:rPr lang="es-ES" sz="1100" b="false" i="false">
                          <a:solidFill>
                            <a:srgbClr val="1F2933"/>
                          </a:solidFill>
                          <a:latin typeface="Segoe UI"/>
                        </a:rPr>
                        <a:t>0</a:t>
                      </a:r>
                      <a:endParaRPr sz="1100" lang="es-ES"/>
                    </a:p>
                  </a:txBody>
                  <a:tcPr marL="76200" marR="76200" marT="38100" marB="381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cmpd="sng" algn="ctr" cap="flat" w="9525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1F3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l"/>
                      <a:r>
                        <a:rPr lang="es-ES" sz="1100" b="false" i="false">
                          <a:solidFill>
                            <a:srgbClr val="1F2933"/>
                          </a:solidFill>
                          <a:latin typeface="Segoe UI"/>
                        </a:rPr>
                        <a:t>Leer ventas (CSV)</a:t>
                      </a:r>
                      <a:endParaRPr sz="1100" lang="es-ES"/>
                    </a:p>
                  </a:txBody>
                  <a:tcPr marL="76200" marR="76200" marT="38100" marB="381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cmpd="sng" algn="ctr" cap="flat" w="9525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1F3"/>
                    </a:solidFill>
                  </a:tcPr>
                </a:tc>
              </a:tr>
              <a:tr h="298704">
                <a:tc>
                  <a:txBody>
                    <a:bodyPr anchor="t" rtlCol="false"/>
                    <a:lstStyle/>
                    <a:p>
                      <a:pPr algn="l"/>
                      <a:r>
                        <a:rPr lang="es-ES" sz="1100" b="false" i="false">
                          <a:solidFill>
                            <a:srgbClr val="1F2933"/>
                          </a:solidFill>
                          <a:latin typeface="Segoe UI"/>
                        </a:rPr>
                        <a:t>precio_unitario</a:t>
                      </a:r>
                      <a:endParaRPr sz="1100" lang="es-ES"/>
                    </a:p>
                  </a:txBody>
                  <a:tcPr marL="76200" marR="76200" marT="38100" marB="381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cmpd="sng" algn="ctr" cap="flat" w="9525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l"/>
                      <a:r>
                        <a:rPr lang="es-ES" sz="1100" b="false" i="false">
                          <a:solidFill>
                            <a:srgbClr val="1F2933"/>
                          </a:solidFill>
                          <a:latin typeface="Segoe UI"/>
                        </a:rPr>
                        <a:t>Number</a:t>
                      </a:r>
                      <a:endParaRPr sz="1100" lang="es-ES"/>
                    </a:p>
                  </a:txBody>
                  <a:tcPr marL="76200" marR="76200" marT="38100" marB="381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cmpd="sng" algn="ctr" cap="flat" w="9525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r"/>
                      <a:r>
                        <a:rPr lang="es-ES" sz="1100" b="false" i="false">
                          <a:solidFill>
                            <a:srgbClr val="1F2933"/>
                          </a:solidFill>
                          <a:latin typeface="Segoe UI"/>
                        </a:rPr>
                        <a:t> </a:t>
                      </a:r>
                      <a:endParaRPr sz="1100" lang="es-ES"/>
                    </a:p>
                  </a:txBody>
                  <a:tcPr marL="76200" marR="76200" marT="38100" marB="381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cmpd="sng" algn="ctr" cap="flat" w="9525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r"/>
                      <a:r>
                        <a:rPr lang="es-ES" sz="1100" b="false" i="false">
                          <a:solidFill>
                            <a:srgbClr val="1F2933"/>
                          </a:solidFill>
                          <a:latin typeface="Segoe UI"/>
                        </a:rPr>
                        <a:t> </a:t>
                      </a:r>
                      <a:endParaRPr sz="1100" lang="es-ES"/>
                    </a:p>
                  </a:txBody>
                  <a:tcPr marL="76200" marR="76200" marT="38100" marB="381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cmpd="sng" algn="ctr" cap="flat" w="9525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l"/>
                      <a:r>
                        <a:rPr lang="es-ES" sz="1100" b="false" i="false">
                          <a:solidFill>
                            <a:srgbClr val="1F2933"/>
                          </a:solidFill>
                          <a:latin typeface="Segoe UI"/>
                        </a:rPr>
                        <a:t>Convertir precio a número</a:t>
                      </a:r>
                      <a:endParaRPr sz="1100" lang="es-ES"/>
                    </a:p>
                  </a:txBody>
                  <a:tcPr marL="76200" marR="76200" marT="38100" marB="381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cmpd="sng" algn="ctr" cap="flat" w="9525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8704">
                <a:tc>
                  <a:txBody>
                    <a:bodyPr anchor="t" rtlCol="false"/>
                    <a:lstStyle/>
                    <a:p>
                      <a:pPr algn="l"/>
                      <a:r>
                        <a:rPr lang="es-ES" sz="1100" b="false" i="false">
                          <a:solidFill>
                            <a:srgbClr val="1F2933"/>
                          </a:solidFill>
                          <a:latin typeface="Segoe UI"/>
                        </a:rPr>
                        <a:t>metodo_pago</a:t>
                      </a:r>
                      <a:endParaRPr sz="1100" lang="es-ES"/>
                    </a:p>
                  </a:txBody>
                  <a:tcPr marL="76200" marR="76200" marT="38100" marB="381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cmpd="sng" algn="ctr" cap="flat" w="9525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1F3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l"/>
                      <a:r>
                        <a:rPr lang="es-ES" sz="1100" b="false" i="false">
                          <a:solidFill>
                            <a:srgbClr val="1F2933"/>
                          </a:solidFill>
                          <a:latin typeface="Segoe UI"/>
                        </a:rPr>
                        <a:t>String</a:t>
                      </a:r>
                      <a:endParaRPr sz="1100" lang="es-ES"/>
                    </a:p>
                  </a:txBody>
                  <a:tcPr marL="76200" marR="76200" marT="38100" marB="381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cmpd="sng" algn="ctr" cap="flat" w="9525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1F3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r"/>
                      <a:r>
                        <a:rPr lang="es-ES" sz="1100" b="false" i="false">
                          <a:solidFill>
                            <a:srgbClr val="1F2933"/>
                          </a:solidFill>
                          <a:latin typeface="Segoe UI"/>
                        </a:rPr>
                        <a:t> </a:t>
                      </a:r>
                      <a:endParaRPr sz="1100" lang="es-ES"/>
                    </a:p>
                  </a:txBody>
                  <a:tcPr marL="76200" marR="76200" marT="38100" marB="381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cmpd="sng" algn="ctr" cap="flat" w="9525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1F3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r"/>
                      <a:r>
                        <a:rPr lang="es-ES" sz="1100" b="false" i="false">
                          <a:solidFill>
                            <a:srgbClr val="1F2933"/>
                          </a:solidFill>
                          <a:latin typeface="Segoe UI"/>
                        </a:rPr>
                        <a:t> </a:t>
                      </a:r>
                      <a:endParaRPr sz="1100" lang="es-ES"/>
                    </a:p>
                  </a:txBody>
                  <a:tcPr marL="76200" marR="76200" marT="38100" marB="381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cmpd="sng" algn="ctr" cap="flat" w="9525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1F3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l"/>
                      <a:r>
                        <a:rPr lang="es-ES" sz="1100" b="false" i="false">
                          <a:solidFill>
                            <a:srgbClr val="1F2933"/>
                          </a:solidFill>
                          <a:latin typeface="Segoe UI"/>
                        </a:rPr>
                        <a:t>Leer ventas (CSV)</a:t>
                      </a:r>
                      <a:endParaRPr sz="1100" lang="es-ES"/>
                    </a:p>
                  </a:txBody>
                  <a:tcPr marL="76200" marR="76200" marT="38100" marB="381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cmpd="sng" algn="ctr" cap="flat" w="9525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1F3"/>
                    </a:solidFill>
                  </a:tcPr>
                </a:tc>
              </a:tr>
              <a:tr h="298704">
                <a:tc>
                  <a:txBody>
                    <a:bodyPr anchor="t" rtlCol="false"/>
                    <a:lstStyle/>
                    <a:p>
                      <a:pPr algn="l"/>
                      <a:r>
                        <a:rPr lang="es-ES" sz="1100" b="false" i="false">
                          <a:solidFill>
                            <a:srgbClr val="1F2933"/>
                          </a:solidFill>
                          <a:latin typeface="Segoe UI"/>
                        </a:rPr>
                        <a:t>sk_tienda</a:t>
                      </a:r>
                      <a:endParaRPr sz="1100" lang="es-ES"/>
                    </a:p>
                  </a:txBody>
                  <a:tcPr marL="76200" marR="76200" marT="38100" marB="381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cmpd="sng" algn="ctr" cap="flat" w="9525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l"/>
                      <a:r>
                        <a:rPr lang="es-ES" sz="1100" b="false" i="false">
                          <a:solidFill>
                            <a:srgbClr val="1F2933"/>
                          </a:solidFill>
                          <a:latin typeface="Segoe UI"/>
                        </a:rPr>
                        <a:t>Integer</a:t>
                      </a:r>
                      <a:endParaRPr sz="1100" lang="es-ES"/>
                    </a:p>
                  </a:txBody>
                  <a:tcPr marL="76200" marR="76200" marT="38100" marB="381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cmpd="sng" algn="ctr" cap="flat" w="9525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r"/>
                      <a:r>
                        <a:rPr lang="es-ES" sz="1100" b="false" i="false">
                          <a:solidFill>
                            <a:srgbClr val="1F2933"/>
                          </a:solidFill>
                          <a:latin typeface="Segoe UI"/>
                        </a:rPr>
                        <a:t>9</a:t>
                      </a:r>
                      <a:endParaRPr sz="1100" lang="es-ES"/>
                    </a:p>
                  </a:txBody>
                  <a:tcPr marL="76200" marR="76200" marT="38100" marB="381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cmpd="sng" algn="ctr" cap="flat" w="9525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r"/>
                      <a:r>
                        <a:rPr lang="es-ES" sz="1100" b="false" i="false">
                          <a:solidFill>
                            <a:srgbClr val="1F2933"/>
                          </a:solidFill>
                          <a:latin typeface="Segoe UI"/>
                        </a:rPr>
                        <a:t>0</a:t>
                      </a:r>
                      <a:endParaRPr sz="1100" lang="es-ES"/>
                    </a:p>
                  </a:txBody>
                  <a:tcPr marL="76200" marR="76200" marT="38100" marB="381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cmpd="sng" algn="ctr" cap="flat" w="9525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l"/>
                      <a:r>
                        <a:rPr lang="es-ES" sz="1100" b="false" i="false">
                          <a:solidFill>
                            <a:srgbClr val="1F2933"/>
                          </a:solidFill>
                          <a:latin typeface="Segoe UI"/>
                        </a:rPr>
                        <a:t>Buscar tienda</a:t>
                      </a:r>
                      <a:endParaRPr sz="1100" lang="es-ES"/>
                    </a:p>
                  </a:txBody>
                  <a:tcPr marL="76200" marR="76200" marT="38100" marB="381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cmpd="sng" algn="ctr" cap="flat" w="9525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8704">
                <a:tc>
                  <a:txBody>
                    <a:bodyPr anchor="t" rtlCol="false"/>
                    <a:lstStyle/>
                    <a:p>
                      <a:pPr algn="l"/>
                      <a:r>
                        <a:rPr lang="es-ES" sz="1100" b="false" i="false">
                          <a:solidFill>
                            <a:srgbClr val="1F2933"/>
                          </a:solidFill>
                          <a:latin typeface="Segoe UI"/>
                        </a:rPr>
                        <a:t>sk_producto</a:t>
                      </a:r>
                      <a:endParaRPr sz="1100" lang="es-ES"/>
                    </a:p>
                  </a:txBody>
                  <a:tcPr marL="76200" marR="76200" marT="38100" marB="381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cmpd="sng" algn="ctr" cap="flat" w="9525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1F3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l"/>
                      <a:r>
                        <a:rPr lang="es-ES" sz="1100" b="false" i="false">
                          <a:solidFill>
                            <a:srgbClr val="1F2933"/>
                          </a:solidFill>
                          <a:latin typeface="Segoe UI"/>
                        </a:rPr>
                        <a:t>Integer</a:t>
                      </a:r>
                      <a:endParaRPr sz="1100" lang="es-ES"/>
                    </a:p>
                  </a:txBody>
                  <a:tcPr marL="76200" marR="76200" marT="38100" marB="381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cmpd="sng" algn="ctr" cap="flat" w="9525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1F3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r"/>
                      <a:r>
                        <a:rPr lang="es-ES" sz="1100" b="false" i="false">
                          <a:solidFill>
                            <a:srgbClr val="1F2933"/>
                          </a:solidFill>
                          <a:latin typeface="Segoe UI"/>
                        </a:rPr>
                        <a:t>9</a:t>
                      </a:r>
                      <a:endParaRPr sz="1100" lang="es-ES"/>
                    </a:p>
                  </a:txBody>
                  <a:tcPr marL="76200" marR="76200" marT="38100" marB="381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cmpd="sng" algn="ctr" cap="flat" w="9525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1F3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r"/>
                      <a:r>
                        <a:rPr lang="es-ES" sz="1100" b="false" i="false">
                          <a:solidFill>
                            <a:srgbClr val="1F2933"/>
                          </a:solidFill>
                          <a:latin typeface="Segoe UI"/>
                        </a:rPr>
                        <a:t>0</a:t>
                      </a:r>
                      <a:endParaRPr sz="1100" lang="es-ES"/>
                    </a:p>
                  </a:txBody>
                  <a:tcPr marL="76200" marR="76200" marT="38100" marB="381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cmpd="sng" algn="ctr" cap="flat" w="9525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1F3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l"/>
                      <a:r>
                        <a:rPr lang="es-ES" sz="1100" b="false" i="false">
                          <a:solidFill>
                            <a:srgbClr val="1F2933"/>
                          </a:solidFill>
                          <a:latin typeface="Segoe UI"/>
                        </a:rPr>
                        <a:t>Buscar producto</a:t>
                      </a:r>
                      <a:endParaRPr sz="1100" lang="es-ES"/>
                    </a:p>
                  </a:txBody>
                  <a:tcPr marL="76200" marR="76200" marT="38100" marB="381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cmpd="sng" algn="ctr" cap="flat" w="9525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1F3"/>
                    </a:solidFill>
                  </a:tcPr>
                </a:tc>
              </a:tr>
              <a:tr h="298704">
                <a:tc>
                  <a:txBody>
                    <a:bodyPr anchor="t" rtlCol="false"/>
                    <a:lstStyle/>
                    <a:p>
                      <a:pPr algn="l"/>
                      <a:r>
                        <a:rPr lang="es-ES" sz="1100" b="false" i="false">
                          <a:solidFill>
                            <a:srgbClr val="1F2933"/>
                          </a:solidFill>
                          <a:latin typeface="Segoe UI"/>
                        </a:rPr>
                        <a:t>sk_fecha</a:t>
                      </a:r>
                      <a:endParaRPr sz="1100" lang="es-ES"/>
                    </a:p>
                  </a:txBody>
                  <a:tcPr marL="76200" marR="76200" marT="38100" marB="381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cmpd="sng" algn="ctr" cap="flat" w="9525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l"/>
                      <a:r>
                        <a:rPr lang="es-ES" sz="1100" b="false" i="false">
                          <a:solidFill>
                            <a:srgbClr val="1F2933"/>
                          </a:solidFill>
                          <a:latin typeface="Segoe UI"/>
                        </a:rPr>
                        <a:t>Integer</a:t>
                      </a:r>
                      <a:endParaRPr sz="1100" lang="es-ES"/>
                    </a:p>
                  </a:txBody>
                  <a:tcPr marL="76200" marR="76200" marT="38100" marB="381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cmpd="sng" algn="ctr" cap="flat" w="9525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r"/>
                      <a:r>
                        <a:rPr lang="es-ES" sz="1100" b="false" i="false">
                          <a:solidFill>
                            <a:srgbClr val="1F2933"/>
                          </a:solidFill>
                          <a:latin typeface="Segoe UI"/>
                        </a:rPr>
                        <a:t>9</a:t>
                      </a:r>
                      <a:endParaRPr sz="1100" lang="es-ES"/>
                    </a:p>
                  </a:txBody>
                  <a:tcPr marL="76200" marR="76200" marT="38100" marB="381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cmpd="sng" algn="ctr" cap="flat" w="9525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r"/>
                      <a:r>
                        <a:rPr lang="es-ES" sz="1100" b="false" i="false">
                          <a:solidFill>
                            <a:srgbClr val="1F2933"/>
                          </a:solidFill>
                          <a:latin typeface="Segoe UI"/>
                        </a:rPr>
                        <a:t>0</a:t>
                      </a:r>
                      <a:endParaRPr sz="1100" lang="es-ES"/>
                    </a:p>
                  </a:txBody>
                  <a:tcPr marL="76200" marR="76200" marT="38100" marB="381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cmpd="sng" algn="ctr" cap="flat" w="9525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l"/>
                      <a:r>
                        <a:rPr lang="es-ES" sz="1100" b="false" i="false">
                          <a:solidFill>
                            <a:srgbClr val="1F2933"/>
                          </a:solidFill>
                          <a:latin typeface="Segoe UI"/>
                        </a:rPr>
                        <a:t>Buscar fecha</a:t>
                      </a:r>
                      <a:endParaRPr sz="1100" lang="es-ES"/>
                    </a:p>
                  </a:txBody>
                  <a:tcPr marL="76200" marR="76200" marT="38100" marB="381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cmpd="sng" algn="ctr" cap="flat" w="9525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8704">
                <a:tc>
                  <a:txBody>
                    <a:bodyPr anchor="t" rtlCol="false"/>
                    <a:lstStyle/>
                    <a:p>
                      <a:pPr algn="l"/>
                      <a:r>
                        <a:rPr lang="es-ES" sz="1100" b="false" i="false">
                          <a:solidFill>
                            <a:srgbClr val="1F2933"/>
                          </a:solidFill>
                          <a:latin typeface="Segoe UI"/>
                        </a:rPr>
                        <a:t>motivo_rechazo</a:t>
                      </a:r>
                      <a:endParaRPr sz="1100" lang="es-ES"/>
                    </a:p>
                  </a:txBody>
                  <a:tcPr marL="76200" marR="76200" marT="38100" marB="381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cmpd="sng" algn="ctr" cap="flat" w="9525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1F3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l"/>
                      <a:r>
                        <a:rPr lang="es-ES" sz="1100" b="false" i="false">
                          <a:solidFill>
                            <a:srgbClr val="1F2933"/>
                          </a:solidFill>
                          <a:latin typeface="Segoe UI"/>
                        </a:rPr>
                        <a:t>String</a:t>
                      </a:r>
                      <a:endParaRPr sz="1100" lang="es-ES"/>
                    </a:p>
                  </a:txBody>
                  <a:tcPr marL="76200" marR="76200" marT="38100" marB="381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cmpd="sng" algn="ctr" cap="flat" w="9525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1F3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r"/>
                      <a:r>
                        <a:rPr lang="es-ES" sz="1100" b="false" i="false">
                          <a:solidFill>
                            <a:srgbClr val="1F2933"/>
                          </a:solidFill>
                          <a:latin typeface="Segoe UI"/>
                        </a:rPr>
                        <a:t> </a:t>
                      </a:r>
                      <a:endParaRPr sz="1100" lang="es-ES"/>
                    </a:p>
                  </a:txBody>
                  <a:tcPr marL="76200" marR="76200" marT="38100" marB="381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cmpd="sng" algn="ctr" cap="flat" w="9525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1F3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r"/>
                      <a:r>
                        <a:rPr lang="es-ES" sz="1100" b="false" i="false">
                          <a:solidFill>
                            <a:srgbClr val="1F2933"/>
                          </a:solidFill>
                          <a:latin typeface="Segoe UI"/>
                        </a:rPr>
                        <a:t> </a:t>
                      </a:r>
                      <a:endParaRPr sz="1100" lang="es-ES"/>
                    </a:p>
                  </a:txBody>
                  <a:tcPr marL="76200" marR="76200" marT="38100" marB="381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cmpd="sng" algn="ctr" cap="flat" w="9525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1F3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l"/>
                      <a:r>
                        <a:rPr lang="es-ES" sz="1100" b="false" i="false">
                          <a:solidFill>
                            <a:srgbClr val="1F2933"/>
                          </a:solidFill>
                          <a:latin typeface="Segoe UI"/>
                        </a:rPr>
                        <a:t>Clasificar línea</a:t>
                      </a:r>
                      <a:endParaRPr sz="1100" lang="es-ES"/>
                    </a:p>
                  </a:txBody>
                  <a:tcPr marL="76200" marR="76200" marT="38100" marB="381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cmpd="sng" algn="ctr" cap="flat" w="9525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1F3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8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8000" y="203200"/>
            <a:ext cx="11176000" cy="635000"/>
          </a:xfrm>
        </p:spPr>
        <p:txBody>
          <a:bodyPr lIns="0" rIns="0" wrap="square" anchor="ctr"/>
          <a:lstStyle/>
          <a:p>
            <a:pPr algn="l"/>
            <a:r>
              <a:rPr lang="es-ES" sz="2600" b="true" i="false">
                <a:solidFill>
                  <a:srgbClr val="243B53"/>
                </a:solidFill>
                <a:latin typeface="Segoe UI"/>
              </a:rPr>
              <a:t>Diccionario de datos (cont.)</a:t>
            </a:r>
            <a:endParaRPr sz="2600" lang="es-ES"/>
          </a:p>
        </p:txBody>
      </p:sp>
      <p:pic>
        <p:nvPicPr>
          <p:cNvPr name="Picture 3" id="3"/>
          <p:cNvPicPr>
            <a:picLocks noChangeAspect="true"/>
          </p:cNvPicPr>
          <p:nvPr/>
        </p:nvPicPr>
        <p:blipFill>
          <a:blip r:embed="rId2"/>
          <a:stretch>
            <a:fillRect/>
          </a:stretch>
        </p:blipFill>
        <p:spPr>
          <a:xfrm>
            <a:off x="10248900" y="5510084"/>
            <a:ext cx="1435100" cy="814516"/>
          </a:xfrm>
          <a:prstGeom prst="rect">
            <a:avLst/>
          </a:prstGeom>
        </p:spPr>
      </p:pic>
      <p:sp>
        <p:nvSpPr>
          <p:cNvPr name="AutoShape 4" id="4"/>
          <p:cNvSpPr/>
          <p:nvPr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243B53"/>
          </a:solidFill>
          <a:ln>
            <a:noFill/>
          </a:ln>
        </p:spPr>
      </p:sp>
      <p:pic>
        <p:nvPicPr>
          <p:cNvPr name="Picture 5" id="5"/>
          <p:cNvPicPr>
            <a:picLocks noChangeAspect="true"/>
          </p:cNvPicPr>
          <p:nvPr/>
        </p:nvPicPr>
        <p:blipFill>
          <a:blip r:embed="rId3"/>
          <a:stretch>
            <a:fillRect/>
          </a:stretch>
        </p:blipFill>
        <p:spPr>
          <a:xfrm>
            <a:off x="508000" y="6508750"/>
            <a:ext cx="177800" cy="100914"/>
          </a:xfrm>
          <a:prstGeom prst="rect">
            <a:avLst/>
          </a:prstGeom>
        </p:spPr>
      </p:pic>
      <p:sp>
        <p:nvSpPr>
          <p:cNvPr name="TextBox 6" id="6"/>
          <p:cNvSpPr txBox="true"/>
          <p:nvPr/>
        </p:nvSpPr>
        <p:spPr>
          <a:xfrm>
            <a:off x="749300" y="6451600"/>
            <a:ext cx="5080000" cy="228600"/>
          </a:xfrm>
          <a:prstGeom prst="rect">
            <a:avLst/>
          </a:prstGeom>
        </p:spPr>
        <p:txBody>
          <a:bodyPr anchor="ctr" rtlCol="false" wrap="square" lIns="0" rIns="0" tIns="25400" bIns="25400"/>
          <a:lstStyle/>
          <a:p>
            <a:pPr algn="l"/>
            <a:r>
              <a:rPr lang="es-ES" sz="750" b="false" i="false">
                <a:solidFill>
                  <a:srgbClr val="6B7785"/>
                </a:solidFill>
                <a:latin typeface="Segoe UI"/>
              </a:rPr>
              <a:t>Pentaho Live · IDC Studios</a:t>
            </a:r>
            <a:endParaRPr sz="750" lang="es-ES"/>
          </a:p>
        </p:txBody>
      </p:sp>
      <p:sp>
        <p:nvSpPr>
          <p:cNvPr name="TextBox 7" id="7"/>
          <p:cNvSpPr txBox="true"/>
          <p:nvPr/>
        </p:nvSpPr>
        <p:spPr>
          <a:xfrm>
            <a:off x="10160000" y="6451600"/>
            <a:ext cx="1524000" cy="228600"/>
          </a:xfrm>
          <a:prstGeom prst="rect">
            <a:avLst/>
          </a:prstGeom>
        </p:spPr>
        <p:txBody>
          <a:bodyPr anchor="ctr" rtlCol="false" wrap="square" lIns="0" rIns="0" tIns="25400" bIns="25400"/>
          <a:lstStyle/>
          <a:p>
            <a:pPr algn="r"/>
            <a:fld id="{CF79F93C-1FE4-4C38-9426-A4F5CBD081D5}" type="slidenum">
              <a:rPr lang="es-ES" sz="750">
                <a:solidFill>
                  <a:srgbClr val="6B7785"/>
                </a:solidFill>
                <a:latin typeface="Segoe UI"/>
              </a:rPr>
              <a:t>28</a:t>
            </a:fld>
            <a:endParaRPr sz="750" lang="es-ES"/>
          </a:p>
        </p:txBody>
      </p:sp>
      <p:sp>
        <p:nvSpPr>
          <p:cNvPr name="TextBox 8" id="8"/>
          <p:cNvSpPr txBox="true"/>
          <p:nvPr/>
        </p:nvSpPr>
        <p:spPr>
          <a:xfrm>
            <a:off x="508000" y="1016000"/>
            <a:ext cx="11176000" cy="254000"/>
          </a:xfrm>
          <a:prstGeom prst="rect">
            <a:avLst/>
          </a:prstGeom>
        </p:spPr>
        <p:txBody>
          <a:bodyPr anchor="t" rtlCol="false" wrap="square" lIns="0" rIns="0" tIns="25400" bIns="25400"/>
          <a:lstStyle/>
          <a:p>
            <a:pPr algn="l"/>
            <a:r>
              <a:rPr lang="es-ES" sz="1300" b="true" i="false">
                <a:solidFill>
                  <a:srgbClr val="243B53"/>
                </a:solidFill>
                <a:latin typeface="Segoe UI"/>
              </a:rPr>
              <a:t>Calcular importe</a:t>
            </a:r>
            <a:endParaRPr sz="1300" lang="es-ES"/>
          </a:p>
        </p:txBody>
      </p:sp>
      <p:graphicFrame>
        <p:nvGraphicFramePr>
          <p:cNvPr name="Table 9" id="9"/>
          <p:cNvGraphicFramePr>
            <a:graphicFrameLocks noGrp="true"/>
          </p:cNvGraphicFramePr>
          <p:nvPr/>
        </p:nvGraphicFramePr>
        <p:xfrm>
          <a:off x="508000" y="1295400"/>
          <a:ext cx="5702300" cy="3285744"/>
        </p:xfrm>
        <a:graphic>
          <a:graphicData uri="http://schemas.openxmlformats.org/drawingml/2006/table">
            <a:tbl>
              <a:tblPr/>
              <a:tblGrid>
                <a:gridCol w="1320800"/>
                <a:gridCol w="711200"/>
                <a:gridCol w="635000"/>
                <a:gridCol w="939800"/>
                <a:gridCol w="2095500"/>
              </a:tblGrid>
              <a:tr h="298704">
                <a:tc>
                  <a:txBody>
                    <a:bodyPr anchor="t" rtlCol="false"/>
                    <a:lstStyle/>
                    <a:p>
                      <a:pPr algn="l"/>
                      <a:r>
                        <a:rPr lang="es-ES" sz="1100" b="true" i="false">
                          <a:solidFill>
                            <a:srgbClr val="FFFFFF"/>
                          </a:solidFill>
                          <a:latin typeface="Segoe UI"/>
                        </a:rPr>
                        <a:t>Campo</a:t>
                      </a:r>
                      <a:endParaRPr sz="1100" lang="es-ES"/>
                    </a:p>
                  </a:txBody>
                  <a:tcPr marL="76200" marR="76200" marT="38100" marB="381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cmpd="sng" algn="ctr" cap="flat" w="9525">
                      <a:solidFill>
                        <a:srgbClr val="243B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3B53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l"/>
                      <a:r>
                        <a:rPr lang="es-ES" sz="1100" b="true" i="false">
                          <a:solidFill>
                            <a:srgbClr val="FFFFFF"/>
                          </a:solidFill>
                          <a:latin typeface="Segoe UI"/>
                        </a:rPr>
                        <a:t>Tipo</a:t>
                      </a:r>
                      <a:endParaRPr sz="1100" lang="es-ES"/>
                    </a:p>
                  </a:txBody>
                  <a:tcPr marL="76200" marR="76200" marT="38100" marB="381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cmpd="sng" algn="ctr" cap="flat" w="9525">
                      <a:solidFill>
                        <a:srgbClr val="243B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3B53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r"/>
                      <a:r>
                        <a:rPr lang="es-ES" sz="1100" b="true" i="false">
                          <a:solidFill>
                            <a:srgbClr val="FFFFFF"/>
                          </a:solidFill>
                          <a:latin typeface="Segoe UI"/>
                        </a:rPr>
                        <a:t>Largo</a:t>
                      </a:r>
                      <a:endParaRPr sz="1100" lang="es-ES"/>
                    </a:p>
                  </a:txBody>
                  <a:tcPr marL="76200" marR="76200" marT="38100" marB="381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cmpd="sng" algn="ctr" cap="flat" w="9525">
                      <a:solidFill>
                        <a:srgbClr val="243B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3B53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r"/>
                      <a:r>
                        <a:rPr lang="es-ES" sz="1100" b="true" i="false">
                          <a:solidFill>
                            <a:srgbClr val="FFFFFF"/>
                          </a:solidFill>
                          <a:latin typeface="Segoe UI"/>
                        </a:rPr>
                        <a:t>Precisión</a:t>
                      </a:r>
                      <a:endParaRPr sz="1100" lang="es-ES"/>
                    </a:p>
                  </a:txBody>
                  <a:tcPr marL="76200" marR="76200" marT="38100" marB="381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cmpd="sng" algn="ctr" cap="flat" w="9525">
                      <a:solidFill>
                        <a:srgbClr val="243B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3B53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l"/>
                      <a:r>
                        <a:rPr lang="es-ES" sz="1100" b="true" i="false">
                          <a:solidFill>
                            <a:srgbClr val="FFFFFF"/>
                          </a:solidFill>
                          <a:latin typeface="Segoe UI"/>
                        </a:rPr>
                        <a:t>Origen</a:t>
                      </a:r>
                      <a:endParaRPr sz="1100" lang="es-ES"/>
                    </a:p>
                  </a:txBody>
                  <a:tcPr marL="76200" marR="76200" marT="38100" marB="381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cmpd="sng" algn="ctr" cap="flat" w="9525">
                      <a:solidFill>
                        <a:srgbClr val="243B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3B53"/>
                    </a:solidFill>
                  </a:tcPr>
                </a:tc>
              </a:tr>
              <a:tr h="298704">
                <a:tc>
                  <a:txBody>
                    <a:bodyPr anchor="t" rtlCol="false"/>
                    <a:lstStyle/>
                    <a:p>
                      <a:pPr algn="l"/>
                      <a:r>
                        <a:rPr lang="es-ES" sz="1100" b="false" i="false">
                          <a:solidFill>
                            <a:srgbClr val="1F2933"/>
                          </a:solidFill>
                          <a:latin typeface="Segoe UI"/>
                        </a:rPr>
                        <a:t>id_ticket</a:t>
                      </a:r>
                      <a:endParaRPr sz="1100" lang="es-ES"/>
                    </a:p>
                  </a:txBody>
                  <a:tcPr marL="76200" marR="76200" marT="38100" marB="381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cmpd="sng" algn="ctr" cap="flat" w="9525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l"/>
                      <a:r>
                        <a:rPr lang="es-ES" sz="1100" b="false" i="false">
                          <a:solidFill>
                            <a:srgbClr val="1F2933"/>
                          </a:solidFill>
                          <a:latin typeface="Segoe UI"/>
                        </a:rPr>
                        <a:t>String</a:t>
                      </a:r>
                      <a:endParaRPr sz="1100" lang="es-ES"/>
                    </a:p>
                  </a:txBody>
                  <a:tcPr marL="76200" marR="76200" marT="38100" marB="381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cmpd="sng" algn="ctr" cap="flat" w="9525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r"/>
                      <a:r>
                        <a:rPr lang="es-ES" sz="1100" b="false" i="false">
                          <a:solidFill>
                            <a:srgbClr val="1F2933"/>
                          </a:solidFill>
                          <a:latin typeface="Segoe UI"/>
                        </a:rPr>
                        <a:t> </a:t>
                      </a:r>
                      <a:endParaRPr sz="1100" lang="es-ES"/>
                    </a:p>
                  </a:txBody>
                  <a:tcPr marL="76200" marR="76200" marT="38100" marB="381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cmpd="sng" algn="ctr" cap="flat" w="9525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r"/>
                      <a:r>
                        <a:rPr lang="es-ES" sz="1100" b="false" i="false">
                          <a:solidFill>
                            <a:srgbClr val="1F2933"/>
                          </a:solidFill>
                          <a:latin typeface="Segoe UI"/>
                        </a:rPr>
                        <a:t> </a:t>
                      </a:r>
                      <a:endParaRPr sz="1100" lang="es-ES"/>
                    </a:p>
                  </a:txBody>
                  <a:tcPr marL="76200" marR="76200" marT="38100" marB="381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cmpd="sng" algn="ctr" cap="flat" w="9525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l"/>
                      <a:r>
                        <a:rPr lang="es-ES" sz="1100" b="false" i="false">
                          <a:solidFill>
                            <a:srgbClr val="1F2933"/>
                          </a:solidFill>
                          <a:latin typeface="Segoe UI"/>
                        </a:rPr>
                        <a:t>Leer ventas (CSV)</a:t>
                      </a:r>
                      <a:endParaRPr sz="1100" lang="es-ES"/>
                    </a:p>
                  </a:txBody>
                  <a:tcPr marL="76200" marR="76200" marT="38100" marB="381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cmpd="sng" algn="ctr" cap="flat" w="9525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8704">
                <a:tc>
                  <a:txBody>
                    <a:bodyPr anchor="t" rtlCol="false"/>
                    <a:lstStyle/>
                    <a:p>
                      <a:pPr algn="l"/>
                      <a:r>
                        <a:rPr lang="es-ES" sz="1100" b="false" i="false">
                          <a:solidFill>
                            <a:srgbClr val="1F2933"/>
                          </a:solidFill>
                          <a:latin typeface="Segoe UI"/>
                        </a:rPr>
                        <a:t>linea</a:t>
                      </a:r>
                      <a:endParaRPr sz="1100" lang="es-ES"/>
                    </a:p>
                  </a:txBody>
                  <a:tcPr marL="76200" marR="76200" marT="38100" marB="381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cmpd="sng" algn="ctr" cap="flat" w="9525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1F3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l"/>
                      <a:r>
                        <a:rPr lang="es-ES" sz="1100" b="false" i="false">
                          <a:solidFill>
                            <a:srgbClr val="1F2933"/>
                          </a:solidFill>
                          <a:latin typeface="Segoe UI"/>
                        </a:rPr>
                        <a:t>Integer</a:t>
                      </a:r>
                      <a:endParaRPr sz="1100" lang="es-ES"/>
                    </a:p>
                  </a:txBody>
                  <a:tcPr marL="76200" marR="76200" marT="38100" marB="381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cmpd="sng" algn="ctr" cap="flat" w="9525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1F3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r"/>
                      <a:r>
                        <a:rPr lang="es-ES" sz="1100" b="false" i="false">
                          <a:solidFill>
                            <a:srgbClr val="1F2933"/>
                          </a:solidFill>
                          <a:latin typeface="Segoe UI"/>
                        </a:rPr>
                        <a:t> </a:t>
                      </a:r>
                      <a:endParaRPr sz="1100" lang="es-ES"/>
                    </a:p>
                  </a:txBody>
                  <a:tcPr marL="76200" marR="76200" marT="38100" marB="381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cmpd="sng" algn="ctr" cap="flat" w="9525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1F3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r"/>
                      <a:r>
                        <a:rPr lang="es-ES" sz="1100" b="false" i="false">
                          <a:solidFill>
                            <a:srgbClr val="1F2933"/>
                          </a:solidFill>
                          <a:latin typeface="Segoe UI"/>
                        </a:rPr>
                        <a:t>0</a:t>
                      </a:r>
                      <a:endParaRPr sz="1100" lang="es-ES"/>
                    </a:p>
                  </a:txBody>
                  <a:tcPr marL="76200" marR="76200" marT="38100" marB="381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cmpd="sng" algn="ctr" cap="flat" w="9525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1F3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l"/>
                      <a:r>
                        <a:rPr lang="es-ES" sz="1100" b="false" i="false">
                          <a:solidFill>
                            <a:srgbClr val="1F2933"/>
                          </a:solidFill>
                          <a:latin typeface="Segoe UI"/>
                        </a:rPr>
                        <a:t>Leer ventas (CSV)</a:t>
                      </a:r>
                      <a:endParaRPr sz="1100" lang="es-ES"/>
                    </a:p>
                  </a:txBody>
                  <a:tcPr marL="76200" marR="76200" marT="38100" marB="381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cmpd="sng" algn="ctr" cap="flat" w="9525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1F3"/>
                    </a:solidFill>
                  </a:tcPr>
                </a:tc>
              </a:tr>
              <a:tr h="298704">
                <a:tc>
                  <a:txBody>
                    <a:bodyPr anchor="t" rtlCol="false"/>
                    <a:lstStyle/>
                    <a:p>
                      <a:pPr algn="l"/>
                      <a:r>
                        <a:rPr lang="es-ES" sz="1100" b="false" i="false">
                          <a:solidFill>
                            <a:srgbClr val="1F2933"/>
                          </a:solidFill>
                          <a:latin typeface="Segoe UI"/>
                        </a:rPr>
                        <a:t>fecha</a:t>
                      </a:r>
                      <a:endParaRPr sz="1100" lang="es-ES"/>
                    </a:p>
                  </a:txBody>
                  <a:tcPr marL="76200" marR="76200" marT="38100" marB="381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cmpd="sng" algn="ctr" cap="flat" w="9525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l"/>
                      <a:r>
                        <a:rPr lang="es-ES" sz="1100" b="false" i="false">
                          <a:solidFill>
                            <a:srgbClr val="1F2933"/>
                          </a:solidFill>
                          <a:latin typeface="Segoe UI"/>
                        </a:rPr>
                        <a:t>String</a:t>
                      </a:r>
                      <a:endParaRPr sz="1100" lang="es-ES"/>
                    </a:p>
                  </a:txBody>
                  <a:tcPr marL="76200" marR="76200" marT="38100" marB="381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cmpd="sng" algn="ctr" cap="flat" w="9525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r"/>
                      <a:r>
                        <a:rPr lang="es-ES" sz="1100" b="false" i="false">
                          <a:solidFill>
                            <a:srgbClr val="1F2933"/>
                          </a:solidFill>
                          <a:latin typeface="Segoe UI"/>
                        </a:rPr>
                        <a:t> </a:t>
                      </a:r>
                      <a:endParaRPr sz="1100" lang="es-ES"/>
                    </a:p>
                  </a:txBody>
                  <a:tcPr marL="76200" marR="76200" marT="38100" marB="381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cmpd="sng" algn="ctr" cap="flat" w="9525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r"/>
                      <a:r>
                        <a:rPr lang="es-ES" sz="1100" b="false" i="false">
                          <a:solidFill>
                            <a:srgbClr val="1F2933"/>
                          </a:solidFill>
                          <a:latin typeface="Segoe UI"/>
                        </a:rPr>
                        <a:t> </a:t>
                      </a:r>
                      <a:endParaRPr sz="1100" lang="es-ES"/>
                    </a:p>
                  </a:txBody>
                  <a:tcPr marL="76200" marR="76200" marT="38100" marB="381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cmpd="sng" algn="ctr" cap="flat" w="9525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l"/>
                      <a:r>
                        <a:rPr lang="es-ES" sz="1100" b="false" i="false">
                          <a:solidFill>
                            <a:srgbClr val="1F2933"/>
                          </a:solidFill>
                          <a:latin typeface="Segoe UI"/>
                        </a:rPr>
                        <a:t>Leer ventas (CSV)</a:t>
                      </a:r>
                      <a:endParaRPr sz="1100" lang="es-ES"/>
                    </a:p>
                  </a:txBody>
                  <a:tcPr marL="76200" marR="76200" marT="38100" marB="381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cmpd="sng" algn="ctr" cap="flat" w="9525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8704">
                <a:tc>
                  <a:txBody>
                    <a:bodyPr anchor="t" rtlCol="false"/>
                    <a:lstStyle/>
                    <a:p>
                      <a:pPr algn="l"/>
                      <a:r>
                        <a:rPr lang="es-ES" sz="1100" b="false" i="false">
                          <a:solidFill>
                            <a:srgbClr val="1F2933"/>
                          </a:solidFill>
                          <a:latin typeface="Segoe UI"/>
                        </a:rPr>
                        <a:t>id_tienda</a:t>
                      </a:r>
                      <a:endParaRPr sz="1100" lang="es-ES"/>
                    </a:p>
                  </a:txBody>
                  <a:tcPr marL="76200" marR="76200" marT="38100" marB="381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cmpd="sng" algn="ctr" cap="flat" w="9525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1F3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l"/>
                      <a:r>
                        <a:rPr lang="es-ES" sz="1100" b="false" i="false">
                          <a:solidFill>
                            <a:srgbClr val="1F2933"/>
                          </a:solidFill>
                          <a:latin typeface="Segoe UI"/>
                        </a:rPr>
                        <a:t>String</a:t>
                      </a:r>
                      <a:endParaRPr sz="1100" lang="es-ES"/>
                    </a:p>
                  </a:txBody>
                  <a:tcPr marL="76200" marR="76200" marT="38100" marB="381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cmpd="sng" algn="ctr" cap="flat" w="9525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1F3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r"/>
                      <a:r>
                        <a:rPr lang="es-ES" sz="1100" b="false" i="false">
                          <a:solidFill>
                            <a:srgbClr val="1F2933"/>
                          </a:solidFill>
                          <a:latin typeface="Segoe UI"/>
                        </a:rPr>
                        <a:t> </a:t>
                      </a:r>
                      <a:endParaRPr sz="1100" lang="es-ES"/>
                    </a:p>
                  </a:txBody>
                  <a:tcPr marL="76200" marR="76200" marT="38100" marB="381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cmpd="sng" algn="ctr" cap="flat" w="9525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1F3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r"/>
                      <a:r>
                        <a:rPr lang="es-ES" sz="1100" b="false" i="false">
                          <a:solidFill>
                            <a:srgbClr val="1F2933"/>
                          </a:solidFill>
                          <a:latin typeface="Segoe UI"/>
                        </a:rPr>
                        <a:t> </a:t>
                      </a:r>
                      <a:endParaRPr sz="1100" lang="es-ES"/>
                    </a:p>
                  </a:txBody>
                  <a:tcPr marL="76200" marR="76200" marT="38100" marB="381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cmpd="sng" algn="ctr" cap="flat" w="9525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1F3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l"/>
                      <a:r>
                        <a:rPr lang="es-ES" sz="1100" b="false" i="false">
                          <a:solidFill>
                            <a:srgbClr val="1F2933"/>
                          </a:solidFill>
                          <a:latin typeface="Segoe UI"/>
                        </a:rPr>
                        <a:t>Leer ventas (CSV)</a:t>
                      </a:r>
                      <a:endParaRPr sz="1100" lang="es-ES"/>
                    </a:p>
                  </a:txBody>
                  <a:tcPr marL="76200" marR="76200" marT="38100" marB="381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cmpd="sng" algn="ctr" cap="flat" w="9525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1F3"/>
                    </a:solidFill>
                  </a:tcPr>
                </a:tc>
              </a:tr>
              <a:tr h="298704">
                <a:tc>
                  <a:txBody>
                    <a:bodyPr anchor="t" rtlCol="false"/>
                    <a:lstStyle/>
                    <a:p>
                      <a:pPr algn="l"/>
                      <a:r>
                        <a:rPr lang="es-ES" sz="1100" b="false" i="false">
                          <a:solidFill>
                            <a:srgbClr val="1F2933"/>
                          </a:solidFill>
                          <a:latin typeface="Segoe UI"/>
                        </a:rPr>
                        <a:t>codigo_producto</a:t>
                      </a:r>
                      <a:endParaRPr sz="1100" lang="es-ES"/>
                    </a:p>
                  </a:txBody>
                  <a:tcPr marL="76200" marR="76200" marT="38100" marB="381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cmpd="sng" algn="ctr" cap="flat" w="9525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l"/>
                      <a:r>
                        <a:rPr lang="es-ES" sz="1100" b="false" i="false">
                          <a:solidFill>
                            <a:srgbClr val="1F2933"/>
                          </a:solidFill>
                          <a:latin typeface="Segoe UI"/>
                        </a:rPr>
                        <a:t>String</a:t>
                      </a:r>
                      <a:endParaRPr sz="1100" lang="es-ES"/>
                    </a:p>
                  </a:txBody>
                  <a:tcPr marL="76200" marR="76200" marT="38100" marB="381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cmpd="sng" algn="ctr" cap="flat" w="9525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r"/>
                      <a:r>
                        <a:rPr lang="es-ES" sz="1100" b="false" i="false">
                          <a:solidFill>
                            <a:srgbClr val="1F2933"/>
                          </a:solidFill>
                          <a:latin typeface="Segoe UI"/>
                        </a:rPr>
                        <a:t> </a:t>
                      </a:r>
                      <a:endParaRPr sz="1100" lang="es-ES"/>
                    </a:p>
                  </a:txBody>
                  <a:tcPr marL="76200" marR="76200" marT="38100" marB="381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cmpd="sng" algn="ctr" cap="flat" w="9525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r"/>
                      <a:r>
                        <a:rPr lang="es-ES" sz="1100" b="false" i="false">
                          <a:solidFill>
                            <a:srgbClr val="1F2933"/>
                          </a:solidFill>
                          <a:latin typeface="Segoe UI"/>
                        </a:rPr>
                        <a:t> </a:t>
                      </a:r>
                      <a:endParaRPr sz="1100" lang="es-ES"/>
                    </a:p>
                  </a:txBody>
                  <a:tcPr marL="76200" marR="76200" marT="38100" marB="381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cmpd="sng" algn="ctr" cap="flat" w="9525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l"/>
                      <a:r>
                        <a:rPr lang="es-ES" sz="1100" b="false" i="false">
                          <a:solidFill>
                            <a:srgbClr val="1F2933"/>
                          </a:solidFill>
                          <a:latin typeface="Segoe UI"/>
                        </a:rPr>
                        <a:t>Leer ventas (CSV)</a:t>
                      </a:r>
                      <a:endParaRPr sz="1100" lang="es-ES"/>
                    </a:p>
                  </a:txBody>
                  <a:tcPr marL="76200" marR="76200" marT="38100" marB="381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cmpd="sng" algn="ctr" cap="flat" w="9525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8704">
                <a:tc>
                  <a:txBody>
                    <a:bodyPr anchor="t" rtlCol="false"/>
                    <a:lstStyle/>
                    <a:p>
                      <a:pPr algn="l"/>
                      <a:r>
                        <a:rPr lang="es-ES" sz="1100" b="false" i="false">
                          <a:solidFill>
                            <a:srgbClr val="1F2933"/>
                          </a:solidFill>
                          <a:latin typeface="Segoe UI"/>
                        </a:rPr>
                        <a:t>cantidad</a:t>
                      </a:r>
                      <a:endParaRPr sz="1100" lang="es-ES"/>
                    </a:p>
                  </a:txBody>
                  <a:tcPr marL="76200" marR="76200" marT="38100" marB="381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cmpd="sng" algn="ctr" cap="flat" w="9525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1F3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l"/>
                      <a:r>
                        <a:rPr lang="es-ES" sz="1100" b="false" i="false">
                          <a:solidFill>
                            <a:srgbClr val="1F2933"/>
                          </a:solidFill>
                          <a:latin typeface="Segoe UI"/>
                        </a:rPr>
                        <a:t>Integer</a:t>
                      </a:r>
                      <a:endParaRPr sz="1100" lang="es-ES"/>
                    </a:p>
                  </a:txBody>
                  <a:tcPr marL="76200" marR="76200" marT="38100" marB="381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cmpd="sng" algn="ctr" cap="flat" w="9525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1F3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r"/>
                      <a:r>
                        <a:rPr lang="es-ES" sz="1100" b="false" i="false">
                          <a:solidFill>
                            <a:srgbClr val="1F2933"/>
                          </a:solidFill>
                          <a:latin typeface="Segoe UI"/>
                        </a:rPr>
                        <a:t> </a:t>
                      </a:r>
                      <a:endParaRPr sz="1100" lang="es-ES"/>
                    </a:p>
                  </a:txBody>
                  <a:tcPr marL="76200" marR="76200" marT="38100" marB="381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cmpd="sng" algn="ctr" cap="flat" w="9525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1F3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r"/>
                      <a:r>
                        <a:rPr lang="es-ES" sz="1100" b="false" i="false">
                          <a:solidFill>
                            <a:srgbClr val="1F2933"/>
                          </a:solidFill>
                          <a:latin typeface="Segoe UI"/>
                        </a:rPr>
                        <a:t>0</a:t>
                      </a:r>
                      <a:endParaRPr sz="1100" lang="es-ES"/>
                    </a:p>
                  </a:txBody>
                  <a:tcPr marL="76200" marR="76200" marT="38100" marB="381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cmpd="sng" algn="ctr" cap="flat" w="9525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1F3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l"/>
                      <a:r>
                        <a:rPr lang="es-ES" sz="1100" b="false" i="false">
                          <a:solidFill>
                            <a:srgbClr val="1F2933"/>
                          </a:solidFill>
                          <a:latin typeface="Segoe UI"/>
                        </a:rPr>
                        <a:t>Leer ventas (CSV)</a:t>
                      </a:r>
                      <a:endParaRPr sz="1100" lang="es-ES"/>
                    </a:p>
                  </a:txBody>
                  <a:tcPr marL="76200" marR="76200" marT="38100" marB="381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cmpd="sng" algn="ctr" cap="flat" w="9525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1F3"/>
                    </a:solidFill>
                  </a:tcPr>
                </a:tc>
              </a:tr>
              <a:tr h="298704">
                <a:tc>
                  <a:txBody>
                    <a:bodyPr anchor="t" rtlCol="false"/>
                    <a:lstStyle/>
                    <a:p>
                      <a:pPr algn="l"/>
                      <a:r>
                        <a:rPr lang="es-ES" sz="1100" b="false" i="false">
                          <a:solidFill>
                            <a:srgbClr val="1F2933"/>
                          </a:solidFill>
                          <a:latin typeface="Segoe UI"/>
                        </a:rPr>
                        <a:t>precio_unitario</a:t>
                      </a:r>
                      <a:endParaRPr sz="1100" lang="es-ES"/>
                    </a:p>
                  </a:txBody>
                  <a:tcPr marL="76200" marR="76200" marT="38100" marB="381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cmpd="sng" algn="ctr" cap="flat" w="9525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l"/>
                      <a:r>
                        <a:rPr lang="es-ES" sz="1100" b="false" i="false">
                          <a:solidFill>
                            <a:srgbClr val="1F2933"/>
                          </a:solidFill>
                          <a:latin typeface="Segoe UI"/>
                        </a:rPr>
                        <a:t>Number</a:t>
                      </a:r>
                      <a:endParaRPr sz="1100" lang="es-ES"/>
                    </a:p>
                  </a:txBody>
                  <a:tcPr marL="76200" marR="76200" marT="38100" marB="381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cmpd="sng" algn="ctr" cap="flat" w="9525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r"/>
                      <a:r>
                        <a:rPr lang="es-ES" sz="1100" b="false" i="false">
                          <a:solidFill>
                            <a:srgbClr val="1F2933"/>
                          </a:solidFill>
                          <a:latin typeface="Segoe UI"/>
                        </a:rPr>
                        <a:t> </a:t>
                      </a:r>
                      <a:endParaRPr sz="1100" lang="es-ES"/>
                    </a:p>
                  </a:txBody>
                  <a:tcPr marL="76200" marR="76200" marT="38100" marB="381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cmpd="sng" algn="ctr" cap="flat" w="9525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r"/>
                      <a:r>
                        <a:rPr lang="es-ES" sz="1100" b="false" i="false">
                          <a:solidFill>
                            <a:srgbClr val="1F2933"/>
                          </a:solidFill>
                          <a:latin typeface="Segoe UI"/>
                        </a:rPr>
                        <a:t> </a:t>
                      </a:r>
                      <a:endParaRPr sz="1100" lang="es-ES"/>
                    </a:p>
                  </a:txBody>
                  <a:tcPr marL="76200" marR="76200" marT="38100" marB="381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cmpd="sng" algn="ctr" cap="flat" w="9525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l"/>
                      <a:r>
                        <a:rPr lang="es-ES" sz="1100" b="false" i="false">
                          <a:solidFill>
                            <a:srgbClr val="1F2933"/>
                          </a:solidFill>
                          <a:latin typeface="Segoe UI"/>
                        </a:rPr>
                        <a:t>Convertir precio a número</a:t>
                      </a:r>
                      <a:endParaRPr sz="1100" lang="es-ES"/>
                    </a:p>
                  </a:txBody>
                  <a:tcPr marL="76200" marR="76200" marT="38100" marB="381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cmpd="sng" algn="ctr" cap="flat" w="9525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8704">
                <a:tc>
                  <a:txBody>
                    <a:bodyPr anchor="t" rtlCol="false"/>
                    <a:lstStyle/>
                    <a:p>
                      <a:pPr algn="l"/>
                      <a:r>
                        <a:rPr lang="es-ES" sz="1100" b="false" i="false">
                          <a:solidFill>
                            <a:srgbClr val="1F2933"/>
                          </a:solidFill>
                          <a:latin typeface="Segoe UI"/>
                        </a:rPr>
                        <a:t>metodo_pago</a:t>
                      </a:r>
                      <a:endParaRPr sz="1100" lang="es-ES"/>
                    </a:p>
                  </a:txBody>
                  <a:tcPr marL="76200" marR="76200" marT="38100" marB="381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cmpd="sng" algn="ctr" cap="flat" w="9525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1F3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l"/>
                      <a:r>
                        <a:rPr lang="es-ES" sz="1100" b="false" i="false">
                          <a:solidFill>
                            <a:srgbClr val="1F2933"/>
                          </a:solidFill>
                          <a:latin typeface="Segoe UI"/>
                        </a:rPr>
                        <a:t>String</a:t>
                      </a:r>
                      <a:endParaRPr sz="1100" lang="es-ES"/>
                    </a:p>
                  </a:txBody>
                  <a:tcPr marL="76200" marR="76200" marT="38100" marB="381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cmpd="sng" algn="ctr" cap="flat" w="9525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1F3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r"/>
                      <a:r>
                        <a:rPr lang="es-ES" sz="1100" b="false" i="false">
                          <a:solidFill>
                            <a:srgbClr val="1F2933"/>
                          </a:solidFill>
                          <a:latin typeface="Segoe UI"/>
                        </a:rPr>
                        <a:t> </a:t>
                      </a:r>
                      <a:endParaRPr sz="1100" lang="es-ES"/>
                    </a:p>
                  </a:txBody>
                  <a:tcPr marL="76200" marR="76200" marT="38100" marB="381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cmpd="sng" algn="ctr" cap="flat" w="9525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1F3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r"/>
                      <a:r>
                        <a:rPr lang="es-ES" sz="1100" b="false" i="false">
                          <a:solidFill>
                            <a:srgbClr val="1F2933"/>
                          </a:solidFill>
                          <a:latin typeface="Segoe UI"/>
                        </a:rPr>
                        <a:t> </a:t>
                      </a:r>
                      <a:endParaRPr sz="1100" lang="es-ES"/>
                    </a:p>
                  </a:txBody>
                  <a:tcPr marL="76200" marR="76200" marT="38100" marB="381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cmpd="sng" algn="ctr" cap="flat" w="9525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1F3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l"/>
                      <a:r>
                        <a:rPr lang="es-ES" sz="1100" b="false" i="false">
                          <a:solidFill>
                            <a:srgbClr val="1F2933"/>
                          </a:solidFill>
                          <a:latin typeface="Segoe UI"/>
                        </a:rPr>
                        <a:t>Leer ventas (CSV)</a:t>
                      </a:r>
                      <a:endParaRPr sz="1100" lang="es-ES"/>
                    </a:p>
                  </a:txBody>
                  <a:tcPr marL="76200" marR="76200" marT="38100" marB="381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cmpd="sng" algn="ctr" cap="flat" w="9525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1F3"/>
                    </a:solidFill>
                  </a:tcPr>
                </a:tc>
              </a:tr>
              <a:tr h="298704">
                <a:tc>
                  <a:txBody>
                    <a:bodyPr anchor="t" rtlCol="false"/>
                    <a:lstStyle/>
                    <a:p>
                      <a:pPr algn="l"/>
                      <a:r>
                        <a:rPr lang="es-ES" sz="1100" b="false" i="false">
                          <a:solidFill>
                            <a:srgbClr val="1F2933"/>
                          </a:solidFill>
                          <a:latin typeface="Segoe UI"/>
                        </a:rPr>
                        <a:t>sk_tienda</a:t>
                      </a:r>
                      <a:endParaRPr sz="1100" lang="es-ES"/>
                    </a:p>
                  </a:txBody>
                  <a:tcPr marL="76200" marR="76200" marT="38100" marB="381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cmpd="sng" algn="ctr" cap="flat" w="9525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l"/>
                      <a:r>
                        <a:rPr lang="es-ES" sz="1100" b="false" i="false">
                          <a:solidFill>
                            <a:srgbClr val="1F2933"/>
                          </a:solidFill>
                          <a:latin typeface="Segoe UI"/>
                        </a:rPr>
                        <a:t>Integer</a:t>
                      </a:r>
                      <a:endParaRPr sz="1100" lang="es-ES"/>
                    </a:p>
                  </a:txBody>
                  <a:tcPr marL="76200" marR="76200" marT="38100" marB="381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cmpd="sng" algn="ctr" cap="flat" w="9525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r"/>
                      <a:r>
                        <a:rPr lang="es-ES" sz="1100" b="false" i="false">
                          <a:solidFill>
                            <a:srgbClr val="1F2933"/>
                          </a:solidFill>
                          <a:latin typeface="Segoe UI"/>
                        </a:rPr>
                        <a:t>9</a:t>
                      </a:r>
                      <a:endParaRPr sz="1100" lang="es-ES"/>
                    </a:p>
                  </a:txBody>
                  <a:tcPr marL="76200" marR="76200" marT="38100" marB="381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cmpd="sng" algn="ctr" cap="flat" w="9525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r"/>
                      <a:r>
                        <a:rPr lang="es-ES" sz="1100" b="false" i="false">
                          <a:solidFill>
                            <a:srgbClr val="1F2933"/>
                          </a:solidFill>
                          <a:latin typeface="Segoe UI"/>
                        </a:rPr>
                        <a:t>0</a:t>
                      </a:r>
                      <a:endParaRPr sz="1100" lang="es-ES"/>
                    </a:p>
                  </a:txBody>
                  <a:tcPr marL="76200" marR="76200" marT="38100" marB="381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cmpd="sng" algn="ctr" cap="flat" w="9525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l"/>
                      <a:r>
                        <a:rPr lang="es-ES" sz="1100" b="false" i="false">
                          <a:solidFill>
                            <a:srgbClr val="1F2933"/>
                          </a:solidFill>
                          <a:latin typeface="Segoe UI"/>
                        </a:rPr>
                        <a:t>Buscar tienda</a:t>
                      </a:r>
                      <a:endParaRPr sz="1100" lang="es-ES"/>
                    </a:p>
                  </a:txBody>
                  <a:tcPr marL="76200" marR="76200" marT="38100" marB="381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cmpd="sng" algn="ctr" cap="flat" w="9525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8704">
                <a:tc>
                  <a:txBody>
                    <a:bodyPr anchor="t" rtlCol="false"/>
                    <a:lstStyle/>
                    <a:p>
                      <a:pPr algn="l"/>
                      <a:r>
                        <a:rPr lang="es-ES" sz="1100" b="false" i="false">
                          <a:solidFill>
                            <a:srgbClr val="1F2933"/>
                          </a:solidFill>
                          <a:latin typeface="Segoe UI"/>
                        </a:rPr>
                        <a:t>sk_producto</a:t>
                      </a:r>
                      <a:endParaRPr sz="1100" lang="es-ES"/>
                    </a:p>
                  </a:txBody>
                  <a:tcPr marL="76200" marR="76200" marT="38100" marB="381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cmpd="sng" algn="ctr" cap="flat" w="9525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1F3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l"/>
                      <a:r>
                        <a:rPr lang="es-ES" sz="1100" b="false" i="false">
                          <a:solidFill>
                            <a:srgbClr val="1F2933"/>
                          </a:solidFill>
                          <a:latin typeface="Segoe UI"/>
                        </a:rPr>
                        <a:t>Integer</a:t>
                      </a:r>
                      <a:endParaRPr sz="1100" lang="es-ES"/>
                    </a:p>
                  </a:txBody>
                  <a:tcPr marL="76200" marR="76200" marT="38100" marB="381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cmpd="sng" algn="ctr" cap="flat" w="9525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1F3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r"/>
                      <a:r>
                        <a:rPr lang="es-ES" sz="1100" b="false" i="false">
                          <a:solidFill>
                            <a:srgbClr val="1F2933"/>
                          </a:solidFill>
                          <a:latin typeface="Segoe UI"/>
                        </a:rPr>
                        <a:t>9</a:t>
                      </a:r>
                      <a:endParaRPr sz="1100" lang="es-ES"/>
                    </a:p>
                  </a:txBody>
                  <a:tcPr marL="76200" marR="76200" marT="38100" marB="381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cmpd="sng" algn="ctr" cap="flat" w="9525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1F3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r"/>
                      <a:r>
                        <a:rPr lang="es-ES" sz="1100" b="false" i="false">
                          <a:solidFill>
                            <a:srgbClr val="1F2933"/>
                          </a:solidFill>
                          <a:latin typeface="Segoe UI"/>
                        </a:rPr>
                        <a:t>0</a:t>
                      </a:r>
                      <a:endParaRPr sz="1100" lang="es-ES"/>
                    </a:p>
                  </a:txBody>
                  <a:tcPr marL="76200" marR="76200" marT="38100" marB="381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cmpd="sng" algn="ctr" cap="flat" w="9525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1F3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l"/>
                      <a:r>
                        <a:rPr lang="es-ES" sz="1100" b="false" i="false">
                          <a:solidFill>
                            <a:srgbClr val="1F2933"/>
                          </a:solidFill>
                          <a:latin typeface="Segoe UI"/>
                        </a:rPr>
                        <a:t>Buscar producto</a:t>
                      </a:r>
                      <a:endParaRPr sz="1100" lang="es-ES"/>
                    </a:p>
                  </a:txBody>
                  <a:tcPr marL="76200" marR="76200" marT="38100" marB="381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cmpd="sng" algn="ctr" cap="flat" w="9525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1F3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9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8000" y="203200"/>
            <a:ext cx="11176000" cy="635000"/>
          </a:xfrm>
        </p:spPr>
        <p:txBody>
          <a:bodyPr lIns="0" rIns="0" wrap="square" anchor="ctr"/>
          <a:lstStyle/>
          <a:p>
            <a:pPr algn="l"/>
            <a:r>
              <a:rPr lang="es-ES" sz="2600" b="true" i="false">
                <a:solidFill>
                  <a:srgbClr val="243B53"/>
                </a:solidFill>
                <a:latin typeface="Segoe UI"/>
              </a:rPr>
              <a:t>Diccionario de datos (cont.)</a:t>
            </a:r>
            <a:endParaRPr sz="2600" lang="es-ES"/>
          </a:p>
        </p:txBody>
      </p:sp>
      <p:pic>
        <p:nvPicPr>
          <p:cNvPr name="Picture 3" id="3"/>
          <p:cNvPicPr>
            <a:picLocks noChangeAspect="true"/>
          </p:cNvPicPr>
          <p:nvPr/>
        </p:nvPicPr>
        <p:blipFill>
          <a:blip r:embed="rId2"/>
          <a:stretch>
            <a:fillRect/>
          </a:stretch>
        </p:blipFill>
        <p:spPr>
          <a:xfrm>
            <a:off x="10248900" y="5510084"/>
            <a:ext cx="1435100" cy="814516"/>
          </a:xfrm>
          <a:prstGeom prst="rect">
            <a:avLst/>
          </a:prstGeom>
        </p:spPr>
      </p:pic>
      <p:sp>
        <p:nvSpPr>
          <p:cNvPr name="AutoShape 4" id="4"/>
          <p:cNvSpPr/>
          <p:nvPr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243B53"/>
          </a:solidFill>
          <a:ln>
            <a:noFill/>
          </a:ln>
        </p:spPr>
      </p:sp>
      <p:pic>
        <p:nvPicPr>
          <p:cNvPr name="Picture 5" id="5"/>
          <p:cNvPicPr>
            <a:picLocks noChangeAspect="true"/>
          </p:cNvPicPr>
          <p:nvPr/>
        </p:nvPicPr>
        <p:blipFill>
          <a:blip r:embed="rId3"/>
          <a:stretch>
            <a:fillRect/>
          </a:stretch>
        </p:blipFill>
        <p:spPr>
          <a:xfrm>
            <a:off x="508000" y="6508750"/>
            <a:ext cx="177800" cy="100914"/>
          </a:xfrm>
          <a:prstGeom prst="rect">
            <a:avLst/>
          </a:prstGeom>
        </p:spPr>
      </p:pic>
      <p:sp>
        <p:nvSpPr>
          <p:cNvPr name="TextBox 6" id="6"/>
          <p:cNvSpPr txBox="true"/>
          <p:nvPr/>
        </p:nvSpPr>
        <p:spPr>
          <a:xfrm>
            <a:off x="749300" y="6451600"/>
            <a:ext cx="5080000" cy="228600"/>
          </a:xfrm>
          <a:prstGeom prst="rect">
            <a:avLst/>
          </a:prstGeom>
        </p:spPr>
        <p:txBody>
          <a:bodyPr anchor="ctr" rtlCol="false" wrap="square" lIns="0" rIns="0" tIns="25400" bIns="25400"/>
          <a:lstStyle/>
          <a:p>
            <a:pPr algn="l"/>
            <a:r>
              <a:rPr lang="es-ES" sz="750" b="false" i="false">
                <a:solidFill>
                  <a:srgbClr val="6B7785"/>
                </a:solidFill>
                <a:latin typeface="Segoe UI"/>
              </a:rPr>
              <a:t>Pentaho Live · IDC Studios</a:t>
            </a:r>
            <a:endParaRPr sz="750" lang="es-ES"/>
          </a:p>
        </p:txBody>
      </p:sp>
      <p:sp>
        <p:nvSpPr>
          <p:cNvPr name="TextBox 7" id="7"/>
          <p:cNvSpPr txBox="true"/>
          <p:nvPr/>
        </p:nvSpPr>
        <p:spPr>
          <a:xfrm>
            <a:off x="10160000" y="6451600"/>
            <a:ext cx="1524000" cy="228600"/>
          </a:xfrm>
          <a:prstGeom prst="rect">
            <a:avLst/>
          </a:prstGeom>
        </p:spPr>
        <p:txBody>
          <a:bodyPr anchor="ctr" rtlCol="false" wrap="square" lIns="0" rIns="0" tIns="25400" bIns="25400"/>
          <a:lstStyle/>
          <a:p>
            <a:pPr algn="r"/>
            <a:fld id="{208CD7E1-8834-4694-93FD-9991A58177BB}" type="slidenum">
              <a:rPr lang="es-ES" sz="750">
                <a:solidFill>
                  <a:srgbClr val="6B7785"/>
                </a:solidFill>
                <a:latin typeface="Segoe UI"/>
              </a:rPr>
              <a:t>29</a:t>
            </a:fld>
            <a:endParaRPr sz="750" lang="es-ES"/>
          </a:p>
        </p:txBody>
      </p:sp>
      <p:sp>
        <p:nvSpPr>
          <p:cNvPr name="TextBox 8" id="8"/>
          <p:cNvSpPr txBox="true"/>
          <p:nvPr/>
        </p:nvSpPr>
        <p:spPr>
          <a:xfrm>
            <a:off x="508000" y="1016000"/>
            <a:ext cx="11176000" cy="254000"/>
          </a:xfrm>
          <a:prstGeom prst="rect">
            <a:avLst/>
          </a:prstGeom>
        </p:spPr>
        <p:txBody>
          <a:bodyPr anchor="t" rtlCol="false" wrap="square" lIns="0" rIns="0" tIns="25400" bIns="25400"/>
          <a:lstStyle/>
          <a:p>
            <a:pPr algn="l"/>
            <a:r>
              <a:rPr lang="es-ES" sz="1300" b="true" i="false">
                <a:solidFill>
                  <a:srgbClr val="243B53"/>
                </a:solidFill>
                <a:latin typeface="Segoe UI"/>
              </a:rPr>
              <a:t>Calcular importe (cont.)</a:t>
            </a:r>
            <a:endParaRPr sz="1300" lang="es-ES"/>
          </a:p>
        </p:txBody>
      </p:sp>
      <p:graphicFrame>
        <p:nvGraphicFramePr>
          <p:cNvPr name="Table 9" id="9"/>
          <p:cNvGraphicFramePr>
            <a:graphicFrameLocks noGrp="true"/>
          </p:cNvGraphicFramePr>
          <p:nvPr/>
        </p:nvGraphicFramePr>
        <p:xfrm>
          <a:off x="508000" y="1295400"/>
          <a:ext cx="5702300" cy="1194816"/>
        </p:xfrm>
        <a:graphic>
          <a:graphicData uri="http://schemas.openxmlformats.org/drawingml/2006/table">
            <a:tbl>
              <a:tblPr/>
              <a:tblGrid>
                <a:gridCol w="1320800"/>
                <a:gridCol w="711200"/>
                <a:gridCol w="635000"/>
                <a:gridCol w="939800"/>
                <a:gridCol w="2095500"/>
              </a:tblGrid>
              <a:tr h="298704">
                <a:tc>
                  <a:txBody>
                    <a:bodyPr anchor="t" rtlCol="false"/>
                    <a:lstStyle/>
                    <a:p>
                      <a:pPr algn="l"/>
                      <a:r>
                        <a:rPr lang="es-ES" sz="1100" b="true" i="false">
                          <a:solidFill>
                            <a:srgbClr val="FFFFFF"/>
                          </a:solidFill>
                          <a:latin typeface="Segoe UI"/>
                        </a:rPr>
                        <a:t>Campo</a:t>
                      </a:r>
                      <a:endParaRPr sz="1100" lang="es-ES"/>
                    </a:p>
                  </a:txBody>
                  <a:tcPr marL="76200" marR="76200" marT="38100" marB="381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cmpd="sng" algn="ctr" cap="flat" w="9525">
                      <a:solidFill>
                        <a:srgbClr val="243B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3B53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l"/>
                      <a:r>
                        <a:rPr lang="es-ES" sz="1100" b="true" i="false">
                          <a:solidFill>
                            <a:srgbClr val="FFFFFF"/>
                          </a:solidFill>
                          <a:latin typeface="Segoe UI"/>
                        </a:rPr>
                        <a:t>Tipo</a:t>
                      </a:r>
                      <a:endParaRPr sz="1100" lang="es-ES"/>
                    </a:p>
                  </a:txBody>
                  <a:tcPr marL="76200" marR="76200" marT="38100" marB="381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cmpd="sng" algn="ctr" cap="flat" w="9525">
                      <a:solidFill>
                        <a:srgbClr val="243B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3B53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r"/>
                      <a:r>
                        <a:rPr lang="es-ES" sz="1100" b="true" i="false">
                          <a:solidFill>
                            <a:srgbClr val="FFFFFF"/>
                          </a:solidFill>
                          <a:latin typeface="Segoe UI"/>
                        </a:rPr>
                        <a:t>Largo</a:t>
                      </a:r>
                      <a:endParaRPr sz="1100" lang="es-ES"/>
                    </a:p>
                  </a:txBody>
                  <a:tcPr marL="76200" marR="76200" marT="38100" marB="381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cmpd="sng" algn="ctr" cap="flat" w="9525">
                      <a:solidFill>
                        <a:srgbClr val="243B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3B53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r"/>
                      <a:r>
                        <a:rPr lang="es-ES" sz="1100" b="true" i="false">
                          <a:solidFill>
                            <a:srgbClr val="FFFFFF"/>
                          </a:solidFill>
                          <a:latin typeface="Segoe UI"/>
                        </a:rPr>
                        <a:t>Precisión</a:t>
                      </a:r>
                      <a:endParaRPr sz="1100" lang="es-ES"/>
                    </a:p>
                  </a:txBody>
                  <a:tcPr marL="76200" marR="76200" marT="38100" marB="381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cmpd="sng" algn="ctr" cap="flat" w="9525">
                      <a:solidFill>
                        <a:srgbClr val="243B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3B53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l"/>
                      <a:r>
                        <a:rPr lang="es-ES" sz="1100" b="true" i="false">
                          <a:solidFill>
                            <a:srgbClr val="FFFFFF"/>
                          </a:solidFill>
                          <a:latin typeface="Segoe UI"/>
                        </a:rPr>
                        <a:t>Origen</a:t>
                      </a:r>
                      <a:endParaRPr sz="1100" lang="es-ES"/>
                    </a:p>
                  </a:txBody>
                  <a:tcPr marL="76200" marR="76200" marT="38100" marB="381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cmpd="sng" algn="ctr" cap="flat" w="9525">
                      <a:solidFill>
                        <a:srgbClr val="243B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3B53"/>
                    </a:solidFill>
                  </a:tcPr>
                </a:tc>
              </a:tr>
              <a:tr h="298704">
                <a:tc>
                  <a:txBody>
                    <a:bodyPr anchor="t" rtlCol="false"/>
                    <a:lstStyle/>
                    <a:p>
                      <a:pPr algn="l"/>
                      <a:r>
                        <a:rPr lang="es-ES" sz="1100" b="false" i="false">
                          <a:solidFill>
                            <a:srgbClr val="1F2933"/>
                          </a:solidFill>
                          <a:latin typeface="Segoe UI"/>
                        </a:rPr>
                        <a:t>sk_fecha</a:t>
                      </a:r>
                      <a:endParaRPr sz="1100" lang="es-ES"/>
                    </a:p>
                  </a:txBody>
                  <a:tcPr marL="76200" marR="76200" marT="38100" marB="381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cmpd="sng" algn="ctr" cap="flat" w="9525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l"/>
                      <a:r>
                        <a:rPr lang="es-ES" sz="1100" b="false" i="false">
                          <a:solidFill>
                            <a:srgbClr val="1F2933"/>
                          </a:solidFill>
                          <a:latin typeface="Segoe UI"/>
                        </a:rPr>
                        <a:t>Integer</a:t>
                      </a:r>
                      <a:endParaRPr sz="1100" lang="es-ES"/>
                    </a:p>
                  </a:txBody>
                  <a:tcPr marL="76200" marR="76200" marT="38100" marB="381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cmpd="sng" algn="ctr" cap="flat" w="9525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r"/>
                      <a:r>
                        <a:rPr lang="es-ES" sz="1100" b="false" i="false">
                          <a:solidFill>
                            <a:srgbClr val="1F2933"/>
                          </a:solidFill>
                          <a:latin typeface="Segoe UI"/>
                        </a:rPr>
                        <a:t>9</a:t>
                      </a:r>
                      <a:endParaRPr sz="1100" lang="es-ES"/>
                    </a:p>
                  </a:txBody>
                  <a:tcPr marL="76200" marR="76200" marT="38100" marB="381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cmpd="sng" algn="ctr" cap="flat" w="9525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r"/>
                      <a:r>
                        <a:rPr lang="es-ES" sz="1100" b="false" i="false">
                          <a:solidFill>
                            <a:srgbClr val="1F2933"/>
                          </a:solidFill>
                          <a:latin typeface="Segoe UI"/>
                        </a:rPr>
                        <a:t>0</a:t>
                      </a:r>
                      <a:endParaRPr sz="1100" lang="es-ES"/>
                    </a:p>
                  </a:txBody>
                  <a:tcPr marL="76200" marR="76200" marT="38100" marB="381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cmpd="sng" algn="ctr" cap="flat" w="9525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l"/>
                      <a:r>
                        <a:rPr lang="es-ES" sz="1100" b="false" i="false">
                          <a:solidFill>
                            <a:srgbClr val="1F2933"/>
                          </a:solidFill>
                          <a:latin typeface="Segoe UI"/>
                        </a:rPr>
                        <a:t>Buscar fecha</a:t>
                      </a:r>
                      <a:endParaRPr sz="1100" lang="es-ES"/>
                    </a:p>
                  </a:txBody>
                  <a:tcPr marL="76200" marR="76200" marT="38100" marB="381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cmpd="sng" algn="ctr" cap="flat" w="9525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8704">
                <a:tc>
                  <a:txBody>
                    <a:bodyPr anchor="t" rtlCol="false"/>
                    <a:lstStyle/>
                    <a:p>
                      <a:pPr algn="l"/>
                      <a:r>
                        <a:rPr lang="es-ES" sz="1100" b="false" i="false">
                          <a:solidFill>
                            <a:srgbClr val="1F2933"/>
                          </a:solidFill>
                          <a:latin typeface="Segoe UI"/>
                        </a:rPr>
                        <a:t>motivo_rechazo</a:t>
                      </a:r>
                      <a:endParaRPr sz="1100" lang="es-ES"/>
                    </a:p>
                  </a:txBody>
                  <a:tcPr marL="76200" marR="76200" marT="38100" marB="381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cmpd="sng" algn="ctr" cap="flat" w="9525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1F3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l"/>
                      <a:r>
                        <a:rPr lang="es-ES" sz="1100" b="false" i="false">
                          <a:solidFill>
                            <a:srgbClr val="1F2933"/>
                          </a:solidFill>
                          <a:latin typeface="Segoe UI"/>
                        </a:rPr>
                        <a:t>String</a:t>
                      </a:r>
                      <a:endParaRPr sz="1100" lang="es-ES"/>
                    </a:p>
                  </a:txBody>
                  <a:tcPr marL="76200" marR="76200" marT="38100" marB="381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cmpd="sng" algn="ctr" cap="flat" w="9525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1F3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r"/>
                      <a:r>
                        <a:rPr lang="es-ES" sz="1100" b="false" i="false">
                          <a:solidFill>
                            <a:srgbClr val="1F2933"/>
                          </a:solidFill>
                          <a:latin typeface="Segoe UI"/>
                        </a:rPr>
                        <a:t> </a:t>
                      </a:r>
                      <a:endParaRPr sz="1100" lang="es-ES"/>
                    </a:p>
                  </a:txBody>
                  <a:tcPr marL="76200" marR="76200" marT="38100" marB="381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cmpd="sng" algn="ctr" cap="flat" w="9525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1F3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r"/>
                      <a:r>
                        <a:rPr lang="es-ES" sz="1100" b="false" i="false">
                          <a:solidFill>
                            <a:srgbClr val="1F2933"/>
                          </a:solidFill>
                          <a:latin typeface="Segoe UI"/>
                        </a:rPr>
                        <a:t> </a:t>
                      </a:r>
                      <a:endParaRPr sz="1100" lang="es-ES"/>
                    </a:p>
                  </a:txBody>
                  <a:tcPr marL="76200" marR="76200" marT="38100" marB="381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cmpd="sng" algn="ctr" cap="flat" w="9525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1F3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l"/>
                      <a:r>
                        <a:rPr lang="es-ES" sz="1100" b="false" i="false">
                          <a:solidFill>
                            <a:srgbClr val="1F2933"/>
                          </a:solidFill>
                          <a:latin typeface="Segoe UI"/>
                        </a:rPr>
                        <a:t>Clasificar línea</a:t>
                      </a:r>
                      <a:endParaRPr sz="1100" lang="es-ES"/>
                    </a:p>
                  </a:txBody>
                  <a:tcPr marL="76200" marR="76200" marT="38100" marB="381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cmpd="sng" algn="ctr" cap="flat" w="9525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1F3"/>
                    </a:solidFill>
                  </a:tcPr>
                </a:tc>
              </a:tr>
              <a:tr h="298704">
                <a:tc>
                  <a:txBody>
                    <a:bodyPr anchor="t" rtlCol="false"/>
                    <a:lstStyle/>
                    <a:p>
                      <a:pPr algn="l"/>
                      <a:r>
                        <a:rPr lang="es-ES" sz="1100" b="false" i="false">
                          <a:solidFill>
                            <a:srgbClr val="1F2933"/>
                          </a:solidFill>
                          <a:latin typeface="Segoe UI"/>
                        </a:rPr>
                        <a:t>importe</a:t>
                      </a:r>
                      <a:endParaRPr sz="1100" lang="es-ES"/>
                    </a:p>
                  </a:txBody>
                  <a:tcPr marL="76200" marR="76200" marT="38100" marB="381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cmpd="sng" algn="ctr" cap="flat" w="9525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l"/>
                      <a:r>
                        <a:rPr lang="es-ES" sz="1100" b="false" i="false">
                          <a:solidFill>
                            <a:srgbClr val="1F2933"/>
                          </a:solidFill>
                          <a:latin typeface="Segoe UI"/>
                        </a:rPr>
                        <a:t>Number</a:t>
                      </a:r>
                      <a:endParaRPr sz="1100" lang="es-ES"/>
                    </a:p>
                  </a:txBody>
                  <a:tcPr marL="76200" marR="76200" marT="38100" marB="381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cmpd="sng" algn="ctr" cap="flat" w="9525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r"/>
                      <a:r>
                        <a:rPr lang="es-ES" sz="1100" b="false" i="false">
                          <a:solidFill>
                            <a:srgbClr val="1F2933"/>
                          </a:solidFill>
                          <a:latin typeface="Segoe UI"/>
                        </a:rPr>
                        <a:t> </a:t>
                      </a:r>
                      <a:endParaRPr sz="1100" lang="es-ES"/>
                    </a:p>
                  </a:txBody>
                  <a:tcPr marL="76200" marR="76200" marT="38100" marB="381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cmpd="sng" algn="ctr" cap="flat" w="9525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r"/>
                      <a:r>
                        <a:rPr lang="es-ES" sz="1100" b="false" i="false">
                          <a:solidFill>
                            <a:srgbClr val="1F2933"/>
                          </a:solidFill>
                          <a:latin typeface="Segoe UI"/>
                        </a:rPr>
                        <a:t>2</a:t>
                      </a:r>
                      <a:endParaRPr sz="1100" lang="es-ES"/>
                    </a:p>
                  </a:txBody>
                  <a:tcPr marL="76200" marR="76200" marT="38100" marB="381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cmpd="sng" algn="ctr" cap="flat" w="9525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l"/>
                      <a:r>
                        <a:rPr lang="es-ES" sz="1100" b="false" i="false">
                          <a:solidFill>
                            <a:srgbClr val="1F2933"/>
                          </a:solidFill>
                          <a:latin typeface="Segoe UI"/>
                        </a:rPr>
                        <a:t>Calcular importe</a:t>
                      </a:r>
                      <a:endParaRPr sz="1100" lang="es-ES"/>
                    </a:p>
                  </a:txBody>
                  <a:tcPr marL="76200" marR="76200" marT="38100" marB="381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cmpd="sng" algn="ctr" cap="flat" w="9525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name="TextBox 10" id="10"/>
          <p:cNvSpPr txBox="true"/>
          <p:nvPr/>
        </p:nvSpPr>
        <p:spPr>
          <a:xfrm>
            <a:off x="508000" y="2617216"/>
            <a:ext cx="11176000" cy="254000"/>
          </a:xfrm>
          <a:prstGeom prst="rect">
            <a:avLst/>
          </a:prstGeom>
        </p:spPr>
        <p:txBody>
          <a:bodyPr anchor="t" rtlCol="false" wrap="square" lIns="0" rIns="0" tIns="25400" bIns="25400"/>
          <a:lstStyle/>
          <a:p>
            <a:pPr algn="l"/>
            <a:r>
              <a:rPr lang="es-ES" sz="1300" b="true" i="false">
                <a:solidFill>
                  <a:srgbClr val="243B53"/>
                </a:solidFill>
                <a:latin typeface="Segoe UI"/>
              </a:rPr>
              <a:t>Preparar rechazo</a:t>
            </a:r>
            <a:endParaRPr sz="1300" lang="es-ES"/>
          </a:p>
        </p:txBody>
      </p:sp>
      <p:graphicFrame>
        <p:nvGraphicFramePr>
          <p:cNvPr name="Table 11" id="11"/>
          <p:cNvGraphicFramePr>
            <a:graphicFrameLocks noGrp="true"/>
          </p:cNvGraphicFramePr>
          <p:nvPr/>
        </p:nvGraphicFramePr>
        <p:xfrm>
          <a:off x="508000" y="2896616"/>
          <a:ext cx="5702300" cy="2987040"/>
        </p:xfrm>
        <a:graphic>
          <a:graphicData uri="http://schemas.openxmlformats.org/drawingml/2006/table">
            <a:tbl>
              <a:tblPr/>
              <a:tblGrid>
                <a:gridCol w="1320800"/>
                <a:gridCol w="711200"/>
                <a:gridCol w="635000"/>
                <a:gridCol w="939800"/>
                <a:gridCol w="2095500"/>
              </a:tblGrid>
              <a:tr h="298704">
                <a:tc>
                  <a:txBody>
                    <a:bodyPr anchor="t" rtlCol="false"/>
                    <a:lstStyle/>
                    <a:p>
                      <a:pPr algn="l"/>
                      <a:r>
                        <a:rPr lang="es-ES" sz="1100" b="true" i="false">
                          <a:solidFill>
                            <a:srgbClr val="FFFFFF"/>
                          </a:solidFill>
                          <a:latin typeface="Segoe UI"/>
                        </a:rPr>
                        <a:t>Campo</a:t>
                      </a:r>
                      <a:endParaRPr sz="1100" lang="es-ES"/>
                    </a:p>
                  </a:txBody>
                  <a:tcPr marL="76200" marR="76200" marT="38100" marB="381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cmpd="sng" algn="ctr" cap="flat" w="9525">
                      <a:solidFill>
                        <a:srgbClr val="243B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3B53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l"/>
                      <a:r>
                        <a:rPr lang="es-ES" sz="1100" b="true" i="false">
                          <a:solidFill>
                            <a:srgbClr val="FFFFFF"/>
                          </a:solidFill>
                          <a:latin typeface="Segoe UI"/>
                        </a:rPr>
                        <a:t>Tipo</a:t>
                      </a:r>
                      <a:endParaRPr sz="1100" lang="es-ES"/>
                    </a:p>
                  </a:txBody>
                  <a:tcPr marL="76200" marR="76200" marT="38100" marB="381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cmpd="sng" algn="ctr" cap="flat" w="9525">
                      <a:solidFill>
                        <a:srgbClr val="243B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3B53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r"/>
                      <a:r>
                        <a:rPr lang="es-ES" sz="1100" b="true" i="false">
                          <a:solidFill>
                            <a:srgbClr val="FFFFFF"/>
                          </a:solidFill>
                          <a:latin typeface="Segoe UI"/>
                        </a:rPr>
                        <a:t>Largo</a:t>
                      </a:r>
                      <a:endParaRPr sz="1100" lang="es-ES"/>
                    </a:p>
                  </a:txBody>
                  <a:tcPr marL="76200" marR="76200" marT="38100" marB="381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cmpd="sng" algn="ctr" cap="flat" w="9525">
                      <a:solidFill>
                        <a:srgbClr val="243B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3B53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r"/>
                      <a:r>
                        <a:rPr lang="es-ES" sz="1100" b="true" i="false">
                          <a:solidFill>
                            <a:srgbClr val="FFFFFF"/>
                          </a:solidFill>
                          <a:latin typeface="Segoe UI"/>
                        </a:rPr>
                        <a:t>Precisión</a:t>
                      </a:r>
                      <a:endParaRPr sz="1100" lang="es-ES"/>
                    </a:p>
                  </a:txBody>
                  <a:tcPr marL="76200" marR="76200" marT="38100" marB="381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cmpd="sng" algn="ctr" cap="flat" w="9525">
                      <a:solidFill>
                        <a:srgbClr val="243B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3B53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l"/>
                      <a:r>
                        <a:rPr lang="es-ES" sz="1100" b="true" i="false">
                          <a:solidFill>
                            <a:srgbClr val="FFFFFF"/>
                          </a:solidFill>
                          <a:latin typeface="Segoe UI"/>
                        </a:rPr>
                        <a:t>Origen</a:t>
                      </a:r>
                      <a:endParaRPr sz="1100" lang="es-ES"/>
                    </a:p>
                  </a:txBody>
                  <a:tcPr marL="76200" marR="76200" marT="38100" marB="381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cmpd="sng" algn="ctr" cap="flat" w="9525">
                      <a:solidFill>
                        <a:srgbClr val="243B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3B53"/>
                    </a:solidFill>
                  </a:tcPr>
                </a:tc>
              </a:tr>
              <a:tr h="298704">
                <a:tc>
                  <a:txBody>
                    <a:bodyPr anchor="t" rtlCol="false"/>
                    <a:lstStyle/>
                    <a:p>
                      <a:pPr algn="l"/>
                      <a:r>
                        <a:rPr lang="es-ES" sz="1100" b="false" i="false">
                          <a:solidFill>
                            <a:srgbClr val="1F2933"/>
                          </a:solidFill>
                          <a:latin typeface="Segoe UI"/>
                        </a:rPr>
                        <a:t>id_ticket</a:t>
                      </a:r>
                      <a:endParaRPr sz="1100" lang="es-ES"/>
                    </a:p>
                  </a:txBody>
                  <a:tcPr marL="76200" marR="76200" marT="38100" marB="381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cmpd="sng" algn="ctr" cap="flat" w="9525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l"/>
                      <a:r>
                        <a:rPr lang="es-ES" sz="1100" b="false" i="false">
                          <a:solidFill>
                            <a:srgbClr val="1F2933"/>
                          </a:solidFill>
                          <a:latin typeface="Segoe UI"/>
                        </a:rPr>
                        <a:t>String</a:t>
                      </a:r>
                      <a:endParaRPr sz="1100" lang="es-ES"/>
                    </a:p>
                  </a:txBody>
                  <a:tcPr marL="76200" marR="76200" marT="38100" marB="381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cmpd="sng" algn="ctr" cap="flat" w="9525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r"/>
                      <a:r>
                        <a:rPr lang="es-ES" sz="1100" b="false" i="false">
                          <a:solidFill>
                            <a:srgbClr val="1F2933"/>
                          </a:solidFill>
                          <a:latin typeface="Segoe UI"/>
                        </a:rPr>
                        <a:t> </a:t>
                      </a:r>
                      <a:endParaRPr sz="1100" lang="es-ES"/>
                    </a:p>
                  </a:txBody>
                  <a:tcPr marL="76200" marR="76200" marT="38100" marB="381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cmpd="sng" algn="ctr" cap="flat" w="9525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r"/>
                      <a:r>
                        <a:rPr lang="es-ES" sz="1100" b="false" i="false">
                          <a:solidFill>
                            <a:srgbClr val="1F2933"/>
                          </a:solidFill>
                          <a:latin typeface="Segoe UI"/>
                        </a:rPr>
                        <a:t> </a:t>
                      </a:r>
                      <a:endParaRPr sz="1100" lang="es-ES"/>
                    </a:p>
                  </a:txBody>
                  <a:tcPr marL="76200" marR="76200" marT="38100" marB="381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cmpd="sng" algn="ctr" cap="flat" w="9525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l"/>
                      <a:r>
                        <a:rPr lang="es-ES" sz="1100" b="false" i="false">
                          <a:solidFill>
                            <a:srgbClr val="1F2933"/>
                          </a:solidFill>
                          <a:latin typeface="Segoe UI"/>
                        </a:rPr>
                        <a:t>Leer ventas (CSV)</a:t>
                      </a:r>
                      <a:endParaRPr sz="1100" lang="es-ES"/>
                    </a:p>
                  </a:txBody>
                  <a:tcPr marL="76200" marR="76200" marT="38100" marB="381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cmpd="sng" algn="ctr" cap="flat" w="9525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8704">
                <a:tc>
                  <a:txBody>
                    <a:bodyPr anchor="t" rtlCol="false"/>
                    <a:lstStyle/>
                    <a:p>
                      <a:pPr algn="l"/>
                      <a:r>
                        <a:rPr lang="es-ES" sz="1100" b="false" i="false">
                          <a:solidFill>
                            <a:srgbClr val="1F2933"/>
                          </a:solidFill>
                          <a:latin typeface="Segoe UI"/>
                        </a:rPr>
                        <a:t>linea</a:t>
                      </a:r>
                      <a:endParaRPr sz="1100" lang="es-ES"/>
                    </a:p>
                  </a:txBody>
                  <a:tcPr marL="76200" marR="76200" marT="38100" marB="381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cmpd="sng" algn="ctr" cap="flat" w="9525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1F3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l"/>
                      <a:r>
                        <a:rPr lang="es-ES" sz="1100" b="false" i="false">
                          <a:solidFill>
                            <a:srgbClr val="1F2933"/>
                          </a:solidFill>
                          <a:latin typeface="Segoe UI"/>
                        </a:rPr>
                        <a:t>Integer</a:t>
                      </a:r>
                      <a:endParaRPr sz="1100" lang="es-ES"/>
                    </a:p>
                  </a:txBody>
                  <a:tcPr marL="76200" marR="76200" marT="38100" marB="381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cmpd="sng" algn="ctr" cap="flat" w="9525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1F3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r"/>
                      <a:r>
                        <a:rPr lang="es-ES" sz="1100" b="false" i="false">
                          <a:solidFill>
                            <a:srgbClr val="1F2933"/>
                          </a:solidFill>
                          <a:latin typeface="Segoe UI"/>
                        </a:rPr>
                        <a:t> </a:t>
                      </a:r>
                      <a:endParaRPr sz="1100" lang="es-ES"/>
                    </a:p>
                  </a:txBody>
                  <a:tcPr marL="76200" marR="76200" marT="38100" marB="381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cmpd="sng" algn="ctr" cap="flat" w="9525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1F3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r"/>
                      <a:r>
                        <a:rPr lang="es-ES" sz="1100" b="false" i="false">
                          <a:solidFill>
                            <a:srgbClr val="1F2933"/>
                          </a:solidFill>
                          <a:latin typeface="Segoe UI"/>
                        </a:rPr>
                        <a:t>0</a:t>
                      </a:r>
                      <a:endParaRPr sz="1100" lang="es-ES"/>
                    </a:p>
                  </a:txBody>
                  <a:tcPr marL="76200" marR="76200" marT="38100" marB="381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cmpd="sng" algn="ctr" cap="flat" w="9525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1F3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l"/>
                      <a:r>
                        <a:rPr lang="es-ES" sz="1100" b="false" i="false">
                          <a:solidFill>
                            <a:srgbClr val="1F2933"/>
                          </a:solidFill>
                          <a:latin typeface="Segoe UI"/>
                        </a:rPr>
                        <a:t>Leer ventas (CSV)</a:t>
                      </a:r>
                      <a:endParaRPr sz="1100" lang="es-ES"/>
                    </a:p>
                  </a:txBody>
                  <a:tcPr marL="76200" marR="76200" marT="38100" marB="381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cmpd="sng" algn="ctr" cap="flat" w="9525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1F3"/>
                    </a:solidFill>
                  </a:tcPr>
                </a:tc>
              </a:tr>
              <a:tr h="298704">
                <a:tc>
                  <a:txBody>
                    <a:bodyPr anchor="t" rtlCol="false"/>
                    <a:lstStyle/>
                    <a:p>
                      <a:pPr algn="l"/>
                      <a:r>
                        <a:rPr lang="es-ES" sz="1100" b="false" i="false">
                          <a:solidFill>
                            <a:srgbClr val="1F2933"/>
                          </a:solidFill>
                          <a:latin typeface="Segoe UI"/>
                        </a:rPr>
                        <a:t>fecha</a:t>
                      </a:r>
                      <a:endParaRPr sz="1100" lang="es-ES"/>
                    </a:p>
                  </a:txBody>
                  <a:tcPr marL="76200" marR="76200" marT="38100" marB="381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cmpd="sng" algn="ctr" cap="flat" w="9525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l"/>
                      <a:r>
                        <a:rPr lang="es-ES" sz="1100" b="false" i="false">
                          <a:solidFill>
                            <a:srgbClr val="1F2933"/>
                          </a:solidFill>
                          <a:latin typeface="Segoe UI"/>
                        </a:rPr>
                        <a:t>String</a:t>
                      </a:r>
                      <a:endParaRPr sz="1100" lang="es-ES"/>
                    </a:p>
                  </a:txBody>
                  <a:tcPr marL="76200" marR="76200" marT="38100" marB="381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cmpd="sng" algn="ctr" cap="flat" w="9525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r"/>
                      <a:r>
                        <a:rPr lang="es-ES" sz="1100" b="false" i="false">
                          <a:solidFill>
                            <a:srgbClr val="1F2933"/>
                          </a:solidFill>
                          <a:latin typeface="Segoe UI"/>
                        </a:rPr>
                        <a:t> </a:t>
                      </a:r>
                      <a:endParaRPr sz="1100" lang="es-ES"/>
                    </a:p>
                  </a:txBody>
                  <a:tcPr marL="76200" marR="76200" marT="38100" marB="381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cmpd="sng" algn="ctr" cap="flat" w="9525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r"/>
                      <a:r>
                        <a:rPr lang="es-ES" sz="1100" b="false" i="false">
                          <a:solidFill>
                            <a:srgbClr val="1F2933"/>
                          </a:solidFill>
                          <a:latin typeface="Segoe UI"/>
                        </a:rPr>
                        <a:t> </a:t>
                      </a:r>
                      <a:endParaRPr sz="1100" lang="es-ES"/>
                    </a:p>
                  </a:txBody>
                  <a:tcPr marL="76200" marR="76200" marT="38100" marB="381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cmpd="sng" algn="ctr" cap="flat" w="9525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l"/>
                      <a:r>
                        <a:rPr lang="es-ES" sz="1100" b="false" i="false">
                          <a:solidFill>
                            <a:srgbClr val="1F2933"/>
                          </a:solidFill>
                          <a:latin typeface="Segoe UI"/>
                        </a:rPr>
                        <a:t>Leer ventas (CSV)</a:t>
                      </a:r>
                      <a:endParaRPr sz="1100" lang="es-ES"/>
                    </a:p>
                  </a:txBody>
                  <a:tcPr marL="76200" marR="76200" marT="38100" marB="381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cmpd="sng" algn="ctr" cap="flat" w="9525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8704">
                <a:tc>
                  <a:txBody>
                    <a:bodyPr anchor="t" rtlCol="false"/>
                    <a:lstStyle/>
                    <a:p>
                      <a:pPr algn="l"/>
                      <a:r>
                        <a:rPr lang="es-ES" sz="1100" b="false" i="false">
                          <a:solidFill>
                            <a:srgbClr val="1F2933"/>
                          </a:solidFill>
                          <a:latin typeface="Segoe UI"/>
                        </a:rPr>
                        <a:t>id_tienda</a:t>
                      </a:r>
                      <a:endParaRPr sz="1100" lang="es-ES"/>
                    </a:p>
                  </a:txBody>
                  <a:tcPr marL="76200" marR="76200" marT="38100" marB="381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cmpd="sng" algn="ctr" cap="flat" w="9525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1F3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l"/>
                      <a:r>
                        <a:rPr lang="es-ES" sz="1100" b="false" i="false">
                          <a:solidFill>
                            <a:srgbClr val="1F2933"/>
                          </a:solidFill>
                          <a:latin typeface="Segoe UI"/>
                        </a:rPr>
                        <a:t>String</a:t>
                      </a:r>
                      <a:endParaRPr sz="1100" lang="es-ES"/>
                    </a:p>
                  </a:txBody>
                  <a:tcPr marL="76200" marR="76200" marT="38100" marB="381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cmpd="sng" algn="ctr" cap="flat" w="9525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1F3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r"/>
                      <a:r>
                        <a:rPr lang="es-ES" sz="1100" b="false" i="false">
                          <a:solidFill>
                            <a:srgbClr val="1F2933"/>
                          </a:solidFill>
                          <a:latin typeface="Segoe UI"/>
                        </a:rPr>
                        <a:t> </a:t>
                      </a:r>
                      <a:endParaRPr sz="1100" lang="es-ES"/>
                    </a:p>
                  </a:txBody>
                  <a:tcPr marL="76200" marR="76200" marT="38100" marB="381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cmpd="sng" algn="ctr" cap="flat" w="9525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1F3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r"/>
                      <a:r>
                        <a:rPr lang="es-ES" sz="1100" b="false" i="false">
                          <a:solidFill>
                            <a:srgbClr val="1F2933"/>
                          </a:solidFill>
                          <a:latin typeface="Segoe UI"/>
                        </a:rPr>
                        <a:t> </a:t>
                      </a:r>
                      <a:endParaRPr sz="1100" lang="es-ES"/>
                    </a:p>
                  </a:txBody>
                  <a:tcPr marL="76200" marR="76200" marT="38100" marB="381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cmpd="sng" algn="ctr" cap="flat" w="9525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1F3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l"/>
                      <a:r>
                        <a:rPr lang="es-ES" sz="1100" b="false" i="false">
                          <a:solidFill>
                            <a:srgbClr val="1F2933"/>
                          </a:solidFill>
                          <a:latin typeface="Segoe UI"/>
                        </a:rPr>
                        <a:t>Leer ventas (CSV)</a:t>
                      </a:r>
                      <a:endParaRPr sz="1100" lang="es-ES"/>
                    </a:p>
                  </a:txBody>
                  <a:tcPr marL="76200" marR="76200" marT="38100" marB="381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cmpd="sng" algn="ctr" cap="flat" w="9525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1F3"/>
                    </a:solidFill>
                  </a:tcPr>
                </a:tc>
              </a:tr>
              <a:tr h="298704">
                <a:tc>
                  <a:txBody>
                    <a:bodyPr anchor="t" rtlCol="false"/>
                    <a:lstStyle/>
                    <a:p>
                      <a:pPr algn="l"/>
                      <a:r>
                        <a:rPr lang="es-ES" sz="1100" b="false" i="false">
                          <a:solidFill>
                            <a:srgbClr val="1F2933"/>
                          </a:solidFill>
                          <a:latin typeface="Segoe UI"/>
                        </a:rPr>
                        <a:t>codigo_producto</a:t>
                      </a:r>
                      <a:endParaRPr sz="1100" lang="es-ES"/>
                    </a:p>
                  </a:txBody>
                  <a:tcPr marL="76200" marR="76200" marT="38100" marB="381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cmpd="sng" algn="ctr" cap="flat" w="9525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l"/>
                      <a:r>
                        <a:rPr lang="es-ES" sz="1100" b="false" i="false">
                          <a:solidFill>
                            <a:srgbClr val="1F2933"/>
                          </a:solidFill>
                          <a:latin typeface="Segoe UI"/>
                        </a:rPr>
                        <a:t>String</a:t>
                      </a:r>
                      <a:endParaRPr sz="1100" lang="es-ES"/>
                    </a:p>
                  </a:txBody>
                  <a:tcPr marL="76200" marR="76200" marT="38100" marB="381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cmpd="sng" algn="ctr" cap="flat" w="9525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r"/>
                      <a:r>
                        <a:rPr lang="es-ES" sz="1100" b="false" i="false">
                          <a:solidFill>
                            <a:srgbClr val="1F2933"/>
                          </a:solidFill>
                          <a:latin typeface="Segoe UI"/>
                        </a:rPr>
                        <a:t> </a:t>
                      </a:r>
                      <a:endParaRPr sz="1100" lang="es-ES"/>
                    </a:p>
                  </a:txBody>
                  <a:tcPr marL="76200" marR="76200" marT="38100" marB="381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cmpd="sng" algn="ctr" cap="flat" w="9525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r"/>
                      <a:r>
                        <a:rPr lang="es-ES" sz="1100" b="false" i="false">
                          <a:solidFill>
                            <a:srgbClr val="1F2933"/>
                          </a:solidFill>
                          <a:latin typeface="Segoe UI"/>
                        </a:rPr>
                        <a:t> </a:t>
                      </a:r>
                      <a:endParaRPr sz="1100" lang="es-ES"/>
                    </a:p>
                  </a:txBody>
                  <a:tcPr marL="76200" marR="76200" marT="38100" marB="381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cmpd="sng" algn="ctr" cap="flat" w="9525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l"/>
                      <a:r>
                        <a:rPr lang="es-ES" sz="1100" b="false" i="false">
                          <a:solidFill>
                            <a:srgbClr val="1F2933"/>
                          </a:solidFill>
                          <a:latin typeface="Segoe UI"/>
                        </a:rPr>
                        <a:t>Leer ventas (CSV)</a:t>
                      </a:r>
                      <a:endParaRPr sz="1100" lang="es-ES"/>
                    </a:p>
                  </a:txBody>
                  <a:tcPr marL="76200" marR="76200" marT="38100" marB="381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cmpd="sng" algn="ctr" cap="flat" w="9525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8704">
                <a:tc>
                  <a:txBody>
                    <a:bodyPr anchor="t" rtlCol="false"/>
                    <a:lstStyle/>
                    <a:p>
                      <a:pPr algn="l"/>
                      <a:r>
                        <a:rPr lang="es-ES" sz="1100" b="false" i="false">
                          <a:solidFill>
                            <a:srgbClr val="1F2933"/>
                          </a:solidFill>
                          <a:latin typeface="Segoe UI"/>
                        </a:rPr>
                        <a:t>cantidad</a:t>
                      </a:r>
                      <a:endParaRPr sz="1100" lang="es-ES"/>
                    </a:p>
                  </a:txBody>
                  <a:tcPr marL="76200" marR="76200" marT="38100" marB="381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cmpd="sng" algn="ctr" cap="flat" w="9525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1F3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l"/>
                      <a:r>
                        <a:rPr lang="es-ES" sz="1100" b="false" i="false">
                          <a:solidFill>
                            <a:srgbClr val="1F2933"/>
                          </a:solidFill>
                          <a:latin typeface="Segoe UI"/>
                        </a:rPr>
                        <a:t>Integer</a:t>
                      </a:r>
                      <a:endParaRPr sz="1100" lang="es-ES"/>
                    </a:p>
                  </a:txBody>
                  <a:tcPr marL="76200" marR="76200" marT="38100" marB="381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cmpd="sng" algn="ctr" cap="flat" w="9525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1F3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r"/>
                      <a:r>
                        <a:rPr lang="es-ES" sz="1100" b="false" i="false">
                          <a:solidFill>
                            <a:srgbClr val="1F2933"/>
                          </a:solidFill>
                          <a:latin typeface="Segoe UI"/>
                        </a:rPr>
                        <a:t> </a:t>
                      </a:r>
                      <a:endParaRPr sz="1100" lang="es-ES"/>
                    </a:p>
                  </a:txBody>
                  <a:tcPr marL="76200" marR="76200" marT="38100" marB="381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cmpd="sng" algn="ctr" cap="flat" w="9525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1F3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r"/>
                      <a:r>
                        <a:rPr lang="es-ES" sz="1100" b="false" i="false">
                          <a:solidFill>
                            <a:srgbClr val="1F2933"/>
                          </a:solidFill>
                          <a:latin typeface="Segoe UI"/>
                        </a:rPr>
                        <a:t>0</a:t>
                      </a:r>
                      <a:endParaRPr sz="1100" lang="es-ES"/>
                    </a:p>
                  </a:txBody>
                  <a:tcPr marL="76200" marR="76200" marT="38100" marB="381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cmpd="sng" algn="ctr" cap="flat" w="9525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1F3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l"/>
                      <a:r>
                        <a:rPr lang="es-ES" sz="1100" b="false" i="false">
                          <a:solidFill>
                            <a:srgbClr val="1F2933"/>
                          </a:solidFill>
                          <a:latin typeface="Segoe UI"/>
                        </a:rPr>
                        <a:t>Leer ventas (CSV)</a:t>
                      </a:r>
                      <a:endParaRPr sz="1100" lang="es-ES"/>
                    </a:p>
                  </a:txBody>
                  <a:tcPr marL="76200" marR="76200" marT="38100" marB="381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cmpd="sng" algn="ctr" cap="flat" w="9525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1F3"/>
                    </a:solidFill>
                  </a:tcPr>
                </a:tc>
              </a:tr>
              <a:tr h="298704">
                <a:tc>
                  <a:txBody>
                    <a:bodyPr anchor="t" rtlCol="false"/>
                    <a:lstStyle/>
                    <a:p>
                      <a:pPr algn="l"/>
                      <a:r>
                        <a:rPr lang="es-ES" sz="1100" b="false" i="false">
                          <a:solidFill>
                            <a:srgbClr val="1F2933"/>
                          </a:solidFill>
                          <a:latin typeface="Segoe UI"/>
                        </a:rPr>
                        <a:t>precio_unitario</a:t>
                      </a:r>
                      <a:endParaRPr sz="1100" lang="es-ES"/>
                    </a:p>
                  </a:txBody>
                  <a:tcPr marL="76200" marR="76200" marT="38100" marB="381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cmpd="sng" algn="ctr" cap="flat" w="9525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l"/>
                      <a:r>
                        <a:rPr lang="es-ES" sz="1100" b="false" i="false">
                          <a:solidFill>
                            <a:srgbClr val="1F2933"/>
                          </a:solidFill>
                          <a:latin typeface="Segoe UI"/>
                        </a:rPr>
                        <a:t>Number</a:t>
                      </a:r>
                      <a:endParaRPr sz="1100" lang="es-ES"/>
                    </a:p>
                  </a:txBody>
                  <a:tcPr marL="76200" marR="76200" marT="38100" marB="381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cmpd="sng" algn="ctr" cap="flat" w="9525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r"/>
                      <a:r>
                        <a:rPr lang="es-ES" sz="1100" b="false" i="false">
                          <a:solidFill>
                            <a:srgbClr val="1F2933"/>
                          </a:solidFill>
                          <a:latin typeface="Segoe UI"/>
                        </a:rPr>
                        <a:t> </a:t>
                      </a:r>
                      <a:endParaRPr sz="1100" lang="es-ES"/>
                    </a:p>
                  </a:txBody>
                  <a:tcPr marL="76200" marR="76200" marT="38100" marB="381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cmpd="sng" algn="ctr" cap="flat" w="9525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r"/>
                      <a:r>
                        <a:rPr lang="es-ES" sz="1100" b="false" i="false">
                          <a:solidFill>
                            <a:srgbClr val="1F2933"/>
                          </a:solidFill>
                          <a:latin typeface="Segoe UI"/>
                        </a:rPr>
                        <a:t> </a:t>
                      </a:r>
                      <a:endParaRPr sz="1100" lang="es-ES"/>
                    </a:p>
                  </a:txBody>
                  <a:tcPr marL="76200" marR="76200" marT="38100" marB="381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cmpd="sng" algn="ctr" cap="flat" w="9525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l"/>
                      <a:r>
                        <a:rPr lang="es-ES" sz="1100" b="false" i="false">
                          <a:solidFill>
                            <a:srgbClr val="1F2933"/>
                          </a:solidFill>
                          <a:latin typeface="Segoe UI"/>
                        </a:rPr>
                        <a:t>Convertir precio a número</a:t>
                      </a:r>
                      <a:endParaRPr sz="1100" lang="es-ES"/>
                    </a:p>
                  </a:txBody>
                  <a:tcPr marL="76200" marR="76200" marT="38100" marB="381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cmpd="sng" algn="ctr" cap="flat" w="9525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8704">
                <a:tc>
                  <a:txBody>
                    <a:bodyPr anchor="t" rtlCol="false"/>
                    <a:lstStyle/>
                    <a:p>
                      <a:pPr algn="l"/>
                      <a:r>
                        <a:rPr lang="es-ES" sz="1100" b="false" i="false">
                          <a:solidFill>
                            <a:srgbClr val="1F2933"/>
                          </a:solidFill>
                          <a:latin typeface="Segoe UI"/>
                        </a:rPr>
                        <a:t>metodo_pago</a:t>
                      </a:r>
                      <a:endParaRPr sz="1100" lang="es-ES"/>
                    </a:p>
                  </a:txBody>
                  <a:tcPr marL="76200" marR="76200" marT="38100" marB="381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cmpd="sng" algn="ctr" cap="flat" w="9525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1F3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l"/>
                      <a:r>
                        <a:rPr lang="es-ES" sz="1100" b="false" i="false">
                          <a:solidFill>
                            <a:srgbClr val="1F2933"/>
                          </a:solidFill>
                          <a:latin typeface="Segoe UI"/>
                        </a:rPr>
                        <a:t>String</a:t>
                      </a:r>
                      <a:endParaRPr sz="1100" lang="es-ES"/>
                    </a:p>
                  </a:txBody>
                  <a:tcPr marL="76200" marR="76200" marT="38100" marB="381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cmpd="sng" algn="ctr" cap="flat" w="9525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1F3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r"/>
                      <a:r>
                        <a:rPr lang="es-ES" sz="1100" b="false" i="false">
                          <a:solidFill>
                            <a:srgbClr val="1F2933"/>
                          </a:solidFill>
                          <a:latin typeface="Segoe UI"/>
                        </a:rPr>
                        <a:t> </a:t>
                      </a:r>
                      <a:endParaRPr sz="1100" lang="es-ES"/>
                    </a:p>
                  </a:txBody>
                  <a:tcPr marL="76200" marR="76200" marT="38100" marB="381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cmpd="sng" algn="ctr" cap="flat" w="9525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1F3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r"/>
                      <a:r>
                        <a:rPr lang="es-ES" sz="1100" b="false" i="false">
                          <a:solidFill>
                            <a:srgbClr val="1F2933"/>
                          </a:solidFill>
                          <a:latin typeface="Segoe UI"/>
                        </a:rPr>
                        <a:t> </a:t>
                      </a:r>
                      <a:endParaRPr sz="1100" lang="es-ES"/>
                    </a:p>
                  </a:txBody>
                  <a:tcPr marL="76200" marR="76200" marT="38100" marB="381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cmpd="sng" algn="ctr" cap="flat" w="9525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1F3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l"/>
                      <a:r>
                        <a:rPr lang="es-ES" sz="1100" b="false" i="false">
                          <a:solidFill>
                            <a:srgbClr val="1F2933"/>
                          </a:solidFill>
                          <a:latin typeface="Segoe UI"/>
                        </a:rPr>
                        <a:t>Leer ventas (CSV)</a:t>
                      </a:r>
                      <a:endParaRPr sz="1100" lang="es-ES"/>
                    </a:p>
                  </a:txBody>
                  <a:tcPr marL="76200" marR="76200" marT="38100" marB="381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cmpd="sng" algn="ctr" cap="flat" w="9525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1F3"/>
                    </a:solidFill>
                  </a:tcPr>
                </a:tc>
              </a:tr>
              <a:tr h="298704">
                <a:tc>
                  <a:txBody>
                    <a:bodyPr anchor="t" rtlCol="false"/>
                    <a:lstStyle/>
                    <a:p>
                      <a:pPr algn="l"/>
                      <a:r>
                        <a:rPr lang="es-ES" sz="1100" b="false" i="false">
                          <a:solidFill>
                            <a:srgbClr val="1F2933"/>
                          </a:solidFill>
                          <a:latin typeface="Segoe UI"/>
                        </a:rPr>
                        <a:t>motivo_rechazo</a:t>
                      </a:r>
                      <a:endParaRPr sz="1100" lang="es-ES"/>
                    </a:p>
                  </a:txBody>
                  <a:tcPr marL="76200" marR="76200" marT="38100" marB="381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cmpd="sng" algn="ctr" cap="flat" w="9525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l"/>
                      <a:r>
                        <a:rPr lang="es-ES" sz="1100" b="false" i="false">
                          <a:solidFill>
                            <a:srgbClr val="1F2933"/>
                          </a:solidFill>
                          <a:latin typeface="Segoe UI"/>
                        </a:rPr>
                        <a:t>String</a:t>
                      </a:r>
                      <a:endParaRPr sz="1100" lang="es-ES"/>
                    </a:p>
                  </a:txBody>
                  <a:tcPr marL="76200" marR="76200" marT="38100" marB="381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cmpd="sng" algn="ctr" cap="flat" w="9525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r"/>
                      <a:r>
                        <a:rPr lang="es-ES" sz="1100" b="false" i="false">
                          <a:solidFill>
                            <a:srgbClr val="1F2933"/>
                          </a:solidFill>
                          <a:latin typeface="Segoe UI"/>
                        </a:rPr>
                        <a:t> </a:t>
                      </a:r>
                      <a:endParaRPr sz="1100" lang="es-ES"/>
                    </a:p>
                  </a:txBody>
                  <a:tcPr marL="76200" marR="76200" marT="38100" marB="381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cmpd="sng" algn="ctr" cap="flat" w="9525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r"/>
                      <a:r>
                        <a:rPr lang="es-ES" sz="1100" b="false" i="false">
                          <a:solidFill>
                            <a:srgbClr val="1F2933"/>
                          </a:solidFill>
                          <a:latin typeface="Segoe UI"/>
                        </a:rPr>
                        <a:t> </a:t>
                      </a:r>
                      <a:endParaRPr sz="1100" lang="es-ES"/>
                    </a:p>
                  </a:txBody>
                  <a:tcPr marL="76200" marR="76200" marT="38100" marB="381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cmpd="sng" algn="ctr" cap="flat" w="9525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l"/>
                      <a:r>
                        <a:rPr lang="es-ES" sz="1100" b="false" i="false">
                          <a:solidFill>
                            <a:srgbClr val="1F2933"/>
                          </a:solidFill>
                          <a:latin typeface="Segoe UI"/>
                        </a:rPr>
                        <a:t>Clasificar línea</a:t>
                      </a:r>
                      <a:endParaRPr sz="1100" lang="es-ES"/>
                    </a:p>
                  </a:txBody>
                  <a:tcPr marL="76200" marR="76200" marT="38100" marB="381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cmpd="sng" algn="ctr" cap="flat" w="9525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0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8000" y="203200"/>
            <a:ext cx="11176000" cy="635000"/>
          </a:xfrm>
        </p:spPr>
        <p:txBody>
          <a:bodyPr lIns="0" rIns="0" wrap="square" anchor="ctr"/>
          <a:lstStyle/>
          <a:p>
            <a:pPr algn="l"/>
            <a:r>
              <a:rPr lang="es-ES" sz="2600" b="true" i="false">
                <a:solidFill>
                  <a:srgbClr val="243B53"/>
                </a:solidFill>
                <a:latin typeface="Segoe UI"/>
              </a:rPr>
              <a:t>Modelo destino</a:t>
            </a:r>
            <a:endParaRPr sz="2600" lang="es-ES"/>
          </a:p>
        </p:txBody>
      </p:sp>
      <p:pic>
        <p:nvPicPr>
          <p:cNvPr name="Picture 3" id="3"/>
          <p:cNvPicPr>
            <a:picLocks noChangeAspect="true"/>
          </p:cNvPicPr>
          <p:nvPr/>
        </p:nvPicPr>
        <p:blipFill>
          <a:blip r:embed="rId2"/>
          <a:stretch>
            <a:fillRect/>
          </a:stretch>
        </p:blipFill>
        <p:spPr>
          <a:xfrm>
            <a:off x="10248900" y="5510084"/>
            <a:ext cx="1435100" cy="814516"/>
          </a:xfrm>
          <a:prstGeom prst="rect">
            <a:avLst/>
          </a:prstGeom>
        </p:spPr>
      </p:pic>
      <p:sp>
        <p:nvSpPr>
          <p:cNvPr name="AutoShape 4" id="4"/>
          <p:cNvSpPr/>
          <p:nvPr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243B53"/>
          </a:solidFill>
          <a:ln>
            <a:noFill/>
          </a:ln>
        </p:spPr>
      </p:sp>
      <p:pic>
        <p:nvPicPr>
          <p:cNvPr name="Picture 5" id="5"/>
          <p:cNvPicPr>
            <a:picLocks noChangeAspect="true"/>
          </p:cNvPicPr>
          <p:nvPr/>
        </p:nvPicPr>
        <p:blipFill>
          <a:blip r:embed="rId3"/>
          <a:stretch>
            <a:fillRect/>
          </a:stretch>
        </p:blipFill>
        <p:spPr>
          <a:xfrm>
            <a:off x="508000" y="6508750"/>
            <a:ext cx="177800" cy="100914"/>
          </a:xfrm>
          <a:prstGeom prst="rect">
            <a:avLst/>
          </a:prstGeom>
        </p:spPr>
      </p:pic>
      <p:sp>
        <p:nvSpPr>
          <p:cNvPr name="TextBox 6" id="6"/>
          <p:cNvSpPr txBox="true"/>
          <p:nvPr/>
        </p:nvSpPr>
        <p:spPr>
          <a:xfrm>
            <a:off x="749300" y="6451600"/>
            <a:ext cx="5080000" cy="228600"/>
          </a:xfrm>
          <a:prstGeom prst="rect">
            <a:avLst/>
          </a:prstGeom>
        </p:spPr>
        <p:txBody>
          <a:bodyPr anchor="ctr" rtlCol="false" wrap="square" lIns="0" rIns="0" tIns="25400" bIns="25400"/>
          <a:lstStyle/>
          <a:p>
            <a:pPr algn="l"/>
            <a:r>
              <a:rPr lang="es-ES" sz="750" b="false" i="false">
                <a:solidFill>
                  <a:srgbClr val="6B7785"/>
                </a:solidFill>
                <a:latin typeface="Segoe UI"/>
              </a:rPr>
              <a:t>Pentaho Live · IDC Studios</a:t>
            </a:r>
            <a:endParaRPr sz="750" lang="es-ES"/>
          </a:p>
        </p:txBody>
      </p:sp>
      <p:sp>
        <p:nvSpPr>
          <p:cNvPr name="TextBox 7" id="7"/>
          <p:cNvSpPr txBox="true"/>
          <p:nvPr/>
        </p:nvSpPr>
        <p:spPr>
          <a:xfrm>
            <a:off x="10160000" y="6451600"/>
            <a:ext cx="1524000" cy="228600"/>
          </a:xfrm>
          <a:prstGeom prst="rect">
            <a:avLst/>
          </a:prstGeom>
        </p:spPr>
        <p:txBody>
          <a:bodyPr anchor="ctr" rtlCol="false" wrap="square" lIns="0" rIns="0" tIns="25400" bIns="25400"/>
          <a:lstStyle/>
          <a:p>
            <a:pPr algn="r"/>
            <a:fld id="{634B2AAE-699A-4000-A02A-CFD86422F0AB}" type="slidenum">
              <a:rPr lang="es-ES" sz="750">
                <a:solidFill>
                  <a:srgbClr val="6B7785"/>
                </a:solidFill>
                <a:latin typeface="Segoe UI"/>
              </a:rPr>
              <a:t>30</a:t>
            </a:fld>
            <a:endParaRPr sz="750" lang="es-ES"/>
          </a:p>
        </p:txBody>
      </p:sp>
      <p:pic>
        <p:nvPicPr>
          <p:cNvPr name="Picture 8" id="8"/>
          <p:cNvPicPr>
            <a:picLocks noChangeAspect="true"/>
          </p:cNvPicPr>
          <p:nvPr/>
        </p:nvPicPr>
        <p:blipFill>
          <a:blip r:embed="rId4"/>
          <a:stretch>
            <a:fillRect/>
          </a:stretch>
        </p:blipFill>
        <p:spPr>
          <a:xfrm>
            <a:off x="5003800" y="1016000"/>
            <a:ext cx="2184400" cy="3581400"/>
          </a:xfrm>
          <a:prstGeom prst="rect">
            <a:avLst/>
          </a:prstGeom>
        </p:spPr>
      </p:pic>
    </p:spTree>
  </p:cSld>
  <p:clrMapOvr>
    <a:masterClrMapping/>
  </p:clrMapOvr>
</p:sld>
</file>

<file path=ppt/slides/slide31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8000" y="203200"/>
            <a:ext cx="11176000" cy="635000"/>
          </a:xfrm>
        </p:spPr>
        <p:txBody>
          <a:bodyPr lIns="0" rIns="0" wrap="square" anchor="ctr"/>
          <a:lstStyle/>
          <a:p>
            <a:pPr algn="l"/>
            <a:r>
              <a:rPr lang="es-ES" sz="2600" b="true" i="false">
                <a:solidFill>
                  <a:srgbClr val="243B53"/>
                </a:solidFill>
                <a:latin typeface="Segoe UI"/>
              </a:rPr>
              <a:t>Modelo destino (cont.)</a:t>
            </a:r>
            <a:endParaRPr sz="2600" lang="es-ES"/>
          </a:p>
        </p:txBody>
      </p:sp>
      <p:pic>
        <p:nvPicPr>
          <p:cNvPr name="Picture 3" id="3"/>
          <p:cNvPicPr>
            <a:picLocks noChangeAspect="true"/>
          </p:cNvPicPr>
          <p:nvPr/>
        </p:nvPicPr>
        <p:blipFill>
          <a:blip r:embed="rId2"/>
          <a:stretch>
            <a:fillRect/>
          </a:stretch>
        </p:blipFill>
        <p:spPr>
          <a:xfrm>
            <a:off x="10248900" y="5510084"/>
            <a:ext cx="1435100" cy="814516"/>
          </a:xfrm>
          <a:prstGeom prst="rect">
            <a:avLst/>
          </a:prstGeom>
        </p:spPr>
      </p:pic>
      <p:sp>
        <p:nvSpPr>
          <p:cNvPr name="AutoShape 4" id="4"/>
          <p:cNvSpPr/>
          <p:nvPr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243B53"/>
          </a:solidFill>
          <a:ln>
            <a:noFill/>
          </a:ln>
        </p:spPr>
      </p:sp>
      <p:pic>
        <p:nvPicPr>
          <p:cNvPr name="Picture 5" id="5"/>
          <p:cNvPicPr>
            <a:picLocks noChangeAspect="true"/>
          </p:cNvPicPr>
          <p:nvPr/>
        </p:nvPicPr>
        <p:blipFill>
          <a:blip r:embed="rId3"/>
          <a:stretch>
            <a:fillRect/>
          </a:stretch>
        </p:blipFill>
        <p:spPr>
          <a:xfrm>
            <a:off x="508000" y="6508750"/>
            <a:ext cx="177800" cy="100914"/>
          </a:xfrm>
          <a:prstGeom prst="rect">
            <a:avLst/>
          </a:prstGeom>
        </p:spPr>
      </p:pic>
      <p:sp>
        <p:nvSpPr>
          <p:cNvPr name="TextBox 6" id="6"/>
          <p:cNvSpPr txBox="true"/>
          <p:nvPr/>
        </p:nvSpPr>
        <p:spPr>
          <a:xfrm>
            <a:off x="749300" y="6451600"/>
            <a:ext cx="5080000" cy="228600"/>
          </a:xfrm>
          <a:prstGeom prst="rect">
            <a:avLst/>
          </a:prstGeom>
        </p:spPr>
        <p:txBody>
          <a:bodyPr anchor="ctr" rtlCol="false" wrap="square" lIns="0" rIns="0" tIns="25400" bIns="25400"/>
          <a:lstStyle/>
          <a:p>
            <a:pPr algn="l"/>
            <a:r>
              <a:rPr lang="es-ES" sz="750" b="false" i="false">
                <a:solidFill>
                  <a:srgbClr val="6B7785"/>
                </a:solidFill>
                <a:latin typeface="Segoe UI"/>
              </a:rPr>
              <a:t>Pentaho Live · IDC Studios</a:t>
            </a:r>
            <a:endParaRPr sz="750" lang="es-ES"/>
          </a:p>
        </p:txBody>
      </p:sp>
      <p:sp>
        <p:nvSpPr>
          <p:cNvPr name="TextBox 7" id="7"/>
          <p:cNvSpPr txBox="true"/>
          <p:nvPr/>
        </p:nvSpPr>
        <p:spPr>
          <a:xfrm>
            <a:off x="10160000" y="6451600"/>
            <a:ext cx="1524000" cy="228600"/>
          </a:xfrm>
          <a:prstGeom prst="rect">
            <a:avLst/>
          </a:prstGeom>
        </p:spPr>
        <p:txBody>
          <a:bodyPr anchor="ctr" rtlCol="false" wrap="square" lIns="0" rIns="0" tIns="25400" bIns="25400"/>
          <a:lstStyle/>
          <a:p>
            <a:pPr algn="r"/>
            <a:fld id="{517C02A8-A936-488E-9843-88D122C4EEE3}" type="slidenum">
              <a:rPr lang="es-ES" sz="750">
                <a:solidFill>
                  <a:srgbClr val="6B7785"/>
                </a:solidFill>
                <a:latin typeface="Segoe UI"/>
              </a:rPr>
              <a:t>31</a:t>
            </a:fld>
            <a:endParaRPr sz="750" lang="es-ES"/>
          </a:p>
        </p:txBody>
      </p:sp>
      <p:sp>
        <p:nvSpPr>
          <p:cNvPr name="TextBox 8" id="8"/>
          <p:cNvSpPr txBox="true"/>
          <p:nvPr/>
        </p:nvSpPr>
        <p:spPr>
          <a:xfrm>
            <a:off x="508000" y="1016000"/>
            <a:ext cx="11176000" cy="254000"/>
          </a:xfrm>
          <a:prstGeom prst="rect">
            <a:avLst/>
          </a:prstGeom>
        </p:spPr>
        <p:txBody>
          <a:bodyPr anchor="t" rtlCol="false" wrap="square" lIns="0" rIns="0" tIns="25400" bIns="25400"/>
          <a:lstStyle/>
          <a:p>
            <a:pPr algn="l"/>
            <a:r>
              <a:rPr lang="es-ES" sz="1300" b="true" i="false">
                <a:solidFill>
                  <a:srgbClr val="243B53"/>
                </a:solidFill>
                <a:latin typeface="Segoe UI"/>
              </a:rPr>
              <a:t>dw_grano_de_oro › hechos_ventas — Cargar hechos_ventas (Salida a tabla, vacía la tabla)</a:t>
            </a:r>
            <a:endParaRPr sz="1300" lang="es-ES"/>
          </a:p>
        </p:txBody>
      </p:sp>
      <p:graphicFrame>
        <p:nvGraphicFramePr>
          <p:cNvPr name="Table 9" id="9"/>
          <p:cNvGraphicFramePr>
            <a:graphicFrameLocks noGrp="true"/>
          </p:cNvGraphicFramePr>
          <p:nvPr/>
        </p:nvGraphicFramePr>
        <p:xfrm>
          <a:off x="508000" y="1295400"/>
          <a:ext cx="6692900" cy="2987040"/>
        </p:xfrm>
        <a:graphic>
          <a:graphicData uri="http://schemas.openxmlformats.org/drawingml/2006/table">
            <a:tbl>
              <a:tblPr/>
              <a:tblGrid>
                <a:gridCol w="1320800"/>
                <a:gridCol w="1473200"/>
                <a:gridCol w="1092200"/>
                <a:gridCol w="1714500"/>
                <a:gridCol w="1092200"/>
              </a:tblGrid>
              <a:tr h="298704">
                <a:tc>
                  <a:txBody>
                    <a:bodyPr anchor="t" rtlCol="false"/>
                    <a:lstStyle/>
                    <a:p>
                      <a:pPr algn="l"/>
                      <a:r>
                        <a:rPr lang="es-ES" sz="1100" b="true" i="false">
                          <a:solidFill>
                            <a:srgbClr val="FFFFFF"/>
                          </a:solidFill>
                          <a:latin typeface="Segoe UI"/>
                        </a:rPr>
                        <a:t>Columna</a:t>
                      </a:r>
                      <a:endParaRPr sz="1100" lang="es-ES"/>
                    </a:p>
                  </a:txBody>
                  <a:tcPr marL="76200" marR="76200" marT="38100" marB="381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cmpd="sng" algn="ctr" cap="flat" w="9525">
                      <a:solidFill>
                        <a:srgbClr val="243B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3B53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l"/>
                      <a:r>
                        <a:rPr lang="es-ES" sz="1100" b="true" i="false">
                          <a:solidFill>
                            <a:srgbClr val="FFFFFF"/>
                          </a:solidFill>
                          <a:latin typeface="Segoe UI"/>
                        </a:rPr>
                        <a:t>Campo del stream</a:t>
                      </a:r>
                      <a:endParaRPr sz="1100" lang="es-ES"/>
                    </a:p>
                  </a:txBody>
                  <a:tcPr marL="76200" marR="76200" marT="38100" marB="381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cmpd="sng" algn="ctr" cap="flat" w="9525">
                      <a:solidFill>
                        <a:srgbClr val="243B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3B53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l"/>
                      <a:r>
                        <a:rPr lang="es-ES" sz="1100" b="true" i="false">
                          <a:solidFill>
                            <a:srgbClr val="FFFFFF"/>
                          </a:solidFill>
                          <a:latin typeface="Segoe UI"/>
                        </a:rPr>
                        <a:t>Tipo Kettle</a:t>
                      </a:r>
                      <a:endParaRPr sz="1100" lang="es-ES"/>
                    </a:p>
                  </a:txBody>
                  <a:tcPr marL="76200" marR="76200" marT="38100" marB="381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cmpd="sng" algn="ctr" cap="flat" w="9525">
                      <a:solidFill>
                        <a:srgbClr val="243B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3B53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l"/>
                      <a:r>
                        <a:rPr lang="es-ES" sz="1100" b="true" i="false">
                          <a:solidFill>
                            <a:srgbClr val="FFFFFF"/>
                          </a:solidFill>
                          <a:latin typeface="Segoe UI"/>
                        </a:rPr>
                        <a:t>Tipo SQL (generado)</a:t>
                      </a:r>
                      <a:endParaRPr sz="1100" lang="es-ES"/>
                    </a:p>
                  </a:txBody>
                  <a:tcPr marL="76200" marR="76200" marT="38100" marB="381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cmpd="sng" algn="ctr" cap="flat" w="9525">
                      <a:solidFill>
                        <a:srgbClr val="243B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3B53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l"/>
                      <a:r>
                        <a:rPr lang="es-ES" sz="1100" b="true" i="false">
                          <a:solidFill>
                            <a:srgbClr val="FFFFFF"/>
                          </a:solidFill>
                          <a:latin typeface="Segoe UI"/>
                        </a:rPr>
                        <a:t>Clave / uso</a:t>
                      </a:r>
                      <a:endParaRPr sz="1100" lang="es-ES"/>
                    </a:p>
                  </a:txBody>
                  <a:tcPr marL="76200" marR="76200" marT="38100" marB="381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cmpd="sng" algn="ctr" cap="flat" w="9525">
                      <a:solidFill>
                        <a:srgbClr val="243B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3B53"/>
                    </a:solidFill>
                  </a:tcPr>
                </a:tc>
              </a:tr>
              <a:tr h="298704">
                <a:tc>
                  <a:txBody>
                    <a:bodyPr anchor="t" rtlCol="false"/>
                    <a:lstStyle/>
                    <a:p>
                      <a:pPr algn="l"/>
                      <a:r>
                        <a:rPr lang="es-ES" sz="1100" b="false" i="false">
                          <a:solidFill>
                            <a:srgbClr val="1F2933"/>
                          </a:solidFill>
                          <a:latin typeface="Segoe UI"/>
                        </a:rPr>
                        <a:t>id_ticket</a:t>
                      </a:r>
                      <a:endParaRPr sz="1100" lang="es-ES"/>
                    </a:p>
                  </a:txBody>
                  <a:tcPr marL="76200" marR="76200" marT="38100" marB="381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cmpd="sng" algn="ctr" cap="flat" w="9525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l"/>
                      <a:r>
                        <a:rPr lang="es-ES" sz="1100" b="false" i="false">
                          <a:solidFill>
                            <a:srgbClr val="1F2933"/>
                          </a:solidFill>
                          <a:latin typeface="Segoe UI"/>
                        </a:rPr>
                        <a:t>id_ticket</a:t>
                      </a:r>
                      <a:endParaRPr sz="1100" lang="es-ES"/>
                    </a:p>
                  </a:txBody>
                  <a:tcPr marL="76200" marR="76200" marT="38100" marB="381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cmpd="sng" algn="ctr" cap="flat" w="9525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l"/>
                      <a:r>
                        <a:rPr lang="es-ES" sz="1100" b="false" i="false">
                          <a:solidFill>
                            <a:srgbClr val="1F2933"/>
                          </a:solidFill>
                          <a:latin typeface="Segoe UI"/>
                        </a:rPr>
                        <a:t>String</a:t>
                      </a:r>
                      <a:endParaRPr sz="1100" lang="es-ES"/>
                    </a:p>
                  </a:txBody>
                  <a:tcPr marL="76200" marR="76200" marT="38100" marB="381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cmpd="sng" algn="ctr" cap="flat" w="9525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l"/>
                      <a:r>
                        <a:rPr lang="es-ES" sz="1100" b="false" i="false">
                          <a:solidFill>
                            <a:srgbClr val="1F2933"/>
                          </a:solidFill>
                          <a:latin typeface="Segoe UI"/>
                        </a:rPr>
                        <a:t>TEXT</a:t>
                      </a:r>
                      <a:endParaRPr sz="1100" lang="es-ES"/>
                    </a:p>
                  </a:txBody>
                  <a:tcPr marL="76200" marR="76200" marT="38100" marB="381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cmpd="sng" algn="ctr" cap="flat" w="9525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l"/>
                      <a:r>
                        <a:rPr lang="es-ES" sz="1100" b="false" i="false">
                          <a:solidFill>
                            <a:srgbClr val="1F2933"/>
                          </a:solidFill>
                          <a:latin typeface="Segoe UI"/>
                        </a:rPr>
                        <a:t> </a:t>
                      </a:r>
                      <a:endParaRPr sz="1100" lang="es-ES"/>
                    </a:p>
                  </a:txBody>
                  <a:tcPr marL="76200" marR="76200" marT="38100" marB="381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cmpd="sng" algn="ctr" cap="flat" w="9525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8704">
                <a:tc>
                  <a:txBody>
                    <a:bodyPr anchor="t" rtlCol="false"/>
                    <a:lstStyle/>
                    <a:p>
                      <a:pPr algn="l"/>
                      <a:r>
                        <a:rPr lang="es-ES" sz="1100" b="false" i="false">
                          <a:solidFill>
                            <a:srgbClr val="1F2933"/>
                          </a:solidFill>
                          <a:latin typeface="Segoe UI"/>
                        </a:rPr>
                        <a:t>linea</a:t>
                      </a:r>
                      <a:endParaRPr sz="1100" lang="es-ES"/>
                    </a:p>
                  </a:txBody>
                  <a:tcPr marL="76200" marR="76200" marT="38100" marB="381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cmpd="sng" algn="ctr" cap="flat" w="9525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1F3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l"/>
                      <a:r>
                        <a:rPr lang="es-ES" sz="1100" b="false" i="false">
                          <a:solidFill>
                            <a:srgbClr val="1F2933"/>
                          </a:solidFill>
                          <a:latin typeface="Segoe UI"/>
                        </a:rPr>
                        <a:t>linea</a:t>
                      </a:r>
                      <a:endParaRPr sz="1100" lang="es-ES"/>
                    </a:p>
                  </a:txBody>
                  <a:tcPr marL="76200" marR="76200" marT="38100" marB="381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cmpd="sng" algn="ctr" cap="flat" w="9525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1F3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l"/>
                      <a:r>
                        <a:rPr lang="es-ES" sz="1100" b="false" i="false">
                          <a:solidFill>
                            <a:srgbClr val="1F2933"/>
                          </a:solidFill>
                          <a:latin typeface="Segoe UI"/>
                        </a:rPr>
                        <a:t>Integer</a:t>
                      </a:r>
                      <a:endParaRPr sz="1100" lang="es-ES"/>
                    </a:p>
                  </a:txBody>
                  <a:tcPr marL="76200" marR="76200" marT="38100" marB="381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cmpd="sng" algn="ctr" cap="flat" w="9525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1F3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l"/>
                      <a:r>
                        <a:rPr lang="es-ES" sz="1100" b="false" i="false">
                          <a:solidFill>
                            <a:srgbClr val="1F2933"/>
                          </a:solidFill>
                          <a:latin typeface="Segoe UI"/>
                        </a:rPr>
                        <a:t>NUMERIC</a:t>
                      </a:r>
                      <a:endParaRPr sz="1100" lang="es-ES"/>
                    </a:p>
                  </a:txBody>
                  <a:tcPr marL="76200" marR="76200" marT="38100" marB="381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cmpd="sng" algn="ctr" cap="flat" w="9525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1F3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l"/>
                      <a:r>
                        <a:rPr lang="es-ES" sz="1100" b="false" i="false">
                          <a:solidFill>
                            <a:srgbClr val="1F2933"/>
                          </a:solidFill>
                          <a:latin typeface="Segoe UI"/>
                        </a:rPr>
                        <a:t> </a:t>
                      </a:r>
                      <a:endParaRPr sz="1100" lang="es-ES"/>
                    </a:p>
                  </a:txBody>
                  <a:tcPr marL="76200" marR="76200" marT="38100" marB="381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cmpd="sng" algn="ctr" cap="flat" w="9525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1F3"/>
                    </a:solidFill>
                  </a:tcPr>
                </a:tc>
              </a:tr>
              <a:tr h="298704">
                <a:tc>
                  <a:txBody>
                    <a:bodyPr anchor="t" rtlCol="false"/>
                    <a:lstStyle/>
                    <a:p>
                      <a:pPr algn="l"/>
                      <a:r>
                        <a:rPr lang="es-ES" sz="1100" b="false" i="false">
                          <a:solidFill>
                            <a:srgbClr val="1F2933"/>
                          </a:solidFill>
                          <a:latin typeface="Segoe UI"/>
                        </a:rPr>
                        <a:t>sk_fecha</a:t>
                      </a:r>
                      <a:endParaRPr sz="1100" lang="es-ES"/>
                    </a:p>
                  </a:txBody>
                  <a:tcPr marL="76200" marR="76200" marT="38100" marB="381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cmpd="sng" algn="ctr" cap="flat" w="9525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l"/>
                      <a:r>
                        <a:rPr lang="es-ES" sz="1100" b="false" i="false">
                          <a:solidFill>
                            <a:srgbClr val="1F2933"/>
                          </a:solidFill>
                          <a:latin typeface="Segoe UI"/>
                        </a:rPr>
                        <a:t>sk_fecha</a:t>
                      </a:r>
                      <a:endParaRPr sz="1100" lang="es-ES"/>
                    </a:p>
                  </a:txBody>
                  <a:tcPr marL="76200" marR="76200" marT="38100" marB="381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cmpd="sng" algn="ctr" cap="flat" w="9525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l"/>
                      <a:r>
                        <a:rPr lang="es-ES" sz="1100" b="false" i="false">
                          <a:solidFill>
                            <a:srgbClr val="1F2933"/>
                          </a:solidFill>
                          <a:latin typeface="Segoe UI"/>
                        </a:rPr>
                        <a:t>Integer</a:t>
                      </a:r>
                      <a:endParaRPr sz="1100" lang="es-ES"/>
                    </a:p>
                  </a:txBody>
                  <a:tcPr marL="76200" marR="76200" marT="38100" marB="381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cmpd="sng" algn="ctr" cap="flat" w="9525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l"/>
                      <a:r>
                        <a:rPr lang="es-ES" sz="1100" b="false" i="false">
                          <a:solidFill>
                            <a:srgbClr val="1F2933"/>
                          </a:solidFill>
                          <a:latin typeface="Segoe UI"/>
                        </a:rPr>
                        <a:t>INTEGER</a:t>
                      </a:r>
                      <a:endParaRPr sz="1100" lang="es-ES"/>
                    </a:p>
                  </a:txBody>
                  <a:tcPr marL="76200" marR="76200" marT="38100" marB="381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cmpd="sng" algn="ctr" cap="flat" w="9525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l"/>
                      <a:r>
                        <a:rPr lang="es-ES" sz="1100" b="false" i="false">
                          <a:solidFill>
                            <a:srgbClr val="1F2933"/>
                          </a:solidFill>
                          <a:latin typeface="Segoe UI"/>
                        </a:rPr>
                        <a:t> </a:t>
                      </a:r>
                      <a:endParaRPr sz="1100" lang="es-ES"/>
                    </a:p>
                  </a:txBody>
                  <a:tcPr marL="76200" marR="76200" marT="38100" marB="381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cmpd="sng" algn="ctr" cap="flat" w="9525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8704">
                <a:tc>
                  <a:txBody>
                    <a:bodyPr anchor="t" rtlCol="false"/>
                    <a:lstStyle/>
                    <a:p>
                      <a:pPr algn="l"/>
                      <a:r>
                        <a:rPr lang="es-ES" sz="1100" b="false" i="false">
                          <a:solidFill>
                            <a:srgbClr val="1F2933"/>
                          </a:solidFill>
                          <a:latin typeface="Segoe UI"/>
                        </a:rPr>
                        <a:t>sk_tienda</a:t>
                      </a:r>
                      <a:endParaRPr sz="1100" lang="es-ES"/>
                    </a:p>
                  </a:txBody>
                  <a:tcPr marL="76200" marR="76200" marT="38100" marB="381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cmpd="sng" algn="ctr" cap="flat" w="9525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1F3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l"/>
                      <a:r>
                        <a:rPr lang="es-ES" sz="1100" b="false" i="false">
                          <a:solidFill>
                            <a:srgbClr val="1F2933"/>
                          </a:solidFill>
                          <a:latin typeface="Segoe UI"/>
                        </a:rPr>
                        <a:t>sk_tienda</a:t>
                      </a:r>
                      <a:endParaRPr sz="1100" lang="es-ES"/>
                    </a:p>
                  </a:txBody>
                  <a:tcPr marL="76200" marR="76200" marT="38100" marB="381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cmpd="sng" algn="ctr" cap="flat" w="9525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1F3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l"/>
                      <a:r>
                        <a:rPr lang="es-ES" sz="1100" b="false" i="false">
                          <a:solidFill>
                            <a:srgbClr val="1F2933"/>
                          </a:solidFill>
                          <a:latin typeface="Segoe UI"/>
                        </a:rPr>
                        <a:t>Integer</a:t>
                      </a:r>
                      <a:endParaRPr sz="1100" lang="es-ES"/>
                    </a:p>
                  </a:txBody>
                  <a:tcPr marL="76200" marR="76200" marT="38100" marB="381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cmpd="sng" algn="ctr" cap="flat" w="9525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1F3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l"/>
                      <a:r>
                        <a:rPr lang="es-ES" sz="1100" b="false" i="false">
                          <a:solidFill>
                            <a:srgbClr val="1F2933"/>
                          </a:solidFill>
                          <a:latin typeface="Segoe UI"/>
                        </a:rPr>
                        <a:t>INTEGER</a:t>
                      </a:r>
                      <a:endParaRPr sz="1100" lang="es-ES"/>
                    </a:p>
                  </a:txBody>
                  <a:tcPr marL="76200" marR="76200" marT="38100" marB="381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cmpd="sng" algn="ctr" cap="flat" w="9525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1F3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l"/>
                      <a:r>
                        <a:rPr lang="es-ES" sz="1100" b="false" i="false">
                          <a:solidFill>
                            <a:srgbClr val="1F2933"/>
                          </a:solidFill>
                          <a:latin typeface="Segoe UI"/>
                        </a:rPr>
                        <a:t> </a:t>
                      </a:r>
                      <a:endParaRPr sz="1100" lang="es-ES"/>
                    </a:p>
                  </a:txBody>
                  <a:tcPr marL="76200" marR="76200" marT="38100" marB="381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cmpd="sng" algn="ctr" cap="flat" w="9525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1F3"/>
                    </a:solidFill>
                  </a:tcPr>
                </a:tc>
              </a:tr>
              <a:tr h="298704">
                <a:tc>
                  <a:txBody>
                    <a:bodyPr anchor="t" rtlCol="false"/>
                    <a:lstStyle/>
                    <a:p>
                      <a:pPr algn="l"/>
                      <a:r>
                        <a:rPr lang="es-ES" sz="1100" b="false" i="false">
                          <a:solidFill>
                            <a:srgbClr val="1F2933"/>
                          </a:solidFill>
                          <a:latin typeface="Segoe UI"/>
                        </a:rPr>
                        <a:t>sk_producto</a:t>
                      </a:r>
                      <a:endParaRPr sz="1100" lang="es-ES"/>
                    </a:p>
                  </a:txBody>
                  <a:tcPr marL="76200" marR="76200" marT="38100" marB="381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cmpd="sng" algn="ctr" cap="flat" w="9525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l"/>
                      <a:r>
                        <a:rPr lang="es-ES" sz="1100" b="false" i="false">
                          <a:solidFill>
                            <a:srgbClr val="1F2933"/>
                          </a:solidFill>
                          <a:latin typeface="Segoe UI"/>
                        </a:rPr>
                        <a:t>sk_producto</a:t>
                      </a:r>
                      <a:endParaRPr sz="1100" lang="es-ES"/>
                    </a:p>
                  </a:txBody>
                  <a:tcPr marL="76200" marR="76200" marT="38100" marB="381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cmpd="sng" algn="ctr" cap="flat" w="9525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l"/>
                      <a:r>
                        <a:rPr lang="es-ES" sz="1100" b="false" i="false">
                          <a:solidFill>
                            <a:srgbClr val="1F2933"/>
                          </a:solidFill>
                          <a:latin typeface="Segoe UI"/>
                        </a:rPr>
                        <a:t>Integer</a:t>
                      </a:r>
                      <a:endParaRPr sz="1100" lang="es-ES"/>
                    </a:p>
                  </a:txBody>
                  <a:tcPr marL="76200" marR="76200" marT="38100" marB="381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cmpd="sng" algn="ctr" cap="flat" w="9525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l"/>
                      <a:r>
                        <a:rPr lang="es-ES" sz="1100" b="false" i="false">
                          <a:solidFill>
                            <a:srgbClr val="1F2933"/>
                          </a:solidFill>
                          <a:latin typeface="Segoe UI"/>
                        </a:rPr>
                        <a:t>INTEGER</a:t>
                      </a:r>
                      <a:endParaRPr sz="1100" lang="es-ES"/>
                    </a:p>
                  </a:txBody>
                  <a:tcPr marL="76200" marR="76200" marT="38100" marB="381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cmpd="sng" algn="ctr" cap="flat" w="9525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l"/>
                      <a:r>
                        <a:rPr lang="es-ES" sz="1100" b="false" i="false">
                          <a:solidFill>
                            <a:srgbClr val="1F2933"/>
                          </a:solidFill>
                          <a:latin typeface="Segoe UI"/>
                        </a:rPr>
                        <a:t> </a:t>
                      </a:r>
                      <a:endParaRPr sz="1100" lang="es-ES"/>
                    </a:p>
                  </a:txBody>
                  <a:tcPr marL="76200" marR="76200" marT="38100" marB="381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cmpd="sng" algn="ctr" cap="flat" w="9525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8704">
                <a:tc>
                  <a:txBody>
                    <a:bodyPr anchor="t" rtlCol="false"/>
                    <a:lstStyle/>
                    <a:p>
                      <a:pPr algn="l"/>
                      <a:r>
                        <a:rPr lang="es-ES" sz="1100" b="false" i="false">
                          <a:solidFill>
                            <a:srgbClr val="1F2933"/>
                          </a:solidFill>
                          <a:latin typeface="Segoe UI"/>
                        </a:rPr>
                        <a:t>cantidad</a:t>
                      </a:r>
                      <a:endParaRPr sz="1100" lang="es-ES"/>
                    </a:p>
                  </a:txBody>
                  <a:tcPr marL="76200" marR="76200" marT="38100" marB="381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cmpd="sng" algn="ctr" cap="flat" w="9525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1F3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l"/>
                      <a:r>
                        <a:rPr lang="es-ES" sz="1100" b="false" i="false">
                          <a:solidFill>
                            <a:srgbClr val="1F2933"/>
                          </a:solidFill>
                          <a:latin typeface="Segoe UI"/>
                        </a:rPr>
                        <a:t>cantidad</a:t>
                      </a:r>
                      <a:endParaRPr sz="1100" lang="es-ES"/>
                    </a:p>
                  </a:txBody>
                  <a:tcPr marL="76200" marR="76200" marT="38100" marB="381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cmpd="sng" algn="ctr" cap="flat" w="9525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1F3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l"/>
                      <a:r>
                        <a:rPr lang="es-ES" sz="1100" b="false" i="false">
                          <a:solidFill>
                            <a:srgbClr val="1F2933"/>
                          </a:solidFill>
                          <a:latin typeface="Segoe UI"/>
                        </a:rPr>
                        <a:t>Integer</a:t>
                      </a:r>
                      <a:endParaRPr sz="1100" lang="es-ES"/>
                    </a:p>
                  </a:txBody>
                  <a:tcPr marL="76200" marR="76200" marT="38100" marB="381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cmpd="sng" algn="ctr" cap="flat" w="9525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1F3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l"/>
                      <a:r>
                        <a:rPr lang="es-ES" sz="1100" b="false" i="false">
                          <a:solidFill>
                            <a:srgbClr val="1F2933"/>
                          </a:solidFill>
                          <a:latin typeface="Segoe UI"/>
                        </a:rPr>
                        <a:t>NUMERIC</a:t>
                      </a:r>
                      <a:endParaRPr sz="1100" lang="es-ES"/>
                    </a:p>
                  </a:txBody>
                  <a:tcPr marL="76200" marR="76200" marT="38100" marB="381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cmpd="sng" algn="ctr" cap="flat" w="9525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1F3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l"/>
                      <a:r>
                        <a:rPr lang="es-ES" sz="1100" b="false" i="false">
                          <a:solidFill>
                            <a:srgbClr val="1F2933"/>
                          </a:solidFill>
                          <a:latin typeface="Segoe UI"/>
                        </a:rPr>
                        <a:t> </a:t>
                      </a:r>
                      <a:endParaRPr sz="1100" lang="es-ES"/>
                    </a:p>
                  </a:txBody>
                  <a:tcPr marL="76200" marR="76200" marT="38100" marB="381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cmpd="sng" algn="ctr" cap="flat" w="9525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1F3"/>
                    </a:solidFill>
                  </a:tcPr>
                </a:tc>
              </a:tr>
              <a:tr h="298704">
                <a:tc>
                  <a:txBody>
                    <a:bodyPr anchor="t" rtlCol="false"/>
                    <a:lstStyle/>
                    <a:p>
                      <a:pPr algn="l"/>
                      <a:r>
                        <a:rPr lang="es-ES" sz="1100" b="false" i="false">
                          <a:solidFill>
                            <a:srgbClr val="1F2933"/>
                          </a:solidFill>
                          <a:latin typeface="Segoe UI"/>
                        </a:rPr>
                        <a:t>precio_unitario</a:t>
                      </a:r>
                      <a:endParaRPr sz="1100" lang="es-ES"/>
                    </a:p>
                  </a:txBody>
                  <a:tcPr marL="76200" marR="76200" marT="38100" marB="381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cmpd="sng" algn="ctr" cap="flat" w="9525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l"/>
                      <a:r>
                        <a:rPr lang="es-ES" sz="1100" b="false" i="false">
                          <a:solidFill>
                            <a:srgbClr val="1F2933"/>
                          </a:solidFill>
                          <a:latin typeface="Segoe UI"/>
                        </a:rPr>
                        <a:t>precio_unitario</a:t>
                      </a:r>
                      <a:endParaRPr sz="1100" lang="es-ES"/>
                    </a:p>
                  </a:txBody>
                  <a:tcPr marL="76200" marR="76200" marT="38100" marB="381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cmpd="sng" algn="ctr" cap="flat" w="9525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l"/>
                      <a:r>
                        <a:rPr lang="es-ES" sz="1100" b="false" i="false">
                          <a:solidFill>
                            <a:srgbClr val="1F2933"/>
                          </a:solidFill>
                          <a:latin typeface="Segoe UI"/>
                        </a:rPr>
                        <a:t>Number</a:t>
                      </a:r>
                      <a:endParaRPr sz="1100" lang="es-ES"/>
                    </a:p>
                  </a:txBody>
                  <a:tcPr marL="76200" marR="76200" marT="38100" marB="381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cmpd="sng" algn="ctr" cap="flat" w="9525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l"/>
                      <a:r>
                        <a:rPr lang="es-ES" sz="1100" b="false" i="false">
                          <a:solidFill>
                            <a:srgbClr val="1F2933"/>
                          </a:solidFill>
                          <a:latin typeface="Segoe UI"/>
                        </a:rPr>
                        <a:t>NUMERIC</a:t>
                      </a:r>
                      <a:endParaRPr sz="1100" lang="es-ES"/>
                    </a:p>
                  </a:txBody>
                  <a:tcPr marL="76200" marR="76200" marT="38100" marB="381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cmpd="sng" algn="ctr" cap="flat" w="9525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l"/>
                      <a:r>
                        <a:rPr lang="es-ES" sz="1100" b="false" i="false">
                          <a:solidFill>
                            <a:srgbClr val="1F2933"/>
                          </a:solidFill>
                          <a:latin typeface="Segoe UI"/>
                        </a:rPr>
                        <a:t> </a:t>
                      </a:r>
                      <a:endParaRPr sz="1100" lang="es-ES"/>
                    </a:p>
                  </a:txBody>
                  <a:tcPr marL="76200" marR="76200" marT="38100" marB="381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cmpd="sng" algn="ctr" cap="flat" w="9525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8704">
                <a:tc>
                  <a:txBody>
                    <a:bodyPr anchor="t" rtlCol="false"/>
                    <a:lstStyle/>
                    <a:p>
                      <a:pPr algn="l"/>
                      <a:r>
                        <a:rPr lang="es-ES" sz="1100" b="false" i="false">
                          <a:solidFill>
                            <a:srgbClr val="1F2933"/>
                          </a:solidFill>
                          <a:latin typeface="Segoe UI"/>
                        </a:rPr>
                        <a:t>importe</a:t>
                      </a:r>
                      <a:endParaRPr sz="1100" lang="es-ES"/>
                    </a:p>
                  </a:txBody>
                  <a:tcPr marL="76200" marR="76200" marT="38100" marB="381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cmpd="sng" algn="ctr" cap="flat" w="9525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1F3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l"/>
                      <a:r>
                        <a:rPr lang="es-ES" sz="1100" b="false" i="false">
                          <a:solidFill>
                            <a:srgbClr val="1F2933"/>
                          </a:solidFill>
                          <a:latin typeface="Segoe UI"/>
                        </a:rPr>
                        <a:t>importe</a:t>
                      </a:r>
                      <a:endParaRPr sz="1100" lang="es-ES"/>
                    </a:p>
                  </a:txBody>
                  <a:tcPr marL="76200" marR="76200" marT="38100" marB="381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cmpd="sng" algn="ctr" cap="flat" w="9525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1F3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l"/>
                      <a:r>
                        <a:rPr lang="es-ES" sz="1100" b="false" i="false">
                          <a:solidFill>
                            <a:srgbClr val="1F2933"/>
                          </a:solidFill>
                          <a:latin typeface="Segoe UI"/>
                        </a:rPr>
                        <a:t>Number</a:t>
                      </a:r>
                      <a:endParaRPr sz="1100" lang="es-ES"/>
                    </a:p>
                  </a:txBody>
                  <a:tcPr marL="76200" marR="76200" marT="38100" marB="381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cmpd="sng" algn="ctr" cap="flat" w="9525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1F3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l"/>
                      <a:r>
                        <a:rPr lang="es-ES" sz="1100" b="false" i="false">
                          <a:solidFill>
                            <a:srgbClr val="1F2933"/>
                          </a:solidFill>
                          <a:latin typeface="Segoe UI"/>
                        </a:rPr>
                        <a:t>NUMERIC</a:t>
                      </a:r>
                      <a:endParaRPr sz="1100" lang="es-ES"/>
                    </a:p>
                  </a:txBody>
                  <a:tcPr marL="76200" marR="76200" marT="38100" marB="381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cmpd="sng" algn="ctr" cap="flat" w="9525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1F3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l"/>
                      <a:r>
                        <a:rPr lang="es-ES" sz="1100" b="false" i="false">
                          <a:solidFill>
                            <a:srgbClr val="1F2933"/>
                          </a:solidFill>
                          <a:latin typeface="Segoe UI"/>
                        </a:rPr>
                        <a:t> </a:t>
                      </a:r>
                      <a:endParaRPr sz="1100" lang="es-ES"/>
                    </a:p>
                  </a:txBody>
                  <a:tcPr marL="76200" marR="76200" marT="38100" marB="381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cmpd="sng" algn="ctr" cap="flat" w="9525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1F3"/>
                    </a:solidFill>
                  </a:tcPr>
                </a:tc>
              </a:tr>
              <a:tr h="298704">
                <a:tc>
                  <a:txBody>
                    <a:bodyPr anchor="t" rtlCol="false"/>
                    <a:lstStyle/>
                    <a:p>
                      <a:pPr algn="l"/>
                      <a:r>
                        <a:rPr lang="es-ES" sz="1100" b="false" i="false">
                          <a:solidFill>
                            <a:srgbClr val="1F2933"/>
                          </a:solidFill>
                          <a:latin typeface="Segoe UI"/>
                        </a:rPr>
                        <a:t>metodo_pago</a:t>
                      </a:r>
                      <a:endParaRPr sz="1100" lang="es-ES"/>
                    </a:p>
                  </a:txBody>
                  <a:tcPr marL="76200" marR="76200" marT="38100" marB="381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cmpd="sng" algn="ctr" cap="flat" w="9525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l"/>
                      <a:r>
                        <a:rPr lang="es-ES" sz="1100" b="false" i="false">
                          <a:solidFill>
                            <a:srgbClr val="1F2933"/>
                          </a:solidFill>
                          <a:latin typeface="Segoe UI"/>
                        </a:rPr>
                        <a:t>metodo_pago</a:t>
                      </a:r>
                      <a:endParaRPr sz="1100" lang="es-ES"/>
                    </a:p>
                  </a:txBody>
                  <a:tcPr marL="76200" marR="76200" marT="38100" marB="381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cmpd="sng" algn="ctr" cap="flat" w="9525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l"/>
                      <a:r>
                        <a:rPr lang="es-ES" sz="1100" b="false" i="false">
                          <a:solidFill>
                            <a:srgbClr val="1F2933"/>
                          </a:solidFill>
                          <a:latin typeface="Segoe UI"/>
                        </a:rPr>
                        <a:t>String</a:t>
                      </a:r>
                      <a:endParaRPr sz="1100" lang="es-ES"/>
                    </a:p>
                  </a:txBody>
                  <a:tcPr marL="76200" marR="76200" marT="38100" marB="381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cmpd="sng" algn="ctr" cap="flat" w="9525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l"/>
                      <a:r>
                        <a:rPr lang="es-ES" sz="1100" b="false" i="false">
                          <a:solidFill>
                            <a:srgbClr val="1F2933"/>
                          </a:solidFill>
                          <a:latin typeface="Segoe UI"/>
                        </a:rPr>
                        <a:t>TEXT</a:t>
                      </a:r>
                      <a:endParaRPr sz="1100" lang="es-ES"/>
                    </a:p>
                  </a:txBody>
                  <a:tcPr marL="76200" marR="76200" marT="38100" marB="381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cmpd="sng" algn="ctr" cap="flat" w="9525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l"/>
                      <a:r>
                        <a:rPr lang="es-ES" sz="1100" b="false" i="false">
                          <a:solidFill>
                            <a:srgbClr val="1F2933"/>
                          </a:solidFill>
                          <a:latin typeface="Segoe UI"/>
                        </a:rPr>
                        <a:t> </a:t>
                      </a:r>
                      <a:endParaRPr sz="1100" lang="es-ES"/>
                    </a:p>
                  </a:txBody>
                  <a:tcPr marL="76200" marR="76200" marT="38100" marB="381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cmpd="sng" algn="ctr" cap="flat" w="9525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name="AutoShape 10" id="10"/>
          <p:cNvSpPr/>
          <p:nvPr/>
        </p:nvSpPr>
        <p:spPr>
          <a:xfrm>
            <a:off x="508000" y="4409440"/>
            <a:ext cx="38100" cy="562864"/>
          </a:xfrm>
          <a:prstGeom prst="rect">
            <a:avLst/>
          </a:prstGeom>
          <a:solidFill>
            <a:srgbClr val="243B53"/>
          </a:solidFill>
          <a:ln>
            <a:noFill/>
          </a:ln>
        </p:spPr>
      </p:sp>
      <p:sp>
        <p:nvSpPr>
          <p:cNvPr name="TextBox 11" id="11"/>
          <p:cNvSpPr txBox="true"/>
          <p:nvPr/>
        </p:nvSpPr>
        <p:spPr>
          <a:xfrm>
            <a:off x="660400" y="4409440"/>
            <a:ext cx="11023600" cy="562864"/>
          </a:xfrm>
          <a:prstGeom prst="rect">
            <a:avLst/>
          </a:prstGeom>
        </p:spPr>
        <p:txBody>
          <a:bodyPr anchor="ctr" rtlCol="false" wrap="square" lIns="0" rIns="0" tIns="25400" bIns="25400"/>
          <a:lstStyle/>
          <a:p>
            <a:pPr algn="l"/>
            <a:r>
              <a:rPr lang="es-ES" sz="1300" b="false" i="true">
                <a:solidFill>
                  <a:srgbClr val="243B53"/>
                </a:solidFill>
                <a:latin typeface="Segoe UI"/>
              </a:rPr>
              <a:t>No se consultó la base: no se muestran las claves primarias ni foráneas, y los tipos SQL son los que generaría Kettle. Con «Consultar la base» se leen.</a:t>
            </a:r>
            <a:endParaRPr sz="1300" lang="es-ES"/>
          </a:p>
        </p:txBody>
      </p:sp>
    </p:spTree>
  </p:cSld>
  <p:clrMapOvr>
    <a:masterClrMapping/>
  </p:clrMapOvr>
</p:sld>
</file>

<file path=ppt/slides/slide32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8000" y="203200"/>
            <a:ext cx="11176000" cy="635000"/>
          </a:xfrm>
        </p:spPr>
        <p:txBody>
          <a:bodyPr lIns="0" rIns="0" wrap="square" anchor="ctr"/>
          <a:lstStyle/>
          <a:p>
            <a:pPr algn="l"/>
            <a:r>
              <a:rPr lang="es-ES" sz="2600" b="true" i="false">
                <a:solidFill>
                  <a:srgbClr val="243B53"/>
                </a:solidFill>
                <a:latin typeface="Segoe UI"/>
              </a:rPr>
              <a:t>Perfil de datos</a:t>
            </a:r>
            <a:endParaRPr sz="2600" lang="es-ES"/>
          </a:p>
        </p:txBody>
      </p:sp>
      <p:pic>
        <p:nvPicPr>
          <p:cNvPr name="Picture 3" id="3"/>
          <p:cNvPicPr>
            <a:picLocks noChangeAspect="true"/>
          </p:cNvPicPr>
          <p:nvPr/>
        </p:nvPicPr>
        <p:blipFill>
          <a:blip r:embed="rId2"/>
          <a:stretch>
            <a:fillRect/>
          </a:stretch>
        </p:blipFill>
        <p:spPr>
          <a:xfrm>
            <a:off x="10248900" y="5510084"/>
            <a:ext cx="1435100" cy="814516"/>
          </a:xfrm>
          <a:prstGeom prst="rect">
            <a:avLst/>
          </a:prstGeom>
        </p:spPr>
      </p:pic>
      <p:sp>
        <p:nvSpPr>
          <p:cNvPr name="AutoShape 4" id="4"/>
          <p:cNvSpPr/>
          <p:nvPr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243B53"/>
          </a:solidFill>
          <a:ln>
            <a:noFill/>
          </a:ln>
        </p:spPr>
      </p:sp>
      <p:pic>
        <p:nvPicPr>
          <p:cNvPr name="Picture 5" id="5"/>
          <p:cNvPicPr>
            <a:picLocks noChangeAspect="true"/>
          </p:cNvPicPr>
          <p:nvPr/>
        </p:nvPicPr>
        <p:blipFill>
          <a:blip r:embed="rId3"/>
          <a:stretch>
            <a:fillRect/>
          </a:stretch>
        </p:blipFill>
        <p:spPr>
          <a:xfrm>
            <a:off x="508000" y="6508750"/>
            <a:ext cx="177800" cy="100914"/>
          </a:xfrm>
          <a:prstGeom prst="rect">
            <a:avLst/>
          </a:prstGeom>
        </p:spPr>
      </p:pic>
      <p:sp>
        <p:nvSpPr>
          <p:cNvPr name="TextBox 6" id="6"/>
          <p:cNvSpPr txBox="true"/>
          <p:nvPr/>
        </p:nvSpPr>
        <p:spPr>
          <a:xfrm>
            <a:off x="749300" y="6451600"/>
            <a:ext cx="5080000" cy="228600"/>
          </a:xfrm>
          <a:prstGeom prst="rect">
            <a:avLst/>
          </a:prstGeom>
        </p:spPr>
        <p:txBody>
          <a:bodyPr anchor="ctr" rtlCol="false" wrap="square" lIns="0" rIns="0" tIns="25400" bIns="25400"/>
          <a:lstStyle/>
          <a:p>
            <a:pPr algn="l"/>
            <a:r>
              <a:rPr lang="es-ES" sz="750" b="false" i="false">
                <a:solidFill>
                  <a:srgbClr val="6B7785"/>
                </a:solidFill>
                <a:latin typeface="Segoe UI"/>
              </a:rPr>
              <a:t>Pentaho Live · IDC Studios</a:t>
            </a:r>
            <a:endParaRPr sz="750" lang="es-ES"/>
          </a:p>
        </p:txBody>
      </p:sp>
      <p:sp>
        <p:nvSpPr>
          <p:cNvPr name="TextBox 7" id="7"/>
          <p:cNvSpPr txBox="true"/>
          <p:nvPr/>
        </p:nvSpPr>
        <p:spPr>
          <a:xfrm>
            <a:off x="10160000" y="6451600"/>
            <a:ext cx="1524000" cy="228600"/>
          </a:xfrm>
          <a:prstGeom prst="rect">
            <a:avLst/>
          </a:prstGeom>
        </p:spPr>
        <p:txBody>
          <a:bodyPr anchor="ctr" rtlCol="false" wrap="square" lIns="0" rIns="0" tIns="25400" bIns="25400"/>
          <a:lstStyle/>
          <a:p>
            <a:pPr algn="r"/>
            <a:fld id="{77AEACE7-1885-4217-95EB-2DA7625F787F}" type="slidenum">
              <a:rPr lang="es-ES" sz="750">
                <a:solidFill>
                  <a:srgbClr val="6B7785"/>
                </a:solidFill>
                <a:latin typeface="Segoe UI"/>
              </a:rPr>
              <a:t>32</a:t>
            </a:fld>
            <a:endParaRPr sz="750" lang="es-ES"/>
          </a:p>
        </p:txBody>
      </p:sp>
      <p:sp>
        <p:nvSpPr>
          <p:cNvPr name="AutoShape 8" id="8"/>
          <p:cNvSpPr/>
          <p:nvPr/>
        </p:nvSpPr>
        <p:spPr>
          <a:xfrm>
            <a:off x="508000" y="1016000"/>
            <a:ext cx="38100" cy="344932"/>
          </a:xfrm>
          <a:prstGeom prst="rect">
            <a:avLst/>
          </a:prstGeom>
          <a:solidFill>
            <a:srgbClr val="243B53"/>
          </a:solidFill>
          <a:ln>
            <a:noFill/>
          </a:ln>
        </p:spPr>
      </p:sp>
      <p:sp>
        <p:nvSpPr>
          <p:cNvPr name="TextBox 9" id="9"/>
          <p:cNvSpPr txBox="true"/>
          <p:nvPr/>
        </p:nvSpPr>
        <p:spPr>
          <a:xfrm>
            <a:off x="660400" y="1016000"/>
            <a:ext cx="11023600" cy="344932"/>
          </a:xfrm>
          <a:prstGeom prst="rect">
            <a:avLst/>
          </a:prstGeom>
        </p:spPr>
        <p:txBody>
          <a:bodyPr anchor="ctr" rtlCol="false" wrap="square" lIns="0" rIns="0" tIns="25400" bIns="25400"/>
          <a:lstStyle/>
          <a:p>
            <a:pPr algn="l"/>
            <a:r>
              <a:rPr lang="es-ES" sz="1300" b="false" i="true">
                <a:solidFill>
                  <a:srgbClr val="243B53"/>
                </a:solidFill>
                <a:latin typeface="Segoe UI"/>
              </a:rPr>
              <a:t>Estadísticas de las 3.000 filas que salieron de «Convertir precio a número» (todas).</a:t>
            </a:r>
            <a:endParaRPr sz="1300" lang="es-ES"/>
          </a:p>
        </p:txBody>
      </p:sp>
      <p:sp>
        <p:nvSpPr>
          <p:cNvPr name="TextBox 10" id="10"/>
          <p:cNvSpPr txBox="true"/>
          <p:nvPr/>
        </p:nvSpPr>
        <p:spPr>
          <a:xfrm>
            <a:off x="508000" y="1487932"/>
            <a:ext cx="11176000" cy="254000"/>
          </a:xfrm>
          <a:prstGeom prst="rect">
            <a:avLst/>
          </a:prstGeom>
        </p:spPr>
        <p:txBody>
          <a:bodyPr anchor="t" rtlCol="false" wrap="square" lIns="0" rIns="0" tIns="25400" bIns="25400"/>
          <a:lstStyle/>
          <a:p>
            <a:pPr algn="l"/>
            <a:r>
              <a:rPr lang="es-ES" sz="1300" b="true" i="false">
                <a:solidFill>
                  <a:srgbClr val="243B53"/>
                </a:solidFill>
                <a:latin typeface="Segoe UI"/>
              </a:rPr>
              <a:t>Campos</a:t>
            </a:r>
            <a:endParaRPr sz="1300" lang="es-ES"/>
          </a:p>
        </p:txBody>
      </p:sp>
      <p:graphicFrame>
        <p:nvGraphicFramePr>
          <p:cNvPr name="Table 11" id="11"/>
          <p:cNvGraphicFramePr>
            <a:graphicFrameLocks noGrp="true"/>
          </p:cNvGraphicFramePr>
          <p:nvPr/>
        </p:nvGraphicFramePr>
        <p:xfrm>
          <a:off x="508000" y="1767332"/>
          <a:ext cx="6642100" cy="2537460"/>
        </p:xfrm>
        <a:graphic>
          <a:graphicData uri="http://schemas.openxmlformats.org/drawingml/2006/table">
            <a:tbl>
              <a:tblPr/>
              <a:tblGrid>
                <a:gridCol w="1219200"/>
                <a:gridCol w="660400"/>
                <a:gridCol w="876300"/>
                <a:gridCol w="660400"/>
                <a:gridCol w="876300"/>
                <a:gridCol w="596900"/>
                <a:gridCol w="876300"/>
                <a:gridCol w="876300"/>
              </a:tblGrid>
              <a:tr h="281940">
                <a:tc>
                  <a:txBody>
                    <a:bodyPr anchor="t" rtlCol="false"/>
                    <a:lstStyle/>
                    <a:p>
                      <a:pPr algn="l"/>
                      <a:r>
                        <a:rPr lang="es-ES" sz="1000" b="true" i="false">
                          <a:solidFill>
                            <a:srgbClr val="FFFFFF"/>
                          </a:solidFill>
                          <a:latin typeface="Segoe UI"/>
                        </a:rPr>
                        <a:t>Campo</a:t>
                      </a:r>
                      <a:endParaRPr sz="1000" lang="es-ES"/>
                    </a:p>
                  </a:txBody>
                  <a:tcPr marL="76200" marR="76200" marT="38100" marB="381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cmpd="sng" algn="ctr" cap="flat" w="9525">
                      <a:solidFill>
                        <a:srgbClr val="243B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3B53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l"/>
                      <a:r>
                        <a:rPr lang="es-ES" sz="1000" b="true" i="false">
                          <a:solidFill>
                            <a:srgbClr val="FFFFFF"/>
                          </a:solidFill>
                          <a:latin typeface="Segoe UI"/>
                        </a:rPr>
                        <a:t>Tipo</a:t>
                      </a:r>
                      <a:endParaRPr sz="1000" lang="es-ES"/>
                    </a:p>
                  </a:txBody>
                  <a:tcPr marL="76200" marR="76200" marT="38100" marB="381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cmpd="sng" algn="ctr" cap="flat" w="9525">
                      <a:solidFill>
                        <a:srgbClr val="243B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3B53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r"/>
                      <a:r>
                        <a:rPr lang="es-ES" sz="1000" b="true" i="false">
                          <a:solidFill>
                            <a:srgbClr val="FFFFFF"/>
                          </a:solidFill>
                          <a:latin typeface="Segoe UI"/>
                        </a:rPr>
                        <a:t>Nulos</a:t>
                      </a:r>
                      <a:endParaRPr sz="1000" lang="es-ES"/>
                    </a:p>
                  </a:txBody>
                  <a:tcPr marL="76200" marR="76200" marT="38100" marB="381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cmpd="sng" algn="ctr" cap="flat" w="9525">
                      <a:solidFill>
                        <a:srgbClr val="243B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3B53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r"/>
                      <a:r>
                        <a:rPr lang="es-ES" sz="1000" b="true" i="false">
                          <a:solidFill>
                            <a:srgbClr val="FFFFFF"/>
                          </a:solidFill>
                          <a:latin typeface="Segoe UI"/>
                        </a:rPr>
                        <a:t>Vacíos</a:t>
                      </a:r>
                      <a:endParaRPr sz="1000" lang="es-ES"/>
                    </a:p>
                  </a:txBody>
                  <a:tcPr marL="76200" marR="76200" marT="38100" marB="381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cmpd="sng" algn="ctr" cap="flat" w="9525">
                      <a:solidFill>
                        <a:srgbClr val="243B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3B53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r"/>
                      <a:r>
                        <a:rPr lang="es-ES" sz="1000" b="true" i="false">
                          <a:solidFill>
                            <a:srgbClr val="FFFFFF"/>
                          </a:solidFill>
                          <a:latin typeface="Segoe UI"/>
                        </a:rPr>
                        <a:t>Distintos</a:t>
                      </a:r>
                      <a:endParaRPr sz="1000" lang="es-ES"/>
                    </a:p>
                  </a:txBody>
                  <a:tcPr marL="76200" marR="76200" marT="38100" marB="381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cmpd="sng" algn="ctr" cap="flat" w="9525">
                      <a:solidFill>
                        <a:srgbClr val="243B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3B53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r"/>
                      <a:r>
                        <a:rPr lang="es-ES" sz="1000" b="true" i="false">
                          <a:solidFill>
                            <a:srgbClr val="FFFFFF"/>
                          </a:solidFill>
                          <a:latin typeface="Segoe UI"/>
                        </a:rPr>
                        <a:t>Largo</a:t>
                      </a:r>
                      <a:endParaRPr sz="1000" lang="es-ES"/>
                    </a:p>
                  </a:txBody>
                  <a:tcPr marL="76200" marR="76200" marT="38100" marB="381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cmpd="sng" algn="ctr" cap="flat" w="9525">
                      <a:solidFill>
                        <a:srgbClr val="243B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3B53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l"/>
                      <a:r>
                        <a:rPr lang="es-ES" sz="1000" b="true" i="false">
                          <a:solidFill>
                            <a:srgbClr val="FFFFFF"/>
                          </a:solidFill>
                          <a:latin typeface="Segoe UI"/>
                        </a:rPr>
                        <a:t>Mínimo</a:t>
                      </a:r>
                      <a:endParaRPr sz="1000" lang="es-ES"/>
                    </a:p>
                  </a:txBody>
                  <a:tcPr marL="76200" marR="76200" marT="38100" marB="381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cmpd="sng" algn="ctr" cap="flat" w="9525">
                      <a:solidFill>
                        <a:srgbClr val="243B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3B53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l"/>
                      <a:r>
                        <a:rPr lang="es-ES" sz="1000" b="true" i="false">
                          <a:solidFill>
                            <a:srgbClr val="FFFFFF"/>
                          </a:solidFill>
                          <a:latin typeface="Segoe UI"/>
                        </a:rPr>
                        <a:t>Máximo</a:t>
                      </a:r>
                      <a:endParaRPr sz="1000" lang="es-ES"/>
                    </a:p>
                  </a:txBody>
                  <a:tcPr marL="76200" marR="76200" marT="38100" marB="381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cmpd="sng" algn="ctr" cap="flat" w="9525">
                      <a:solidFill>
                        <a:srgbClr val="243B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3B53"/>
                    </a:solidFill>
                  </a:tcPr>
                </a:tc>
              </a:tr>
              <a:tr h="281940">
                <a:tc>
                  <a:txBody>
                    <a:bodyPr anchor="t" rtlCol="false"/>
                    <a:lstStyle/>
                    <a:p>
                      <a:pPr algn="l"/>
                      <a:r>
                        <a:rPr lang="es-ES" sz="1000" b="false" i="false">
                          <a:solidFill>
                            <a:srgbClr val="1F2933"/>
                          </a:solidFill>
                          <a:latin typeface="Segoe UI"/>
                        </a:rPr>
                        <a:t>id_ticket</a:t>
                      </a:r>
                      <a:endParaRPr sz="1000" lang="es-ES"/>
                    </a:p>
                  </a:txBody>
                  <a:tcPr marL="76200" marR="76200" marT="38100" marB="381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cmpd="sng" algn="ctr" cap="flat" w="9525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l"/>
                      <a:r>
                        <a:rPr lang="es-ES" sz="1000" b="false" i="false">
                          <a:solidFill>
                            <a:srgbClr val="1F2933"/>
                          </a:solidFill>
                          <a:latin typeface="Segoe UI"/>
                        </a:rPr>
                        <a:t>String</a:t>
                      </a:r>
                      <a:endParaRPr sz="1000" lang="es-ES"/>
                    </a:p>
                  </a:txBody>
                  <a:tcPr marL="76200" marR="76200" marT="38100" marB="381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cmpd="sng" algn="ctr" cap="flat" w="9525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r"/>
                      <a:r>
                        <a:rPr lang="es-ES" sz="1000" b="false" i="false">
                          <a:solidFill>
                            <a:srgbClr val="1F2933"/>
                          </a:solidFill>
                          <a:latin typeface="Segoe UI"/>
                        </a:rPr>
                        <a:t>0 (0,0 %)</a:t>
                      </a:r>
                      <a:endParaRPr sz="1000" lang="es-ES"/>
                    </a:p>
                  </a:txBody>
                  <a:tcPr marL="76200" marR="76200" marT="38100" marB="381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cmpd="sng" algn="ctr" cap="flat" w="9525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r"/>
                      <a:r>
                        <a:rPr lang="es-ES" sz="1000" b="false" i="false">
                          <a:solidFill>
                            <a:srgbClr val="1F2933"/>
                          </a:solidFill>
                          <a:latin typeface="Segoe UI"/>
                        </a:rPr>
                        <a:t>0</a:t>
                      </a:r>
                      <a:endParaRPr sz="1000" lang="es-ES"/>
                    </a:p>
                  </a:txBody>
                  <a:tcPr marL="76200" marR="76200" marT="38100" marB="381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cmpd="sng" algn="ctr" cap="flat" w="9525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r"/>
                      <a:r>
                        <a:rPr lang="es-ES" sz="1000" b="false" i="false">
                          <a:solidFill>
                            <a:srgbClr val="1F2933"/>
                          </a:solidFill>
                          <a:latin typeface="Segoe UI"/>
                        </a:rPr>
                        <a:t>1.507</a:t>
                      </a:r>
                      <a:endParaRPr sz="1000" lang="es-ES"/>
                    </a:p>
                  </a:txBody>
                  <a:tcPr marL="76200" marR="76200" marT="38100" marB="381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cmpd="sng" algn="ctr" cap="flat" w="9525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r"/>
                      <a:r>
                        <a:rPr lang="es-ES" sz="1000" b="false" i="false">
                          <a:solidFill>
                            <a:srgbClr val="1F2933"/>
                          </a:solidFill>
                          <a:latin typeface="Segoe UI"/>
                        </a:rPr>
                        <a:t>8</a:t>
                      </a:r>
                      <a:endParaRPr sz="1000" lang="es-ES"/>
                    </a:p>
                  </a:txBody>
                  <a:tcPr marL="76200" marR="76200" marT="38100" marB="381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cmpd="sng" algn="ctr" cap="flat" w="9525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l"/>
                      <a:r>
                        <a:rPr lang="es-ES" sz="1000" b="false" i="false">
                          <a:solidFill>
                            <a:srgbClr val="1F2933"/>
                          </a:solidFill>
                          <a:latin typeface="Segoe UI"/>
                        </a:rPr>
                        <a:t>TK000001</a:t>
                      </a:r>
                      <a:endParaRPr sz="1000" lang="es-ES"/>
                    </a:p>
                  </a:txBody>
                  <a:tcPr marL="76200" marR="76200" marT="38100" marB="381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cmpd="sng" algn="ctr" cap="flat" w="9525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l"/>
                      <a:r>
                        <a:rPr lang="es-ES" sz="1000" b="false" i="false">
                          <a:solidFill>
                            <a:srgbClr val="1F2933"/>
                          </a:solidFill>
                          <a:latin typeface="Segoe UI"/>
                        </a:rPr>
                        <a:t>TK001507</a:t>
                      </a:r>
                      <a:endParaRPr sz="1000" lang="es-ES"/>
                    </a:p>
                  </a:txBody>
                  <a:tcPr marL="76200" marR="76200" marT="38100" marB="381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cmpd="sng" algn="ctr" cap="flat" w="9525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1940">
                <a:tc>
                  <a:txBody>
                    <a:bodyPr anchor="t" rtlCol="false"/>
                    <a:lstStyle/>
                    <a:p>
                      <a:pPr algn="l"/>
                      <a:r>
                        <a:rPr lang="es-ES" sz="1000" b="false" i="false">
                          <a:solidFill>
                            <a:srgbClr val="1F2933"/>
                          </a:solidFill>
                          <a:latin typeface="Segoe UI"/>
                        </a:rPr>
                        <a:t>linea</a:t>
                      </a:r>
                      <a:endParaRPr sz="1000" lang="es-ES"/>
                    </a:p>
                  </a:txBody>
                  <a:tcPr marL="76200" marR="76200" marT="38100" marB="381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cmpd="sng" algn="ctr" cap="flat" w="9525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1F3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l"/>
                      <a:r>
                        <a:rPr lang="es-ES" sz="1000" b="false" i="false">
                          <a:solidFill>
                            <a:srgbClr val="1F2933"/>
                          </a:solidFill>
                          <a:latin typeface="Segoe UI"/>
                        </a:rPr>
                        <a:t>Integer</a:t>
                      </a:r>
                      <a:endParaRPr sz="1000" lang="es-ES"/>
                    </a:p>
                  </a:txBody>
                  <a:tcPr marL="76200" marR="76200" marT="38100" marB="381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cmpd="sng" algn="ctr" cap="flat" w="9525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1F3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r"/>
                      <a:r>
                        <a:rPr lang="es-ES" sz="1000" b="false" i="false">
                          <a:solidFill>
                            <a:srgbClr val="1F2933"/>
                          </a:solidFill>
                          <a:latin typeface="Segoe UI"/>
                        </a:rPr>
                        <a:t>0 (0,0 %)</a:t>
                      </a:r>
                      <a:endParaRPr sz="1000" lang="es-ES"/>
                    </a:p>
                  </a:txBody>
                  <a:tcPr marL="76200" marR="76200" marT="38100" marB="381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cmpd="sng" algn="ctr" cap="flat" w="9525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1F3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r"/>
                      <a:r>
                        <a:rPr lang="es-ES" sz="1000" b="false" i="false">
                          <a:solidFill>
                            <a:srgbClr val="1F2933"/>
                          </a:solidFill>
                          <a:latin typeface="Segoe UI"/>
                        </a:rPr>
                        <a:t> </a:t>
                      </a:r>
                      <a:endParaRPr sz="1000" lang="es-ES"/>
                    </a:p>
                  </a:txBody>
                  <a:tcPr marL="76200" marR="76200" marT="38100" marB="381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cmpd="sng" algn="ctr" cap="flat" w="9525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1F3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r"/>
                      <a:r>
                        <a:rPr lang="es-ES" sz="1000" b="false" i="false">
                          <a:solidFill>
                            <a:srgbClr val="1F2933"/>
                          </a:solidFill>
                          <a:latin typeface="Segoe UI"/>
                        </a:rPr>
                        <a:t>4</a:t>
                      </a:r>
                      <a:endParaRPr sz="1000" lang="es-ES"/>
                    </a:p>
                  </a:txBody>
                  <a:tcPr marL="76200" marR="76200" marT="38100" marB="381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cmpd="sng" algn="ctr" cap="flat" w="9525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1F3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r"/>
                      <a:r>
                        <a:rPr lang="es-ES" sz="1000" b="false" i="false">
                          <a:solidFill>
                            <a:srgbClr val="1F2933"/>
                          </a:solidFill>
                          <a:latin typeface="Segoe UI"/>
                        </a:rPr>
                        <a:t> </a:t>
                      </a:r>
                      <a:endParaRPr sz="1000" lang="es-ES"/>
                    </a:p>
                  </a:txBody>
                  <a:tcPr marL="76200" marR="76200" marT="38100" marB="381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cmpd="sng" algn="ctr" cap="flat" w="9525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1F3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l"/>
                      <a:r>
                        <a:rPr lang="es-ES" sz="1000" b="false" i="false">
                          <a:solidFill>
                            <a:srgbClr val="1F2933"/>
                          </a:solidFill>
                          <a:latin typeface="Segoe UI"/>
                        </a:rPr>
                        <a:t>1</a:t>
                      </a:r>
                      <a:endParaRPr sz="1000" lang="es-ES"/>
                    </a:p>
                  </a:txBody>
                  <a:tcPr marL="76200" marR="76200" marT="38100" marB="381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cmpd="sng" algn="ctr" cap="flat" w="9525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1F3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l"/>
                      <a:r>
                        <a:rPr lang="es-ES" sz="1000" b="false" i="false">
                          <a:solidFill>
                            <a:srgbClr val="1F2933"/>
                          </a:solidFill>
                          <a:latin typeface="Segoe UI"/>
                        </a:rPr>
                        <a:t>4</a:t>
                      </a:r>
                      <a:endParaRPr sz="1000" lang="es-ES"/>
                    </a:p>
                  </a:txBody>
                  <a:tcPr marL="76200" marR="76200" marT="38100" marB="381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cmpd="sng" algn="ctr" cap="flat" w="9525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1F3"/>
                    </a:solidFill>
                  </a:tcPr>
                </a:tc>
              </a:tr>
              <a:tr h="281940">
                <a:tc>
                  <a:txBody>
                    <a:bodyPr anchor="t" rtlCol="false"/>
                    <a:lstStyle/>
                    <a:p>
                      <a:pPr algn="l"/>
                      <a:r>
                        <a:rPr lang="es-ES" sz="1000" b="false" i="false">
                          <a:solidFill>
                            <a:srgbClr val="1F2933"/>
                          </a:solidFill>
                          <a:latin typeface="Segoe UI"/>
                        </a:rPr>
                        <a:t>fecha</a:t>
                      </a:r>
                      <a:endParaRPr sz="1000" lang="es-ES"/>
                    </a:p>
                  </a:txBody>
                  <a:tcPr marL="76200" marR="76200" marT="38100" marB="381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cmpd="sng" algn="ctr" cap="flat" w="9525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l"/>
                      <a:r>
                        <a:rPr lang="es-ES" sz="1000" b="false" i="false">
                          <a:solidFill>
                            <a:srgbClr val="1F2933"/>
                          </a:solidFill>
                          <a:latin typeface="Segoe UI"/>
                        </a:rPr>
                        <a:t>String</a:t>
                      </a:r>
                      <a:endParaRPr sz="1000" lang="es-ES"/>
                    </a:p>
                  </a:txBody>
                  <a:tcPr marL="76200" marR="76200" marT="38100" marB="381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cmpd="sng" algn="ctr" cap="flat" w="9525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r"/>
                      <a:r>
                        <a:rPr lang="es-ES" sz="1000" b="false" i="false">
                          <a:solidFill>
                            <a:srgbClr val="1F2933"/>
                          </a:solidFill>
                          <a:latin typeface="Segoe UI"/>
                        </a:rPr>
                        <a:t>0 (0,0 %)</a:t>
                      </a:r>
                      <a:endParaRPr sz="1000" lang="es-ES"/>
                    </a:p>
                  </a:txBody>
                  <a:tcPr marL="76200" marR="76200" marT="38100" marB="381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cmpd="sng" algn="ctr" cap="flat" w="9525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r"/>
                      <a:r>
                        <a:rPr lang="es-ES" sz="1000" b="false" i="false">
                          <a:solidFill>
                            <a:srgbClr val="1F2933"/>
                          </a:solidFill>
                          <a:latin typeface="Segoe UI"/>
                        </a:rPr>
                        <a:t>0</a:t>
                      </a:r>
                      <a:endParaRPr sz="1000" lang="es-ES"/>
                    </a:p>
                  </a:txBody>
                  <a:tcPr marL="76200" marR="76200" marT="38100" marB="381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cmpd="sng" algn="ctr" cap="flat" w="9525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r"/>
                      <a:r>
                        <a:rPr lang="es-ES" sz="1000" b="false" i="false">
                          <a:solidFill>
                            <a:srgbClr val="1F2933"/>
                          </a:solidFill>
                          <a:latin typeface="Segoe UI"/>
                        </a:rPr>
                        <a:t>30</a:t>
                      </a:r>
                      <a:endParaRPr sz="1000" lang="es-ES"/>
                    </a:p>
                  </a:txBody>
                  <a:tcPr marL="76200" marR="76200" marT="38100" marB="381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cmpd="sng" algn="ctr" cap="flat" w="9525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r"/>
                      <a:r>
                        <a:rPr lang="es-ES" sz="1000" b="false" i="false">
                          <a:solidFill>
                            <a:srgbClr val="1F2933"/>
                          </a:solidFill>
                          <a:latin typeface="Segoe UI"/>
                        </a:rPr>
                        <a:t>10</a:t>
                      </a:r>
                      <a:endParaRPr sz="1000" lang="es-ES"/>
                    </a:p>
                  </a:txBody>
                  <a:tcPr marL="76200" marR="76200" marT="38100" marB="381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cmpd="sng" algn="ctr" cap="flat" w="9525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l"/>
                      <a:r>
                        <a:rPr lang="es-ES" sz="1000" b="false" i="false">
                          <a:solidFill>
                            <a:srgbClr val="1F2933"/>
                          </a:solidFill>
                          <a:latin typeface="Segoe UI"/>
                        </a:rPr>
                        <a:t>2026-09-01</a:t>
                      </a:r>
                      <a:endParaRPr sz="1000" lang="es-ES"/>
                    </a:p>
                  </a:txBody>
                  <a:tcPr marL="76200" marR="76200" marT="38100" marB="381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cmpd="sng" algn="ctr" cap="flat" w="9525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l"/>
                      <a:r>
                        <a:rPr lang="es-ES" sz="1000" b="false" i="false">
                          <a:solidFill>
                            <a:srgbClr val="1F2933"/>
                          </a:solidFill>
                          <a:latin typeface="Segoe UI"/>
                        </a:rPr>
                        <a:t>2026-09-30</a:t>
                      </a:r>
                      <a:endParaRPr sz="1000" lang="es-ES"/>
                    </a:p>
                  </a:txBody>
                  <a:tcPr marL="76200" marR="76200" marT="38100" marB="381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cmpd="sng" algn="ctr" cap="flat" w="9525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1940">
                <a:tc>
                  <a:txBody>
                    <a:bodyPr anchor="t" rtlCol="false"/>
                    <a:lstStyle/>
                    <a:p>
                      <a:pPr algn="l"/>
                      <a:r>
                        <a:rPr lang="es-ES" sz="1000" b="false" i="false">
                          <a:solidFill>
                            <a:srgbClr val="1F2933"/>
                          </a:solidFill>
                          <a:latin typeface="Segoe UI"/>
                        </a:rPr>
                        <a:t>id_tienda</a:t>
                      </a:r>
                      <a:endParaRPr sz="1000" lang="es-ES"/>
                    </a:p>
                  </a:txBody>
                  <a:tcPr marL="76200" marR="76200" marT="38100" marB="381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cmpd="sng" algn="ctr" cap="flat" w="9525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1F3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l"/>
                      <a:r>
                        <a:rPr lang="es-ES" sz="1000" b="false" i="false">
                          <a:solidFill>
                            <a:srgbClr val="1F2933"/>
                          </a:solidFill>
                          <a:latin typeface="Segoe UI"/>
                        </a:rPr>
                        <a:t>String</a:t>
                      </a:r>
                      <a:endParaRPr sz="1000" lang="es-ES"/>
                    </a:p>
                  </a:txBody>
                  <a:tcPr marL="76200" marR="76200" marT="38100" marB="381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cmpd="sng" algn="ctr" cap="flat" w="9525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1F3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r"/>
                      <a:r>
                        <a:rPr lang="es-ES" sz="1000" b="false" i="false">
                          <a:solidFill>
                            <a:srgbClr val="1F2933"/>
                          </a:solidFill>
                          <a:latin typeface="Segoe UI"/>
                        </a:rPr>
                        <a:t>15 (0,5 %)</a:t>
                      </a:r>
                      <a:endParaRPr sz="1000" lang="es-ES"/>
                    </a:p>
                  </a:txBody>
                  <a:tcPr marL="76200" marR="76200" marT="38100" marB="381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cmpd="sng" algn="ctr" cap="flat" w="9525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1F3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r"/>
                      <a:r>
                        <a:rPr lang="es-ES" sz="1000" b="false" i="false">
                          <a:solidFill>
                            <a:srgbClr val="1F2933"/>
                          </a:solidFill>
                          <a:latin typeface="Segoe UI"/>
                        </a:rPr>
                        <a:t>0</a:t>
                      </a:r>
                      <a:endParaRPr sz="1000" lang="es-ES"/>
                    </a:p>
                  </a:txBody>
                  <a:tcPr marL="76200" marR="76200" marT="38100" marB="381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cmpd="sng" algn="ctr" cap="flat" w="9525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1F3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r"/>
                      <a:r>
                        <a:rPr lang="es-ES" sz="1000" b="false" i="false">
                          <a:solidFill>
                            <a:srgbClr val="1F2933"/>
                          </a:solidFill>
                          <a:latin typeface="Segoe UI"/>
                        </a:rPr>
                        <a:t>4</a:t>
                      </a:r>
                      <a:endParaRPr sz="1000" lang="es-ES"/>
                    </a:p>
                  </a:txBody>
                  <a:tcPr marL="76200" marR="76200" marT="38100" marB="381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cmpd="sng" algn="ctr" cap="flat" w="9525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1F3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r"/>
                      <a:r>
                        <a:rPr lang="es-ES" sz="1000" b="false" i="false">
                          <a:solidFill>
                            <a:srgbClr val="1F2933"/>
                          </a:solidFill>
                          <a:latin typeface="Segoe UI"/>
                        </a:rPr>
                        <a:t>3</a:t>
                      </a:r>
                      <a:endParaRPr sz="1000" lang="es-ES"/>
                    </a:p>
                  </a:txBody>
                  <a:tcPr marL="76200" marR="76200" marT="38100" marB="381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cmpd="sng" algn="ctr" cap="flat" w="9525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1F3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l"/>
                      <a:r>
                        <a:rPr lang="es-ES" sz="1000" b="false" i="false">
                          <a:solidFill>
                            <a:srgbClr val="1F2933"/>
                          </a:solidFill>
                          <a:latin typeface="Segoe UI"/>
                        </a:rPr>
                        <a:t>T01</a:t>
                      </a:r>
                      <a:endParaRPr sz="1000" lang="es-ES"/>
                    </a:p>
                  </a:txBody>
                  <a:tcPr marL="76200" marR="76200" marT="38100" marB="381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cmpd="sng" algn="ctr" cap="flat" w="9525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1F3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l"/>
                      <a:r>
                        <a:rPr lang="es-ES" sz="1000" b="false" i="false">
                          <a:solidFill>
                            <a:srgbClr val="1F2933"/>
                          </a:solidFill>
                          <a:latin typeface="Segoe UI"/>
                        </a:rPr>
                        <a:t>T04</a:t>
                      </a:r>
                      <a:endParaRPr sz="1000" lang="es-ES"/>
                    </a:p>
                  </a:txBody>
                  <a:tcPr marL="76200" marR="76200" marT="38100" marB="381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cmpd="sng" algn="ctr" cap="flat" w="9525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1F3"/>
                    </a:solidFill>
                  </a:tcPr>
                </a:tc>
              </a:tr>
              <a:tr h="281940">
                <a:tc>
                  <a:txBody>
                    <a:bodyPr anchor="t" rtlCol="false"/>
                    <a:lstStyle/>
                    <a:p>
                      <a:pPr algn="l"/>
                      <a:r>
                        <a:rPr lang="es-ES" sz="1000" b="false" i="false">
                          <a:solidFill>
                            <a:srgbClr val="1F2933"/>
                          </a:solidFill>
                          <a:latin typeface="Segoe UI"/>
                        </a:rPr>
                        <a:t>codigo_producto</a:t>
                      </a:r>
                      <a:endParaRPr sz="1000" lang="es-ES"/>
                    </a:p>
                  </a:txBody>
                  <a:tcPr marL="76200" marR="76200" marT="38100" marB="381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cmpd="sng" algn="ctr" cap="flat" w="9525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l"/>
                      <a:r>
                        <a:rPr lang="es-ES" sz="1000" b="false" i="false">
                          <a:solidFill>
                            <a:srgbClr val="1F2933"/>
                          </a:solidFill>
                          <a:latin typeface="Segoe UI"/>
                        </a:rPr>
                        <a:t>String</a:t>
                      </a:r>
                      <a:endParaRPr sz="1000" lang="es-ES"/>
                    </a:p>
                  </a:txBody>
                  <a:tcPr marL="76200" marR="76200" marT="38100" marB="381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cmpd="sng" algn="ctr" cap="flat" w="9525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r"/>
                      <a:r>
                        <a:rPr lang="es-ES" sz="1000" b="false" i="false">
                          <a:solidFill>
                            <a:srgbClr val="1F2933"/>
                          </a:solidFill>
                          <a:latin typeface="Segoe UI"/>
                        </a:rPr>
                        <a:t>0 (0,0 %)</a:t>
                      </a:r>
                      <a:endParaRPr sz="1000" lang="es-ES"/>
                    </a:p>
                  </a:txBody>
                  <a:tcPr marL="76200" marR="76200" marT="38100" marB="381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cmpd="sng" algn="ctr" cap="flat" w="9525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r"/>
                      <a:r>
                        <a:rPr lang="es-ES" sz="1000" b="false" i="false">
                          <a:solidFill>
                            <a:srgbClr val="1F2933"/>
                          </a:solidFill>
                          <a:latin typeface="Segoe UI"/>
                        </a:rPr>
                        <a:t>0</a:t>
                      </a:r>
                      <a:endParaRPr sz="1000" lang="es-ES"/>
                    </a:p>
                  </a:txBody>
                  <a:tcPr marL="76200" marR="76200" marT="38100" marB="381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cmpd="sng" algn="ctr" cap="flat" w="9525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r"/>
                      <a:r>
                        <a:rPr lang="es-ES" sz="1000" b="false" i="false">
                          <a:solidFill>
                            <a:srgbClr val="1F2933"/>
                          </a:solidFill>
                          <a:latin typeface="Segoe UI"/>
                        </a:rPr>
                        <a:t>34</a:t>
                      </a:r>
                      <a:endParaRPr sz="1000" lang="es-ES"/>
                    </a:p>
                  </a:txBody>
                  <a:tcPr marL="76200" marR="76200" marT="38100" marB="381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cmpd="sng" algn="ctr" cap="flat" w="9525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r"/>
                      <a:r>
                        <a:rPr lang="es-ES" sz="1000" b="false" i="false">
                          <a:solidFill>
                            <a:srgbClr val="1F2933"/>
                          </a:solidFill>
                          <a:latin typeface="Segoe UI"/>
                        </a:rPr>
                        <a:t>7–9</a:t>
                      </a:r>
                      <a:endParaRPr sz="1000" lang="es-ES"/>
                    </a:p>
                  </a:txBody>
                  <a:tcPr marL="76200" marR="76200" marT="38100" marB="381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cmpd="sng" algn="ctr" cap="flat" w="9525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l"/>
                      <a:r>
                        <a:rPr lang="es-ES" sz="1000" b="false" i="false">
                          <a:solidFill>
                            <a:srgbClr val="1F2933"/>
                          </a:solidFill>
                          <a:latin typeface="Segoe UI"/>
                        </a:rPr>
                        <a:t>BEB-001</a:t>
                      </a:r>
                      <a:endParaRPr sz="1000" lang="es-ES"/>
                    </a:p>
                  </a:txBody>
                  <a:tcPr marL="76200" marR="76200" marT="38100" marB="381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cmpd="sng" algn="ctr" cap="flat" w="9525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l"/>
                      <a:r>
                        <a:rPr lang="es-ES" sz="1000" b="false" i="false">
                          <a:solidFill>
                            <a:srgbClr val="1F2933"/>
                          </a:solidFill>
                          <a:latin typeface="Segoe UI"/>
                        </a:rPr>
                        <a:t>SAL-021</a:t>
                      </a:r>
                      <a:endParaRPr sz="1000" lang="es-ES"/>
                    </a:p>
                  </a:txBody>
                  <a:tcPr marL="76200" marR="76200" marT="38100" marB="381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cmpd="sng" algn="ctr" cap="flat" w="9525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1940">
                <a:tc>
                  <a:txBody>
                    <a:bodyPr anchor="t" rtlCol="false"/>
                    <a:lstStyle/>
                    <a:p>
                      <a:pPr algn="l"/>
                      <a:r>
                        <a:rPr lang="es-ES" sz="1000" b="false" i="false">
                          <a:solidFill>
                            <a:srgbClr val="1F2933"/>
                          </a:solidFill>
                          <a:latin typeface="Segoe UI"/>
                        </a:rPr>
                        <a:t>cantidad</a:t>
                      </a:r>
                      <a:endParaRPr sz="1000" lang="es-ES"/>
                    </a:p>
                  </a:txBody>
                  <a:tcPr marL="76200" marR="76200" marT="38100" marB="381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cmpd="sng" algn="ctr" cap="flat" w="9525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1F3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l"/>
                      <a:r>
                        <a:rPr lang="es-ES" sz="1000" b="false" i="false">
                          <a:solidFill>
                            <a:srgbClr val="1F2933"/>
                          </a:solidFill>
                          <a:latin typeface="Segoe UI"/>
                        </a:rPr>
                        <a:t>Integer</a:t>
                      </a:r>
                      <a:endParaRPr sz="1000" lang="es-ES"/>
                    </a:p>
                  </a:txBody>
                  <a:tcPr marL="76200" marR="76200" marT="38100" marB="381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cmpd="sng" algn="ctr" cap="flat" w="9525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1F3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r"/>
                      <a:r>
                        <a:rPr lang="es-ES" sz="1000" b="false" i="false">
                          <a:solidFill>
                            <a:srgbClr val="1F2933"/>
                          </a:solidFill>
                          <a:latin typeface="Segoe UI"/>
                        </a:rPr>
                        <a:t>0 (0,0 %)</a:t>
                      </a:r>
                      <a:endParaRPr sz="1000" lang="es-ES"/>
                    </a:p>
                  </a:txBody>
                  <a:tcPr marL="76200" marR="76200" marT="38100" marB="381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cmpd="sng" algn="ctr" cap="flat" w="9525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1F3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r"/>
                      <a:r>
                        <a:rPr lang="es-ES" sz="1000" b="false" i="false">
                          <a:solidFill>
                            <a:srgbClr val="1F2933"/>
                          </a:solidFill>
                          <a:latin typeface="Segoe UI"/>
                        </a:rPr>
                        <a:t> </a:t>
                      </a:r>
                      <a:endParaRPr sz="1000" lang="es-ES"/>
                    </a:p>
                  </a:txBody>
                  <a:tcPr marL="76200" marR="76200" marT="38100" marB="381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cmpd="sng" algn="ctr" cap="flat" w="9525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1F3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r"/>
                      <a:r>
                        <a:rPr lang="es-ES" sz="1000" b="false" i="false">
                          <a:solidFill>
                            <a:srgbClr val="1F2933"/>
                          </a:solidFill>
                          <a:latin typeface="Segoe UI"/>
                        </a:rPr>
                        <a:t>6</a:t>
                      </a:r>
                      <a:endParaRPr sz="1000" lang="es-ES"/>
                    </a:p>
                  </a:txBody>
                  <a:tcPr marL="76200" marR="76200" marT="38100" marB="381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cmpd="sng" algn="ctr" cap="flat" w="9525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1F3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r"/>
                      <a:r>
                        <a:rPr lang="es-ES" sz="1000" b="false" i="false">
                          <a:solidFill>
                            <a:srgbClr val="1F2933"/>
                          </a:solidFill>
                          <a:latin typeface="Segoe UI"/>
                        </a:rPr>
                        <a:t> </a:t>
                      </a:r>
                      <a:endParaRPr sz="1000" lang="es-ES"/>
                    </a:p>
                  </a:txBody>
                  <a:tcPr marL="76200" marR="76200" marT="38100" marB="381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cmpd="sng" algn="ctr" cap="flat" w="9525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1F3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l"/>
                      <a:r>
                        <a:rPr lang="es-ES" sz="1000" b="false" i="false">
                          <a:solidFill>
                            <a:srgbClr val="1F2933"/>
                          </a:solidFill>
                          <a:latin typeface="Segoe UI"/>
                        </a:rPr>
                        <a:t>-2</a:t>
                      </a:r>
                      <a:endParaRPr sz="1000" lang="es-ES"/>
                    </a:p>
                  </a:txBody>
                  <a:tcPr marL="76200" marR="76200" marT="38100" marB="381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cmpd="sng" algn="ctr" cap="flat" w="9525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1F3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l"/>
                      <a:r>
                        <a:rPr lang="es-ES" sz="1000" b="false" i="false">
                          <a:solidFill>
                            <a:srgbClr val="1F2933"/>
                          </a:solidFill>
                          <a:latin typeface="Segoe UI"/>
                        </a:rPr>
                        <a:t>3</a:t>
                      </a:r>
                      <a:endParaRPr sz="1000" lang="es-ES"/>
                    </a:p>
                  </a:txBody>
                  <a:tcPr marL="76200" marR="76200" marT="38100" marB="381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cmpd="sng" algn="ctr" cap="flat" w="9525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1F3"/>
                    </a:solidFill>
                  </a:tcPr>
                </a:tc>
              </a:tr>
              <a:tr h="281940">
                <a:tc>
                  <a:txBody>
                    <a:bodyPr anchor="t" rtlCol="false"/>
                    <a:lstStyle/>
                    <a:p>
                      <a:pPr algn="l"/>
                      <a:r>
                        <a:rPr lang="es-ES" sz="1000" b="false" i="false">
                          <a:solidFill>
                            <a:srgbClr val="1F2933"/>
                          </a:solidFill>
                          <a:latin typeface="Segoe UI"/>
                        </a:rPr>
                        <a:t>precio_unitario</a:t>
                      </a:r>
                      <a:endParaRPr sz="1000" lang="es-ES"/>
                    </a:p>
                  </a:txBody>
                  <a:tcPr marL="76200" marR="76200" marT="38100" marB="381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cmpd="sng" algn="ctr" cap="flat" w="9525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l"/>
                      <a:r>
                        <a:rPr lang="es-ES" sz="1000" b="false" i="false">
                          <a:solidFill>
                            <a:srgbClr val="1F2933"/>
                          </a:solidFill>
                          <a:latin typeface="Segoe UI"/>
                        </a:rPr>
                        <a:t>Number</a:t>
                      </a:r>
                      <a:endParaRPr sz="1000" lang="es-ES"/>
                    </a:p>
                  </a:txBody>
                  <a:tcPr marL="76200" marR="76200" marT="38100" marB="381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cmpd="sng" algn="ctr" cap="flat" w="9525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r"/>
                      <a:r>
                        <a:rPr lang="es-ES" sz="1000" b="false" i="false">
                          <a:solidFill>
                            <a:srgbClr val="1F2933"/>
                          </a:solidFill>
                          <a:latin typeface="Segoe UI"/>
                        </a:rPr>
                        <a:t>0 (0,0 %)</a:t>
                      </a:r>
                      <a:endParaRPr sz="1000" lang="es-ES"/>
                    </a:p>
                  </a:txBody>
                  <a:tcPr marL="76200" marR="76200" marT="38100" marB="381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cmpd="sng" algn="ctr" cap="flat" w="9525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r"/>
                      <a:r>
                        <a:rPr lang="es-ES" sz="1000" b="false" i="false">
                          <a:solidFill>
                            <a:srgbClr val="1F2933"/>
                          </a:solidFill>
                          <a:latin typeface="Segoe UI"/>
                        </a:rPr>
                        <a:t> </a:t>
                      </a:r>
                      <a:endParaRPr sz="1000" lang="es-ES"/>
                    </a:p>
                  </a:txBody>
                  <a:tcPr marL="76200" marR="76200" marT="38100" marB="381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cmpd="sng" algn="ctr" cap="flat" w="9525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r"/>
                      <a:r>
                        <a:rPr lang="es-ES" sz="1000" b="false" i="false">
                          <a:solidFill>
                            <a:srgbClr val="1F2933"/>
                          </a:solidFill>
                          <a:latin typeface="Segoe UI"/>
                        </a:rPr>
                        <a:t>20</a:t>
                      </a:r>
                      <a:endParaRPr sz="1000" lang="es-ES"/>
                    </a:p>
                  </a:txBody>
                  <a:tcPr marL="76200" marR="76200" marT="38100" marB="381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cmpd="sng" algn="ctr" cap="flat" w="9525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r"/>
                      <a:r>
                        <a:rPr lang="es-ES" sz="1000" b="false" i="false">
                          <a:solidFill>
                            <a:srgbClr val="1F2933"/>
                          </a:solidFill>
                          <a:latin typeface="Segoe UI"/>
                        </a:rPr>
                        <a:t> </a:t>
                      </a:r>
                      <a:endParaRPr sz="1000" lang="es-ES"/>
                    </a:p>
                  </a:txBody>
                  <a:tcPr marL="76200" marR="76200" marT="38100" marB="381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cmpd="sng" algn="ctr" cap="flat" w="9525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l"/>
                      <a:r>
                        <a:rPr lang="es-ES" sz="1000" b="false" i="false">
                          <a:solidFill>
                            <a:srgbClr val="1F2933"/>
                          </a:solidFill>
                          <a:latin typeface="Segoe UI"/>
                        </a:rPr>
                        <a:t>1,4</a:t>
                      </a:r>
                      <a:endParaRPr sz="1000" lang="es-ES"/>
                    </a:p>
                  </a:txBody>
                  <a:tcPr marL="76200" marR="76200" marT="38100" marB="381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cmpd="sng" algn="ctr" cap="flat" w="9525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l"/>
                      <a:r>
                        <a:rPr lang="es-ES" sz="1000" b="false" i="false">
                          <a:solidFill>
                            <a:srgbClr val="1F2933"/>
                          </a:solidFill>
                          <a:latin typeface="Segoe UI"/>
                        </a:rPr>
                        <a:t>4,5</a:t>
                      </a:r>
                      <a:endParaRPr sz="1000" lang="es-ES"/>
                    </a:p>
                  </a:txBody>
                  <a:tcPr marL="76200" marR="76200" marT="38100" marB="381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cmpd="sng" algn="ctr" cap="flat" w="9525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1940">
                <a:tc>
                  <a:txBody>
                    <a:bodyPr anchor="t" rtlCol="false"/>
                    <a:lstStyle/>
                    <a:p>
                      <a:pPr algn="l"/>
                      <a:r>
                        <a:rPr lang="es-ES" sz="1000" b="false" i="false">
                          <a:solidFill>
                            <a:srgbClr val="1F2933"/>
                          </a:solidFill>
                          <a:latin typeface="Segoe UI"/>
                        </a:rPr>
                        <a:t>metodo_pago</a:t>
                      </a:r>
                      <a:endParaRPr sz="1000" lang="es-ES"/>
                    </a:p>
                  </a:txBody>
                  <a:tcPr marL="76200" marR="76200" marT="38100" marB="381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cmpd="sng" algn="ctr" cap="flat" w="9525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1F3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l"/>
                      <a:r>
                        <a:rPr lang="es-ES" sz="1000" b="false" i="false">
                          <a:solidFill>
                            <a:srgbClr val="1F2933"/>
                          </a:solidFill>
                          <a:latin typeface="Segoe UI"/>
                        </a:rPr>
                        <a:t>String</a:t>
                      </a:r>
                      <a:endParaRPr sz="1000" lang="es-ES"/>
                    </a:p>
                  </a:txBody>
                  <a:tcPr marL="76200" marR="76200" marT="38100" marB="381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cmpd="sng" algn="ctr" cap="flat" w="9525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1F3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r"/>
                      <a:r>
                        <a:rPr lang="es-ES" sz="1000" b="false" i="false">
                          <a:solidFill>
                            <a:srgbClr val="1F2933"/>
                          </a:solidFill>
                          <a:latin typeface="Segoe UI"/>
                        </a:rPr>
                        <a:t>0 (0,0 %)</a:t>
                      </a:r>
                      <a:endParaRPr sz="1000" lang="es-ES"/>
                    </a:p>
                  </a:txBody>
                  <a:tcPr marL="76200" marR="76200" marT="38100" marB="381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cmpd="sng" algn="ctr" cap="flat" w="9525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1F3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r"/>
                      <a:r>
                        <a:rPr lang="es-ES" sz="1000" b="false" i="false">
                          <a:solidFill>
                            <a:srgbClr val="1F2933"/>
                          </a:solidFill>
                          <a:latin typeface="Segoe UI"/>
                        </a:rPr>
                        <a:t>0</a:t>
                      </a:r>
                      <a:endParaRPr sz="1000" lang="es-ES"/>
                    </a:p>
                  </a:txBody>
                  <a:tcPr marL="76200" marR="76200" marT="38100" marB="381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cmpd="sng" algn="ctr" cap="flat" w="9525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1F3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r"/>
                      <a:r>
                        <a:rPr lang="es-ES" sz="1000" b="false" i="false">
                          <a:solidFill>
                            <a:srgbClr val="1F2933"/>
                          </a:solidFill>
                          <a:latin typeface="Segoe UI"/>
                        </a:rPr>
                        <a:t>3</a:t>
                      </a:r>
                      <a:endParaRPr sz="1000" lang="es-ES"/>
                    </a:p>
                  </a:txBody>
                  <a:tcPr marL="76200" marR="76200" marT="38100" marB="381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cmpd="sng" algn="ctr" cap="flat" w="9525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1F3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r"/>
                      <a:r>
                        <a:rPr lang="es-ES" sz="1000" b="false" i="false">
                          <a:solidFill>
                            <a:srgbClr val="1F2933"/>
                          </a:solidFill>
                          <a:latin typeface="Segoe UI"/>
                        </a:rPr>
                        <a:t>5–8</a:t>
                      </a:r>
                      <a:endParaRPr sz="1000" lang="es-ES"/>
                    </a:p>
                  </a:txBody>
                  <a:tcPr marL="76200" marR="76200" marT="38100" marB="381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cmpd="sng" algn="ctr" cap="flat" w="9525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1F3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l"/>
                      <a:r>
                        <a:rPr lang="es-ES" sz="1000" b="false" i="false">
                          <a:solidFill>
                            <a:srgbClr val="1F2933"/>
                          </a:solidFill>
                          <a:latin typeface="Segoe UI"/>
                        </a:rPr>
                        <a:t>BIZUM</a:t>
                      </a:r>
                      <a:endParaRPr sz="1000" lang="es-ES"/>
                    </a:p>
                  </a:txBody>
                  <a:tcPr marL="76200" marR="76200" marT="38100" marB="381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cmpd="sng" algn="ctr" cap="flat" w="9525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1F3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l"/>
                      <a:r>
                        <a:rPr lang="es-ES" sz="1000" b="false" i="false">
                          <a:solidFill>
                            <a:srgbClr val="1F2933"/>
                          </a:solidFill>
                          <a:latin typeface="Segoe UI"/>
                        </a:rPr>
                        <a:t>TARJETA</a:t>
                      </a:r>
                      <a:endParaRPr sz="1000" lang="es-ES"/>
                    </a:p>
                  </a:txBody>
                  <a:tcPr marL="76200" marR="76200" marT="38100" marB="381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cmpd="sng" algn="ctr" cap="flat" w="9525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1F3"/>
                    </a:solidFill>
                  </a:tcPr>
                </a:tc>
              </a:tr>
            </a:tbl>
          </a:graphicData>
        </a:graphic>
      </p:graphicFrame>
      <p:sp>
        <p:nvSpPr>
          <p:cNvPr name="TextBox 12" id="12"/>
          <p:cNvSpPr txBox="true"/>
          <p:nvPr/>
        </p:nvSpPr>
        <p:spPr>
          <a:xfrm>
            <a:off x="508000" y="4431792"/>
            <a:ext cx="11176000" cy="254000"/>
          </a:xfrm>
          <a:prstGeom prst="rect">
            <a:avLst/>
          </a:prstGeom>
        </p:spPr>
        <p:txBody>
          <a:bodyPr anchor="t" rtlCol="false" wrap="square" lIns="0" rIns="0" tIns="25400" bIns="25400"/>
          <a:lstStyle/>
          <a:p>
            <a:pPr algn="l"/>
            <a:r>
              <a:rPr lang="es-ES" sz="1300" b="true" i="false">
                <a:solidFill>
                  <a:srgbClr val="243B53"/>
                </a:solidFill>
                <a:latin typeface="Segoe UI"/>
              </a:rPr>
              <a:t>Campos numéricos</a:t>
            </a:r>
            <a:endParaRPr sz="1300" lang="es-ES"/>
          </a:p>
        </p:txBody>
      </p:sp>
      <p:graphicFrame>
        <p:nvGraphicFramePr>
          <p:cNvPr name="Table 13" id="13"/>
          <p:cNvGraphicFramePr>
            <a:graphicFrameLocks noGrp="true"/>
          </p:cNvGraphicFramePr>
          <p:nvPr/>
        </p:nvGraphicFramePr>
        <p:xfrm>
          <a:off x="508000" y="4711192"/>
          <a:ext cx="4064000" cy="1194816"/>
        </p:xfrm>
        <a:graphic>
          <a:graphicData uri="http://schemas.openxmlformats.org/drawingml/2006/table">
            <a:tbl>
              <a:tblPr/>
              <a:tblGrid>
                <a:gridCol w="1320800"/>
                <a:gridCol w="635000"/>
                <a:gridCol w="1397000"/>
                <a:gridCol w="711200"/>
              </a:tblGrid>
              <a:tr h="298704">
                <a:tc>
                  <a:txBody>
                    <a:bodyPr anchor="t" rtlCol="false"/>
                    <a:lstStyle/>
                    <a:p>
                      <a:pPr algn="l"/>
                      <a:r>
                        <a:rPr lang="es-ES" sz="1100" b="true" i="false">
                          <a:solidFill>
                            <a:srgbClr val="FFFFFF"/>
                          </a:solidFill>
                          <a:latin typeface="Segoe UI"/>
                        </a:rPr>
                        <a:t>Campo</a:t>
                      </a:r>
                      <a:endParaRPr sz="1100" lang="es-ES"/>
                    </a:p>
                  </a:txBody>
                  <a:tcPr marL="76200" marR="76200" marT="38100" marB="381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cmpd="sng" algn="ctr" cap="flat" w="9525">
                      <a:solidFill>
                        <a:srgbClr val="243B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3B53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r"/>
                      <a:r>
                        <a:rPr lang="es-ES" sz="1100" b="true" i="false">
                          <a:solidFill>
                            <a:srgbClr val="FFFFFF"/>
                          </a:solidFill>
                          <a:latin typeface="Segoe UI"/>
                        </a:rPr>
                        <a:t>Media</a:t>
                      </a:r>
                      <a:endParaRPr sz="1100" lang="es-ES"/>
                    </a:p>
                  </a:txBody>
                  <a:tcPr marL="76200" marR="76200" marT="38100" marB="381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cmpd="sng" algn="ctr" cap="flat" w="9525">
                      <a:solidFill>
                        <a:srgbClr val="243B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3B53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r"/>
                      <a:r>
                        <a:rPr lang="es-ES" sz="1100" b="true" i="false">
                          <a:solidFill>
                            <a:srgbClr val="FFFFFF"/>
                          </a:solidFill>
                          <a:latin typeface="Segoe UI"/>
                        </a:rPr>
                        <a:t>Desvío estándar</a:t>
                      </a:r>
                      <a:endParaRPr sz="1100" lang="es-ES"/>
                    </a:p>
                  </a:txBody>
                  <a:tcPr marL="76200" marR="76200" marT="38100" marB="381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cmpd="sng" algn="ctr" cap="flat" w="9525">
                      <a:solidFill>
                        <a:srgbClr val="243B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3B53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r"/>
                      <a:r>
                        <a:rPr lang="es-ES" sz="1100" b="true" i="false">
                          <a:solidFill>
                            <a:srgbClr val="FFFFFF"/>
                          </a:solidFill>
                          <a:latin typeface="Segoe UI"/>
                        </a:rPr>
                        <a:t>Suma</a:t>
                      </a:r>
                      <a:endParaRPr sz="1100" lang="es-ES"/>
                    </a:p>
                  </a:txBody>
                  <a:tcPr marL="76200" marR="76200" marT="38100" marB="381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cmpd="sng" algn="ctr" cap="flat" w="9525">
                      <a:solidFill>
                        <a:srgbClr val="243B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3B53"/>
                    </a:solidFill>
                  </a:tcPr>
                </a:tc>
              </a:tr>
              <a:tr h="298704">
                <a:tc>
                  <a:txBody>
                    <a:bodyPr anchor="t" rtlCol="false"/>
                    <a:lstStyle/>
                    <a:p>
                      <a:pPr algn="l"/>
                      <a:r>
                        <a:rPr lang="es-ES" sz="1100" b="false" i="false">
                          <a:solidFill>
                            <a:srgbClr val="1F2933"/>
                          </a:solidFill>
                          <a:latin typeface="Segoe UI"/>
                        </a:rPr>
                        <a:t>linea</a:t>
                      </a:r>
                      <a:endParaRPr sz="1100" lang="es-ES"/>
                    </a:p>
                  </a:txBody>
                  <a:tcPr marL="76200" marR="76200" marT="38100" marB="381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cmpd="sng" algn="ctr" cap="flat" w="9525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r"/>
                      <a:r>
                        <a:rPr lang="es-ES" sz="1100" b="false" i="false">
                          <a:solidFill>
                            <a:srgbClr val="1F2933"/>
                          </a:solidFill>
                          <a:latin typeface="Segoe UI"/>
                        </a:rPr>
                        <a:t>1,71</a:t>
                      </a:r>
                      <a:endParaRPr sz="1100" lang="es-ES"/>
                    </a:p>
                  </a:txBody>
                  <a:tcPr marL="76200" marR="76200" marT="38100" marB="381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cmpd="sng" algn="ctr" cap="flat" w="9525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r"/>
                      <a:r>
                        <a:rPr lang="es-ES" sz="1100" b="false" i="false">
                          <a:solidFill>
                            <a:srgbClr val="1F2933"/>
                          </a:solidFill>
                          <a:latin typeface="Segoe UI"/>
                        </a:rPr>
                        <a:t>0,86</a:t>
                      </a:r>
                      <a:endParaRPr sz="1100" lang="es-ES"/>
                    </a:p>
                  </a:txBody>
                  <a:tcPr marL="76200" marR="76200" marT="38100" marB="381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cmpd="sng" algn="ctr" cap="flat" w="9525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r"/>
                      <a:r>
                        <a:rPr lang="es-ES" sz="1100" b="false" i="false">
                          <a:solidFill>
                            <a:srgbClr val="1F2933"/>
                          </a:solidFill>
                          <a:latin typeface="Segoe UI"/>
                        </a:rPr>
                        <a:t>5.140</a:t>
                      </a:r>
                      <a:endParaRPr sz="1100" lang="es-ES"/>
                    </a:p>
                  </a:txBody>
                  <a:tcPr marL="76200" marR="76200" marT="38100" marB="381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cmpd="sng" algn="ctr" cap="flat" w="9525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8704">
                <a:tc>
                  <a:txBody>
                    <a:bodyPr anchor="t" rtlCol="false"/>
                    <a:lstStyle/>
                    <a:p>
                      <a:pPr algn="l"/>
                      <a:r>
                        <a:rPr lang="es-ES" sz="1100" b="false" i="false">
                          <a:solidFill>
                            <a:srgbClr val="1F2933"/>
                          </a:solidFill>
                          <a:latin typeface="Segoe UI"/>
                        </a:rPr>
                        <a:t>cantidad</a:t>
                      </a:r>
                      <a:endParaRPr sz="1100" lang="es-ES"/>
                    </a:p>
                  </a:txBody>
                  <a:tcPr marL="76200" marR="76200" marT="38100" marB="381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cmpd="sng" algn="ctr" cap="flat" w="9525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1F3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r"/>
                      <a:r>
                        <a:rPr lang="es-ES" sz="1100" b="false" i="false">
                          <a:solidFill>
                            <a:srgbClr val="1F2933"/>
                          </a:solidFill>
                          <a:latin typeface="Segoe UI"/>
                        </a:rPr>
                        <a:t>1,23</a:t>
                      </a:r>
                      <a:endParaRPr sz="1100" lang="es-ES"/>
                    </a:p>
                  </a:txBody>
                  <a:tcPr marL="76200" marR="76200" marT="38100" marB="381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cmpd="sng" algn="ctr" cap="flat" w="9525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1F3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r"/>
                      <a:r>
                        <a:rPr lang="es-ES" sz="1100" b="false" i="false">
                          <a:solidFill>
                            <a:srgbClr val="1F2933"/>
                          </a:solidFill>
                          <a:latin typeface="Segoe UI"/>
                        </a:rPr>
                        <a:t>0,55</a:t>
                      </a:r>
                      <a:endParaRPr sz="1100" lang="es-ES"/>
                    </a:p>
                  </a:txBody>
                  <a:tcPr marL="76200" marR="76200" marT="38100" marB="381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cmpd="sng" algn="ctr" cap="flat" w="9525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1F3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r"/>
                      <a:r>
                        <a:rPr lang="es-ES" sz="1100" b="false" i="false">
                          <a:solidFill>
                            <a:srgbClr val="1F2933"/>
                          </a:solidFill>
                          <a:latin typeface="Segoe UI"/>
                        </a:rPr>
                        <a:t>3.704</a:t>
                      </a:r>
                      <a:endParaRPr sz="1100" lang="es-ES"/>
                    </a:p>
                  </a:txBody>
                  <a:tcPr marL="76200" marR="76200" marT="38100" marB="381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cmpd="sng" algn="ctr" cap="flat" w="9525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1F3"/>
                    </a:solidFill>
                  </a:tcPr>
                </a:tc>
              </a:tr>
              <a:tr h="298704">
                <a:tc>
                  <a:txBody>
                    <a:bodyPr anchor="t" rtlCol="false"/>
                    <a:lstStyle/>
                    <a:p>
                      <a:pPr algn="l"/>
                      <a:r>
                        <a:rPr lang="es-ES" sz="1100" b="false" i="false">
                          <a:solidFill>
                            <a:srgbClr val="1F2933"/>
                          </a:solidFill>
                          <a:latin typeface="Segoe UI"/>
                        </a:rPr>
                        <a:t>precio_unitario</a:t>
                      </a:r>
                      <a:endParaRPr sz="1100" lang="es-ES"/>
                    </a:p>
                  </a:txBody>
                  <a:tcPr marL="76200" marR="76200" marT="38100" marB="381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cmpd="sng" algn="ctr" cap="flat" w="9525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r"/>
                      <a:r>
                        <a:rPr lang="es-ES" sz="1100" b="false" i="false">
                          <a:solidFill>
                            <a:srgbClr val="1F2933"/>
                          </a:solidFill>
                          <a:latin typeface="Segoe UI"/>
                        </a:rPr>
                        <a:t>2,5</a:t>
                      </a:r>
                      <a:endParaRPr sz="1100" lang="es-ES"/>
                    </a:p>
                  </a:txBody>
                  <a:tcPr marL="76200" marR="76200" marT="38100" marB="381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cmpd="sng" algn="ctr" cap="flat" w="9525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r"/>
                      <a:r>
                        <a:rPr lang="es-ES" sz="1100" b="false" i="false">
                          <a:solidFill>
                            <a:srgbClr val="1F2933"/>
                          </a:solidFill>
                          <a:latin typeface="Segoe UI"/>
                        </a:rPr>
                        <a:t>0,77</a:t>
                      </a:r>
                      <a:endParaRPr sz="1100" lang="es-ES"/>
                    </a:p>
                  </a:txBody>
                  <a:tcPr marL="76200" marR="76200" marT="38100" marB="381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cmpd="sng" algn="ctr" cap="flat" w="9525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r"/>
                      <a:r>
                        <a:rPr lang="es-ES" sz="1100" b="false" i="false">
                          <a:solidFill>
                            <a:srgbClr val="1F2933"/>
                          </a:solidFill>
                          <a:latin typeface="Segoe UI"/>
                        </a:rPr>
                        <a:t>7.493,1</a:t>
                      </a:r>
                      <a:endParaRPr sz="1100" lang="es-ES"/>
                    </a:p>
                  </a:txBody>
                  <a:tcPr marL="76200" marR="76200" marT="38100" marB="381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cmpd="sng" algn="ctr" cap="flat" w="9525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3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8000" y="203200"/>
            <a:ext cx="11176000" cy="635000"/>
          </a:xfrm>
        </p:spPr>
        <p:txBody>
          <a:bodyPr lIns="0" rIns="0" wrap="square" anchor="ctr"/>
          <a:lstStyle/>
          <a:p>
            <a:pPr algn="l"/>
            <a:r>
              <a:rPr lang="es-ES" sz="2600" b="true" i="false">
                <a:solidFill>
                  <a:srgbClr val="243B53"/>
                </a:solidFill>
                <a:latin typeface="Segoe UI"/>
              </a:rPr>
              <a:t>Perfil de datos (cont.)</a:t>
            </a:r>
            <a:endParaRPr sz="2600" lang="es-ES"/>
          </a:p>
        </p:txBody>
      </p:sp>
      <p:pic>
        <p:nvPicPr>
          <p:cNvPr name="Picture 3" id="3"/>
          <p:cNvPicPr>
            <a:picLocks noChangeAspect="true"/>
          </p:cNvPicPr>
          <p:nvPr/>
        </p:nvPicPr>
        <p:blipFill>
          <a:blip r:embed="rId2"/>
          <a:stretch>
            <a:fillRect/>
          </a:stretch>
        </p:blipFill>
        <p:spPr>
          <a:xfrm>
            <a:off x="10248900" y="5510084"/>
            <a:ext cx="1435100" cy="814516"/>
          </a:xfrm>
          <a:prstGeom prst="rect">
            <a:avLst/>
          </a:prstGeom>
        </p:spPr>
      </p:pic>
      <p:sp>
        <p:nvSpPr>
          <p:cNvPr name="AutoShape 4" id="4"/>
          <p:cNvSpPr/>
          <p:nvPr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243B53"/>
          </a:solidFill>
          <a:ln>
            <a:noFill/>
          </a:ln>
        </p:spPr>
      </p:sp>
      <p:pic>
        <p:nvPicPr>
          <p:cNvPr name="Picture 5" id="5"/>
          <p:cNvPicPr>
            <a:picLocks noChangeAspect="true"/>
          </p:cNvPicPr>
          <p:nvPr/>
        </p:nvPicPr>
        <p:blipFill>
          <a:blip r:embed="rId3"/>
          <a:stretch>
            <a:fillRect/>
          </a:stretch>
        </p:blipFill>
        <p:spPr>
          <a:xfrm>
            <a:off x="508000" y="6508750"/>
            <a:ext cx="177800" cy="100914"/>
          </a:xfrm>
          <a:prstGeom prst="rect">
            <a:avLst/>
          </a:prstGeom>
        </p:spPr>
      </p:pic>
      <p:sp>
        <p:nvSpPr>
          <p:cNvPr name="TextBox 6" id="6"/>
          <p:cNvSpPr txBox="true"/>
          <p:nvPr/>
        </p:nvSpPr>
        <p:spPr>
          <a:xfrm>
            <a:off x="749300" y="6451600"/>
            <a:ext cx="5080000" cy="228600"/>
          </a:xfrm>
          <a:prstGeom prst="rect">
            <a:avLst/>
          </a:prstGeom>
        </p:spPr>
        <p:txBody>
          <a:bodyPr anchor="ctr" rtlCol="false" wrap="square" lIns="0" rIns="0" tIns="25400" bIns="25400"/>
          <a:lstStyle/>
          <a:p>
            <a:pPr algn="l"/>
            <a:r>
              <a:rPr lang="es-ES" sz="750" b="false" i="false">
                <a:solidFill>
                  <a:srgbClr val="6B7785"/>
                </a:solidFill>
                <a:latin typeface="Segoe UI"/>
              </a:rPr>
              <a:t>Pentaho Live · IDC Studios</a:t>
            </a:r>
            <a:endParaRPr sz="750" lang="es-ES"/>
          </a:p>
        </p:txBody>
      </p:sp>
      <p:sp>
        <p:nvSpPr>
          <p:cNvPr name="TextBox 7" id="7"/>
          <p:cNvSpPr txBox="true"/>
          <p:nvPr/>
        </p:nvSpPr>
        <p:spPr>
          <a:xfrm>
            <a:off x="10160000" y="6451600"/>
            <a:ext cx="1524000" cy="228600"/>
          </a:xfrm>
          <a:prstGeom prst="rect">
            <a:avLst/>
          </a:prstGeom>
        </p:spPr>
        <p:txBody>
          <a:bodyPr anchor="ctr" rtlCol="false" wrap="square" lIns="0" rIns="0" tIns="25400" bIns="25400"/>
          <a:lstStyle/>
          <a:p>
            <a:pPr algn="r"/>
            <a:fld id="{8BC83841-2C91-4F09-893C-E9D83BC1BA5D}" type="slidenum">
              <a:rPr lang="es-ES" sz="750">
                <a:solidFill>
                  <a:srgbClr val="6B7785"/>
                </a:solidFill>
                <a:latin typeface="Segoe UI"/>
              </a:rPr>
              <a:t>33</a:t>
            </a:fld>
            <a:endParaRPr sz="750" lang="es-ES"/>
          </a:p>
        </p:txBody>
      </p:sp>
      <p:sp>
        <p:nvSpPr>
          <p:cNvPr name="TextBox 8" id="8"/>
          <p:cNvSpPr txBox="true"/>
          <p:nvPr/>
        </p:nvSpPr>
        <p:spPr>
          <a:xfrm>
            <a:off x="508000" y="1016000"/>
            <a:ext cx="11176000" cy="254000"/>
          </a:xfrm>
          <a:prstGeom prst="rect">
            <a:avLst/>
          </a:prstGeom>
        </p:spPr>
        <p:txBody>
          <a:bodyPr anchor="t" rtlCol="false" wrap="square" lIns="0" rIns="0" tIns="25400" bIns="25400"/>
          <a:lstStyle/>
          <a:p>
            <a:pPr algn="l"/>
            <a:r>
              <a:rPr lang="es-ES" sz="1300" b="true" i="false">
                <a:solidFill>
                  <a:srgbClr val="243B53"/>
                </a:solidFill>
                <a:latin typeface="Segoe UI"/>
              </a:rPr>
              <a:t>Nulos por campo (%)</a:t>
            </a:r>
            <a:endParaRPr sz="1300" lang="es-ES"/>
          </a:p>
        </p:txBody>
      </p:sp>
      <p:pic>
        <p:nvPicPr>
          <p:cNvPr name="Picture 9" id="9"/>
          <p:cNvPicPr>
            <a:picLocks noChangeAspect="true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508000" y="1295400"/>
            <a:ext cx="11176000" cy="2743200"/>
          </a:xfrm>
          <a:prstGeom prst="rect">
            <a:avLst/>
          </a:prstGeom>
        </p:spPr>
      </p:pic>
    </p:spTree>
  </p:cSld>
  <p:clrMapOvr>
    <a:masterClrMapping/>
  </p:clrMapOvr>
</p:sld>
</file>

<file path=ppt/slides/slide34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8000" y="203200"/>
            <a:ext cx="11176000" cy="635000"/>
          </a:xfrm>
        </p:spPr>
        <p:txBody>
          <a:bodyPr lIns="0" rIns="0" wrap="square" anchor="ctr"/>
          <a:lstStyle/>
          <a:p>
            <a:pPr algn="l"/>
            <a:r>
              <a:rPr lang="es-ES" sz="2600" b="true" i="false">
                <a:solidFill>
                  <a:srgbClr val="243B53"/>
                </a:solidFill>
                <a:latin typeface="Segoe UI"/>
              </a:rPr>
              <a:t>Perfil de datos (cont.)</a:t>
            </a:r>
            <a:endParaRPr sz="2600" lang="es-ES"/>
          </a:p>
        </p:txBody>
      </p:sp>
      <p:pic>
        <p:nvPicPr>
          <p:cNvPr name="Picture 3" id="3"/>
          <p:cNvPicPr>
            <a:picLocks noChangeAspect="true"/>
          </p:cNvPicPr>
          <p:nvPr/>
        </p:nvPicPr>
        <p:blipFill>
          <a:blip r:embed="rId2"/>
          <a:stretch>
            <a:fillRect/>
          </a:stretch>
        </p:blipFill>
        <p:spPr>
          <a:xfrm>
            <a:off x="10248900" y="5510084"/>
            <a:ext cx="1435100" cy="814516"/>
          </a:xfrm>
          <a:prstGeom prst="rect">
            <a:avLst/>
          </a:prstGeom>
        </p:spPr>
      </p:pic>
      <p:sp>
        <p:nvSpPr>
          <p:cNvPr name="AutoShape 4" id="4"/>
          <p:cNvSpPr/>
          <p:nvPr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243B53"/>
          </a:solidFill>
          <a:ln>
            <a:noFill/>
          </a:ln>
        </p:spPr>
      </p:sp>
      <p:pic>
        <p:nvPicPr>
          <p:cNvPr name="Picture 5" id="5"/>
          <p:cNvPicPr>
            <a:picLocks noChangeAspect="true"/>
          </p:cNvPicPr>
          <p:nvPr/>
        </p:nvPicPr>
        <p:blipFill>
          <a:blip r:embed="rId3"/>
          <a:stretch>
            <a:fillRect/>
          </a:stretch>
        </p:blipFill>
        <p:spPr>
          <a:xfrm>
            <a:off x="508000" y="6508750"/>
            <a:ext cx="177800" cy="100914"/>
          </a:xfrm>
          <a:prstGeom prst="rect">
            <a:avLst/>
          </a:prstGeom>
        </p:spPr>
      </p:pic>
      <p:sp>
        <p:nvSpPr>
          <p:cNvPr name="TextBox 6" id="6"/>
          <p:cNvSpPr txBox="true"/>
          <p:nvPr/>
        </p:nvSpPr>
        <p:spPr>
          <a:xfrm>
            <a:off x="749300" y="6451600"/>
            <a:ext cx="5080000" cy="228600"/>
          </a:xfrm>
          <a:prstGeom prst="rect">
            <a:avLst/>
          </a:prstGeom>
        </p:spPr>
        <p:txBody>
          <a:bodyPr anchor="ctr" rtlCol="false" wrap="square" lIns="0" rIns="0" tIns="25400" bIns="25400"/>
          <a:lstStyle/>
          <a:p>
            <a:pPr algn="l"/>
            <a:r>
              <a:rPr lang="es-ES" sz="750" b="false" i="false">
                <a:solidFill>
                  <a:srgbClr val="6B7785"/>
                </a:solidFill>
                <a:latin typeface="Segoe UI"/>
              </a:rPr>
              <a:t>Pentaho Live · IDC Studios</a:t>
            </a:r>
            <a:endParaRPr sz="750" lang="es-ES"/>
          </a:p>
        </p:txBody>
      </p:sp>
      <p:sp>
        <p:nvSpPr>
          <p:cNvPr name="TextBox 7" id="7"/>
          <p:cNvSpPr txBox="true"/>
          <p:nvPr/>
        </p:nvSpPr>
        <p:spPr>
          <a:xfrm>
            <a:off x="10160000" y="6451600"/>
            <a:ext cx="1524000" cy="228600"/>
          </a:xfrm>
          <a:prstGeom prst="rect">
            <a:avLst/>
          </a:prstGeom>
        </p:spPr>
        <p:txBody>
          <a:bodyPr anchor="ctr" rtlCol="false" wrap="square" lIns="0" rIns="0" tIns="25400" bIns="25400"/>
          <a:lstStyle/>
          <a:p>
            <a:pPr algn="r"/>
            <a:fld id="{E30DDC16-AA6E-416E-B3E1-6C975E76322D}" type="slidenum">
              <a:rPr lang="es-ES" sz="750">
                <a:solidFill>
                  <a:srgbClr val="6B7785"/>
                </a:solidFill>
                <a:latin typeface="Segoe UI"/>
              </a:rPr>
              <a:t>34</a:t>
            </a:fld>
            <a:endParaRPr sz="750" lang="es-ES"/>
          </a:p>
        </p:txBody>
      </p:sp>
      <p:sp>
        <p:nvSpPr>
          <p:cNvPr name="TextBox 8" id="8"/>
          <p:cNvSpPr txBox="true"/>
          <p:nvPr/>
        </p:nvSpPr>
        <p:spPr>
          <a:xfrm>
            <a:off x="508000" y="1016000"/>
            <a:ext cx="11176000" cy="254000"/>
          </a:xfrm>
          <a:prstGeom prst="rect">
            <a:avLst/>
          </a:prstGeom>
        </p:spPr>
        <p:txBody>
          <a:bodyPr anchor="t" rtlCol="false" wrap="square" lIns="0" rIns="0" tIns="25400" bIns="25400"/>
          <a:lstStyle/>
          <a:p>
            <a:pPr algn="l"/>
            <a:r>
              <a:rPr lang="es-ES" sz="1300" b="true" i="false">
                <a:solidFill>
                  <a:srgbClr val="243B53"/>
                </a:solidFill>
                <a:latin typeface="Segoe UI"/>
              </a:rPr>
              <a:t>Valores más frecuentes</a:t>
            </a:r>
            <a:endParaRPr sz="1300" lang="es-ES"/>
          </a:p>
        </p:txBody>
      </p:sp>
      <p:graphicFrame>
        <p:nvGraphicFramePr>
          <p:cNvPr name="Table 9" id="9"/>
          <p:cNvGraphicFramePr>
            <a:graphicFrameLocks noGrp="true"/>
          </p:cNvGraphicFramePr>
          <p:nvPr/>
        </p:nvGraphicFramePr>
        <p:xfrm>
          <a:off x="508000" y="1295400"/>
          <a:ext cx="5181600" cy="3425952"/>
        </p:xfrm>
        <a:graphic>
          <a:graphicData uri="http://schemas.openxmlformats.org/drawingml/2006/table">
            <a:tbl>
              <a:tblPr/>
              <a:tblGrid>
                <a:gridCol w="1320800"/>
                <a:gridCol w="3860800"/>
              </a:tblGrid>
              <a:tr h="298704">
                <a:tc>
                  <a:txBody>
                    <a:bodyPr anchor="t" rtlCol="false"/>
                    <a:lstStyle/>
                    <a:p>
                      <a:pPr algn="l"/>
                      <a:r>
                        <a:rPr lang="es-ES" sz="1100" b="true" i="false">
                          <a:solidFill>
                            <a:srgbClr val="FFFFFF"/>
                          </a:solidFill>
                          <a:latin typeface="Segoe UI"/>
                        </a:rPr>
                        <a:t>Campo</a:t>
                      </a:r>
                      <a:endParaRPr sz="1100" lang="es-ES"/>
                    </a:p>
                  </a:txBody>
                  <a:tcPr marL="76200" marR="76200" marT="38100" marB="381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cmpd="sng" algn="ctr" cap="flat" w="9525">
                      <a:solidFill>
                        <a:srgbClr val="243B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3B53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l"/>
                      <a:r>
                        <a:rPr lang="es-ES" sz="1100" b="true" i="false">
                          <a:solidFill>
                            <a:srgbClr val="FFFFFF"/>
                          </a:solidFill>
                          <a:latin typeface="Segoe UI"/>
                        </a:rPr>
                        <a:t>Más frecuentes (cantidad)</a:t>
                      </a:r>
                      <a:endParaRPr sz="1100" lang="es-ES"/>
                    </a:p>
                  </a:txBody>
                  <a:tcPr marL="76200" marR="76200" marT="38100" marB="381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cmpd="sng" algn="ctr" cap="flat" w="9525">
                      <a:solidFill>
                        <a:srgbClr val="243B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3B53"/>
                    </a:solidFill>
                  </a:tcPr>
                </a:tc>
              </a:tr>
              <a:tr h="483108">
                <a:tc>
                  <a:txBody>
                    <a:bodyPr anchor="t" rtlCol="false"/>
                    <a:lstStyle/>
                    <a:p>
                      <a:pPr algn="l"/>
                      <a:r>
                        <a:rPr lang="es-ES" sz="1100" b="false" i="false">
                          <a:solidFill>
                            <a:srgbClr val="1F2933"/>
                          </a:solidFill>
                          <a:latin typeface="Segoe UI"/>
                        </a:rPr>
                        <a:t>id_ticket</a:t>
                      </a:r>
                      <a:endParaRPr sz="1100" lang="es-ES"/>
                    </a:p>
                  </a:txBody>
                  <a:tcPr marL="76200" marR="76200" marT="38100" marB="381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cmpd="sng" algn="ctr" cap="flat" w="9525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l"/>
                      <a:r>
                        <a:rPr lang="es-ES" sz="1100" b="false" i="false">
                          <a:solidFill>
                            <a:srgbClr val="1F2933"/>
                          </a:solidFill>
                          <a:latin typeface="Segoe UI"/>
                        </a:rPr>
                        <a:t>TK000099 (5) · TK000396 (5) · TK000513 (5) · TK000579 (5) · TK000609 (5)</a:t>
                      </a:r>
                      <a:endParaRPr sz="1100" lang="es-ES"/>
                    </a:p>
                  </a:txBody>
                  <a:tcPr marL="76200" marR="76200" marT="38100" marB="381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cmpd="sng" algn="ctr" cap="flat" w="9525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8704">
                <a:tc>
                  <a:txBody>
                    <a:bodyPr anchor="t" rtlCol="false"/>
                    <a:lstStyle/>
                    <a:p>
                      <a:pPr algn="l"/>
                      <a:r>
                        <a:rPr lang="es-ES" sz="1100" b="false" i="false">
                          <a:solidFill>
                            <a:srgbClr val="1F2933"/>
                          </a:solidFill>
                          <a:latin typeface="Segoe UI"/>
                        </a:rPr>
                        <a:t>linea</a:t>
                      </a:r>
                      <a:endParaRPr sz="1100" lang="es-ES"/>
                    </a:p>
                  </a:txBody>
                  <a:tcPr marL="76200" marR="76200" marT="38100" marB="381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cmpd="sng" algn="ctr" cap="flat" w="9525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1F3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l"/>
                      <a:r>
                        <a:rPr lang="es-ES" sz="1100" b="false" i="false">
                          <a:solidFill>
                            <a:srgbClr val="1F2933"/>
                          </a:solidFill>
                          <a:latin typeface="Segoe UI"/>
                        </a:rPr>
                        <a:t>1 (1.536) · 2 (927) · 3 (398) · 4 (139)</a:t>
                      </a:r>
                      <a:endParaRPr sz="1100" lang="es-ES"/>
                    </a:p>
                  </a:txBody>
                  <a:tcPr marL="76200" marR="76200" marT="38100" marB="381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cmpd="sng" algn="ctr" cap="flat" w="9525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1F3"/>
                    </a:solidFill>
                  </a:tcPr>
                </a:tc>
              </a:tr>
              <a:tr h="483108">
                <a:tc>
                  <a:txBody>
                    <a:bodyPr anchor="t" rtlCol="false"/>
                    <a:lstStyle/>
                    <a:p>
                      <a:pPr algn="l"/>
                      <a:r>
                        <a:rPr lang="es-ES" sz="1100" b="false" i="false">
                          <a:solidFill>
                            <a:srgbClr val="1F2933"/>
                          </a:solidFill>
                          <a:latin typeface="Segoe UI"/>
                        </a:rPr>
                        <a:t>fecha</a:t>
                      </a:r>
                      <a:endParaRPr sz="1100" lang="es-ES"/>
                    </a:p>
                  </a:txBody>
                  <a:tcPr marL="76200" marR="76200" marT="38100" marB="381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cmpd="sng" algn="ctr" cap="flat" w="9525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l"/>
                      <a:r>
                        <a:rPr lang="es-ES" sz="1100" b="false" i="false">
                          <a:solidFill>
                            <a:srgbClr val="1F2933"/>
                          </a:solidFill>
                          <a:latin typeface="Segoe UI"/>
                        </a:rPr>
                        <a:t>2026-09-13 (116) · 2026-09-05 (109) · 2026-09-20 (108) · 2026-09-06 (107) · 2026-09-12 (106)</a:t>
                      </a:r>
                      <a:endParaRPr sz="1100" lang="es-ES"/>
                    </a:p>
                  </a:txBody>
                  <a:tcPr marL="76200" marR="76200" marT="38100" marB="381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cmpd="sng" algn="ctr" cap="flat" w="9525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8704">
                <a:tc>
                  <a:txBody>
                    <a:bodyPr anchor="t" rtlCol="false"/>
                    <a:lstStyle/>
                    <a:p>
                      <a:pPr algn="l"/>
                      <a:r>
                        <a:rPr lang="es-ES" sz="1100" b="false" i="false">
                          <a:solidFill>
                            <a:srgbClr val="1F2933"/>
                          </a:solidFill>
                          <a:latin typeface="Segoe UI"/>
                        </a:rPr>
                        <a:t>id_tienda</a:t>
                      </a:r>
                      <a:endParaRPr sz="1100" lang="es-ES"/>
                    </a:p>
                  </a:txBody>
                  <a:tcPr marL="76200" marR="76200" marT="38100" marB="381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cmpd="sng" algn="ctr" cap="flat" w="9525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1F3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l"/>
                      <a:r>
                        <a:rPr lang="es-ES" sz="1100" b="false" i="false">
                          <a:solidFill>
                            <a:srgbClr val="1F2933"/>
                          </a:solidFill>
                          <a:latin typeface="Segoe UI"/>
                        </a:rPr>
                        <a:t>T01 (929) · T03 (782) · T02 (697) · T04 (577)</a:t>
                      </a:r>
                      <a:endParaRPr sz="1100" lang="es-ES"/>
                    </a:p>
                  </a:txBody>
                  <a:tcPr marL="76200" marR="76200" marT="38100" marB="381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cmpd="sng" algn="ctr" cap="flat" w="9525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1F3"/>
                    </a:solidFill>
                  </a:tcPr>
                </a:tc>
              </a:tr>
              <a:tr h="483108">
                <a:tc>
                  <a:txBody>
                    <a:bodyPr anchor="t" rtlCol="false"/>
                    <a:lstStyle/>
                    <a:p>
                      <a:pPr algn="l"/>
                      <a:r>
                        <a:rPr lang="es-ES" sz="1100" b="false" i="false">
                          <a:solidFill>
                            <a:srgbClr val="1F2933"/>
                          </a:solidFill>
                          <a:latin typeface="Segoe UI"/>
                        </a:rPr>
                        <a:t>codigo_producto</a:t>
                      </a:r>
                      <a:endParaRPr sz="1100" lang="es-ES"/>
                    </a:p>
                  </a:txBody>
                  <a:tcPr marL="76200" marR="76200" marT="38100" marB="381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cmpd="sng" algn="ctr" cap="flat" w="9525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l"/>
                      <a:r>
                        <a:rPr lang="es-ES" sz="1100" b="false" i="false">
                          <a:solidFill>
                            <a:srgbClr val="1F2933"/>
                          </a:solidFill>
                          <a:latin typeface="Segoe UI"/>
                        </a:rPr>
                        <a:t>CAF-003 (299) · CAF-002 (183) · CAF-001 (181) · BOL-001 (173) · CAF-005 (168)</a:t>
                      </a:r>
                      <a:endParaRPr sz="1100" lang="es-ES"/>
                    </a:p>
                  </a:txBody>
                  <a:tcPr marL="76200" marR="76200" marT="38100" marB="381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cmpd="sng" algn="ctr" cap="flat" w="9525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8704">
                <a:tc>
                  <a:txBody>
                    <a:bodyPr anchor="t" rtlCol="false"/>
                    <a:lstStyle/>
                    <a:p>
                      <a:pPr algn="l"/>
                      <a:r>
                        <a:rPr lang="es-ES" sz="1100" b="false" i="false">
                          <a:solidFill>
                            <a:srgbClr val="1F2933"/>
                          </a:solidFill>
                          <a:latin typeface="Segoe UI"/>
                        </a:rPr>
                        <a:t>cantidad</a:t>
                      </a:r>
                      <a:endParaRPr sz="1100" lang="es-ES"/>
                    </a:p>
                  </a:txBody>
                  <a:tcPr marL="76200" marR="76200" marT="38100" marB="381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cmpd="sng" algn="ctr" cap="flat" w="9525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1F3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l"/>
                      <a:r>
                        <a:rPr lang="es-ES" sz="1100" b="false" i="false">
                          <a:solidFill>
                            <a:srgbClr val="1F2933"/>
                          </a:solidFill>
                          <a:latin typeface="Segoe UI"/>
                        </a:rPr>
                        <a:t>1 (2.386) · 2 (456) · 3 (140) · -1 (8) · 0 (7)</a:t>
                      </a:r>
                      <a:endParaRPr sz="1100" lang="es-ES"/>
                    </a:p>
                  </a:txBody>
                  <a:tcPr marL="76200" marR="76200" marT="38100" marB="381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cmpd="sng" algn="ctr" cap="flat" w="9525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1F3"/>
                    </a:solidFill>
                  </a:tcPr>
                </a:tc>
              </a:tr>
              <a:tr h="483108">
                <a:tc>
                  <a:txBody>
                    <a:bodyPr anchor="t" rtlCol="false"/>
                    <a:lstStyle/>
                    <a:p>
                      <a:pPr algn="l"/>
                      <a:r>
                        <a:rPr lang="es-ES" sz="1100" b="false" i="false">
                          <a:solidFill>
                            <a:srgbClr val="1F2933"/>
                          </a:solidFill>
                          <a:latin typeface="Segoe UI"/>
                        </a:rPr>
                        <a:t>precio_unitario</a:t>
                      </a:r>
                      <a:endParaRPr sz="1100" lang="es-ES"/>
                    </a:p>
                  </a:txBody>
                  <a:tcPr marL="76200" marR="76200" marT="38100" marB="381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cmpd="sng" algn="ctr" cap="flat" w="9525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l"/>
                      <a:r>
                        <a:rPr lang="es-ES" sz="1100" b="false" i="false">
                          <a:solidFill>
                            <a:srgbClr val="1F2933"/>
                          </a:solidFill>
                          <a:latin typeface="Segoe UI"/>
                        </a:rPr>
                        <a:t>2,1 (431) · 2,8 (326) · 1,5 (272) · 3 (249) · 1,7 (183)</a:t>
                      </a:r>
                      <a:endParaRPr sz="1100" lang="es-ES"/>
                    </a:p>
                  </a:txBody>
                  <a:tcPr marL="76200" marR="76200" marT="38100" marB="381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cmpd="sng" algn="ctr" cap="flat" w="9525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8704">
                <a:tc>
                  <a:txBody>
                    <a:bodyPr anchor="t" rtlCol="false"/>
                    <a:lstStyle/>
                    <a:p>
                      <a:pPr algn="l"/>
                      <a:r>
                        <a:rPr lang="es-ES" sz="1100" b="false" i="false">
                          <a:solidFill>
                            <a:srgbClr val="1F2933"/>
                          </a:solidFill>
                          <a:latin typeface="Segoe UI"/>
                        </a:rPr>
                        <a:t>metodo_pago</a:t>
                      </a:r>
                      <a:endParaRPr sz="1100" lang="es-ES"/>
                    </a:p>
                  </a:txBody>
                  <a:tcPr marL="76200" marR="76200" marT="38100" marB="381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cmpd="sng" algn="ctr" cap="flat" w="9525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1F3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l"/>
                      <a:r>
                        <a:rPr lang="es-ES" sz="1100" b="false" i="false">
                          <a:solidFill>
                            <a:srgbClr val="1F2933"/>
                          </a:solidFill>
                          <a:latin typeface="Segoe UI"/>
                        </a:rPr>
                        <a:t>TARJETA (1.726) · EFECTIVO (669) · BIZUM (605)</a:t>
                      </a:r>
                      <a:endParaRPr sz="1100" lang="es-ES"/>
                    </a:p>
                  </a:txBody>
                  <a:tcPr marL="76200" marR="76200" marT="38100" marB="381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cmpd="sng" algn="ctr" cap="flat" w="9525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1F3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5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8000" y="203200"/>
            <a:ext cx="11176000" cy="635000"/>
          </a:xfrm>
        </p:spPr>
        <p:txBody>
          <a:bodyPr lIns="0" rIns="0" wrap="square" anchor="ctr"/>
          <a:lstStyle/>
          <a:p>
            <a:pPr algn="l"/>
            <a:r>
              <a:rPr lang="es-ES" sz="2600" b="true" i="false">
                <a:solidFill>
                  <a:srgbClr val="243B53"/>
                </a:solidFill>
                <a:latin typeface="Segoe UI"/>
              </a:rPr>
              <a:t>Métricas de ejecución</a:t>
            </a:r>
            <a:endParaRPr sz="2600" lang="es-ES"/>
          </a:p>
        </p:txBody>
      </p:sp>
      <p:pic>
        <p:nvPicPr>
          <p:cNvPr name="Picture 3" id="3"/>
          <p:cNvPicPr>
            <a:picLocks noChangeAspect="true"/>
          </p:cNvPicPr>
          <p:nvPr/>
        </p:nvPicPr>
        <p:blipFill>
          <a:blip r:embed="rId2"/>
          <a:stretch>
            <a:fillRect/>
          </a:stretch>
        </p:blipFill>
        <p:spPr>
          <a:xfrm>
            <a:off x="10248900" y="5510084"/>
            <a:ext cx="1435100" cy="814516"/>
          </a:xfrm>
          <a:prstGeom prst="rect">
            <a:avLst/>
          </a:prstGeom>
        </p:spPr>
      </p:pic>
      <p:sp>
        <p:nvSpPr>
          <p:cNvPr name="AutoShape 4" id="4"/>
          <p:cNvSpPr/>
          <p:nvPr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243B53"/>
          </a:solidFill>
          <a:ln>
            <a:noFill/>
          </a:ln>
        </p:spPr>
      </p:sp>
      <p:pic>
        <p:nvPicPr>
          <p:cNvPr name="Picture 5" id="5"/>
          <p:cNvPicPr>
            <a:picLocks noChangeAspect="true"/>
          </p:cNvPicPr>
          <p:nvPr/>
        </p:nvPicPr>
        <p:blipFill>
          <a:blip r:embed="rId3"/>
          <a:stretch>
            <a:fillRect/>
          </a:stretch>
        </p:blipFill>
        <p:spPr>
          <a:xfrm>
            <a:off x="508000" y="6508750"/>
            <a:ext cx="177800" cy="100914"/>
          </a:xfrm>
          <a:prstGeom prst="rect">
            <a:avLst/>
          </a:prstGeom>
        </p:spPr>
      </p:pic>
      <p:sp>
        <p:nvSpPr>
          <p:cNvPr name="TextBox 6" id="6"/>
          <p:cNvSpPr txBox="true"/>
          <p:nvPr/>
        </p:nvSpPr>
        <p:spPr>
          <a:xfrm>
            <a:off x="749300" y="6451600"/>
            <a:ext cx="5080000" cy="228600"/>
          </a:xfrm>
          <a:prstGeom prst="rect">
            <a:avLst/>
          </a:prstGeom>
        </p:spPr>
        <p:txBody>
          <a:bodyPr anchor="ctr" rtlCol="false" wrap="square" lIns="0" rIns="0" tIns="25400" bIns="25400"/>
          <a:lstStyle/>
          <a:p>
            <a:pPr algn="l"/>
            <a:r>
              <a:rPr lang="es-ES" sz="750" b="false" i="false">
                <a:solidFill>
                  <a:srgbClr val="6B7785"/>
                </a:solidFill>
                <a:latin typeface="Segoe UI"/>
              </a:rPr>
              <a:t>Pentaho Live · IDC Studios</a:t>
            </a:r>
            <a:endParaRPr sz="750" lang="es-ES"/>
          </a:p>
        </p:txBody>
      </p:sp>
      <p:sp>
        <p:nvSpPr>
          <p:cNvPr name="TextBox 7" id="7"/>
          <p:cNvSpPr txBox="true"/>
          <p:nvPr/>
        </p:nvSpPr>
        <p:spPr>
          <a:xfrm>
            <a:off x="10160000" y="6451600"/>
            <a:ext cx="1524000" cy="228600"/>
          </a:xfrm>
          <a:prstGeom prst="rect">
            <a:avLst/>
          </a:prstGeom>
        </p:spPr>
        <p:txBody>
          <a:bodyPr anchor="ctr" rtlCol="false" wrap="square" lIns="0" rIns="0" tIns="25400" bIns="25400"/>
          <a:lstStyle/>
          <a:p>
            <a:pPr algn="r"/>
            <a:fld id="{CA31873A-959A-4120-B7D7-1484EB08E763}" type="slidenum">
              <a:rPr lang="es-ES" sz="750">
                <a:solidFill>
                  <a:srgbClr val="6B7785"/>
                </a:solidFill>
                <a:latin typeface="Segoe UI"/>
              </a:rPr>
              <a:t>35</a:t>
            </a:fld>
            <a:endParaRPr sz="750" lang="es-ES"/>
          </a:p>
        </p:txBody>
      </p:sp>
      <p:sp>
        <p:nvSpPr>
          <p:cNvPr name="AutoShape 8" id="8"/>
          <p:cNvSpPr/>
          <p:nvPr/>
        </p:nvSpPr>
        <p:spPr>
          <a:xfrm>
            <a:off x="508000" y="1016000"/>
            <a:ext cx="3302000" cy="965200"/>
          </a:xfrm>
          <a:prstGeom prst="roundRect">
            <a:avLst/>
          </a:prstGeom>
          <a:solidFill>
            <a:srgbClr val="F4F5F6"/>
          </a:solidFill>
          <a:ln w="9525">
            <a:solidFill>
              <a:srgbClr val="D9DEE5"/>
            </a:solidFill>
          </a:ln>
        </p:spPr>
      </p:sp>
      <p:sp>
        <p:nvSpPr>
          <p:cNvPr name="AutoShape 9" id="9"/>
          <p:cNvSpPr/>
          <p:nvPr/>
        </p:nvSpPr>
        <p:spPr>
          <a:xfrm>
            <a:off x="508000" y="1117600"/>
            <a:ext cx="38100" cy="762000"/>
          </a:xfrm>
          <a:prstGeom prst="rect">
            <a:avLst/>
          </a:prstGeom>
          <a:solidFill>
            <a:srgbClr val="3F74D8"/>
          </a:solidFill>
          <a:ln>
            <a:noFill/>
          </a:ln>
        </p:spPr>
      </p:sp>
      <p:sp>
        <p:nvSpPr>
          <p:cNvPr name="TextBox 10" id="10"/>
          <p:cNvSpPr txBox="true"/>
          <p:nvPr/>
        </p:nvSpPr>
        <p:spPr>
          <a:xfrm>
            <a:off x="685800" y="1092200"/>
            <a:ext cx="2997200" cy="812800"/>
          </a:xfrm>
          <a:prstGeom prst="rect">
            <a:avLst/>
          </a:prstGeom>
        </p:spPr>
        <p:txBody>
          <a:bodyPr anchor="ctr" rtlCol="false" wrap="square" lIns="0" rIns="0" tIns="25400" bIns="25400"/>
          <a:lstStyle/>
          <a:p>
            <a:pPr algn="l"/>
            <a:r>
              <a:rPr lang="es-ES" sz="1000" b="false" i="false">
                <a:solidFill>
                  <a:srgbClr val="6B7785"/>
                </a:solidFill>
                <a:latin typeface="Segoe UI"/>
              </a:rPr>
              <a:t>Duración</a:t>
            </a:r>
            <a:endParaRPr sz="1000" lang="es-ES"/>
          </a:p>
          <a:p>
            <a:pPr algn="l"/>
            <a:r>
              <a:rPr lang="es-ES" sz="2200" b="true" i="false">
                <a:solidFill>
                  <a:srgbClr val="1F2933"/>
                </a:solidFill>
                <a:latin typeface="Segoe UI"/>
              </a:rPr>
              <a:t>239 ms</a:t>
            </a:r>
            <a:endParaRPr sz="2200" lang="es-ES"/>
          </a:p>
          <a:p>
            <a:pPr algn="l"/>
            <a:r>
              <a:rPr lang="es-ES" sz="900" b="false" i="false">
                <a:solidFill>
                  <a:srgbClr val="6B7785"/>
                </a:solidFill>
                <a:latin typeface="Segoe UI"/>
              </a:rPr>
              <a:t>última ejecución en Spoon</a:t>
            </a:r>
            <a:endParaRPr sz="900" lang="es-ES"/>
          </a:p>
        </p:txBody>
      </p:sp>
      <p:sp>
        <p:nvSpPr>
          <p:cNvPr name="AutoShape 11" id="11"/>
          <p:cNvSpPr/>
          <p:nvPr/>
        </p:nvSpPr>
        <p:spPr>
          <a:xfrm>
            <a:off x="3962400" y="1016000"/>
            <a:ext cx="3302000" cy="965200"/>
          </a:xfrm>
          <a:prstGeom prst="roundRect">
            <a:avLst/>
          </a:prstGeom>
          <a:solidFill>
            <a:srgbClr val="F4F5F6"/>
          </a:solidFill>
          <a:ln w="9525">
            <a:solidFill>
              <a:srgbClr val="D9DEE5"/>
            </a:solidFill>
          </a:ln>
        </p:spPr>
      </p:sp>
      <p:sp>
        <p:nvSpPr>
          <p:cNvPr name="AutoShape 12" id="12"/>
          <p:cNvSpPr/>
          <p:nvPr/>
        </p:nvSpPr>
        <p:spPr>
          <a:xfrm>
            <a:off x="3962400" y="1117600"/>
            <a:ext cx="38100" cy="762000"/>
          </a:xfrm>
          <a:prstGeom prst="rect">
            <a:avLst/>
          </a:prstGeom>
          <a:solidFill>
            <a:srgbClr val="3F74D8"/>
          </a:solidFill>
          <a:ln>
            <a:noFill/>
          </a:ln>
        </p:spPr>
      </p:sp>
      <p:sp>
        <p:nvSpPr>
          <p:cNvPr name="TextBox 13" id="13"/>
          <p:cNvSpPr txBox="true"/>
          <p:nvPr/>
        </p:nvSpPr>
        <p:spPr>
          <a:xfrm>
            <a:off x="4140200" y="1092200"/>
            <a:ext cx="2997200" cy="812800"/>
          </a:xfrm>
          <a:prstGeom prst="rect">
            <a:avLst/>
          </a:prstGeom>
        </p:spPr>
        <p:txBody>
          <a:bodyPr anchor="ctr" rtlCol="false" wrap="square" lIns="0" rIns="0" tIns="25400" bIns="25400"/>
          <a:lstStyle/>
          <a:p>
            <a:pPr algn="l"/>
            <a:r>
              <a:rPr lang="es-ES" sz="1000" b="false" i="false">
                <a:solidFill>
                  <a:srgbClr val="6B7785"/>
                </a:solidFill>
                <a:latin typeface="Segoe UI"/>
              </a:rPr>
              <a:t>Filas leídas</a:t>
            </a:r>
            <a:endParaRPr sz="1000" lang="es-ES"/>
          </a:p>
          <a:p>
            <a:pPr algn="l"/>
            <a:r>
              <a:rPr lang="es-ES" sz="2200" b="true" i="false">
                <a:solidFill>
                  <a:srgbClr val="1F2933"/>
                </a:solidFill>
                <a:latin typeface="Segoe UI"/>
              </a:rPr>
              <a:t>3.000</a:t>
            </a:r>
            <a:endParaRPr sz="2200" lang="es-ES"/>
          </a:p>
          <a:p>
            <a:pPr algn="l"/>
            <a:r>
              <a:rPr lang="es-ES" sz="900" b="false" i="false">
                <a:solidFill>
                  <a:srgbClr val="6B7785"/>
                </a:solidFill>
                <a:latin typeface="Segoe UI"/>
              </a:rPr>
              <a:t>de las fuentes</a:t>
            </a:r>
            <a:endParaRPr sz="900" lang="es-ES"/>
          </a:p>
        </p:txBody>
      </p:sp>
      <p:sp>
        <p:nvSpPr>
          <p:cNvPr name="AutoShape 14" id="14"/>
          <p:cNvSpPr/>
          <p:nvPr/>
        </p:nvSpPr>
        <p:spPr>
          <a:xfrm>
            <a:off x="7416800" y="1016000"/>
            <a:ext cx="3302000" cy="965200"/>
          </a:xfrm>
          <a:prstGeom prst="roundRect">
            <a:avLst/>
          </a:prstGeom>
          <a:solidFill>
            <a:srgbClr val="F4F5F6"/>
          </a:solidFill>
          <a:ln w="9525">
            <a:solidFill>
              <a:srgbClr val="D9DEE5"/>
            </a:solidFill>
          </a:ln>
        </p:spPr>
      </p:sp>
      <p:sp>
        <p:nvSpPr>
          <p:cNvPr name="AutoShape 15" id="15"/>
          <p:cNvSpPr/>
          <p:nvPr/>
        </p:nvSpPr>
        <p:spPr>
          <a:xfrm>
            <a:off x="7416800" y="1117600"/>
            <a:ext cx="38100" cy="762000"/>
          </a:xfrm>
          <a:prstGeom prst="rect">
            <a:avLst/>
          </a:prstGeom>
          <a:solidFill>
            <a:srgbClr val="3F74D8"/>
          </a:solidFill>
          <a:ln>
            <a:noFill/>
          </a:ln>
        </p:spPr>
      </p:sp>
      <p:sp>
        <p:nvSpPr>
          <p:cNvPr name="TextBox 16" id="16"/>
          <p:cNvSpPr txBox="true"/>
          <p:nvPr/>
        </p:nvSpPr>
        <p:spPr>
          <a:xfrm>
            <a:off x="7594600" y="1092200"/>
            <a:ext cx="2997200" cy="812800"/>
          </a:xfrm>
          <a:prstGeom prst="rect">
            <a:avLst/>
          </a:prstGeom>
        </p:spPr>
        <p:txBody>
          <a:bodyPr anchor="ctr" rtlCol="false" wrap="square" lIns="0" rIns="0" tIns="25400" bIns="25400"/>
          <a:lstStyle/>
          <a:p>
            <a:pPr algn="l"/>
            <a:r>
              <a:rPr lang="es-ES" sz="1000" b="false" i="false">
                <a:solidFill>
                  <a:srgbClr val="6B7785"/>
                </a:solidFill>
                <a:latin typeface="Segoe UI"/>
              </a:rPr>
              <a:t>Filas escritas</a:t>
            </a:r>
            <a:endParaRPr sz="1000" lang="es-ES"/>
          </a:p>
          <a:p>
            <a:pPr algn="l"/>
            <a:r>
              <a:rPr lang="es-ES" sz="2200" b="true" i="false">
                <a:solidFill>
                  <a:srgbClr val="1F2933"/>
                </a:solidFill>
                <a:latin typeface="Segoe UI"/>
              </a:rPr>
              <a:t>3.000</a:t>
            </a:r>
            <a:endParaRPr sz="2200" lang="es-ES"/>
          </a:p>
          <a:p>
            <a:pPr algn="l"/>
            <a:r>
              <a:rPr lang="es-ES" sz="900" b="false" i="false">
                <a:solidFill>
                  <a:srgbClr val="6B7785"/>
                </a:solidFill>
                <a:latin typeface="Segoe UI"/>
              </a:rPr>
              <a:t>por los steps de salida</a:t>
            </a:r>
            <a:endParaRPr sz="900" lang="es-ES"/>
          </a:p>
        </p:txBody>
      </p:sp>
      <p:sp>
        <p:nvSpPr>
          <p:cNvPr name="AutoShape 17" id="17"/>
          <p:cNvSpPr/>
          <p:nvPr/>
        </p:nvSpPr>
        <p:spPr>
          <a:xfrm>
            <a:off x="508000" y="2108200"/>
            <a:ext cx="3302000" cy="965200"/>
          </a:xfrm>
          <a:prstGeom prst="roundRect">
            <a:avLst/>
          </a:prstGeom>
          <a:solidFill>
            <a:srgbClr val="F4F5F6"/>
          </a:solidFill>
          <a:ln w="9525">
            <a:solidFill>
              <a:srgbClr val="D9DEE5"/>
            </a:solidFill>
          </a:ln>
        </p:spPr>
      </p:sp>
      <p:sp>
        <p:nvSpPr>
          <p:cNvPr name="AutoShape 18" id="18"/>
          <p:cNvSpPr/>
          <p:nvPr/>
        </p:nvSpPr>
        <p:spPr>
          <a:xfrm>
            <a:off x="508000" y="2209800"/>
            <a:ext cx="38100" cy="762000"/>
          </a:xfrm>
          <a:prstGeom prst="rect">
            <a:avLst/>
          </a:prstGeom>
          <a:solidFill>
            <a:srgbClr val="2F855A"/>
          </a:solidFill>
          <a:ln>
            <a:noFill/>
          </a:ln>
        </p:spPr>
      </p:sp>
      <p:sp>
        <p:nvSpPr>
          <p:cNvPr name="TextBox 19" id="19"/>
          <p:cNvSpPr txBox="true"/>
          <p:nvPr/>
        </p:nvSpPr>
        <p:spPr>
          <a:xfrm>
            <a:off x="685800" y="2184400"/>
            <a:ext cx="2997200" cy="812800"/>
          </a:xfrm>
          <a:prstGeom prst="rect">
            <a:avLst/>
          </a:prstGeom>
        </p:spPr>
        <p:txBody>
          <a:bodyPr anchor="ctr" rtlCol="false" wrap="square" lIns="0" rIns="0" tIns="25400" bIns="25400"/>
          <a:lstStyle/>
          <a:p>
            <a:pPr algn="l"/>
            <a:r>
              <a:rPr lang="es-ES" sz="1000" b="false" i="false">
                <a:solidFill>
                  <a:srgbClr val="6B7785"/>
                </a:solidFill>
                <a:latin typeface="Segoe UI"/>
              </a:rPr>
              <a:t>Errores</a:t>
            </a:r>
            <a:endParaRPr sz="1000" lang="es-ES"/>
          </a:p>
          <a:p>
            <a:pPr algn="l"/>
            <a:r>
              <a:rPr lang="es-ES" sz="2200" b="true" i="false">
                <a:solidFill>
                  <a:srgbClr val="2F855A"/>
                </a:solidFill>
                <a:latin typeface="Segoe UI"/>
              </a:rPr>
              <a:t>0</a:t>
            </a:r>
            <a:endParaRPr sz="2200" lang="es-ES"/>
          </a:p>
        </p:txBody>
      </p:sp>
      <p:sp>
        <p:nvSpPr>
          <p:cNvPr name="AutoShape 20" id="20"/>
          <p:cNvSpPr/>
          <p:nvPr/>
        </p:nvSpPr>
        <p:spPr>
          <a:xfrm>
            <a:off x="3962400" y="2108200"/>
            <a:ext cx="3302000" cy="965200"/>
          </a:xfrm>
          <a:prstGeom prst="roundRect">
            <a:avLst/>
          </a:prstGeom>
          <a:solidFill>
            <a:srgbClr val="F4F5F6"/>
          </a:solidFill>
          <a:ln w="9525">
            <a:solidFill>
              <a:srgbClr val="D9DEE5"/>
            </a:solidFill>
          </a:ln>
        </p:spPr>
      </p:sp>
      <p:sp>
        <p:nvSpPr>
          <p:cNvPr name="AutoShape 21" id="21"/>
          <p:cNvSpPr/>
          <p:nvPr/>
        </p:nvSpPr>
        <p:spPr>
          <a:xfrm>
            <a:off x="3962400" y="2209800"/>
            <a:ext cx="38100" cy="762000"/>
          </a:xfrm>
          <a:prstGeom prst="rect">
            <a:avLst/>
          </a:prstGeom>
          <a:solidFill>
            <a:srgbClr val="3F74D8"/>
          </a:solidFill>
          <a:ln>
            <a:noFill/>
          </a:ln>
        </p:spPr>
      </p:sp>
      <p:sp>
        <p:nvSpPr>
          <p:cNvPr name="TextBox 22" id="22"/>
          <p:cNvSpPr txBox="true"/>
          <p:nvPr/>
        </p:nvSpPr>
        <p:spPr>
          <a:xfrm>
            <a:off x="4140200" y="2184400"/>
            <a:ext cx="2997200" cy="812800"/>
          </a:xfrm>
          <a:prstGeom prst="rect">
            <a:avLst/>
          </a:prstGeom>
        </p:spPr>
        <p:txBody>
          <a:bodyPr anchor="ctr" rtlCol="false" wrap="square" lIns="0" rIns="0" tIns="25400" bIns="25400"/>
          <a:lstStyle/>
          <a:p>
            <a:pPr algn="l"/>
            <a:r>
              <a:rPr lang="es-ES" sz="1000" b="false" i="false">
                <a:solidFill>
                  <a:srgbClr val="6B7785"/>
                </a:solidFill>
                <a:latin typeface="Segoe UI"/>
              </a:rPr>
              <a:t>Step más lento</a:t>
            </a:r>
            <a:endParaRPr sz="1000" lang="es-ES"/>
          </a:p>
          <a:p>
            <a:pPr algn="l"/>
            <a:r>
              <a:rPr lang="es-ES" sz="2100" b="true" i="false">
                <a:solidFill>
                  <a:srgbClr val="1F2933"/>
                </a:solidFill>
                <a:latin typeface="Segoe UI"/>
              </a:rPr>
              <a:t>Cargar hechos_ventas</a:t>
            </a:r>
            <a:endParaRPr sz="2100" lang="es-ES"/>
          </a:p>
          <a:p>
            <a:pPr algn="l"/>
            <a:r>
              <a:rPr lang="es-ES" sz="900" b="false" i="false">
                <a:solidFill>
                  <a:srgbClr val="6B7785"/>
                </a:solidFill>
                <a:latin typeface="Segoe UI"/>
              </a:rPr>
              <a:t>177 ms</a:t>
            </a:r>
            <a:endParaRPr sz="900" lang="es-ES"/>
          </a:p>
        </p:txBody>
      </p:sp>
    </p:spTree>
  </p:cSld>
  <p:clrMapOvr>
    <a:masterClrMapping/>
  </p:clrMapOvr>
</p:sld>
</file>

<file path=ppt/slides/slide36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8000" y="203200"/>
            <a:ext cx="11176000" cy="635000"/>
          </a:xfrm>
        </p:spPr>
        <p:txBody>
          <a:bodyPr lIns="0" rIns="0" wrap="square" anchor="ctr"/>
          <a:lstStyle/>
          <a:p>
            <a:pPr algn="l"/>
            <a:r>
              <a:rPr lang="es-ES" sz="2600" b="true" i="false">
                <a:solidFill>
                  <a:srgbClr val="243B53"/>
                </a:solidFill>
                <a:latin typeface="Segoe UI"/>
              </a:rPr>
              <a:t>Métricas de ejecución (cont.)</a:t>
            </a:r>
            <a:endParaRPr sz="2600" lang="es-ES"/>
          </a:p>
        </p:txBody>
      </p:sp>
      <p:pic>
        <p:nvPicPr>
          <p:cNvPr name="Picture 3" id="3"/>
          <p:cNvPicPr>
            <a:picLocks noChangeAspect="true"/>
          </p:cNvPicPr>
          <p:nvPr/>
        </p:nvPicPr>
        <p:blipFill>
          <a:blip r:embed="rId2"/>
          <a:stretch>
            <a:fillRect/>
          </a:stretch>
        </p:blipFill>
        <p:spPr>
          <a:xfrm>
            <a:off x="10248900" y="5510084"/>
            <a:ext cx="1435100" cy="814516"/>
          </a:xfrm>
          <a:prstGeom prst="rect">
            <a:avLst/>
          </a:prstGeom>
        </p:spPr>
      </p:pic>
      <p:sp>
        <p:nvSpPr>
          <p:cNvPr name="AutoShape 4" id="4"/>
          <p:cNvSpPr/>
          <p:nvPr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243B53"/>
          </a:solidFill>
          <a:ln>
            <a:noFill/>
          </a:ln>
        </p:spPr>
      </p:sp>
      <p:pic>
        <p:nvPicPr>
          <p:cNvPr name="Picture 5" id="5"/>
          <p:cNvPicPr>
            <a:picLocks noChangeAspect="true"/>
          </p:cNvPicPr>
          <p:nvPr/>
        </p:nvPicPr>
        <p:blipFill>
          <a:blip r:embed="rId3"/>
          <a:stretch>
            <a:fillRect/>
          </a:stretch>
        </p:blipFill>
        <p:spPr>
          <a:xfrm>
            <a:off x="508000" y="6508750"/>
            <a:ext cx="177800" cy="100914"/>
          </a:xfrm>
          <a:prstGeom prst="rect">
            <a:avLst/>
          </a:prstGeom>
        </p:spPr>
      </p:pic>
      <p:sp>
        <p:nvSpPr>
          <p:cNvPr name="TextBox 6" id="6"/>
          <p:cNvSpPr txBox="true"/>
          <p:nvPr/>
        </p:nvSpPr>
        <p:spPr>
          <a:xfrm>
            <a:off x="749300" y="6451600"/>
            <a:ext cx="5080000" cy="228600"/>
          </a:xfrm>
          <a:prstGeom prst="rect">
            <a:avLst/>
          </a:prstGeom>
        </p:spPr>
        <p:txBody>
          <a:bodyPr anchor="ctr" rtlCol="false" wrap="square" lIns="0" rIns="0" tIns="25400" bIns="25400"/>
          <a:lstStyle/>
          <a:p>
            <a:pPr algn="l"/>
            <a:r>
              <a:rPr lang="es-ES" sz="750" b="false" i="false">
                <a:solidFill>
                  <a:srgbClr val="6B7785"/>
                </a:solidFill>
                <a:latin typeface="Segoe UI"/>
              </a:rPr>
              <a:t>Pentaho Live · IDC Studios</a:t>
            </a:r>
            <a:endParaRPr sz="750" lang="es-ES"/>
          </a:p>
        </p:txBody>
      </p:sp>
      <p:sp>
        <p:nvSpPr>
          <p:cNvPr name="TextBox 7" id="7"/>
          <p:cNvSpPr txBox="true"/>
          <p:nvPr/>
        </p:nvSpPr>
        <p:spPr>
          <a:xfrm>
            <a:off x="10160000" y="6451600"/>
            <a:ext cx="1524000" cy="228600"/>
          </a:xfrm>
          <a:prstGeom prst="rect">
            <a:avLst/>
          </a:prstGeom>
        </p:spPr>
        <p:txBody>
          <a:bodyPr anchor="ctr" rtlCol="false" wrap="square" lIns="0" rIns="0" tIns="25400" bIns="25400"/>
          <a:lstStyle/>
          <a:p>
            <a:pPr algn="r"/>
            <a:fld id="{72C62FDF-B5E5-4D60-BAE1-2CF18B1E2289}" type="slidenum">
              <a:rPr lang="es-ES" sz="750">
                <a:solidFill>
                  <a:srgbClr val="6B7785"/>
                </a:solidFill>
                <a:latin typeface="Segoe UI"/>
              </a:rPr>
              <a:t>36</a:t>
            </a:fld>
            <a:endParaRPr sz="750" lang="es-ES"/>
          </a:p>
        </p:txBody>
      </p:sp>
      <p:sp>
        <p:nvSpPr>
          <p:cNvPr name="TextBox 8" id="8"/>
          <p:cNvSpPr txBox="true"/>
          <p:nvPr/>
        </p:nvSpPr>
        <p:spPr>
          <a:xfrm>
            <a:off x="508000" y="1016000"/>
            <a:ext cx="11176000" cy="254000"/>
          </a:xfrm>
          <a:prstGeom prst="rect">
            <a:avLst/>
          </a:prstGeom>
        </p:spPr>
        <p:txBody>
          <a:bodyPr anchor="t" rtlCol="false" wrap="square" lIns="0" rIns="0" tIns="25400" bIns="25400"/>
          <a:lstStyle/>
          <a:p>
            <a:pPr algn="l"/>
            <a:r>
              <a:rPr lang="es-ES" sz="1300" b="true" i="false">
                <a:solidFill>
                  <a:srgbClr val="243B53"/>
                </a:solidFill>
                <a:latin typeface="Segoe UI"/>
              </a:rPr>
              <a:t>Filas escritas y tiempo por step</a:t>
            </a:r>
            <a:endParaRPr sz="1300" lang="es-ES"/>
          </a:p>
        </p:txBody>
      </p:sp>
      <p:pic>
        <p:nvPicPr>
          <p:cNvPr name="Picture 9" id="9"/>
          <p:cNvPicPr>
            <a:picLocks noChangeAspect="true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1883508" y="1295400"/>
            <a:ext cx="8424985" cy="4978400"/>
          </a:xfrm>
          <a:prstGeom prst="rect">
            <a:avLst/>
          </a:prstGeom>
        </p:spPr>
      </p:pic>
    </p:spTree>
  </p:cSld>
  <p:clrMapOvr>
    <a:masterClrMapping/>
  </p:clrMapOvr>
</p:sld>
</file>

<file path=ppt/slides/slide37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8000" y="203200"/>
            <a:ext cx="11176000" cy="635000"/>
          </a:xfrm>
        </p:spPr>
        <p:txBody>
          <a:bodyPr lIns="0" rIns="0" wrap="square" anchor="ctr"/>
          <a:lstStyle/>
          <a:p>
            <a:pPr algn="l"/>
            <a:r>
              <a:rPr lang="es-ES" sz="2600" b="true" i="false">
                <a:solidFill>
                  <a:srgbClr val="243B53"/>
                </a:solidFill>
                <a:latin typeface="Segoe UI"/>
              </a:rPr>
              <a:t>Métricas de ejecución (cont.)</a:t>
            </a:r>
            <a:endParaRPr sz="2600" lang="es-ES"/>
          </a:p>
        </p:txBody>
      </p:sp>
      <p:pic>
        <p:nvPicPr>
          <p:cNvPr name="Picture 3" id="3"/>
          <p:cNvPicPr>
            <a:picLocks noChangeAspect="true"/>
          </p:cNvPicPr>
          <p:nvPr/>
        </p:nvPicPr>
        <p:blipFill>
          <a:blip r:embed="rId2"/>
          <a:stretch>
            <a:fillRect/>
          </a:stretch>
        </p:blipFill>
        <p:spPr>
          <a:xfrm>
            <a:off x="10248900" y="5510084"/>
            <a:ext cx="1435100" cy="814516"/>
          </a:xfrm>
          <a:prstGeom prst="rect">
            <a:avLst/>
          </a:prstGeom>
        </p:spPr>
      </p:pic>
      <p:sp>
        <p:nvSpPr>
          <p:cNvPr name="AutoShape 4" id="4"/>
          <p:cNvSpPr/>
          <p:nvPr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243B53"/>
          </a:solidFill>
          <a:ln>
            <a:noFill/>
          </a:ln>
        </p:spPr>
      </p:sp>
      <p:pic>
        <p:nvPicPr>
          <p:cNvPr name="Picture 5" id="5"/>
          <p:cNvPicPr>
            <a:picLocks noChangeAspect="true"/>
          </p:cNvPicPr>
          <p:nvPr/>
        </p:nvPicPr>
        <p:blipFill>
          <a:blip r:embed="rId3"/>
          <a:stretch>
            <a:fillRect/>
          </a:stretch>
        </p:blipFill>
        <p:spPr>
          <a:xfrm>
            <a:off x="508000" y="6508750"/>
            <a:ext cx="177800" cy="100914"/>
          </a:xfrm>
          <a:prstGeom prst="rect">
            <a:avLst/>
          </a:prstGeom>
        </p:spPr>
      </p:pic>
      <p:sp>
        <p:nvSpPr>
          <p:cNvPr name="TextBox 6" id="6"/>
          <p:cNvSpPr txBox="true"/>
          <p:nvPr/>
        </p:nvSpPr>
        <p:spPr>
          <a:xfrm>
            <a:off x="749300" y="6451600"/>
            <a:ext cx="5080000" cy="228600"/>
          </a:xfrm>
          <a:prstGeom prst="rect">
            <a:avLst/>
          </a:prstGeom>
        </p:spPr>
        <p:txBody>
          <a:bodyPr anchor="ctr" rtlCol="false" wrap="square" lIns="0" rIns="0" tIns="25400" bIns="25400"/>
          <a:lstStyle/>
          <a:p>
            <a:pPr algn="l"/>
            <a:r>
              <a:rPr lang="es-ES" sz="750" b="false" i="false">
                <a:solidFill>
                  <a:srgbClr val="6B7785"/>
                </a:solidFill>
                <a:latin typeface="Segoe UI"/>
              </a:rPr>
              <a:t>Pentaho Live · IDC Studios</a:t>
            </a:r>
            <a:endParaRPr sz="750" lang="es-ES"/>
          </a:p>
        </p:txBody>
      </p:sp>
      <p:sp>
        <p:nvSpPr>
          <p:cNvPr name="TextBox 7" id="7"/>
          <p:cNvSpPr txBox="true"/>
          <p:nvPr/>
        </p:nvSpPr>
        <p:spPr>
          <a:xfrm>
            <a:off x="10160000" y="6451600"/>
            <a:ext cx="1524000" cy="228600"/>
          </a:xfrm>
          <a:prstGeom prst="rect">
            <a:avLst/>
          </a:prstGeom>
        </p:spPr>
        <p:txBody>
          <a:bodyPr anchor="ctr" rtlCol="false" wrap="square" lIns="0" rIns="0" tIns="25400" bIns="25400"/>
          <a:lstStyle/>
          <a:p>
            <a:pPr algn="r"/>
            <a:fld id="{67FDF0CD-7047-44A7-94DF-D06F48DD25D3}" type="slidenum">
              <a:rPr lang="es-ES" sz="750">
                <a:solidFill>
                  <a:srgbClr val="6B7785"/>
                </a:solidFill>
                <a:latin typeface="Segoe UI"/>
              </a:rPr>
              <a:t>37</a:t>
            </a:fld>
            <a:endParaRPr sz="750" lang="es-ES"/>
          </a:p>
        </p:txBody>
      </p:sp>
      <p:sp>
        <p:nvSpPr>
          <p:cNvPr name="TextBox 8" id="8"/>
          <p:cNvSpPr txBox="true"/>
          <p:nvPr/>
        </p:nvSpPr>
        <p:spPr>
          <a:xfrm>
            <a:off x="508000" y="1016000"/>
            <a:ext cx="11176000" cy="254000"/>
          </a:xfrm>
          <a:prstGeom prst="rect">
            <a:avLst/>
          </a:prstGeom>
        </p:spPr>
        <p:txBody>
          <a:bodyPr anchor="t" rtlCol="false" wrap="square" lIns="0" rIns="0" tIns="25400" bIns="25400"/>
          <a:lstStyle/>
          <a:p>
            <a:pPr algn="l"/>
            <a:r>
              <a:rPr lang="es-ES" sz="1300" b="true" i="false">
                <a:solidFill>
                  <a:srgbClr val="243B53"/>
                </a:solidFill>
                <a:latin typeface="Segoe UI"/>
              </a:rPr>
              <a:t>Línea de tiempo de los steps</a:t>
            </a:r>
            <a:endParaRPr sz="1300" lang="es-ES"/>
          </a:p>
        </p:txBody>
      </p:sp>
      <p:pic>
        <p:nvPicPr>
          <p:cNvPr name="Picture 9" id="9"/>
          <p:cNvPicPr>
            <a:picLocks noChangeAspect="true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713946" y="1295400"/>
            <a:ext cx="10764108" cy="4978400"/>
          </a:xfrm>
          <a:prstGeom prst="rect">
            <a:avLst/>
          </a:prstGeom>
        </p:spPr>
      </p:pic>
    </p:spTree>
  </p:cSld>
  <p:clrMapOvr>
    <a:masterClrMapping/>
  </p:clrMapOvr>
</p:sld>
</file>

<file path=ppt/slides/slide38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8000" y="203200"/>
            <a:ext cx="11176000" cy="635000"/>
          </a:xfrm>
        </p:spPr>
        <p:txBody>
          <a:bodyPr lIns="0" rIns="0" wrap="square" anchor="ctr"/>
          <a:lstStyle/>
          <a:p>
            <a:pPr algn="l"/>
            <a:r>
              <a:rPr lang="es-ES" sz="2600" b="true" i="false">
                <a:solidFill>
                  <a:srgbClr val="243B53"/>
                </a:solidFill>
                <a:latin typeface="Segoe UI"/>
              </a:rPr>
              <a:t>Métricas de ejecución (cont.)</a:t>
            </a:r>
            <a:endParaRPr sz="2600" lang="es-ES"/>
          </a:p>
        </p:txBody>
      </p:sp>
      <p:pic>
        <p:nvPicPr>
          <p:cNvPr name="Picture 3" id="3"/>
          <p:cNvPicPr>
            <a:picLocks noChangeAspect="true"/>
          </p:cNvPicPr>
          <p:nvPr/>
        </p:nvPicPr>
        <p:blipFill>
          <a:blip r:embed="rId2"/>
          <a:stretch>
            <a:fillRect/>
          </a:stretch>
        </p:blipFill>
        <p:spPr>
          <a:xfrm>
            <a:off x="10248900" y="5510084"/>
            <a:ext cx="1435100" cy="814516"/>
          </a:xfrm>
          <a:prstGeom prst="rect">
            <a:avLst/>
          </a:prstGeom>
        </p:spPr>
      </p:pic>
      <p:sp>
        <p:nvSpPr>
          <p:cNvPr name="AutoShape 4" id="4"/>
          <p:cNvSpPr/>
          <p:nvPr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243B53"/>
          </a:solidFill>
          <a:ln>
            <a:noFill/>
          </a:ln>
        </p:spPr>
      </p:sp>
      <p:pic>
        <p:nvPicPr>
          <p:cNvPr name="Picture 5" id="5"/>
          <p:cNvPicPr>
            <a:picLocks noChangeAspect="true"/>
          </p:cNvPicPr>
          <p:nvPr/>
        </p:nvPicPr>
        <p:blipFill>
          <a:blip r:embed="rId3"/>
          <a:stretch>
            <a:fillRect/>
          </a:stretch>
        </p:blipFill>
        <p:spPr>
          <a:xfrm>
            <a:off x="508000" y="6508750"/>
            <a:ext cx="177800" cy="100914"/>
          </a:xfrm>
          <a:prstGeom prst="rect">
            <a:avLst/>
          </a:prstGeom>
        </p:spPr>
      </p:pic>
      <p:sp>
        <p:nvSpPr>
          <p:cNvPr name="TextBox 6" id="6"/>
          <p:cNvSpPr txBox="true"/>
          <p:nvPr/>
        </p:nvSpPr>
        <p:spPr>
          <a:xfrm>
            <a:off x="749300" y="6451600"/>
            <a:ext cx="5080000" cy="228600"/>
          </a:xfrm>
          <a:prstGeom prst="rect">
            <a:avLst/>
          </a:prstGeom>
        </p:spPr>
        <p:txBody>
          <a:bodyPr anchor="ctr" rtlCol="false" wrap="square" lIns="0" rIns="0" tIns="25400" bIns="25400"/>
          <a:lstStyle/>
          <a:p>
            <a:pPr algn="l"/>
            <a:r>
              <a:rPr lang="es-ES" sz="750" b="false" i="false">
                <a:solidFill>
                  <a:srgbClr val="6B7785"/>
                </a:solidFill>
                <a:latin typeface="Segoe UI"/>
              </a:rPr>
              <a:t>Pentaho Live · IDC Studios</a:t>
            </a:r>
            <a:endParaRPr sz="750" lang="es-ES"/>
          </a:p>
        </p:txBody>
      </p:sp>
      <p:sp>
        <p:nvSpPr>
          <p:cNvPr name="TextBox 7" id="7"/>
          <p:cNvSpPr txBox="true"/>
          <p:nvPr/>
        </p:nvSpPr>
        <p:spPr>
          <a:xfrm>
            <a:off x="10160000" y="6451600"/>
            <a:ext cx="1524000" cy="228600"/>
          </a:xfrm>
          <a:prstGeom prst="rect">
            <a:avLst/>
          </a:prstGeom>
        </p:spPr>
        <p:txBody>
          <a:bodyPr anchor="ctr" rtlCol="false" wrap="square" lIns="0" rIns="0" tIns="25400" bIns="25400"/>
          <a:lstStyle/>
          <a:p>
            <a:pPr algn="r"/>
            <a:fld id="{8A6BCF6D-ADC6-47B4-A4EC-C85C6936F533}" type="slidenum">
              <a:rPr lang="es-ES" sz="750">
                <a:solidFill>
                  <a:srgbClr val="6B7785"/>
                </a:solidFill>
                <a:latin typeface="Segoe UI"/>
              </a:rPr>
              <a:t>38</a:t>
            </a:fld>
            <a:endParaRPr sz="750" lang="es-ES"/>
          </a:p>
        </p:txBody>
      </p:sp>
      <p:sp>
        <p:nvSpPr>
          <p:cNvPr name="TextBox 8" id="8"/>
          <p:cNvSpPr txBox="true"/>
          <p:nvPr/>
        </p:nvSpPr>
        <p:spPr>
          <a:xfrm>
            <a:off x="508000" y="1016000"/>
            <a:ext cx="11176000" cy="254000"/>
          </a:xfrm>
          <a:prstGeom prst="rect">
            <a:avLst/>
          </a:prstGeom>
        </p:spPr>
        <p:txBody>
          <a:bodyPr anchor="t" rtlCol="false" wrap="square" lIns="0" rIns="0" tIns="25400" bIns="25400"/>
          <a:lstStyle/>
          <a:p>
            <a:pPr algn="l"/>
            <a:r>
              <a:rPr lang="es-ES" sz="1300" b="true" i="false">
                <a:solidFill>
                  <a:srgbClr val="243B53"/>
                </a:solidFill>
                <a:latin typeface="Segoe UI"/>
              </a:rPr>
              <a:t>Métricas por step</a:t>
            </a:r>
            <a:endParaRPr sz="1300" lang="es-ES"/>
          </a:p>
        </p:txBody>
      </p:sp>
      <p:graphicFrame>
        <p:nvGraphicFramePr>
          <p:cNvPr name="Table 9" id="9"/>
          <p:cNvGraphicFramePr>
            <a:graphicFrameLocks noGrp="true"/>
          </p:cNvGraphicFramePr>
          <p:nvPr/>
        </p:nvGraphicFramePr>
        <p:xfrm>
          <a:off x="508000" y="1295400"/>
          <a:ext cx="8724900" cy="3101340"/>
        </p:xfrm>
        <a:graphic>
          <a:graphicData uri="http://schemas.openxmlformats.org/drawingml/2006/table">
            <a:tbl>
              <a:tblPr/>
              <a:tblGrid>
                <a:gridCol w="1993900"/>
                <a:gridCol w="660400"/>
                <a:gridCol w="800100"/>
                <a:gridCol w="736600"/>
                <a:gridCol w="660400"/>
                <a:gridCol w="939800"/>
                <a:gridCol w="736600"/>
                <a:gridCol w="800100"/>
                <a:gridCol w="660400"/>
                <a:gridCol w="736600"/>
              </a:tblGrid>
              <a:tr h="281940">
                <a:tc>
                  <a:txBody>
                    <a:bodyPr anchor="t" rtlCol="false"/>
                    <a:lstStyle/>
                    <a:p>
                      <a:pPr algn="l"/>
                      <a:r>
                        <a:rPr lang="es-ES" sz="1000" b="true" i="false">
                          <a:solidFill>
                            <a:srgbClr val="FFFFFF"/>
                          </a:solidFill>
                          <a:latin typeface="Segoe UI"/>
                        </a:rPr>
                        <a:t>Step</a:t>
                      </a:r>
                      <a:endParaRPr sz="1000" lang="es-ES"/>
                    </a:p>
                  </a:txBody>
                  <a:tcPr marL="76200" marR="76200" marT="38100" marB="381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cmpd="sng" algn="ctr" cap="flat" w="9525">
                      <a:solidFill>
                        <a:srgbClr val="243B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3B53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r"/>
                      <a:r>
                        <a:rPr lang="es-ES" sz="1000" b="true" i="false">
                          <a:solidFill>
                            <a:srgbClr val="FFFFFF"/>
                          </a:solidFill>
                          <a:latin typeface="Segoe UI"/>
                        </a:rPr>
                        <a:t>Leídas</a:t>
                      </a:r>
                      <a:endParaRPr sz="1000" lang="es-ES"/>
                    </a:p>
                  </a:txBody>
                  <a:tcPr marL="76200" marR="76200" marT="38100" marB="381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cmpd="sng" algn="ctr" cap="flat" w="9525">
                      <a:solidFill>
                        <a:srgbClr val="243B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3B53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r"/>
                      <a:r>
                        <a:rPr lang="es-ES" sz="1000" b="true" i="false">
                          <a:solidFill>
                            <a:srgbClr val="FFFFFF"/>
                          </a:solidFill>
                          <a:latin typeface="Segoe UI"/>
                        </a:rPr>
                        <a:t>Escritas</a:t>
                      </a:r>
                      <a:endParaRPr sz="1000" lang="es-ES"/>
                    </a:p>
                  </a:txBody>
                  <a:tcPr marL="76200" marR="76200" marT="38100" marB="381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cmpd="sng" algn="ctr" cap="flat" w="9525">
                      <a:solidFill>
                        <a:srgbClr val="243B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3B53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r"/>
                      <a:r>
                        <a:rPr lang="es-ES" sz="1000" b="true" i="false">
                          <a:solidFill>
                            <a:srgbClr val="FFFFFF"/>
                          </a:solidFill>
                          <a:latin typeface="Segoe UI"/>
                        </a:rPr>
                        <a:t>Entrada</a:t>
                      </a:r>
                      <a:endParaRPr sz="1000" lang="es-ES"/>
                    </a:p>
                  </a:txBody>
                  <a:tcPr marL="76200" marR="76200" marT="38100" marB="381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cmpd="sng" algn="ctr" cap="flat" w="9525">
                      <a:solidFill>
                        <a:srgbClr val="243B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3B53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r"/>
                      <a:r>
                        <a:rPr lang="es-ES" sz="1000" b="true" i="false">
                          <a:solidFill>
                            <a:srgbClr val="FFFFFF"/>
                          </a:solidFill>
                          <a:latin typeface="Segoe UI"/>
                        </a:rPr>
                        <a:t>Salida</a:t>
                      </a:r>
                      <a:endParaRPr sz="1000" lang="es-ES"/>
                    </a:p>
                  </a:txBody>
                  <a:tcPr marL="76200" marR="76200" marT="38100" marB="381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cmpd="sng" algn="ctr" cap="flat" w="9525">
                      <a:solidFill>
                        <a:srgbClr val="243B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3B53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r"/>
                      <a:r>
                        <a:rPr lang="es-ES" sz="1000" b="true" i="false">
                          <a:solidFill>
                            <a:srgbClr val="FFFFFF"/>
                          </a:solidFill>
                          <a:latin typeface="Segoe UI"/>
                        </a:rPr>
                        <a:t>Rechazadas</a:t>
                      </a:r>
                      <a:endParaRPr sz="1000" lang="es-ES"/>
                    </a:p>
                  </a:txBody>
                  <a:tcPr marL="76200" marR="76200" marT="38100" marB="381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cmpd="sng" algn="ctr" cap="flat" w="9525">
                      <a:solidFill>
                        <a:srgbClr val="243B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3B53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r"/>
                      <a:r>
                        <a:rPr lang="es-ES" sz="1000" b="true" i="false">
                          <a:solidFill>
                            <a:srgbClr val="FFFFFF"/>
                          </a:solidFill>
                          <a:latin typeface="Segoe UI"/>
                        </a:rPr>
                        <a:t>Errores</a:t>
                      </a:r>
                      <a:endParaRPr sz="1000" lang="es-ES"/>
                    </a:p>
                  </a:txBody>
                  <a:tcPr marL="76200" marR="76200" marT="38100" marB="381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cmpd="sng" algn="ctr" cap="flat" w="9525">
                      <a:solidFill>
                        <a:srgbClr val="243B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3B53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l"/>
                      <a:r>
                        <a:rPr lang="es-ES" sz="1000" b="true" i="false">
                          <a:solidFill>
                            <a:srgbClr val="FFFFFF"/>
                          </a:solidFill>
                          <a:latin typeface="Segoe UI"/>
                        </a:rPr>
                        <a:t>Estado</a:t>
                      </a:r>
                      <a:endParaRPr sz="1000" lang="es-ES"/>
                    </a:p>
                  </a:txBody>
                  <a:tcPr marL="76200" marR="76200" marT="38100" marB="381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cmpd="sng" algn="ctr" cap="flat" w="9525">
                      <a:solidFill>
                        <a:srgbClr val="243B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3B53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r"/>
                      <a:r>
                        <a:rPr lang="es-ES" sz="1000" b="true" i="false">
                          <a:solidFill>
                            <a:srgbClr val="FFFFFF"/>
                          </a:solidFill>
                          <a:latin typeface="Segoe UI"/>
                        </a:rPr>
                        <a:t>Tiempo</a:t>
                      </a:r>
                      <a:endParaRPr sz="1000" lang="es-ES"/>
                    </a:p>
                  </a:txBody>
                  <a:tcPr marL="76200" marR="76200" marT="38100" marB="381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cmpd="sng" algn="ctr" cap="flat" w="9525">
                      <a:solidFill>
                        <a:srgbClr val="243B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3B53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r"/>
                      <a:r>
                        <a:rPr lang="es-ES" sz="1000" b="true" i="false">
                          <a:solidFill>
                            <a:srgbClr val="FFFFFF"/>
                          </a:solidFill>
                          <a:latin typeface="Segoe UI"/>
                        </a:rPr>
                        <a:t>Filas/s</a:t>
                      </a:r>
                      <a:endParaRPr sz="1000" lang="es-ES"/>
                    </a:p>
                  </a:txBody>
                  <a:tcPr marL="76200" marR="76200" marT="38100" marB="381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cmpd="sng" algn="ctr" cap="flat" w="9525">
                      <a:solidFill>
                        <a:srgbClr val="243B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3B53"/>
                    </a:solidFill>
                  </a:tcPr>
                </a:tc>
              </a:tr>
              <a:tr h="281940">
                <a:tc>
                  <a:txBody>
                    <a:bodyPr anchor="t" rtlCol="false"/>
                    <a:lstStyle/>
                    <a:p>
                      <a:pPr algn="l"/>
                      <a:r>
                        <a:rPr lang="es-ES" sz="1000" b="false" i="false">
                          <a:solidFill>
                            <a:srgbClr val="1F2933"/>
                          </a:solidFill>
                          <a:latin typeface="Segoe UI"/>
                        </a:rPr>
                        <a:t>Leer ventas (CSV)</a:t>
                      </a:r>
                      <a:endParaRPr sz="1000" lang="es-ES"/>
                    </a:p>
                  </a:txBody>
                  <a:tcPr marL="76200" marR="76200" marT="38100" marB="381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cmpd="sng" algn="ctr" cap="flat" w="9525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r"/>
                      <a:r>
                        <a:rPr lang="es-ES" sz="1000" b="false" i="false">
                          <a:solidFill>
                            <a:srgbClr val="1F2933"/>
                          </a:solidFill>
                          <a:latin typeface="Segoe UI"/>
                        </a:rPr>
                        <a:t>0</a:t>
                      </a:r>
                      <a:endParaRPr sz="1000" lang="es-ES"/>
                    </a:p>
                  </a:txBody>
                  <a:tcPr marL="76200" marR="76200" marT="38100" marB="381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cmpd="sng" algn="ctr" cap="flat" w="9525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r"/>
                      <a:r>
                        <a:rPr lang="es-ES" sz="1000" b="false" i="false">
                          <a:solidFill>
                            <a:srgbClr val="1F2933"/>
                          </a:solidFill>
                          <a:latin typeface="Segoe UI"/>
                        </a:rPr>
                        <a:t>3.000</a:t>
                      </a:r>
                      <a:endParaRPr sz="1000" lang="es-ES"/>
                    </a:p>
                  </a:txBody>
                  <a:tcPr marL="76200" marR="76200" marT="38100" marB="381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cmpd="sng" algn="ctr" cap="flat" w="9525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r"/>
                      <a:r>
                        <a:rPr lang="es-ES" sz="1000" b="false" i="false">
                          <a:solidFill>
                            <a:srgbClr val="1F2933"/>
                          </a:solidFill>
                          <a:latin typeface="Segoe UI"/>
                        </a:rPr>
                        <a:t>3.001</a:t>
                      </a:r>
                      <a:endParaRPr sz="1000" lang="es-ES"/>
                    </a:p>
                  </a:txBody>
                  <a:tcPr marL="76200" marR="76200" marT="38100" marB="381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cmpd="sng" algn="ctr" cap="flat" w="9525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r"/>
                      <a:r>
                        <a:rPr lang="es-ES" sz="1000" b="false" i="false">
                          <a:solidFill>
                            <a:srgbClr val="1F2933"/>
                          </a:solidFill>
                          <a:latin typeface="Segoe UI"/>
                        </a:rPr>
                        <a:t>0</a:t>
                      </a:r>
                      <a:endParaRPr sz="1000" lang="es-ES"/>
                    </a:p>
                  </a:txBody>
                  <a:tcPr marL="76200" marR="76200" marT="38100" marB="381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cmpd="sng" algn="ctr" cap="flat" w="9525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r"/>
                      <a:r>
                        <a:rPr lang="es-ES" sz="1000" b="false" i="false">
                          <a:solidFill>
                            <a:srgbClr val="1F2933"/>
                          </a:solidFill>
                          <a:latin typeface="Segoe UI"/>
                        </a:rPr>
                        <a:t>0</a:t>
                      </a:r>
                      <a:endParaRPr sz="1000" lang="es-ES"/>
                    </a:p>
                  </a:txBody>
                  <a:tcPr marL="76200" marR="76200" marT="38100" marB="381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cmpd="sng" algn="ctr" cap="flat" w="9525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r"/>
                      <a:r>
                        <a:rPr lang="es-ES" sz="1000" b="false" i="false">
                          <a:solidFill>
                            <a:srgbClr val="1F2933"/>
                          </a:solidFill>
                          <a:latin typeface="Segoe UI"/>
                        </a:rPr>
                        <a:t>0</a:t>
                      </a:r>
                      <a:endParaRPr sz="1000" lang="es-ES"/>
                    </a:p>
                  </a:txBody>
                  <a:tcPr marL="76200" marR="76200" marT="38100" marB="381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cmpd="sng" algn="ctr" cap="flat" w="9525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l"/>
                      <a:r>
                        <a:rPr lang="es-ES" sz="1000" b="false" i="false">
                          <a:solidFill>
                            <a:srgbClr val="1F2933"/>
                          </a:solidFill>
                          <a:latin typeface="Segoe UI"/>
                        </a:rPr>
                        <a:t>Terminado</a:t>
                      </a:r>
                      <a:endParaRPr sz="1000" lang="es-ES"/>
                    </a:p>
                  </a:txBody>
                  <a:tcPr marL="76200" marR="76200" marT="38100" marB="381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cmpd="sng" algn="ctr" cap="flat" w="9525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r"/>
                      <a:r>
                        <a:rPr lang="es-ES" sz="1000" b="false" i="false">
                          <a:solidFill>
                            <a:srgbClr val="1F2933"/>
                          </a:solidFill>
                          <a:latin typeface="Segoe UI"/>
                        </a:rPr>
                        <a:t>51 ms</a:t>
                      </a:r>
                      <a:endParaRPr sz="1000" lang="es-ES"/>
                    </a:p>
                  </a:txBody>
                  <a:tcPr marL="76200" marR="76200" marT="38100" marB="381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cmpd="sng" algn="ctr" cap="flat" w="9525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r"/>
                      <a:r>
                        <a:rPr lang="es-ES" sz="1000" b="false" i="false">
                          <a:solidFill>
                            <a:srgbClr val="1F2933"/>
                          </a:solidFill>
                          <a:latin typeface="Segoe UI"/>
                        </a:rPr>
                        <a:t>58.843</a:t>
                      </a:r>
                      <a:endParaRPr sz="1000" lang="es-ES"/>
                    </a:p>
                  </a:txBody>
                  <a:tcPr marL="76200" marR="76200" marT="38100" marB="381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cmpd="sng" algn="ctr" cap="flat" w="9525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1940">
                <a:tc>
                  <a:txBody>
                    <a:bodyPr anchor="t" rtlCol="false"/>
                    <a:lstStyle/>
                    <a:p>
                      <a:pPr algn="l"/>
                      <a:r>
                        <a:rPr lang="es-ES" sz="1000" b="false" i="false">
                          <a:solidFill>
                            <a:srgbClr val="1F2933"/>
                          </a:solidFill>
                          <a:latin typeface="Segoe UI"/>
                        </a:rPr>
                        <a:t>Estandarizar textos</a:t>
                      </a:r>
                      <a:endParaRPr sz="1000" lang="es-ES"/>
                    </a:p>
                  </a:txBody>
                  <a:tcPr marL="76200" marR="76200" marT="38100" marB="381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cmpd="sng" algn="ctr" cap="flat" w="9525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1F3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r"/>
                      <a:r>
                        <a:rPr lang="es-ES" sz="1000" b="false" i="false">
                          <a:solidFill>
                            <a:srgbClr val="1F2933"/>
                          </a:solidFill>
                          <a:latin typeface="Segoe UI"/>
                        </a:rPr>
                        <a:t>3.000</a:t>
                      </a:r>
                      <a:endParaRPr sz="1000" lang="es-ES"/>
                    </a:p>
                  </a:txBody>
                  <a:tcPr marL="76200" marR="76200" marT="38100" marB="381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cmpd="sng" algn="ctr" cap="flat" w="9525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1F3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r"/>
                      <a:r>
                        <a:rPr lang="es-ES" sz="1000" b="false" i="false">
                          <a:solidFill>
                            <a:srgbClr val="1F2933"/>
                          </a:solidFill>
                          <a:latin typeface="Segoe UI"/>
                        </a:rPr>
                        <a:t>3.000</a:t>
                      </a:r>
                      <a:endParaRPr sz="1000" lang="es-ES"/>
                    </a:p>
                  </a:txBody>
                  <a:tcPr marL="76200" marR="76200" marT="38100" marB="381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cmpd="sng" algn="ctr" cap="flat" w="9525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1F3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r"/>
                      <a:r>
                        <a:rPr lang="es-ES" sz="1000" b="false" i="false">
                          <a:solidFill>
                            <a:srgbClr val="1F2933"/>
                          </a:solidFill>
                          <a:latin typeface="Segoe UI"/>
                        </a:rPr>
                        <a:t>0</a:t>
                      </a:r>
                      <a:endParaRPr sz="1000" lang="es-ES"/>
                    </a:p>
                  </a:txBody>
                  <a:tcPr marL="76200" marR="76200" marT="38100" marB="381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cmpd="sng" algn="ctr" cap="flat" w="9525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1F3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r"/>
                      <a:r>
                        <a:rPr lang="es-ES" sz="1000" b="false" i="false">
                          <a:solidFill>
                            <a:srgbClr val="1F2933"/>
                          </a:solidFill>
                          <a:latin typeface="Segoe UI"/>
                        </a:rPr>
                        <a:t>0</a:t>
                      </a:r>
                      <a:endParaRPr sz="1000" lang="es-ES"/>
                    </a:p>
                  </a:txBody>
                  <a:tcPr marL="76200" marR="76200" marT="38100" marB="381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cmpd="sng" algn="ctr" cap="flat" w="9525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1F3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r"/>
                      <a:r>
                        <a:rPr lang="es-ES" sz="1000" b="false" i="false">
                          <a:solidFill>
                            <a:srgbClr val="1F2933"/>
                          </a:solidFill>
                          <a:latin typeface="Segoe UI"/>
                        </a:rPr>
                        <a:t>0</a:t>
                      </a:r>
                      <a:endParaRPr sz="1000" lang="es-ES"/>
                    </a:p>
                  </a:txBody>
                  <a:tcPr marL="76200" marR="76200" marT="38100" marB="381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cmpd="sng" algn="ctr" cap="flat" w="9525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1F3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r"/>
                      <a:r>
                        <a:rPr lang="es-ES" sz="1000" b="false" i="false">
                          <a:solidFill>
                            <a:srgbClr val="1F2933"/>
                          </a:solidFill>
                          <a:latin typeface="Segoe UI"/>
                        </a:rPr>
                        <a:t>0</a:t>
                      </a:r>
                      <a:endParaRPr sz="1000" lang="es-ES"/>
                    </a:p>
                  </a:txBody>
                  <a:tcPr marL="76200" marR="76200" marT="38100" marB="381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cmpd="sng" algn="ctr" cap="flat" w="9525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1F3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l"/>
                      <a:r>
                        <a:rPr lang="es-ES" sz="1000" b="false" i="false">
                          <a:solidFill>
                            <a:srgbClr val="1F2933"/>
                          </a:solidFill>
                          <a:latin typeface="Segoe UI"/>
                        </a:rPr>
                        <a:t>Terminado</a:t>
                      </a:r>
                      <a:endParaRPr sz="1000" lang="es-ES"/>
                    </a:p>
                  </a:txBody>
                  <a:tcPr marL="76200" marR="76200" marT="38100" marB="381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cmpd="sng" algn="ctr" cap="flat" w="9525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1F3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r"/>
                      <a:r>
                        <a:rPr lang="es-ES" sz="1000" b="false" i="false">
                          <a:solidFill>
                            <a:srgbClr val="1F2933"/>
                          </a:solidFill>
                          <a:latin typeface="Segoe UI"/>
                        </a:rPr>
                        <a:t>57 ms</a:t>
                      </a:r>
                      <a:endParaRPr sz="1000" lang="es-ES"/>
                    </a:p>
                  </a:txBody>
                  <a:tcPr marL="76200" marR="76200" marT="38100" marB="381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cmpd="sng" algn="ctr" cap="flat" w="9525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1F3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r"/>
                      <a:r>
                        <a:rPr lang="es-ES" sz="1000" b="false" i="false">
                          <a:solidFill>
                            <a:srgbClr val="1F2933"/>
                          </a:solidFill>
                          <a:latin typeface="Segoe UI"/>
                        </a:rPr>
                        <a:t>52.632</a:t>
                      </a:r>
                      <a:endParaRPr sz="1000" lang="es-ES"/>
                    </a:p>
                  </a:txBody>
                  <a:tcPr marL="76200" marR="76200" marT="38100" marB="381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cmpd="sng" algn="ctr" cap="flat" w="9525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1F3"/>
                    </a:solidFill>
                  </a:tcPr>
                </a:tc>
              </a:tr>
              <a:tr h="281940">
                <a:tc>
                  <a:txBody>
                    <a:bodyPr anchor="t" rtlCol="false"/>
                    <a:lstStyle/>
                    <a:p>
                      <a:pPr algn="l"/>
                      <a:r>
                        <a:rPr lang="es-ES" sz="1000" b="false" i="false">
                          <a:solidFill>
                            <a:srgbClr val="1F2933"/>
                          </a:solidFill>
                          <a:latin typeface="Segoe UI"/>
                        </a:rPr>
                        <a:t>Normalizar fecha y precio</a:t>
                      </a:r>
                      <a:endParaRPr sz="1000" lang="es-ES"/>
                    </a:p>
                  </a:txBody>
                  <a:tcPr marL="76200" marR="76200" marT="38100" marB="381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cmpd="sng" algn="ctr" cap="flat" w="9525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r"/>
                      <a:r>
                        <a:rPr lang="es-ES" sz="1000" b="false" i="false">
                          <a:solidFill>
                            <a:srgbClr val="1F2933"/>
                          </a:solidFill>
                          <a:latin typeface="Segoe UI"/>
                        </a:rPr>
                        <a:t>3.000</a:t>
                      </a:r>
                      <a:endParaRPr sz="1000" lang="es-ES"/>
                    </a:p>
                  </a:txBody>
                  <a:tcPr marL="76200" marR="76200" marT="38100" marB="381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cmpd="sng" algn="ctr" cap="flat" w="9525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r"/>
                      <a:r>
                        <a:rPr lang="es-ES" sz="1000" b="false" i="false">
                          <a:solidFill>
                            <a:srgbClr val="1F2933"/>
                          </a:solidFill>
                          <a:latin typeface="Segoe UI"/>
                        </a:rPr>
                        <a:t>3.000</a:t>
                      </a:r>
                      <a:endParaRPr sz="1000" lang="es-ES"/>
                    </a:p>
                  </a:txBody>
                  <a:tcPr marL="76200" marR="76200" marT="38100" marB="381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cmpd="sng" algn="ctr" cap="flat" w="9525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r"/>
                      <a:r>
                        <a:rPr lang="es-ES" sz="1000" b="false" i="false">
                          <a:solidFill>
                            <a:srgbClr val="1F2933"/>
                          </a:solidFill>
                          <a:latin typeface="Segoe UI"/>
                        </a:rPr>
                        <a:t>0</a:t>
                      </a:r>
                      <a:endParaRPr sz="1000" lang="es-ES"/>
                    </a:p>
                  </a:txBody>
                  <a:tcPr marL="76200" marR="76200" marT="38100" marB="381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cmpd="sng" algn="ctr" cap="flat" w="9525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r"/>
                      <a:r>
                        <a:rPr lang="es-ES" sz="1000" b="false" i="false">
                          <a:solidFill>
                            <a:srgbClr val="1F2933"/>
                          </a:solidFill>
                          <a:latin typeface="Segoe UI"/>
                        </a:rPr>
                        <a:t>0</a:t>
                      </a:r>
                      <a:endParaRPr sz="1000" lang="es-ES"/>
                    </a:p>
                  </a:txBody>
                  <a:tcPr marL="76200" marR="76200" marT="38100" marB="381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cmpd="sng" algn="ctr" cap="flat" w="9525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r"/>
                      <a:r>
                        <a:rPr lang="es-ES" sz="1000" b="false" i="false">
                          <a:solidFill>
                            <a:srgbClr val="1F2933"/>
                          </a:solidFill>
                          <a:latin typeface="Segoe UI"/>
                        </a:rPr>
                        <a:t>0</a:t>
                      </a:r>
                      <a:endParaRPr sz="1000" lang="es-ES"/>
                    </a:p>
                  </a:txBody>
                  <a:tcPr marL="76200" marR="76200" marT="38100" marB="381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cmpd="sng" algn="ctr" cap="flat" w="9525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r"/>
                      <a:r>
                        <a:rPr lang="es-ES" sz="1000" b="false" i="false">
                          <a:solidFill>
                            <a:srgbClr val="1F2933"/>
                          </a:solidFill>
                          <a:latin typeface="Segoe UI"/>
                        </a:rPr>
                        <a:t>0</a:t>
                      </a:r>
                      <a:endParaRPr sz="1000" lang="es-ES"/>
                    </a:p>
                  </a:txBody>
                  <a:tcPr marL="76200" marR="76200" marT="38100" marB="381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cmpd="sng" algn="ctr" cap="flat" w="9525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l"/>
                      <a:r>
                        <a:rPr lang="es-ES" sz="1000" b="false" i="false">
                          <a:solidFill>
                            <a:srgbClr val="1F2933"/>
                          </a:solidFill>
                          <a:latin typeface="Segoe UI"/>
                        </a:rPr>
                        <a:t>Terminado</a:t>
                      </a:r>
                      <a:endParaRPr sz="1000" lang="es-ES"/>
                    </a:p>
                  </a:txBody>
                  <a:tcPr marL="76200" marR="76200" marT="38100" marB="381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cmpd="sng" algn="ctr" cap="flat" w="9525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r"/>
                      <a:r>
                        <a:rPr lang="es-ES" sz="1000" b="false" i="false">
                          <a:solidFill>
                            <a:srgbClr val="1F2933"/>
                          </a:solidFill>
                          <a:latin typeface="Segoe UI"/>
                        </a:rPr>
                        <a:t>63 ms</a:t>
                      </a:r>
                      <a:endParaRPr sz="1000" lang="es-ES"/>
                    </a:p>
                  </a:txBody>
                  <a:tcPr marL="76200" marR="76200" marT="38100" marB="381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cmpd="sng" algn="ctr" cap="flat" w="9525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r"/>
                      <a:r>
                        <a:rPr lang="es-ES" sz="1000" b="false" i="false">
                          <a:solidFill>
                            <a:srgbClr val="1F2933"/>
                          </a:solidFill>
                          <a:latin typeface="Segoe UI"/>
                        </a:rPr>
                        <a:t>47.619</a:t>
                      </a:r>
                      <a:endParaRPr sz="1000" lang="es-ES"/>
                    </a:p>
                  </a:txBody>
                  <a:tcPr marL="76200" marR="76200" marT="38100" marB="381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cmpd="sng" algn="ctr" cap="flat" w="9525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1940">
                <a:tc>
                  <a:txBody>
                    <a:bodyPr anchor="t" rtlCol="false"/>
                    <a:lstStyle/>
                    <a:p>
                      <a:pPr algn="l"/>
                      <a:r>
                        <a:rPr lang="es-ES" sz="1000" b="false" i="false">
                          <a:solidFill>
                            <a:srgbClr val="1F2933"/>
                          </a:solidFill>
                          <a:latin typeface="Segoe UI"/>
                        </a:rPr>
                        <a:t>Convertir precio a número</a:t>
                      </a:r>
                      <a:endParaRPr sz="1000" lang="es-ES"/>
                    </a:p>
                  </a:txBody>
                  <a:tcPr marL="76200" marR="76200" marT="38100" marB="381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cmpd="sng" algn="ctr" cap="flat" w="9525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1F3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r"/>
                      <a:r>
                        <a:rPr lang="es-ES" sz="1000" b="false" i="false">
                          <a:solidFill>
                            <a:srgbClr val="1F2933"/>
                          </a:solidFill>
                          <a:latin typeface="Segoe UI"/>
                        </a:rPr>
                        <a:t>3.000</a:t>
                      </a:r>
                      <a:endParaRPr sz="1000" lang="es-ES"/>
                    </a:p>
                  </a:txBody>
                  <a:tcPr marL="76200" marR="76200" marT="38100" marB="381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cmpd="sng" algn="ctr" cap="flat" w="9525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1F3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r"/>
                      <a:r>
                        <a:rPr lang="es-ES" sz="1000" b="false" i="false">
                          <a:solidFill>
                            <a:srgbClr val="1F2933"/>
                          </a:solidFill>
                          <a:latin typeface="Segoe UI"/>
                        </a:rPr>
                        <a:t>3.000</a:t>
                      </a:r>
                      <a:endParaRPr sz="1000" lang="es-ES"/>
                    </a:p>
                  </a:txBody>
                  <a:tcPr marL="76200" marR="76200" marT="38100" marB="381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cmpd="sng" algn="ctr" cap="flat" w="9525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1F3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r"/>
                      <a:r>
                        <a:rPr lang="es-ES" sz="1000" b="false" i="false">
                          <a:solidFill>
                            <a:srgbClr val="1F2933"/>
                          </a:solidFill>
                          <a:latin typeface="Segoe UI"/>
                        </a:rPr>
                        <a:t>0</a:t>
                      </a:r>
                      <a:endParaRPr sz="1000" lang="es-ES"/>
                    </a:p>
                  </a:txBody>
                  <a:tcPr marL="76200" marR="76200" marT="38100" marB="381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cmpd="sng" algn="ctr" cap="flat" w="9525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1F3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r"/>
                      <a:r>
                        <a:rPr lang="es-ES" sz="1000" b="false" i="false">
                          <a:solidFill>
                            <a:srgbClr val="1F2933"/>
                          </a:solidFill>
                          <a:latin typeface="Segoe UI"/>
                        </a:rPr>
                        <a:t>0</a:t>
                      </a:r>
                      <a:endParaRPr sz="1000" lang="es-ES"/>
                    </a:p>
                  </a:txBody>
                  <a:tcPr marL="76200" marR="76200" marT="38100" marB="381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cmpd="sng" algn="ctr" cap="flat" w="9525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1F3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r"/>
                      <a:r>
                        <a:rPr lang="es-ES" sz="1000" b="false" i="false">
                          <a:solidFill>
                            <a:srgbClr val="1F2933"/>
                          </a:solidFill>
                          <a:latin typeface="Segoe UI"/>
                        </a:rPr>
                        <a:t>0</a:t>
                      </a:r>
                      <a:endParaRPr sz="1000" lang="es-ES"/>
                    </a:p>
                  </a:txBody>
                  <a:tcPr marL="76200" marR="76200" marT="38100" marB="381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cmpd="sng" algn="ctr" cap="flat" w="9525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1F3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r"/>
                      <a:r>
                        <a:rPr lang="es-ES" sz="1000" b="false" i="false">
                          <a:solidFill>
                            <a:srgbClr val="1F2933"/>
                          </a:solidFill>
                          <a:latin typeface="Segoe UI"/>
                        </a:rPr>
                        <a:t>0</a:t>
                      </a:r>
                      <a:endParaRPr sz="1000" lang="es-ES"/>
                    </a:p>
                  </a:txBody>
                  <a:tcPr marL="76200" marR="76200" marT="38100" marB="381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cmpd="sng" algn="ctr" cap="flat" w="9525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1F3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l"/>
                      <a:r>
                        <a:rPr lang="es-ES" sz="1000" b="false" i="false">
                          <a:solidFill>
                            <a:srgbClr val="1F2933"/>
                          </a:solidFill>
                          <a:latin typeface="Segoe UI"/>
                        </a:rPr>
                        <a:t>Terminado</a:t>
                      </a:r>
                      <a:endParaRPr sz="1000" lang="es-ES"/>
                    </a:p>
                  </a:txBody>
                  <a:tcPr marL="76200" marR="76200" marT="38100" marB="381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cmpd="sng" algn="ctr" cap="flat" w="9525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1F3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r"/>
                      <a:r>
                        <a:rPr lang="es-ES" sz="1000" b="false" i="false">
                          <a:solidFill>
                            <a:srgbClr val="1F2933"/>
                          </a:solidFill>
                          <a:latin typeface="Segoe UI"/>
                        </a:rPr>
                        <a:t>66 ms</a:t>
                      </a:r>
                      <a:endParaRPr sz="1000" lang="es-ES"/>
                    </a:p>
                  </a:txBody>
                  <a:tcPr marL="76200" marR="76200" marT="38100" marB="381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cmpd="sng" algn="ctr" cap="flat" w="9525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1F3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r"/>
                      <a:r>
                        <a:rPr lang="es-ES" sz="1000" b="false" i="false">
                          <a:solidFill>
                            <a:srgbClr val="1F2933"/>
                          </a:solidFill>
                          <a:latin typeface="Segoe UI"/>
                        </a:rPr>
                        <a:t>45.455</a:t>
                      </a:r>
                      <a:endParaRPr sz="1000" lang="es-ES"/>
                    </a:p>
                  </a:txBody>
                  <a:tcPr marL="76200" marR="76200" marT="38100" marB="381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cmpd="sng" algn="ctr" cap="flat" w="9525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1F3"/>
                    </a:solidFill>
                  </a:tcPr>
                </a:tc>
              </a:tr>
              <a:tr h="281940">
                <a:tc>
                  <a:txBody>
                    <a:bodyPr anchor="t" rtlCol="false"/>
                    <a:lstStyle/>
                    <a:p>
                      <a:pPr algn="l"/>
                      <a:r>
                        <a:rPr lang="es-ES" sz="1000" b="false" i="false">
                          <a:solidFill>
                            <a:srgbClr val="1F2933"/>
                          </a:solidFill>
                          <a:latin typeface="Segoe UI"/>
                        </a:rPr>
                        <a:t>Ordenar por ticket y línea</a:t>
                      </a:r>
                      <a:endParaRPr sz="1000" lang="es-ES"/>
                    </a:p>
                  </a:txBody>
                  <a:tcPr marL="76200" marR="76200" marT="38100" marB="381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cmpd="sng" algn="ctr" cap="flat" w="9525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r"/>
                      <a:r>
                        <a:rPr lang="es-ES" sz="1000" b="false" i="false">
                          <a:solidFill>
                            <a:srgbClr val="1F2933"/>
                          </a:solidFill>
                          <a:latin typeface="Segoe UI"/>
                        </a:rPr>
                        <a:t>3.000</a:t>
                      </a:r>
                      <a:endParaRPr sz="1000" lang="es-ES"/>
                    </a:p>
                  </a:txBody>
                  <a:tcPr marL="76200" marR="76200" marT="38100" marB="381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cmpd="sng" algn="ctr" cap="flat" w="9525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r"/>
                      <a:r>
                        <a:rPr lang="es-ES" sz="1000" b="false" i="false">
                          <a:solidFill>
                            <a:srgbClr val="1F2933"/>
                          </a:solidFill>
                          <a:latin typeface="Segoe UI"/>
                        </a:rPr>
                        <a:t>3.000</a:t>
                      </a:r>
                      <a:endParaRPr sz="1000" lang="es-ES"/>
                    </a:p>
                  </a:txBody>
                  <a:tcPr marL="76200" marR="76200" marT="38100" marB="381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cmpd="sng" algn="ctr" cap="flat" w="9525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r"/>
                      <a:r>
                        <a:rPr lang="es-ES" sz="1000" b="false" i="false">
                          <a:solidFill>
                            <a:srgbClr val="1F2933"/>
                          </a:solidFill>
                          <a:latin typeface="Segoe UI"/>
                        </a:rPr>
                        <a:t>0</a:t>
                      </a:r>
                      <a:endParaRPr sz="1000" lang="es-ES"/>
                    </a:p>
                  </a:txBody>
                  <a:tcPr marL="76200" marR="76200" marT="38100" marB="381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cmpd="sng" algn="ctr" cap="flat" w="9525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r"/>
                      <a:r>
                        <a:rPr lang="es-ES" sz="1000" b="false" i="false">
                          <a:solidFill>
                            <a:srgbClr val="1F2933"/>
                          </a:solidFill>
                          <a:latin typeface="Segoe UI"/>
                        </a:rPr>
                        <a:t>0</a:t>
                      </a:r>
                      <a:endParaRPr sz="1000" lang="es-ES"/>
                    </a:p>
                  </a:txBody>
                  <a:tcPr marL="76200" marR="76200" marT="38100" marB="381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cmpd="sng" algn="ctr" cap="flat" w="9525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r"/>
                      <a:r>
                        <a:rPr lang="es-ES" sz="1000" b="false" i="false">
                          <a:solidFill>
                            <a:srgbClr val="1F2933"/>
                          </a:solidFill>
                          <a:latin typeface="Segoe UI"/>
                        </a:rPr>
                        <a:t>0</a:t>
                      </a:r>
                      <a:endParaRPr sz="1000" lang="es-ES"/>
                    </a:p>
                  </a:txBody>
                  <a:tcPr marL="76200" marR="76200" marT="38100" marB="381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cmpd="sng" algn="ctr" cap="flat" w="9525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r"/>
                      <a:r>
                        <a:rPr lang="es-ES" sz="1000" b="false" i="false">
                          <a:solidFill>
                            <a:srgbClr val="1F2933"/>
                          </a:solidFill>
                          <a:latin typeface="Segoe UI"/>
                        </a:rPr>
                        <a:t>0</a:t>
                      </a:r>
                      <a:endParaRPr sz="1000" lang="es-ES"/>
                    </a:p>
                  </a:txBody>
                  <a:tcPr marL="76200" marR="76200" marT="38100" marB="381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cmpd="sng" algn="ctr" cap="flat" w="9525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l"/>
                      <a:r>
                        <a:rPr lang="es-ES" sz="1000" b="false" i="false">
                          <a:solidFill>
                            <a:srgbClr val="1F2933"/>
                          </a:solidFill>
                          <a:latin typeface="Segoe UI"/>
                        </a:rPr>
                        <a:t>Terminado</a:t>
                      </a:r>
                      <a:endParaRPr sz="1000" lang="es-ES"/>
                    </a:p>
                  </a:txBody>
                  <a:tcPr marL="76200" marR="76200" marT="38100" marB="381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cmpd="sng" algn="ctr" cap="flat" w="9525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r"/>
                      <a:r>
                        <a:rPr lang="es-ES" sz="1000" b="false" i="false">
                          <a:solidFill>
                            <a:srgbClr val="1F2933"/>
                          </a:solidFill>
                          <a:latin typeface="Segoe UI"/>
                        </a:rPr>
                        <a:t>79 ms</a:t>
                      </a:r>
                      <a:endParaRPr sz="1000" lang="es-ES"/>
                    </a:p>
                  </a:txBody>
                  <a:tcPr marL="76200" marR="76200" marT="38100" marB="381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cmpd="sng" algn="ctr" cap="flat" w="9525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r"/>
                      <a:r>
                        <a:rPr lang="es-ES" sz="1000" b="false" i="false">
                          <a:solidFill>
                            <a:srgbClr val="1F2933"/>
                          </a:solidFill>
                          <a:latin typeface="Segoe UI"/>
                        </a:rPr>
                        <a:t>37.975</a:t>
                      </a:r>
                      <a:endParaRPr sz="1000" lang="es-ES"/>
                    </a:p>
                  </a:txBody>
                  <a:tcPr marL="76200" marR="76200" marT="38100" marB="381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cmpd="sng" algn="ctr" cap="flat" w="9525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1940">
                <a:tc>
                  <a:txBody>
                    <a:bodyPr anchor="t" rtlCol="false"/>
                    <a:lstStyle/>
                    <a:p>
                      <a:pPr algn="l"/>
                      <a:r>
                        <a:rPr lang="es-ES" sz="1000" b="false" i="false">
                          <a:solidFill>
                            <a:srgbClr val="1F2933"/>
                          </a:solidFill>
                          <a:latin typeface="Segoe UI"/>
                        </a:rPr>
                        <a:t>Eliminar duplicados</a:t>
                      </a:r>
                      <a:endParaRPr sz="1000" lang="es-ES"/>
                    </a:p>
                  </a:txBody>
                  <a:tcPr marL="76200" marR="76200" marT="38100" marB="381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cmpd="sng" algn="ctr" cap="flat" w="9525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1F3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r"/>
                      <a:r>
                        <a:rPr lang="es-ES" sz="1000" b="false" i="false">
                          <a:solidFill>
                            <a:srgbClr val="1F2933"/>
                          </a:solidFill>
                          <a:latin typeface="Segoe UI"/>
                        </a:rPr>
                        <a:t>3.000</a:t>
                      </a:r>
                      <a:endParaRPr sz="1000" lang="es-ES"/>
                    </a:p>
                  </a:txBody>
                  <a:tcPr marL="76200" marR="76200" marT="38100" marB="381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cmpd="sng" algn="ctr" cap="flat" w="9525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1F3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r"/>
                      <a:r>
                        <a:rPr lang="es-ES" sz="1000" b="false" i="false">
                          <a:solidFill>
                            <a:srgbClr val="1F2933"/>
                          </a:solidFill>
                          <a:latin typeface="Segoe UI"/>
                        </a:rPr>
                        <a:t>2.940</a:t>
                      </a:r>
                      <a:endParaRPr sz="1000" lang="es-ES"/>
                    </a:p>
                  </a:txBody>
                  <a:tcPr marL="76200" marR="76200" marT="38100" marB="381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cmpd="sng" algn="ctr" cap="flat" w="9525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1F3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r"/>
                      <a:r>
                        <a:rPr lang="es-ES" sz="1000" b="false" i="false">
                          <a:solidFill>
                            <a:srgbClr val="1F2933"/>
                          </a:solidFill>
                          <a:latin typeface="Segoe UI"/>
                        </a:rPr>
                        <a:t>0</a:t>
                      </a:r>
                      <a:endParaRPr sz="1000" lang="es-ES"/>
                    </a:p>
                  </a:txBody>
                  <a:tcPr marL="76200" marR="76200" marT="38100" marB="381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cmpd="sng" algn="ctr" cap="flat" w="9525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1F3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r"/>
                      <a:r>
                        <a:rPr lang="es-ES" sz="1000" b="false" i="false">
                          <a:solidFill>
                            <a:srgbClr val="1F2933"/>
                          </a:solidFill>
                          <a:latin typeface="Segoe UI"/>
                        </a:rPr>
                        <a:t>0</a:t>
                      </a:r>
                      <a:endParaRPr sz="1000" lang="es-ES"/>
                    </a:p>
                  </a:txBody>
                  <a:tcPr marL="76200" marR="76200" marT="38100" marB="381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cmpd="sng" algn="ctr" cap="flat" w="9525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1F3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r"/>
                      <a:r>
                        <a:rPr lang="es-ES" sz="1000" b="false" i="false">
                          <a:solidFill>
                            <a:srgbClr val="1F2933"/>
                          </a:solidFill>
                          <a:latin typeface="Segoe UI"/>
                        </a:rPr>
                        <a:t>60</a:t>
                      </a:r>
                      <a:endParaRPr sz="1000" lang="es-ES"/>
                    </a:p>
                  </a:txBody>
                  <a:tcPr marL="76200" marR="76200" marT="38100" marB="381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cmpd="sng" algn="ctr" cap="flat" w="9525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1F3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r"/>
                      <a:r>
                        <a:rPr lang="es-ES" sz="1000" b="false" i="false">
                          <a:solidFill>
                            <a:srgbClr val="1F2933"/>
                          </a:solidFill>
                          <a:latin typeface="Segoe UI"/>
                        </a:rPr>
                        <a:t>0</a:t>
                      </a:r>
                      <a:endParaRPr sz="1000" lang="es-ES"/>
                    </a:p>
                  </a:txBody>
                  <a:tcPr marL="76200" marR="76200" marT="38100" marB="381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cmpd="sng" algn="ctr" cap="flat" w="9525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1F3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l"/>
                      <a:r>
                        <a:rPr lang="es-ES" sz="1000" b="false" i="false">
                          <a:solidFill>
                            <a:srgbClr val="1F2933"/>
                          </a:solidFill>
                          <a:latin typeface="Segoe UI"/>
                        </a:rPr>
                        <a:t>Terminado</a:t>
                      </a:r>
                      <a:endParaRPr sz="1000" lang="es-ES"/>
                    </a:p>
                  </a:txBody>
                  <a:tcPr marL="76200" marR="76200" marT="38100" marB="381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cmpd="sng" algn="ctr" cap="flat" w="9525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1F3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r"/>
                      <a:r>
                        <a:rPr lang="es-ES" sz="1000" b="false" i="false">
                          <a:solidFill>
                            <a:srgbClr val="1F2933"/>
                          </a:solidFill>
                          <a:latin typeface="Segoe UI"/>
                        </a:rPr>
                        <a:t>87 ms</a:t>
                      </a:r>
                      <a:endParaRPr sz="1000" lang="es-ES"/>
                    </a:p>
                  </a:txBody>
                  <a:tcPr marL="76200" marR="76200" marT="38100" marB="381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cmpd="sng" algn="ctr" cap="flat" w="9525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1F3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r"/>
                      <a:r>
                        <a:rPr lang="es-ES" sz="1000" b="false" i="false">
                          <a:solidFill>
                            <a:srgbClr val="1F2933"/>
                          </a:solidFill>
                          <a:latin typeface="Segoe UI"/>
                        </a:rPr>
                        <a:t>34.483</a:t>
                      </a:r>
                      <a:endParaRPr sz="1000" lang="es-ES"/>
                    </a:p>
                  </a:txBody>
                  <a:tcPr marL="76200" marR="76200" marT="38100" marB="381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cmpd="sng" algn="ctr" cap="flat" w="9525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1F3"/>
                    </a:solidFill>
                  </a:tcPr>
                </a:tc>
              </a:tr>
              <a:tr h="281940">
                <a:tc>
                  <a:txBody>
                    <a:bodyPr anchor="t" rtlCol="false"/>
                    <a:lstStyle/>
                    <a:p>
                      <a:pPr algn="l"/>
                      <a:r>
                        <a:rPr lang="es-ES" sz="1000" b="false" i="false">
                          <a:solidFill>
                            <a:srgbClr val="1F2933"/>
                          </a:solidFill>
                          <a:latin typeface="Segoe UI"/>
                        </a:rPr>
                        <a:t>Buscar tienda</a:t>
                      </a:r>
                      <a:endParaRPr sz="1000" lang="es-ES"/>
                    </a:p>
                  </a:txBody>
                  <a:tcPr marL="76200" marR="76200" marT="38100" marB="381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cmpd="sng" algn="ctr" cap="flat" w="9525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r"/>
                      <a:r>
                        <a:rPr lang="es-ES" sz="1000" b="false" i="false">
                          <a:solidFill>
                            <a:srgbClr val="1F2933"/>
                          </a:solidFill>
                          <a:latin typeface="Segoe UI"/>
                        </a:rPr>
                        <a:t>2.940</a:t>
                      </a:r>
                      <a:endParaRPr sz="1000" lang="es-ES"/>
                    </a:p>
                  </a:txBody>
                  <a:tcPr marL="76200" marR="76200" marT="38100" marB="381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cmpd="sng" algn="ctr" cap="flat" w="9525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r"/>
                      <a:r>
                        <a:rPr lang="es-ES" sz="1000" b="false" i="false">
                          <a:solidFill>
                            <a:srgbClr val="1F2933"/>
                          </a:solidFill>
                          <a:latin typeface="Segoe UI"/>
                        </a:rPr>
                        <a:t>2.940</a:t>
                      </a:r>
                      <a:endParaRPr sz="1000" lang="es-ES"/>
                    </a:p>
                  </a:txBody>
                  <a:tcPr marL="76200" marR="76200" marT="38100" marB="381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cmpd="sng" algn="ctr" cap="flat" w="9525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r"/>
                      <a:r>
                        <a:rPr lang="es-ES" sz="1000" b="false" i="false">
                          <a:solidFill>
                            <a:srgbClr val="1F2933"/>
                          </a:solidFill>
                          <a:latin typeface="Segoe UI"/>
                        </a:rPr>
                        <a:t>4</a:t>
                      </a:r>
                      <a:endParaRPr sz="1000" lang="es-ES"/>
                    </a:p>
                  </a:txBody>
                  <a:tcPr marL="76200" marR="76200" marT="38100" marB="381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cmpd="sng" algn="ctr" cap="flat" w="9525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r"/>
                      <a:r>
                        <a:rPr lang="es-ES" sz="1000" b="false" i="false">
                          <a:solidFill>
                            <a:srgbClr val="1F2933"/>
                          </a:solidFill>
                          <a:latin typeface="Segoe UI"/>
                        </a:rPr>
                        <a:t>0</a:t>
                      </a:r>
                      <a:endParaRPr sz="1000" lang="es-ES"/>
                    </a:p>
                  </a:txBody>
                  <a:tcPr marL="76200" marR="76200" marT="38100" marB="381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cmpd="sng" algn="ctr" cap="flat" w="9525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r"/>
                      <a:r>
                        <a:rPr lang="es-ES" sz="1000" b="false" i="false">
                          <a:solidFill>
                            <a:srgbClr val="1F2933"/>
                          </a:solidFill>
                          <a:latin typeface="Segoe UI"/>
                        </a:rPr>
                        <a:t>0</a:t>
                      </a:r>
                      <a:endParaRPr sz="1000" lang="es-ES"/>
                    </a:p>
                  </a:txBody>
                  <a:tcPr marL="76200" marR="76200" marT="38100" marB="381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cmpd="sng" algn="ctr" cap="flat" w="9525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r"/>
                      <a:r>
                        <a:rPr lang="es-ES" sz="1000" b="false" i="false">
                          <a:solidFill>
                            <a:srgbClr val="1F2933"/>
                          </a:solidFill>
                          <a:latin typeface="Segoe UI"/>
                        </a:rPr>
                        <a:t>0</a:t>
                      </a:r>
                      <a:endParaRPr sz="1000" lang="es-ES"/>
                    </a:p>
                  </a:txBody>
                  <a:tcPr marL="76200" marR="76200" marT="38100" marB="381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cmpd="sng" algn="ctr" cap="flat" w="9525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l"/>
                      <a:r>
                        <a:rPr lang="es-ES" sz="1000" b="false" i="false">
                          <a:solidFill>
                            <a:srgbClr val="1F2933"/>
                          </a:solidFill>
                          <a:latin typeface="Segoe UI"/>
                        </a:rPr>
                        <a:t>Terminado</a:t>
                      </a:r>
                      <a:endParaRPr sz="1000" lang="es-ES"/>
                    </a:p>
                  </a:txBody>
                  <a:tcPr marL="76200" marR="76200" marT="38100" marB="381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cmpd="sng" algn="ctr" cap="flat" w="9525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r"/>
                      <a:r>
                        <a:rPr lang="es-ES" sz="1000" b="false" i="false">
                          <a:solidFill>
                            <a:srgbClr val="1F2933"/>
                          </a:solidFill>
                          <a:latin typeface="Segoe UI"/>
                        </a:rPr>
                        <a:t>95 ms</a:t>
                      </a:r>
                      <a:endParaRPr sz="1000" lang="es-ES"/>
                    </a:p>
                  </a:txBody>
                  <a:tcPr marL="76200" marR="76200" marT="38100" marB="381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cmpd="sng" algn="ctr" cap="flat" w="9525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r"/>
                      <a:r>
                        <a:rPr lang="es-ES" sz="1000" b="false" i="false">
                          <a:solidFill>
                            <a:srgbClr val="1F2933"/>
                          </a:solidFill>
                          <a:latin typeface="Segoe UI"/>
                        </a:rPr>
                        <a:t>30.947</a:t>
                      </a:r>
                      <a:endParaRPr sz="1000" lang="es-ES"/>
                    </a:p>
                  </a:txBody>
                  <a:tcPr marL="76200" marR="76200" marT="38100" marB="381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cmpd="sng" algn="ctr" cap="flat" w="9525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1940">
                <a:tc>
                  <a:txBody>
                    <a:bodyPr anchor="t" rtlCol="false"/>
                    <a:lstStyle/>
                    <a:p>
                      <a:pPr algn="l"/>
                      <a:r>
                        <a:rPr lang="es-ES" sz="1000" b="false" i="false">
                          <a:solidFill>
                            <a:srgbClr val="1F2933"/>
                          </a:solidFill>
                          <a:latin typeface="Segoe UI"/>
                        </a:rPr>
                        <a:t>Buscar producto</a:t>
                      </a:r>
                      <a:endParaRPr sz="1000" lang="es-ES"/>
                    </a:p>
                  </a:txBody>
                  <a:tcPr marL="76200" marR="76200" marT="38100" marB="381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cmpd="sng" algn="ctr" cap="flat" w="9525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1F3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r"/>
                      <a:r>
                        <a:rPr lang="es-ES" sz="1000" b="false" i="false">
                          <a:solidFill>
                            <a:srgbClr val="1F2933"/>
                          </a:solidFill>
                          <a:latin typeface="Segoe UI"/>
                        </a:rPr>
                        <a:t>2.940</a:t>
                      </a:r>
                      <a:endParaRPr sz="1000" lang="es-ES"/>
                    </a:p>
                  </a:txBody>
                  <a:tcPr marL="76200" marR="76200" marT="38100" marB="381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cmpd="sng" algn="ctr" cap="flat" w="9525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1F3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r"/>
                      <a:r>
                        <a:rPr lang="es-ES" sz="1000" b="false" i="false">
                          <a:solidFill>
                            <a:srgbClr val="1F2933"/>
                          </a:solidFill>
                          <a:latin typeface="Segoe UI"/>
                        </a:rPr>
                        <a:t>2.940</a:t>
                      </a:r>
                      <a:endParaRPr sz="1000" lang="es-ES"/>
                    </a:p>
                  </a:txBody>
                  <a:tcPr marL="76200" marR="76200" marT="38100" marB="381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cmpd="sng" algn="ctr" cap="flat" w="9525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1F3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r"/>
                      <a:r>
                        <a:rPr lang="es-ES" sz="1000" b="false" i="false">
                          <a:solidFill>
                            <a:srgbClr val="1F2933"/>
                          </a:solidFill>
                          <a:latin typeface="Segoe UI"/>
                        </a:rPr>
                        <a:t>28</a:t>
                      </a:r>
                      <a:endParaRPr sz="1000" lang="es-ES"/>
                    </a:p>
                  </a:txBody>
                  <a:tcPr marL="76200" marR="76200" marT="38100" marB="381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cmpd="sng" algn="ctr" cap="flat" w="9525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1F3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r"/>
                      <a:r>
                        <a:rPr lang="es-ES" sz="1000" b="false" i="false">
                          <a:solidFill>
                            <a:srgbClr val="1F2933"/>
                          </a:solidFill>
                          <a:latin typeface="Segoe UI"/>
                        </a:rPr>
                        <a:t>0</a:t>
                      </a:r>
                      <a:endParaRPr sz="1000" lang="es-ES"/>
                    </a:p>
                  </a:txBody>
                  <a:tcPr marL="76200" marR="76200" marT="38100" marB="381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cmpd="sng" algn="ctr" cap="flat" w="9525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1F3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r"/>
                      <a:r>
                        <a:rPr lang="es-ES" sz="1000" b="false" i="false">
                          <a:solidFill>
                            <a:srgbClr val="1F2933"/>
                          </a:solidFill>
                          <a:latin typeface="Segoe UI"/>
                        </a:rPr>
                        <a:t>0</a:t>
                      </a:r>
                      <a:endParaRPr sz="1000" lang="es-ES"/>
                    </a:p>
                  </a:txBody>
                  <a:tcPr marL="76200" marR="76200" marT="38100" marB="381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cmpd="sng" algn="ctr" cap="flat" w="9525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1F3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r"/>
                      <a:r>
                        <a:rPr lang="es-ES" sz="1000" b="false" i="false">
                          <a:solidFill>
                            <a:srgbClr val="1F2933"/>
                          </a:solidFill>
                          <a:latin typeface="Segoe UI"/>
                        </a:rPr>
                        <a:t>0</a:t>
                      </a:r>
                      <a:endParaRPr sz="1000" lang="es-ES"/>
                    </a:p>
                  </a:txBody>
                  <a:tcPr marL="76200" marR="76200" marT="38100" marB="381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cmpd="sng" algn="ctr" cap="flat" w="9525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1F3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l"/>
                      <a:r>
                        <a:rPr lang="es-ES" sz="1000" b="false" i="false">
                          <a:solidFill>
                            <a:srgbClr val="1F2933"/>
                          </a:solidFill>
                          <a:latin typeface="Segoe UI"/>
                        </a:rPr>
                        <a:t>Terminado</a:t>
                      </a:r>
                      <a:endParaRPr sz="1000" lang="es-ES"/>
                    </a:p>
                  </a:txBody>
                  <a:tcPr marL="76200" marR="76200" marT="38100" marB="381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cmpd="sng" algn="ctr" cap="flat" w="9525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1F3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r"/>
                      <a:r>
                        <a:rPr lang="es-ES" sz="1000" b="false" i="false">
                          <a:solidFill>
                            <a:srgbClr val="1F2933"/>
                          </a:solidFill>
                          <a:latin typeface="Segoe UI"/>
                        </a:rPr>
                        <a:t>99 ms</a:t>
                      </a:r>
                      <a:endParaRPr sz="1000" lang="es-ES"/>
                    </a:p>
                  </a:txBody>
                  <a:tcPr marL="76200" marR="76200" marT="38100" marB="381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cmpd="sng" algn="ctr" cap="flat" w="9525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1F3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r"/>
                      <a:r>
                        <a:rPr lang="es-ES" sz="1000" b="false" i="false">
                          <a:solidFill>
                            <a:srgbClr val="1F2933"/>
                          </a:solidFill>
                          <a:latin typeface="Segoe UI"/>
                        </a:rPr>
                        <a:t>29.697</a:t>
                      </a:r>
                      <a:endParaRPr sz="1000" lang="es-ES"/>
                    </a:p>
                  </a:txBody>
                  <a:tcPr marL="76200" marR="76200" marT="38100" marB="381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cmpd="sng" algn="ctr" cap="flat" w="9525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1F3"/>
                    </a:solidFill>
                  </a:tcPr>
                </a:tc>
              </a:tr>
              <a:tr h="281940">
                <a:tc>
                  <a:txBody>
                    <a:bodyPr anchor="t" rtlCol="false"/>
                    <a:lstStyle/>
                    <a:p>
                      <a:pPr algn="l"/>
                      <a:r>
                        <a:rPr lang="es-ES" sz="1000" b="false" i="false">
                          <a:solidFill>
                            <a:srgbClr val="1F2933"/>
                          </a:solidFill>
                          <a:latin typeface="Segoe UI"/>
                        </a:rPr>
                        <a:t>Buscar fecha</a:t>
                      </a:r>
                      <a:endParaRPr sz="1000" lang="es-ES"/>
                    </a:p>
                  </a:txBody>
                  <a:tcPr marL="76200" marR="76200" marT="38100" marB="381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cmpd="sng" algn="ctr" cap="flat" w="9525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r"/>
                      <a:r>
                        <a:rPr lang="es-ES" sz="1000" b="false" i="false">
                          <a:solidFill>
                            <a:srgbClr val="1F2933"/>
                          </a:solidFill>
                          <a:latin typeface="Segoe UI"/>
                        </a:rPr>
                        <a:t>2.940</a:t>
                      </a:r>
                      <a:endParaRPr sz="1000" lang="es-ES"/>
                    </a:p>
                  </a:txBody>
                  <a:tcPr marL="76200" marR="76200" marT="38100" marB="381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cmpd="sng" algn="ctr" cap="flat" w="9525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r"/>
                      <a:r>
                        <a:rPr lang="es-ES" sz="1000" b="false" i="false">
                          <a:solidFill>
                            <a:srgbClr val="1F2933"/>
                          </a:solidFill>
                          <a:latin typeface="Segoe UI"/>
                        </a:rPr>
                        <a:t>2.940</a:t>
                      </a:r>
                      <a:endParaRPr sz="1000" lang="es-ES"/>
                    </a:p>
                  </a:txBody>
                  <a:tcPr marL="76200" marR="76200" marT="38100" marB="381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cmpd="sng" algn="ctr" cap="flat" w="9525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r"/>
                      <a:r>
                        <a:rPr lang="es-ES" sz="1000" b="false" i="false">
                          <a:solidFill>
                            <a:srgbClr val="1F2933"/>
                          </a:solidFill>
                          <a:latin typeface="Segoe UI"/>
                        </a:rPr>
                        <a:t>30</a:t>
                      </a:r>
                      <a:endParaRPr sz="1000" lang="es-ES"/>
                    </a:p>
                  </a:txBody>
                  <a:tcPr marL="76200" marR="76200" marT="38100" marB="381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cmpd="sng" algn="ctr" cap="flat" w="9525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r"/>
                      <a:r>
                        <a:rPr lang="es-ES" sz="1000" b="false" i="false">
                          <a:solidFill>
                            <a:srgbClr val="1F2933"/>
                          </a:solidFill>
                          <a:latin typeface="Segoe UI"/>
                        </a:rPr>
                        <a:t>0</a:t>
                      </a:r>
                      <a:endParaRPr sz="1000" lang="es-ES"/>
                    </a:p>
                  </a:txBody>
                  <a:tcPr marL="76200" marR="76200" marT="38100" marB="381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cmpd="sng" algn="ctr" cap="flat" w="9525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r"/>
                      <a:r>
                        <a:rPr lang="es-ES" sz="1000" b="false" i="false">
                          <a:solidFill>
                            <a:srgbClr val="1F2933"/>
                          </a:solidFill>
                          <a:latin typeface="Segoe UI"/>
                        </a:rPr>
                        <a:t>0</a:t>
                      </a:r>
                      <a:endParaRPr sz="1000" lang="es-ES"/>
                    </a:p>
                  </a:txBody>
                  <a:tcPr marL="76200" marR="76200" marT="38100" marB="381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cmpd="sng" algn="ctr" cap="flat" w="9525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r"/>
                      <a:r>
                        <a:rPr lang="es-ES" sz="1000" b="false" i="false">
                          <a:solidFill>
                            <a:srgbClr val="1F2933"/>
                          </a:solidFill>
                          <a:latin typeface="Segoe UI"/>
                        </a:rPr>
                        <a:t>0</a:t>
                      </a:r>
                      <a:endParaRPr sz="1000" lang="es-ES"/>
                    </a:p>
                  </a:txBody>
                  <a:tcPr marL="76200" marR="76200" marT="38100" marB="381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cmpd="sng" algn="ctr" cap="flat" w="9525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l"/>
                      <a:r>
                        <a:rPr lang="es-ES" sz="1000" b="false" i="false">
                          <a:solidFill>
                            <a:srgbClr val="1F2933"/>
                          </a:solidFill>
                          <a:latin typeface="Segoe UI"/>
                        </a:rPr>
                        <a:t>Terminado</a:t>
                      </a:r>
                      <a:endParaRPr sz="1000" lang="es-ES"/>
                    </a:p>
                  </a:txBody>
                  <a:tcPr marL="76200" marR="76200" marT="38100" marB="381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cmpd="sng" algn="ctr" cap="flat" w="9525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r"/>
                      <a:r>
                        <a:rPr lang="es-ES" sz="1000" b="false" i="false">
                          <a:solidFill>
                            <a:srgbClr val="1F2933"/>
                          </a:solidFill>
                          <a:latin typeface="Segoe UI"/>
                        </a:rPr>
                        <a:t>101 ms</a:t>
                      </a:r>
                      <a:endParaRPr sz="1000" lang="es-ES"/>
                    </a:p>
                  </a:txBody>
                  <a:tcPr marL="76200" marR="76200" marT="38100" marB="381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cmpd="sng" algn="ctr" cap="flat" w="9525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r"/>
                      <a:r>
                        <a:rPr lang="es-ES" sz="1000" b="false" i="false">
                          <a:solidFill>
                            <a:srgbClr val="1F2933"/>
                          </a:solidFill>
                          <a:latin typeface="Segoe UI"/>
                        </a:rPr>
                        <a:t>29.109</a:t>
                      </a:r>
                      <a:endParaRPr sz="1000" lang="es-ES"/>
                    </a:p>
                  </a:txBody>
                  <a:tcPr marL="76200" marR="76200" marT="38100" marB="381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cmpd="sng" algn="ctr" cap="flat" w="9525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1940">
                <a:tc>
                  <a:txBody>
                    <a:bodyPr anchor="t" rtlCol="false"/>
                    <a:lstStyle/>
                    <a:p>
                      <a:pPr algn="l"/>
                      <a:r>
                        <a:rPr lang="es-ES" sz="1000" b="false" i="false">
                          <a:solidFill>
                            <a:srgbClr val="1F2933"/>
                          </a:solidFill>
                          <a:latin typeface="Segoe UI"/>
                        </a:rPr>
                        <a:t>Clasificar línea</a:t>
                      </a:r>
                      <a:endParaRPr sz="1000" lang="es-ES"/>
                    </a:p>
                  </a:txBody>
                  <a:tcPr marL="76200" marR="76200" marT="38100" marB="381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cmpd="sng" algn="ctr" cap="flat" w="9525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1F3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r"/>
                      <a:r>
                        <a:rPr lang="es-ES" sz="1000" b="false" i="false">
                          <a:solidFill>
                            <a:srgbClr val="1F2933"/>
                          </a:solidFill>
                          <a:latin typeface="Segoe UI"/>
                        </a:rPr>
                        <a:t>2.940</a:t>
                      </a:r>
                      <a:endParaRPr sz="1000" lang="es-ES"/>
                    </a:p>
                  </a:txBody>
                  <a:tcPr marL="76200" marR="76200" marT="38100" marB="381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cmpd="sng" algn="ctr" cap="flat" w="9525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1F3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r"/>
                      <a:r>
                        <a:rPr lang="es-ES" sz="1000" b="false" i="false">
                          <a:solidFill>
                            <a:srgbClr val="1F2933"/>
                          </a:solidFill>
                          <a:latin typeface="Segoe UI"/>
                        </a:rPr>
                        <a:t>2.940</a:t>
                      </a:r>
                      <a:endParaRPr sz="1000" lang="es-ES"/>
                    </a:p>
                  </a:txBody>
                  <a:tcPr marL="76200" marR="76200" marT="38100" marB="381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cmpd="sng" algn="ctr" cap="flat" w="9525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1F3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r"/>
                      <a:r>
                        <a:rPr lang="es-ES" sz="1000" b="false" i="false">
                          <a:solidFill>
                            <a:srgbClr val="1F2933"/>
                          </a:solidFill>
                          <a:latin typeface="Segoe UI"/>
                        </a:rPr>
                        <a:t>0</a:t>
                      </a:r>
                      <a:endParaRPr sz="1000" lang="es-ES"/>
                    </a:p>
                  </a:txBody>
                  <a:tcPr marL="76200" marR="76200" marT="38100" marB="381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cmpd="sng" algn="ctr" cap="flat" w="9525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1F3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r"/>
                      <a:r>
                        <a:rPr lang="es-ES" sz="1000" b="false" i="false">
                          <a:solidFill>
                            <a:srgbClr val="1F2933"/>
                          </a:solidFill>
                          <a:latin typeface="Segoe UI"/>
                        </a:rPr>
                        <a:t>0</a:t>
                      </a:r>
                      <a:endParaRPr sz="1000" lang="es-ES"/>
                    </a:p>
                  </a:txBody>
                  <a:tcPr marL="76200" marR="76200" marT="38100" marB="381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cmpd="sng" algn="ctr" cap="flat" w="9525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1F3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r"/>
                      <a:r>
                        <a:rPr lang="es-ES" sz="1000" b="false" i="false">
                          <a:solidFill>
                            <a:srgbClr val="1F2933"/>
                          </a:solidFill>
                          <a:latin typeface="Segoe UI"/>
                        </a:rPr>
                        <a:t>0</a:t>
                      </a:r>
                      <a:endParaRPr sz="1000" lang="es-ES"/>
                    </a:p>
                  </a:txBody>
                  <a:tcPr marL="76200" marR="76200" marT="38100" marB="381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cmpd="sng" algn="ctr" cap="flat" w="9525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1F3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r"/>
                      <a:r>
                        <a:rPr lang="es-ES" sz="1000" b="false" i="false">
                          <a:solidFill>
                            <a:srgbClr val="1F2933"/>
                          </a:solidFill>
                          <a:latin typeface="Segoe UI"/>
                        </a:rPr>
                        <a:t>0</a:t>
                      </a:r>
                      <a:endParaRPr sz="1000" lang="es-ES"/>
                    </a:p>
                  </a:txBody>
                  <a:tcPr marL="76200" marR="76200" marT="38100" marB="381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cmpd="sng" algn="ctr" cap="flat" w="9525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1F3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l"/>
                      <a:r>
                        <a:rPr lang="es-ES" sz="1000" b="false" i="false">
                          <a:solidFill>
                            <a:srgbClr val="1F2933"/>
                          </a:solidFill>
                          <a:latin typeface="Segoe UI"/>
                        </a:rPr>
                        <a:t>Terminado</a:t>
                      </a:r>
                      <a:endParaRPr sz="1000" lang="es-ES"/>
                    </a:p>
                  </a:txBody>
                  <a:tcPr marL="76200" marR="76200" marT="38100" marB="381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cmpd="sng" algn="ctr" cap="flat" w="9525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1F3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r"/>
                      <a:r>
                        <a:rPr lang="es-ES" sz="1000" b="false" i="false">
                          <a:solidFill>
                            <a:srgbClr val="1F2933"/>
                          </a:solidFill>
                          <a:latin typeface="Segoe UI"/>
                        </a:rPr>
                        <a:t>121 ms</a:t>
                      </a:r>
                      <a:endParaRPr sz="1000" lang="es-ES"/>
                    </a:p>
                  </a:txBody>
                  <a:tcPr marL="76200" marR="76200" marT="38100" marB="381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cmpd="sng" algn="ctr" cap="flat" w="9525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1F3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r"/>
                      <a:r>
                        <a:rPr lang="es-ES" sz="1000" b="false" i="false">
                          <a:solidFill>
                            <a:srgbClr val="1F2933"/>
                          </a:solidFill>
                          <a:latin typeface="Segoe UI"/>
                        </a:rPr>
                        <a:t>24.298</a:t>
                      </a:r>
                      <a:endParaRPr sz="1000" lang="es-ES"/>
                    </a:p>
                  </a:txBody>
                  <a:tcPr marL="76200" marR="76200" marT="38100" marB="381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cmpd="sng" algn="ctr" cap="flat" w="9525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1F3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9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8000" y="203200"/>
            <a:ext cx="11176000" cy="635000"/>
          </a:xfrm>
        </p:spPr>
        <p:txBody>
          <a:bodyPr lIns="0" rIns="0" wrap="square" anchor="ctr"/>
          <a:lstStyle/>
          <a:p>
            <a:pPr algn="l"/>
            <a:r>
              <a:rPr lang="es-ES" sz="2600" b="true" i="false">
                <a:solidFill>
                  <a:srgbClr val="243B53"/>
                </a:solidFill>
                <a:latin typeface="Segoe UI"/>
              </a:rPr>
              <a:t>Métricas de ejecución (cont.)</a:t>
            </a:r>
            <a:endParaRPr sz="2600" lang="es-ES"/>
          </a:p>
        </p:txBody>
      </p:sp>
      <p:pic>
        <p:nvPicPr>
          <p:cNvPr name="Picture 3" id="3"/>
          <p:cNvPicPr>
            <a:picLocks noChangeAspect="true"/>
          </p:cNvPicPr>
          <p:nvPr/>
        </p:nvPicPr>
        <p:blipFill>
          <a:blip r:embed="rId2"/>
          <a:stretch>
            <a:fillRect/>
          </a:stretch>
        </p:blipFill>
        <p:spPr>
          <a:xfrm>
            <a:off x="10248900" y="5510084"/>
            <a:ext cx="1435100" cy="814516"/>
          </a:xfrm>
          <a:prstGeom prst="rect">
            <a:avLst/>
          </a:prstGeom>
        </p:spPr>
      </p:pic>
      <p:sp>
        <p:nvSpPr>
          <p:cNvPr name="AutoShape 4" id="4"/>
          <p:cNvSpPr/>
          <p:nvPr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243B53"/>
          </a:solidFill>
          <a:ln>
            <a:noFill/>
          </a:ln>
        </p:spPr>
      </p:sp>
      <p:pic>
        <p:nvPicPr>
          <p:cNvPr name="Picture 5" id="5"/>
          <p:cNvPicPr>
            <a:picLocks noChangeAspect="true"/>
          </p:cNvPicPr>
          <p:nvPr/>
        </p:nvPicPr>
        <p:blipFill>
          <a:blip r:embed="rId3"/>
          <a:stretch>
            <a:fillRect/>
          </a:stretch>
        </p:blipFill>
        <p:spPr>
          <a:xfrm>
            <a:off x="508000" y="6508750"/>
            <a:ext cx="177800" cy="100914"/>
          </a:xfrm>
          <a:prstGeom prst="rect">
            <a:avLst/>
          </a:prstGeom>
        </p:spPr>
      </p:pic>
      <p:sp>
        <p:nvSpPr>
          <p:cNvPr name="TextBox 6" id="6"/>
          <p:cNvSpPr txBox="true"/>
          <p:nvPr/>
        </p:nvSpPr>
        <p:spPr>
          <a:xfrm>
            <a:off x="749300" y="6451600"/>
            <a:ext cx="5080000" cy="228600"/>
          </a:xfrm>
          <a:prstGeom prst="rect">
            <a:avLst/>
          </a:prstGeom>
        </p:spPr>
        <p:txBody>
          <a:bodyPr anchor="ctr" rtlCol="false" wrap="square" lIns="0" rIns="0" tIns="25400" bIns="25400"/>
          <a:lstStyle/>
          <a:p>
            <a:pPr algn="l"/>
            <a:r>
              <a:rPr lang="es-ES" sz="750" b="false" i="false">
                <a:solidFill>
                  <a:srgbClr val="6B7785"/>
                </a:solidFill>
                <a:latin typeface="Segoe UI"/>
              </a:rPr>
              <a:t>Pentaho Live · IDC Studios</a:t>
            </a:r>
            <a:endParaRPr sz="750" lang="es-ES"/>
          </a:p>
        </p:txBody>
      </p:sp>
      <p:sp>
        <p:nvSpPr>
          <p:cNvPr name="TextBox 7" id="7"/>
          <p:cNvSpPr txBox="true"/>
          <p:nvPr/>
        </p:nvSpPr>
        <p:spPr>
          <a:xfrm>
            <a:off x="10160000" y="6451600"/>
            <a:ext cx="1524000" cy="228600"/>
          </a:xfrm>
          <a:prstGeom prst="rect">
            <a:avLst/>
          </a:prstGeom>
        </p:spPr>
        <p:txBody>
          <a:bodyPr anchor="ctr" rtlCol="false" wrap="square" lIns="0" rIns="0" tIns="25400" bIns="25400"/>
          <a:lstStyle/>
          <a:p>
            <a:pPr algn="r"/>
            <a:fld id="{3CEE206F-523E-4F72-ADBF-DC3A85120301}" type="slidenum">
              <a:rPr lang="es-ES" sz="750">
                <a:solidFill>
                  <a:srgbClr val="6B7785"/>
                </a:solidFill>
                <a:latin typeface="Segoe UI"/>
              </a:rPr>
              <a:t>39</a:t>
            </a:fld>
            <a:endParaRPr sz="750" lang="es-ES"/>
          </a:p>
        </p:txBody>
      </p:sp>
      <p:sp>
        <p:nvSpPr>
          <p:cNvPr name="TextBox 8" id="8"/>
          <p:cNvSpPr txBox="true"/>
          <p:nvPr/>
        </p:nvSpPr>
        <p:spPr>
          <a:xfrm>
            <a:off x="508000" y="1016000"/>
            <a:ext cx="11176000" cy="254000"/>
          </a:xfrm>
          <a:prstGeom prst="rect">
            <a:avLst/>
          </a:prstGeom>
        </p:spPr>
        <p:txBody>
          <a:bodyPr anchor="t" rtlCol="false" wrap="square" lIns="0" rIns="0" tIns="25400" bIns="25400"/>
          <a:lstStyle/>
          <a:p>
            <a:pPr algn="l"/>
            <a:r>
              <a:rPr lang="es-ES" sz="1300" b="true" i="false">
                <a:solidFill>
                  <a:srgbClr val="243B53"/>
                </a:solidFill>
                <a:latin typeface="Segoe UI"/>
              </a:rPr>
              <a:t>Métricas por step (cont.)</a:t>
            </a:r>
            <a:endParaRPr sz="1300" lang="es-ES"/>
          </a:p>
        </p:txBody>
      </p:sp>
      <p:graphicFrame>
        <p:nvGraphicFramePr>
          <p:cNvPr name="Table 9" id="9"/>
          <p:cNvGraphicFramePr>
            <a:graphicFrameLocks noGrp="true"/>
          </p:cNvGraphicFramePr>
          <p:nvPr/>
        </p:nvGraphicFramePr>
        <p:xfrm>
          <a:off x="508000" y="1295400"/>
          <a:ext cx="8724900" cy="1973580"/>
        </p:xfrm>
        <a:graphic>
          <a:graphicData uri="http://schemas.openxmlformats.org/drawingml/2006/table">
            <a:tbl>
              <a:tblPr/>
              <a:tblGrid>
                <a:gridCol w="1993900"/>
                <a:gridCol w="660400"/>
                <a:gridCol w="800100"/>
                <a:gridCol w="736600"/>
                <a:gridCol w="660400"/>
                <a:gridCol w="939800"/>
                <a:gridCol w="736600"/>
                <a:gridCol w="800100"/>
                <a:gridCol w="660400"/>
                <a:gridCol w="736600"/>
              </a:tblGrid>
              <a:tr h="281940">
                <a:tc>
                  <a:txBody>
                    <a:bodyPr anchor="t" rtlCol="false"/>
                    <a:lstStyle/>
                    <a:p>
                      <a:pPr algn="l"/>
                      <a:r>
                        <a:rPr lang="es-ES" sz="1000" b="true" i="false">
                          <a:solidFill>
                            <a:srgbClr val="FFFFFF"/>
                          </a:solidFill>
                          <a:latin typeface="Segoe UI"/>
                        </a:rPr>
                        <a:t>Step</a:t>
                      </a:r>
                      <a:endParaRPr sz="1000" lang="es-ES"/>
                    </a:p>
                  </a:txBody>
                  <a:tcPr marL="76200" marR="76200" marT="38100" marB="381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cmpd="sng" algn="ctr" cap="flat" w="9525">
                      <a:solidFill>
                        <a:srgbClr val="243B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3B53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r"/>
                      <a:r>
                        <a:rPr lang="es-ES" sz="1000" b="true" i="false">
                          <a:solidFill>
                            <a:srgbClr val="FFFFFF"/>
                          </a:solidFill>
                          <a:latin typeface="Segoe UI"/>
                        </a:rPr>
                        <a:t>Leídas</a:t>
                      </a:r>
                      <a:endParaRPr sz="1000" lang="es-ES"/>
                    </a:p>
                  </a:txBody>
                  <a:tcPr marL="76200" marR="76200" marT="38100" marB="381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cmpd="sng" algn="ctr" cap="flat" w="9525">
                      <a:solidFill>
                        <a:srgbClr val="243B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3B53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r"/>
                      <a:r>
                        <a:rPr lang="es-ES" sz="1000" b="true" i="false">
                          <a:solidFill>
                            <a:srgbClr val="FFFFFF"/>
                          </a:solidFill>
                          <a:latin typeface="Segoe UI"/>
                        </a:rPr>
                        <a:t>Escritas</a:t>
                      </a:r>
                      <a:endParaRPr sz="1000" lang="es-ES"/>
                    </a:p>
                  </a:txBody>
                  <a:tcPr marL="76200" marR="76200" marT="38100" marB="381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cmpd="sng" algn="ctr" cap="flat" w="9525">
                      <a:solidFill>
                        <a:srgbClr val="243B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3B53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r"/>
                      <a:r>
                        <a:rPr lang="es-ES" sz="1000" b="true" i="false">
                          <a:solidFill>
                            <a:srgbClr val="FFFFFF"/>
                          </a:solidFill>
                          <a:latin typeface="Segoe UI"/>
                        </a:rPr>
                        <a:t>Entrada</a:t>
                      </a:r>
                      <a:endParaRPr sz="1000" lang="es-ES"/>
                    </a:p>
                  </a:txBody>
                  <a:tcPr marL="76200" marR="76200" marT="38100" marB="381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cmpd="sng" algn="ctr" cap="flat" w="9525">
                      <a:solidFill>
                        <a:srgbClr val="243B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3B53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r"/>
                      <a:r>
                        <a:rPr lang="es-ES" sz="1000" b="true" i="false">
                          <a:solidFill>
                            <a:srgbClr val="FFFFFF"/>
                          </a:solidFill>
                          <a:latin typeface="Segoe UI"/>
                        </a:rPr>
                        <a:t>Salida</a:t>
                      </a:r>
                      <a:endParaRPr sz="1000" lang="es-ES"/>
                    </a:p>
                  </a:txBody>
                  <a:tcPr marL="76200" marR="76200" marT="38100" marB="381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cmpd="sng" algn="ctr" cap="flat" w="9525">
                      <a:solidFill>
                        <a:srgbClr val="243B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3B53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r"/>
                      <a:r>
                        <a:rPr lang="es-ES" sz="1000" b="true" i="false">
                          <a:solidFill>
                            <a:srgbClr val="FFFFFF"/>
                          </a:solidFill>
                          <a:latin typeface="Segoe UI"/>
                        </a:rPr>
                        <a:t>Rechazadas</a:t>
                      </a:r>
                      <a:endParaRPr sz="1000" lang="es-ES"/>
                    </a:p>
                  </a:txBody>
                  <a:tcPr marL="76200" marR="76200" marT="38100" marB="381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cmpd="sng" algn="ctr" cap="flat" w="9525">
                      <a:solidFill>
                        <a:srgbClr val="243B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3B53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r"/>
                      <a:r>
                        <a:rPr lang="es-ES" sz="1000" b="true" i="false">
                          <a:solidFill>
                            <a:srgbClr val="FFFFFF"/>
                          </a:solidFill>
                          <a:latin typeface="Segoe UI"/>
                        </a:rPr>
                        <a:t>Errores</a:t>
                      </a:r>
                      <a:endParaRPr sz="1000" lang="es-ES"/>
                    </a:p>
                  </a:txBody>
                  <a:tcPr marL="76200" marR="76200" marT="38100" marB="381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cmpd="sng" algn="ctr" cap="flat" w="9525">
                      <a:solidFill>
                        <a:srgbClr val="243B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3B53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l"/>
                      <a:r>
                        <a:rPr lang="es-ES" sz="1000" b="true" i="false">
                          <a:solidFill>
                            <a:srgbClr val="FFFFFF"/>
                          </a:solidFill>
                          <a:latin typeface="Segoe UI"/>
                        </a:rPr>
                        <a:t>Estado</a:t>
                      </a:r>
                      <a:endParaRPr sz="1000" lang="es-ES"/>
                    </a:p>
                  </a:txBody>
                  <a:tcPr marL="76200" marR="76200" marT="38100" marB="381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cmpd="sng" algn="ctr" cap="flat" w="9525">
                      <a:solidFill>
                        <a:srgbClr val="243B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3B53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r"/>
                      <a:r>
                        <a:rPr lang="es-ES" sz="1000" b="true" i="false">
                          <a:solidFill>
                            <a:srgbClr val="FFFFFF"/>
                          </a:solidFill>
                          <a:latin typeface="Segoe UI"/>
                        </a:rPr>
                        <a:t>Tiempo</a:t>
                      </a:r>
                      <a:endParaRPr sz="1000" lang="es-ES"/>
                    </a:p>
                  </a:txBody>
                  <a:tcPr marL="76200" marR="76200" marT="38100" marB="381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cmpd="sng" algn="ctr" cap="flat" w="9525">
                      <a:solidFill>
                        <a:srgbClr val="243B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3B53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r"/>
                      <a:r>
                        <a:rPr lang="es-ES" sz="1000" b="true" i="false">
                          <a:solidFill>
                            <a:srgbClr val="FFFFFF"/>
                          </a:solidFill>
                          <a:latin typeface="Segoe UI"/>
                        </a:rPr>
                        <a:t>Filas/s</a:t>
                      </a:r>
                      <a:endParaRPr sz="1000" lang="es-ES"/>
                    </a:p>
                  </a:txBody>
                  <a:tcPr marL="76200" marR="76200" marT="38100" marB="381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cmpd="sng" algn="ctr" cap="flat" w="9525">
                      <a:solidFill>
                        <a:srgbClr val="243B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3B53"/>
                    </a:solidFill>
                  </a:tcPr>
                </a:tc>
              </a:tr>
              <a:tr h="281940">
                <a:tc>
                  <a:txBody>
                    <a:bodyPr anchor="t" rtlCol="false"/>
                    <a:lstStyle/>
                    <a:p>
                      <a:pPr algn="l"/>
                      <a:r>
                        <a:rPr lang="es-ES" sz="1000" b="false" i="false">
                          <a:solidFill>
                            <a:srgbClr val="1F2933"/>
                          </a:solidFill>
                          <a:latin typeface="Segoe UI"/>
                        </a:rPr>
                        <a:t>Marcar duplicado</a:t>
                      </a:r>
                      <a:endParaRPr sz="1000" lang="es-ES"/>
                    </a:p>
                  </a:txBody>
                  <a:tcPr marL="76200" marR="76200" marT="38100" marB="381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cmpd="sng" algn="ctr" cap="flat" w="9525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r"/>
                      <a:r>
                        <a:rPr lang="es-ES" sz="1000" b="false" i="false">
                          <a:solidFill>
                            <a:srgbClr val="1F2933"/>
                          </a:solidFill>
                          <a:latin typeface="Segoe UI"/>
                        </a:rPr>
                        <a:t>60</a:t>
                      </a:r>
                      <a:endParaRPr sz="1000" lang="es-ES"/>
                    </a:p>
                  </a:txBody>
                  <a:tcPr marL="76200" marR="76200" marT="38100" marB="381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cmpd="sng" algn="ctr" cap="flat" w="9525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r"/>
                      <a:r>
                        <a:rPr lang="es-ES" sz="1000" b="false" i="false">
                          <a:solidFill>
                            <a:srgbClr val="1F2933"/>
                          </a:solidFill>
                          <a:latin typeface="Segoe UI"/>
                        </a:rPr>
                        <a:t>60</a:t>
                      </a:r>
                      <a:endParaRPr sz="1000" lang="es-ES"/>
                    </a:p>
                  </a:txBody>
                  <a:tcPr marL="76200" marR="76200" marT="38100" marB="381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cmpd="sng" algn="ctr" cap="flat" w="9525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r"/>
                      <a:r>
                        <a:rPr lang="es-ES" sz="1000" b="false" i="false">
                          <a:solidFill>
                            <a:srgbClr val="1F2933"/>
                          </a:solidFill>
                          <a:latin typeface="Segoe UI"/>
                        </a:rPr>
                        <a:t>0</a:t>
                      </a:r>
                      <a:endParaRPr sz="1000" lang="es-ES"/>
                    </a:p>
                  </a:txBody>
                  <a:tcPr marL="76200" marR="76200" marT="38100" marB="381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cmpd="sng" algn="ctr" cap="flat" w="9525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r"/>
                      <a:r>
                        <a:rPr lang="es-ES" sz="1000" b="false" i="false">
                          <a:solidFill>
                            <a:srgbClr val="1F2933"/>
                          </a:solidFill>
                          <a:latin typeface="Segoe UI"/>
                        </a:rPr>
                        <a:t>0</a:t>
                      </a:r>
                      <a:endParaRPr sz="1000" lang="es-ES"/>
                    </a:p>
                  </a:txBody>
                  <a:tcPr marL="76200" marR="76200" marT="38100" marB="381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cmpd="sng" algn="ctr" cap="flat" w="9525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r"/>
                      <a:r>
                        <a:rPr lang="es-ES" sz="1000" b="false" i="false">
                          <a:solidFill>
                            <a:srgbClr val="1F2933"/>
                          </a:solidFill>
                          <a:latin typeface="Segoe UI"/>
                        </a:rPr>
                        <a:t>0</a:t>
                      </a:r>
                      <a:endParaRPr sz="1000" lang="es-ES"/>
                    </a:p>
                  </a:txBody>
                  <a:tcPr marL="76200" marR="76200" marT="38100" marB="381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cmpd="sng" algn="ctr" cap="flat" w="9525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r"/>
                      <a:r>
                        <a:rPr lang="es-ES" sz="1000" b="false" i="false">
                          <a:solidFill>
                            <a:srgbClr val="1F2933"/>
                          </a:solidFill>
                          <a:latin typeface="Segoe UI"/>
                        </a:rPr>
                        <a:t>0</a:t>
                      </a:r>
                      <a:endParaRPr sz="1000" lang="es-ES"/>
                    </a:p>
                  </a:txBody>
                  <a:tcPr marL="76200" marR="76200" marT="38100" marB="381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cmpd="sng" algn="ctr" cap="flat" w="9525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l"/>
                      <a:r>
                        <a:rPr lang="es-ES" sz="1000" b="false" i="false">
                          <a:solidFill>
                            <a:srgbClr val="1F2933"/>
                          </a:solidFill>
                          <a:latin typeface="Segoe UI"/>
                        </a:rPr>
                        <a:t>Terminado</a:t>
                      </a:r>
                      <a:endParaRPr sz="1000" lang="es-ES"/>
                    </a:p>
                  </a:txBody>
                  <a:tcPr marL="76200" marR="76200" marT="38100" marB="381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cmpd="sng" algn="ctr" cap="flat" w="9525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r"/>
                      <a:r>
                        <a:rPr lang="es-ES" sz="1000" b="false" i="false">
                          <a:solidFill>
                            <a:srgbClr val="1F2933"/>
                          </a:solidFill>
                          <a:latin typeface="Segoe UI"/>
                        </a:rPr>
                        <a:t>92 ms</a:t>
                      </a:r>
                      <a:endParaRPr sz="1000" lang="es-ES"/>
                    </a:p>
                  </a:txBody>
                  <a:tcPr marL="76200" marR="76200" marT="38100" marB="381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cmpd="sng" algn="ctr" cap="flat" w="9525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r"/>
                      <a:r>
                        <a:rPr lang="es-ES" sz="1000" b="false" i="false">
                          <a:solidFill>
                            <a:srgbClr val="1F2933"/>
                          </a:solidFill>
                          <a:latin typeface="Segoe UI"/>
                        </a:rPr>
                        <a:t>652</a:t>
                      </a:r>
                      <a:endParaRPr sz="1000" lang="es-ES"/>
                    </a:p>
                  </a:txBody>
                  <a:tcPr marL="76200" marR="76200" marT="38100" marB="381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cmpd="sng" algn="ctr" cap="flat" w="9525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1940">
                <a:tc>
                  <a:txBody>
                    <a:bodyPr anchor="t" rtlCol="false"/>
                    <a:lstStyle/>
                    <a:p>
                      <a:pPr algn="l"/>
                      <a:r>
                        <a:rPr lang="es-ES" sz="1000" b="false" i="false">
                          <a:solidFill>
                            <a:srgbClr val="1F2933"/>
                          </a:solidFill>
                          <a:latin typeface="Segoe UI"/>
                        </a:rPr>
                        <a:t>¿Línea válida?</a:t>
                      </a:r>
                      <a:endParaRPr sz="1000" lang="es-ES"/>
                    </a:p>
                  </a:txBody>
                  <a:tcPr marL="76200" marR="76200" marT="38100" marB="381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cmpd="sng" algn="ctr" cap="flat" w="9525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1F3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r"/>
                      <a:r>
                        <a:rPr lang="es-ES" sz="1000" b="false" i="false">
                          <a:solidFill>
                            <a:srgbClr val="1F2933"/>
                          </a:solidFill>
                          <a:latin typeface="Segoe UI"/>
                        </a:rPr>
                        <a:t>2.940</a:t>
                      </a:r>
                      <a:endParaRPr sz="1000" lang="es-ES"/>
                    </a:p>
                  </a:txBody>
                  <a:tcPr marL="76200" marR="76200" marT="38100" marB="381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cmpd="sng" algn="ctr" cap="flat" w="9525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1F3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r"/>
                      <a:r>
                        <a:rPr lang="es-ES" sz="1000" b="false" i="false">
                          <a:solidFill>
                            <a:srgbClr val="1F2933"/>
                          </a:solidFill>
                          <a:latin typeface="Segoe UI"/>
                        </a:rPr>
                        <a:t>2.940</a:t>
                      </a:r>
                      <a:endParaRPr sz="1000" lang="es-ES"/>
                    </a:p>
                  </a:txBody>
                  <a:tcPr marL="76200" marR="76200" marT="38100" marB="381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cmpd="sng" algn="ctr" cap="flat" w="9525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1F3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r"/>
                      <a:r>
                        <a:rPr lang="es-ES" sz="1000" b="false" i="false">
                          <a:solidFill>
                            <a:srgbClr val="1F2933"/>
                          </a:solidFill>
                          <a:latin typeface="Segoe UI"/>
                        </a:rPr>
                        <a:t>0</a:t>
                      </a:r>
                      <a:endParaRPr sz="1000" lang="es-ES"/>
                    </a:p>
                  </a:txBody>
                  <a:tcPr marL="76200" marR="76200" marT="38100" marB="381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cmpd="sng" algn="ctr" cap="flat" w="9525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1F3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r"/>
                      <a:r>
                        <a:rPr lang="es-ES" sz="1000" b="false" i="false">
                          <a:solidFill>
                            <a:srgbClr val="1F2933"/>
                          </a:solidFill>
                          <a:latin typeface="Segoe UI"/>
                        </a:rPr>
                        <a:t>0</a:t>
                      </a:r>
                      <a:endParaRPr sz="1000" lang="es-ES"/>
                    </a:p>
                  </a:txBody>
                  <a:tcPr marL="76200" marR="76200" marT="38100" marB="381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cmpd="sng" algn="ctr" cap="flat" w="9525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1F3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r"/>
                      <a:r>
                        <a:rPr lang="es-ES" sz="1000" b="false" i="false">
                          <a:solidFill>
                            <a:srgbClr val="1F2933"/>
                          </a:solidFill>
                          <a:latin typeface="Segoe UI"/>
                        </a:rPr>
                        <a:t>0</a:t>
                      </a:r>
                      <a:endParaRPr sz="1000" lang="es-ES"/>
                    </a:p>
                  </a:txBody>
                  <a:tcPr marL="76200" marR="76200" marT="38100" marB="381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cmpd="sng" algn="ctr" cap="flat" w="9525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1F3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r"/>
                      <a:r>
                        <a:rPr lang="es-ES" sz="1000" b="false" i="false">
                          <a:solidFill>
                            <a:srgbClr val="1F2933"/>
                          </a:solidFill>
                          <a:latin typeface="Segoe UI"/>
                        </a:rPr>
                        <a:t>0</a:t>
                      </a:r>
                      <a:endParaRPr sz="1000" lang="es-ES"/>
                    </a:p>
                  </a:txBody>
                  <a:tcPr marL="76200" marR="76200" marT="38100" marB="381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cmpd="sng" algn="ctr" cap="flat" w="9525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1F3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l"/>
                      <a:r>
                        <a:rPr lang="es-ES" sz="1000" b="false" i="false">
                          <a:solidFill>
                            <a:srgbClr val="1F2933"/>
                          </a:solidFill>
                          <a:latin typeface="Segoe UI"/>
                        </a:rPr>
                        <a:t>Terminado</a:t>
                      </a:r>
                      <a:endParaRPr sz="1000" lang="es-ES"/>
                    </a:p>
                  </a:txBody>
                  <a:tcPr marL="76200" marR="76200" marT="38100" marB="381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cmpd="sng" algn="ctr" cap="flat" w="9525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1F3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r"/>
                      <a:r>
                        <a:rPr lang="es-ES" sz="1000" b="false" i="false">
                          <a:solidFill>
                            <a:srgbClr val="1F2933"/>
                          </a:solidFill>
                          <a:latin typeface="Segoe UI"/>
                        </a:rPr>
                        <a:t>126 ms</a:t>
                      </a:r>
                      <a:endParaRPr sz="1000" lang="es-ES"/>
                    </a:p>
                  </a:txBody>
                  <a:tcPr marL="76200" marR="76200" marT="38100" marB="381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cmpd="sng" algn="ctr" cap="flat" w="9525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1F3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r"/>
                      <a:r>
                        <a:rPr lang="es-ES" sz="1000" b="false" i="false">
                          <a:solidFill>
                            <a:srgbClr val="1F2933"/>
                          </a:solidFill>
                          <a:latin typeface="Segoe UI"/>
                        </a:rPr>
                        <a:t>23.333</a:t>
                      </a:r>
                      <a:endParaRPr sz="1000" lang="es-ES"/>
                    </a:p>
                  </a:txBody>
                  <a:tcPr marL="76200" marR="76200" marT="38100" marB="381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cmpd="sng" algn="ctr" cap="flat" w="9525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1F3"/>
                    </a:solidFill>
                  </a:tcPr>
                </a:tc>
              </a:tr>
              <a:tr h="281940">
                <a:tc>
                  <a:txBody>
                    <a:bodyPr anchor="t" rtlCol="false"/>
                    <a:lstStyle/>
                    <a:p>
                      <a:pPr algn="l"/>
                      <a:r>
                        <a:rPr lang="es-ES" sz="1000" b="false" i="false">
                          <a:solidFill>
                            <a:srgbClr val="1F2933"/>
                          </a:solidFill>
                          <a:latin typeface="Segoe UI"/>
                        </a:rPr>
                        <a:t>Calcular importe</a:t>
                      </a:r>
                      <a:endParaRPr sz="1000" lang="es-ES"/>
                    </a:p>
                  </a:txBody>
                  <a:tcPr marL="76200" marR="76200" marT="38100" marB="381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cmpd="sng" algn="ctr" cap="flat" w="9525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r"/>
                      <a:r>
                        <a:rPr lang="es-ES" sz="1000" b="false" i="false">
                          <a:solidFill>
                            <a:srgbClr val="1F2933"/>
                          </a:solidFill>
                          <a:latin typeface="Segoe UI"/>
                        </a:rPr>
                        <a:t>2.885</a:t>
                      </a:r>
                      <a:endParaRPr sz="1000" lang="es-ES"/>
                    </a:p>
                  </a:txBody>
                  <a:tcPr marL="76200" marR="76200" marT="38100" marB="381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cmpd="sng" algn="ctr" cap="flat" w="9525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r"/>
                      <a:r>
                        <a:rPr lang="es-ES" sz="1000" b="false" i="false">
                          <a:solidFill>
                            <a:srgbClr val="1F2933"/>
                          </a:solidFill>
                          <a:latin typeface="Segoe UI"/>
                        </a:rPr>
                        <a:t>2.885</a:t>
                      </a:r>
                      <a:endParaRPr sz="1000" lang="es-ES"/>
                    </a:p>
                  </a:txBody>
                  <a:tcPr marL="76200" marR="76200" marT="38100" marB="381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cmpd="sng" algn="ctr" cap="flat" w="9525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r"/>
                      <a:r>
                        <a:rPr lang="es-ES" sz="1000" b="false" i="false">
                          <a:solidFill>
                            <a:srgbClr val="1F2933"/>
                          </a:solidFill>
                          <a:latin typeface="Segoe UI"/>
                        </a:rPr>
                        <a:t>0</a:t>
                      </a:r>
                      <a:endParaRPr sz="1000" lang="es-ES"/>
                    </a:p>
                  </a:txBody>
                  <a:tcPr marL="76200" marR="76200" marT="38100" marB="381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cmpd="sng" algn="ctr" cap="flat" w="9525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r"/>
                      <a:r>
                        <a:rPr lang="es-ES" sz="1000" b="false" i="false">
                          <a:solidFill>
                            <a:srgbClr val="1F2933"/>
                          </a:solidFill>
                          <a:latin typeface="Segoe UI"/>
                        </a:rPr>
                        <a:t>0</a:t>
                      </a:r>
                      <a:endParaRPr sz="1000" lang="es-ES"/>
                    </a:p>
                  </a:txBody>
                  <a:tcPr marL="76200" marR="76200" marT="38100" marB="381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cmpd="sng" algn="ctr" cap="flat" w="9525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r"/>
                      <a:r>
                        <a:rPr lang="es-ES" sz="1000" b="false" i="false">
                          <a:solidFill>
                            <a:srgbClr val="1F2933"/>
                          </a:solidFill>
                          <a:latin typeface="Segoe UI"/>
                        </a:rPr>
                        <a:t>0</a:t>
                      </a:r>
                      <a:endParaRPr sz="1000" lang="es-ES"/>
                    </a:p>
                  </a:txBody>
                  <a:tcPr marL="76200" marR="76200" marT="38100" marB="381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cmpd="sng" algn="ctr" cap="flat" w="9525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r"/>
                      <a:r>
                        <a:rPr lang="es-ES" sz="1000" b="false" i="false">
                          <a:solidFill>
                            <a:srgbClr val="1F2933"/>
                          </a:solidFill>
                          <a:latin typeface="Segoe UI"/>
                        </a:rPr>
                        <a:t>0</a:t>
                      </a:r>
                      <a:endParaRPr sz="1000" lang="es-ES"/>
                    </a:p>
                  </a:txBody>
                  <a:tcPr marL="76200" marR="76200" marT="38100" marB="381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cmpd="sng" algn="ctr" cap="flat" w="9525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l"/>
                      <a:r>
                        <a:rPr lang="es-ES" sz="1000" b="false" i="false">
                          <a:solidFill>
                            <a:srgbClr val="1F2933"/>
                          </a:solidFill>
                          <a:latin typeface="Segoe UI"/>
                        </a:rPr>
                        <a:t>Terminado</a:t>
                      </a:r>
                      <a:endParaRPr sz="1000" lang="es-ES"/>
                    </a:p>
                  </a:txBody>
                  <a:tcPr marL="76200" marR="76200" marT="38100" marB="381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cmpd="sng" algn="ctr" cap="flat" w="9525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r"/>
                      <a:r>
                        <a:rPr lang="es-ES" sz="1000" b="false" i="false">
                          <a:solidFill>
                            <a:srgbClr val="1F2933"/>
                          </a:solidFill>
                          <a:latin typeface="Segoe UI"/>
                        </a:rPr>
                        <a:t>147 ms</a:t>
                      </a:r>
                      <a:endParaRPr sz="1000" lang="es-ES"/>
                    </a:p>
                  </a:txBody>
                  <a:tcPr marL="76200" marR="76200" marT="38100" marB="381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cmpd="sng" algn="ctr" cap="flat" w="9525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r"/>
                      <a:r>
                        <a:rPr lang="es-ES" sz="1000" b="false" i="false">
                          <a:solidFill>
                            <a:srgbClr val="1F2933"/>
                          </a:solidFill>
                          <a:latin typeface="Segoe UI"/>
                        </a:rPr>
                        <a:t>19.626</a:t>
                      </a:r>
                      <a:endParaRPr sz="1000" lang="es-ES"/>
                    </a:p>
                  </a:txBody>
                  <a:tcPr marL="76200" marR="76200" marT="38100" marB="381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cmpd="sng" algn="ctr" cap="flat" w="9525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1940">
                <a:tc>
                  <a:txBody>
                    <a:bodyPr anchor="t" rtlCol="false"/>
                    <a:lstStyle/>
                    <a:p>
                      <a:pPr algn="l"/>
                      <a:r>
                        <a:rPr lang="es-ES" sz="1000" b="false" i="false">
                          <a:solidFill>
                            <a:srgbClr val="1F2933"/>
                          </a:solidFill>
                          <a:latin typeface="Segoe UI"/>
                        </a:rPr>
                        <a:t>Cargar hechos_ventas</a:t>
                      </a:r>
                      <a:endParaRPr sz="1000" lang="es-ES"/>
                    </a:p>
                  </a:txBody>
                  <a:tcPr marL="76200" marR="76200" marT="38100" marB="381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cmpd="sng" algn="ctr" cap="flat" w="9525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1F3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r"/>
                      <a:r>
                        <a:rPr lang="es-ES" sz="1000" b="false" i="false">
                          <a:solidFill>
                            <a:srgbClr val="1F2933"/>
                          </a:solidFill>
                          <a:latin typeface="Segoe UI"/>
                        </a:rPr>
                        <a:t>2.885</a:t>
                      </a:r>
                      <a:endParaRPr sz="1000" lang="es-ES"/>
                    </a:p>
                  </a:txBody>
                  <a:tcPr marL="76200" marR="76200" marT="38100" marB="381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cmpd="sng" algn="ctr" cap="flat" w="9525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1F3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r"/>
                      <a:r>
                        <a:rPr lang="es-ES" sz="1000" b="false" i="false">
                          <a:solidFill>
                            <a:srgbClr val="1F2933"/>
                          </a:solidFill>
                          <a:latin typeface="Segoe UI"/>
                        </a:rPr>
                        <a:t>2.885</a:t>
                      </a:r>
                      <a:endParaRPr sz="1000" lang="es-ES"/>
                    </a:p>
                  </a:txBody>
                  <a:tcPr marL="76200" marR="76200" marT="38100" marB="381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cmpd="sng" algn="ctr" cap="flat" w="9525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1F3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r"/>
                      <a:r>
                        <a:rPr lang="es-ES" sz="1000" b="false" i="false">
                          <a:solidFill>
                            <a:srgbClr val="1F2933"/>
                          </a:solidFill>
                          <a:latin typeface="Segoe UI"/>
                        </a:rPr>
                        <a:t>0</a:t>
                      </a:r>
                      <a:endParaRPr sz="1000" lang="es-ES"/>
                    </a:p>
                  </a:txBody>
                  <a:tcPr marL="76200" marR="76200" marT="38100" marB="381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cmpd="sng" algn="ctr" cap="flat" w="9525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1F3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r"/>
                      <a:r>
                        <a:rPr lang="es-ES" sz="1000" b="false" i="false">
                          <a:solidFill>
                            <a:srgbClr val="1F2933"/>
                          </a:solidFill>
                          <a:latin typeface="Segoe UI"/>
                        </a:rPr>
                        <a:t>2.885</a:t>
                      </a:r>
                      <a:endParaRPr sz="1000" lang="es-ES"/>
                    </a:p>
                  </a:txBody>
                  <a:tcPr marL="76200" marR="76200" marT="38100" marB="381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cmpd="sng" algn="ctr" cap="flat" w="9525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1F3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r"/>
                      <a:r>
                        <a:rPr lang="es-ES" sz="1000" b="false" i="false">
                          <a:solidFill>
                            <a:srgbClr val="1F2933"/>
                          </a:solidFill>
                          <a:latin typeface="Segoe UI"/>
                        </a:rPr>
                        <a:t>0</a:t>
                      </a:r>
                      <a:endParaRPr sz="1000" lang="es-ES"/>
                    </a:p>
                  </a:txBody>
                  <a:tcPr marL="76200" marR="76200" marT="38100" marB="381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cmpd="sng" algn="ctr" cap="flat" w="9525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1F3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r"/>
                      <a:r>
                        <a:rPr lang="es-ES" sz="1000" b="false" i="false">
                          <a:solidFill>
                            <a:srgbClr val="1F2933"/>
                          </a:solidFill>
                          <a:latin typeface="Segoe UI"/>
                        </a:rPr>
                        <a:t>0</a:t>
                      </a:r>
                      <a:endParaRPr sz="1000" lang="es-ES"/>
                    </a:p>
                  </a:txBody>
                  <a:tcPr marL="76200" marR="76200" marT="38100" marB="381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cmpd="sng" algn="ctr" cap="flat" w="9525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1F3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l"/>
                      <a:r>
                        <a:rPr lang="es-ES" sz="1000" b="false" i="false">
                          <a:solidFill>
                            <a:srgbClr val="1F2933"/>
                          </a:solidFill>
                          <a:latin typeface="Segoe UI"/>
                        </a:rPr>
                        <a:t>Terminado</a:t>
                      </a:r>
                      <a:endParaRPr sz="1000" lang="es-ES"/>
                    </a:p>
                  </a:txBody>
                  <a:tcPr marL="76200" marR="76200" marT="38100" marB="381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cmpd="sng" algn="ctr" cap="flat" w="9525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1F3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r"/>
                      <a:r>
                        <a:rPr lang="es-ES" sz="1000" b="false" i="false">
                          <a:solidFill>
                            <a:srgbClr val="1F2933"/>
                          </a:solidFill>
                          <a:latin typeface="Segoe UI"/>
                        </a:rPr>
                        <a:t>177 ms</a:t>
                      </a:r>
                      <a:endParaRPr sz="1000" lang="es-ES"/>
                    </a:p>
                  </a:txBody>
                  <a:tcPr marL="76200" marR="76200" marT="38100" marB="381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cmpd="sng" algn="ctr" cap="flat" w="9525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1F3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r"/>
                      <a:r>
                        <a:rPr lang="es-ES" sz="1000" b="false" i="false">
                          <a:solidFill>
                            <a:srgbClr val="1F2933"/>
                          </a:solidFill>
                          <a:latin typeface="Segoe UI"/>
                        </a:rPr>
                        <a:t>16.299</a:t>
                      </a:r>
                      <a:endParaRPr sz="1000" lang="es-ES"/>
                    </a:p>
                  </a:txBody>
                  <a:tcPr marL="76200" marR="76200" marT="38100" marB="381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cmpd="sng" algn="ctr" cap="flat" w="9525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1F3"/>
                    </a:solidFill>
                  </a:tcPr>
                </a:tc>
              </a:tr>
              <a:tr h="281940">
                <a:tc>
                  <a:txBody>
                    <a:bodyPr anchor="t" rtlCol="false"/>
                    <a:lstStyle/>
                    <a:p>
                      <a:pPr algn="l"/>
                      <a:r>
                        <a:rPr lang="es-ES" sz="1000" b="false" i="false">
                          <a:solidFill>
                            <a:srgbClr val="1F2933"/>
                          </a:solidFill>
                          <a:latin typeface="Segoe UI"/>
                        </a:rPr>
                        <a:t>Preparar rechazo</a:t>
                      </a:r>
                      <a:endParaRPr sz="1000" lang="es-ES"/>
                    </a:p>
                  </a:txBody>
                  <a:tcPr marL="76200" marR="76200" marT="38100" marB="381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cmpd="sng" algn="ctr" cap="flat" w="9525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r"/>
                      <a:r>
                        <a:rPr lang="es-ES" sz="1000" b="false" i="false">
                          <a:solidFill>
                            <a:srgbClr val="1F2933"/>
                          </a:solidFill>
                          <a:latin typeface="Segoe UI"/>
                        </a:rPr>
                        <a:t>55</a:t>
                      </a:r>
                      <a:endParaRPr sz="1000" lang="es-ES"/>
                    </a:p>
                  </a:txBody>
                  <a:tcPr marL="76200" marR="76200" marT="38100" marB="381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cmpd="sng" algn="ctr" cap="flat" w="9525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r"/>
                      <a:r>
                        <a:rPr lang="es-ES" sz="1000" b="false" i="false">
                          <a:solidFill>
                            <a:srgbClr val="1F2933"/>
                          </a:solidFill>
                          <a:latin typeface="Segoe UI"/>
                        </a:rPr>
                        <a:t>55</a:t>
                      </a:r>
                      <a:endParaRPr sz="1000" lang="es-ES"/>
                    </a:p>
                  </a:txBody>
                  <a:tcPr marL="76200" marR="76200" marT="38100" marB="381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cmpd="sng" algn="ctr" cap="flat" w="9525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r"/>
                      <a:r>
                        <a:rPr lang="es-ES" sz="1000" b="false" i="false">
                          <a:solidFill>
                            <a:srgbClr val="1F2933"/>
                          </a:solidFill>
                          <a:latin typeface="Segoe UI"/>
                        </a:rPr>
                        <a:t>0</a:t>
                      </a:r>
                      <a:endParaRPr sz="1000" lang="es-ES"/>
                    </a:p>
                  </a:txBody>
                  <a:tcPr marL="76200" marR="76200" marT="38100" marB="381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cmpd="sng" algn="ctr" cap="flat" w="9525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r"/>
                      <a:r>
                        <a:rPr lang="es-ES" sz="1000" b="false" i="false">
                          <a:solidFill>
                            <a:srgbClr val="1F2933"/>
                          </a:solidFill>
                          <a:latin typeface="Segoe UI"/>
                        </a:rPr>
                        <a:t>0</a:t>
                      </a:r>
                      <a:endParaRPr sz="1000" lang="es-ES"/>
                    </a:p>
                  </a:txBody>
                  <a:tcPr marL="76200" marR="76200" marT="38100" marB="381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cmpd="sng" algn="ctr" cap="flat" w="9525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r"/>
                      <a:r>
                        <a:rPr lang="es-ES" sz="1000" b="false" i="false">
                          <a:solidFill>
                            <a:srgbClr val="1F2933"/>
                          </a:solidFill>
                          <a:latin typeface="Segoe UI"/>
                        </a:rPr>
                        <a:t>0</a:t>
                      </a:r>
                      <a:endParaRPr sz="1000" lang="es-ES"/>
                    </a:p>
                  </a:txBody>
                  <a:tcPr marL="76200" marR="76200" marT="38100" marB="381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cmpd="sng" algn="ctr" cap="flat" w="9525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r"/>
                      <a:r>
                        <a:rPr lang="es-ES" sz="1000" b="false" i="false">
                          <a:solidFill>
                            <a:srgbClr val="1F2933"/>
                          </a:solidFill>
                          <a:latin typeface="Segoe UI"/>
                        </a:rPr>
                        <a:t>0</a:t>
                      </a:r>
                      <a:endParaRPr sz="1000" lang="es-ES"/>
                    </a:p>
                  </a:txBody>
                  <a:tcPr marL="76200" marR="76200" marT="38100" marB="381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cmpd="sng" algn="ctr" cap="flat" w="9525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l"/>
                      <a:r>
                        <a:rPr lang="es-ES" sz="1000" b="false" i="false">
                          <a:solidFill>
                            <a:srgbClr val="1F2933"/>
                          </a:solidFill>
                          <a:latin typeface="Segoe UI"/>
                        </a:rPr>
                        <a:t>Terminado</a:t>
                      </a:r>
                      <a:endParaRPr sz="1000" lang="es-ES"/>
                    </a:p>
                  </a:txBody>
                  <a:tcPr marL="76200" marR="76200" marT="38100" marB="381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cmpd="sng" algn="ctr" cap="flat" w="9525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r"/>
                      <a:r>
                        <a:rPr lang="es-ES" sz="1000" b="false" i="false">
                          <a:solidFill>
                            <a:srgbClr val="1F2933"/>
                          </a:solidFill>
                          <a:latin typeface="Segoe UI"/>
                        </a:rPr>
                        <a:t>130 ms</a:t>
                      </a:r>
                      <a:endParaRPr sz="1000" lang="es-ES"/>
                    </a:p>
                  </a:txBody>
                  <a:tcPr marL="76200" marR="76200" marT="38100" marB="381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cmpd="sng" algn="ctr" cap="flat" w="9525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r"/>
                      <a:r>
                        <a:rPr lang="es-ES" sz="1000" b="false" i="false">
                          <a:solidFill>
                            <a:srgbClr val="1F2933"/>
                          </a:solidFill>
                          <a:latin typeface="Segoe UI"/>
                        </a:rPr>
                        <a:t>423</a:t>
                      </a:r>
                      <a:endParaRPr sz="1000" lang="es-ES"/>
                    </a:p>
                  </a:txBody>
                  <a:tcPr marL="76200" marR="76200" marT="38100" marB="381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cmpd="sng" algn="ctr" cap="flat" w="9525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1940">
                <a:tc>
                  <a:txBody>
                    <a:bodyPr anchor="t" rtlCol="false"/>
                    <a:lstStyle/>
                    <a:p>
                      <a:pPr algn="l"/>
                      <a:r>
                        <a:rPr lang="es-ES" sz="1000" b="false" i="false">
                          <a:solidFill>
                            <a:srgbClr val="1F2933"/>
                          </a:solidFill>
                          <a:latin typeface="Segoe UI"/>
                        </a:rPr>
                        <a:t>Escribir rechazos</a:t>
                      </a:r>
                      <a:endParaRPr sz="1000" lang="es-ES"/>
                    </a:p>
                  </a:txBody>
                  <a:tcPr marL="76200" marR="76200" marT="38100" marB="381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cmpd="sng" algn="ctr" cap="flat" w="9525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1F3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r"/>
                      <a:r>
                        <a:rPr lang="es-ES" sz="1000" b="false" i="false">
                          <a:solidFill>
                            <a:srgbClr val="1F2933"/>
                          </a:solidFill>
                          <a:latin typeface="Segoe UI"/>
                        </a:rPr>
                        <a:t>115</a:t>
                      </a:r>
                      <a:endParaRPr sz="1000" lang="es-ES"/>
                    </a:p>
                  </a:txBody>
                  <a:tcPr marL="76200" marR="76200" marT="38100" marB="381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cmpd="sng" algn="ctr" cap="flat" w="9525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1F3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r"/>
                      <a:r>
                        <a:rPr lang="es-ES" sz="1000" b="false" i="false">
                          <a:solidFill>
                            <a:srgbClr val="1F2933"/>
                          </a:solidFill>
                          <a:latin typeface="Segoe UI"/>
                        </a:rPr>
                        <a:t>115</a:t>
                      </a:r>
                      <a:endParaRPr sz="1000" lang="es-ES"/>
                    </a:p>
                  </a:txBody>
                  <a:tcPr marL="76200" marR="76200" marT="38100" marB="381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cmpd="sng" algn="ctr" cap="flat" w="9525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1F3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r"/>
                      <a:r>
                        <a:rPr lang="es-ES" sz="1000" b="false" i="false">
                          <a:solidFill>
                            <a:srgbClr val="1F2933"/>
                          </a:solidFill>
                          <a:latin typeface="Segoe UI"/>
                        </a:rPr>
                        <a:t>0</a:t>
                      </a:r>
                      <a:endParaRPr sz="1000" lang="es-ES"/>
                    </a:p>
                  </a:txBody>
                  <a:tcPr marL="76200" marR="76200" marT="38100" marB="381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cmpd="sng" algn="ctr" cap="flat" w="9525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1F3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r"/>
                      <a:r>
                        <a:rPr lang="es-ES" sz="1000" b="false" i="false">
                          <a:solidFill>
                            <a:srgbClr val="1F2933"/>
                          </a:solidFill>
                          <a:latin typeface="Segoe UI"/>
                        </a:rPr>
                        <a:t>116</a:t>
                      </a:r>
                      <a:endParaRPr sz="1000" lang="es-ES"/>
                    </a:p>
                  </a:txBody>
                  <a:tcPr marL="76200" marR="76200" marT="38100" marB="381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cmpd="sng" algn="ctr" cap="flat" w="9525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1F3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r"/>
                      <a:r>
                        <a:rPr lang="es-ES" sz="1000" b="false" i="false">
                          <a:solidFill>
                            <a:srgbClr val="1F2933"/>
                          </a:solidFill>
                          <a:latin typeface="Segoe UI"/>
                        </a:rPr>
                        <a:t>0</a:t>
                      </a:r>
                      <a:endParaRPr sz="1000" lang="es-ES"/>
                    </a:p>
                  </a:txBody>
                  <a:tcPr marL="76200" marR="76200" marT="38100" marB="381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cmpd="sng" algn="ctr" cap="flat" w="9525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1F3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r"/>
                      <a:r>
                        <a:rPr lang="es-ES" sz="1000" b="false" i="false">
                          <a:solidFill>
                            <a:srgbClr val="1F2933"/>
                          </a:solidFill>
                          <a:latin typeface="Segoe UI"/>
                        </a:rPr>
                        <a:t>0</a:t>
                      </a:r>
                      <a:endParaRPr sz="1000" lang="es-ES"/>
                    </a:p>
                  </a:txBody>
                  <a:tcPr marL="76200" marR="76200" marT="38100" marB="381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cmpd="sng" algn="ctr" cap="flat" w="9525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1F3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l"/>
                      <a:r>
                        <a:rPr lang="es-ES" sz="1000" b="false" i="false">
                          <a:solidFill>
                            <a:srgbClr val="1F2933"/>
                          </a:solidFill>
                          <a:latin typeface="Segoe UI"/>
                        </a:rPr>
                        <a:t>Terminado</a:t>
                      </a:r>
                      <a:endParaRPr sz="1000" lang="es-ES"/>
                    </a:p>
                  </a:txBody>
                  <a:tcPr marL="76200" marR="76200" marT="38100" marB="381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cmpd="sng" algn="ctr" cap="flat" w="9525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1F3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r"/>
                      <a:r>
                        <a:rPr lang="es-ES" sz="1000" b="false" i="false">
                          <a:solidFill>
                            <a:srgbClr val="1F2933"/>
                          </a:solidFill>
                          <a:latin typeface="Segoe UI"/>
                        </a:rPr>
                        <a:t>135 ms</a:t>
                      </a:r>
                      <a:endParaRPr sz="1000" lang="es-ES"/>
                    </a:p>
                  </a:txBody>
                  <a:tcPr marL="76200" marR="76200" marT="38100" marB="381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cmpd="sng" algn="ctr" cap="flat" w="9525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1F3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r"/>
                      <a:r>
                        <a:rPr lang="es-ES" sz="1000" b="false" i="false">
                          <a:solidFill>
                            <a:srgbClr val="1F2933"/>
                          </a:solidFill>
                          <a:latin typeface="Segoe UI"/>
                        </a:rPr>
                        <a:t>859</a:t>
                      </a:r>
                      <a:endParaRPr sz="1000" lang="es-ES"/>
                    </a:p>
                  </a:txBody>
                  <a:tcPr marL="76200" marR="76200" marT="38100" marB="381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cmpd="sng" algn="ctr" cap="flat" w="9525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1F3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0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8000" y="203200"/>
            <a:ext cx="11176000" cy="635000"/>
          </a:xfrm>
        </p:spPr>
        <p:txBody>
          <a:bodyPr lIns="0" rIns="0" wrap="square" anchor="ctr"/>
          <a:lstStyle/>
          <a:p>
            <a:pPr algn="l"/>
            <a:r>
              <a:rPr lang="es-ES" sz="2600" b="true" i="false">
                <a:solidFill>
                  <a:srgbClr val="243B53"/>
                </a:solidFill>
                <a:latin typeface="Segoe UI"/>
              </a:rPr>
              <a:t>Validación</a:t>
            </a:r>
            <a:endParaRPr sz="2600" lang="es-ES"/>
          </a:p>
        </p:txBody>
      </p:sp>
      <p:pic>
        <p:nvPicPr>
          <p:cNvPr name="Picture 3" id="3"/>
          <p:cNvPicPr>
            <a:picLocks noChangeAspect="true"/>
          </p:cNvPicPr>
          <p:nvPr/>
        </p:nvPicPr>
        <p:blipFill>
          <a:blip r:embed="rId2"/>
          <a:stretch>
            <a:fillRect/>
          </a:stretch>
        </p:blipFill>
        <p:spPr>
          <a:xfrm>
            <a:off x="10248900" y="5510084"/>
            <a:ext cx="1435100" cy="814516"/>
          </a:xfrm>
          <a:prstGeom prst="rect">
            <a:avLst/>
          </a:prstGeom>
        </p:spPr>
      </p:pic>
      <p:sp>
        <p:nvSpPr>
          <p:cNvPr name="AutoShape 4" id="4"/>
          <p:cNvSpPr/>
          <p:nvPr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243B53"/>
          </a:solidFill>
          <a:ln>
            <a:noFill/>
          </a:ln>
        </p:spPr>
      </p:sp>
      <p:pic>
        <p:nvPicPr>
          <p:cNvPr name="Picture 5" id="5"/>
          <p:cNvPicPr>
            <a:picLocks noChangeAspect="true"/>
          </p:cNvPicPr>
          <p:nvPr/>
        </p:nvPicPr>
        <p:blipFill>
          <a:blip r:embed="rId3"/>
          <a:stretch>
            <a:fillRect/>
          </a:stretch>
        </p:blipFill>
        <p:spPr>
          <a:xfrm>
            <a:off x="508000" y="6508750"/>
            <a:ext cx="177800" cy="100914"/>
          </a:xfrm>
          <a:prstGeom prst="rect">
            <a:avLst/>
          </a:prstGeom>
        </p:spPr>
      </p:pic>
      <p:sp>
        <p:nvSpPr>
          <p:cNvPr name="TextBox 6" id="6"/>
          <p:cNvSpPr txBox="true"/>
          <p:nvPr/>
        </p:nvSpPr>
        <p:spPr>
          <a:xfrm>
            <a:off x="749300" y="6451600"/>
            <a:ext cx="5080000" cy="228600"/>
          </a:xfrm>
          <a:prstGeom prst="rect">
            <a:avLst/>
          </a:prstGeom>
        </p:spPr>
        <p:txBody>
          <a:bodyPr anchor="ctr" rtlCol="false" wrap="square" lIns="0" rIns="0" tIns="25400" bIns="25400"/>
          <a:lstStyle/>
          <a:p>
            <a:pPr algn="l"/>
            <a:r>
              <a:rPr lang="es-ES" sz="750" b="false" i="false">
                <a:solidFill>
                  <a:srgbClr val="6B7785"/>
                </a:solidFill>
                <a:latin typeface="Segoe UI"/>
              </a:rPr>
              <a:t>Pentaho Live · IDC Studios</a:t>
            </a:r>
            <a:endParaRPr sz="750" lang="es-ES"/>
          </a:p>
        </p:txBody>
      </p:sp>
      <p:sp>
        <p:nvSpPr>
          <p:cNvPr name="TextBox 7" id="7"/>
          <p:cNvSpPr txBox="true"/>
          <p:nvPr/>
        </p:nvSpPr>
        <p:spPr>
          <a:xfrm>
            <a:off x="10160000" y="6451600"/>
            <a:ext cx="1524000" cy="228600"/>
          </a:xfrm>
          <a:prstGeom prst="rect">
            <a:avLst/>
          </a:prstGeom>
        </p:spPr>
        <p:txBody>
          <a:bodyPr anchor="ctr" rtlCol="false" wrap="square" lIns="0" rIns="0" tIns="25400" bIns="25400"/>
          <a:lstStyle/>
          <a:p>
            <a:pPr algn="r"/>
            <a:fld id="{92811CB4-AC89-444B-8389-074E8157943F}" type="slidenum">
              <a:rPr lang="es-ES" sz="750">
                <a:solidFill>
                  <a:srgbClr val="6B7785"/>
                </a:solidFill>
                <a:latin typeface="Segoe UI"/>
              </a:rPr>
              <a:t>40</a:t>
            </a:fld>
            <a:endParaRPr sz="750" lang="es-ES"/>
          </a:p>
        </p:txBody>
      </p:sp>
      <p:sp>
        <p:nvSpPr>
          <p:cNvPr name="AutoShape 8" id="8"/>
          <p:cNvSpPr/>
          <p:nvPr/>
        </p:nvSpPr>
        <p:spPr>
          <a:xfrm>
            <a:off x="508000" y="1016000"/>
            <a:ext cx="3302000" cy="965200"/>
          </a:xfrm>
          <a:prstGeom prst="roundRect">
            <a:avLst/>
          </a:prstGeom>
          <a:solidFill>
            <a:srgbClr val="F4F5F6"/>
          </a:solidFill>
          <a:ln w="9525">
            <a:solidFill>
              <a:srgbClr val="D9DEE5"/>
            </a:solidFill>
          </a:ln>
        </p:spPr>
      </p:sp>
      <p:sp>
        <p:nvSpPr>
          <p:cNvPr name="AutoShape 9" id="9"/>
          <p:cNvSpPr/>
          <p:nvPr/>
        </p:nvSpPr>
        <p:spPr>
          <a:xfrm>
            <a:off x="508000" y="1117600"/>
            <a:ext cx="38100" cy="762000"/>
          </a:xfrm>
          <a:prstGeom prst="rect">
            <a:avLst/>
          </a:prstGeom>
          <a:solidFill>
            <a:srgbClr val="2F855A"/>
          </a:solidFill>
          <a:ln>
            <a:noFill/>
          </a:ln>
        </p:spPr>
      </p:sp>
      <p:sp>
        <p:nvSpPr>
          <p:cNvPr name="TextBox 10" id="10"/>
          <p:cNvSpPr txBox="true"/>
          <p:nvPr/>
        </p:nvSpPr>
        <p:spPr>
          <a:xfrm>
            <a:off x="685800" y="1092200"/>
            <a:ext cx="2997200" cy="812800"/>
          </a:xfrm>
          <a:prstGeom prst="rect">
            <a:avLst/>
          </a:prstGeom>
        </p:spPr>
        <p:txBody>
          <a:bodyPr anchor="ctr" rtlCol="false" wrap="square" lIns="0" rIns="0" tIns="25400" bIns="25400"/>
          <a:lstStyle/>
          <a:p>
            <a:pPr algn="l"/>
            <a:r>
              <a:rPr lang="es-ES" sz="1000" b="false" i="false">
                <a:solidFill>
                  <a:srgbClr val="6B7785"/>
                </a:solidFill>
                <a:latin typeface="Segoe UI"/>
              </a:rPr>
              <a:t>Errores</a:t>
            </a:r>
            <a:endParaRPr sz="1000" lang="es-ES"/>
          </a:p>
          <a:p>
            <a:pPr algn="l"/>
            <a:r>
              <a:rPr lang="es-ES" sz="2200" b="true" i="false">
                <a:solidFill>
                  <a:srgbClr val="2F855A"/>
                </a:solidFill>
                <a:latin typeface="Segoe UI"/>
              </a:rPr>
              <a:t>0</a:t>
            </a:r>
            <a:endParaRPr sz="2200" lang="es-ES"/>
          </a:p>
        </p:txBody>
      </p:sp>
      <p:sp>
        <p:nvSpPr>
          <p:cNvPr name="AutoShape 11" id="11"/>
          <p:cNvSpPr/>
          <p:nvPr/>
        </p:nvSpPr>
        <p:spPr>
          <a:xfrm>
            <a:off x="3962400" y="1016000"/>
            <a:ext cx="3302000" cy="965200"/>
          </a:xfrm>
          <a:prstGeom prst="roundRect">
            <a:avLst/>
          </a:prstGeom>
          <a:solidFill>
            <a:srgbClr val="F4F5F6"/>
          </a:solidFill>
          <a:ln w="9525">
            <a:solidFill>
              <a:srgbClr val="D9DEE5"/>
            </a:solidFill>
          </a:ln>
        </p:spPr>
      </p:sp>
      <p:sp>
        <p:nvSpPr>
          <p:cNvPr name="AutoShape 12" id="12"/>
          <p:cNvSpPr/>
          <p:nvPr/>
        </p:nvSpPr>
        <p:spPr>
          <a:xfrm>
            <a:off x="3962400" y="1117600"/>
            <a:ext cx="38100" cy="762000"/>
          </a:xfrm>
          <a:prstGeom prst="rect">
            <a:avLst/>
          </a:prstGeom>
          <a:solidFill>
            <a:srgbClr val="2F855A"/>
          </a:solidFill>
          <a:ln>
            <a:noFill/>
          </a:ln>
        </p:spPr>
      </p:sp>
      <p:sp>
        <p:nvSpPr>
          <p:cNvPr name="TextBox 13" id="13"/>
          <p:cNvSpPr txBox="true"/>
          <p:nvPr/>
        </p:nvSpPr>
        <p:spPr>
          <a:xfrm>
            <a:off x="4140200" y="1092200"/>
            <a:ext cx="2997200" cy="812800"/>
          </a:xfrm>
          <a:prstGeom prst="rect">
            <a:avLst/>
          </a:prstGeom>
        </p:spPr>
        <p:txBody>
          <a:bodyPr anchor="ctr" rtlCol="false" wrap="square" lIns="0" rIns="0" tIns="25400" bIns="25400"/>
          <a:lstStyle/>
          <a:p>
            <a:pPr algn="l"/>
            <a:r>
              <a:rPr lang="es-ES" sz="1000" b="false" i="false">
                <a:solidFill>
                  <a:srgbClr val="6B7785"/>
                </a:solidFill>
                <a:latin typeface="Segoe UI"/>
              </a:rPr>
              <a:t>Advertencias</a:t>
            </a:r>
            <a:endParaRPr sz="1000" lang="es-ES"/>
          </a:p>
          <a:p>
            <a:pPr algn="l"/>
            <a:r>
              <a:rPr lang="es-ES" sz="2200" b="true" i="false">
                <a:solidFill>
                  <a:srgbClr val="2F855A"/>
                </a:solidFill>
                <a:latin typeface="Segoe UI"/>
              </a:rPr>
              <a:t>0</a:t>
            </a:r>
            <a:endParaRPr sz="2200" lang="es-ES"/>
          </a:p>
        </p:txBody>
      </p:sp>
    </p:spTree>
  </p:cSld>
  <p:clrMapOvr>
    <a:masterClrMapping/>
  </p:clrMapOvr>
</p:sld>
</file>

<file path=ppt/slides/slide41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8000" y="203200"/>
            <a:ext cx="11176000" cy="635000"/>
          </a:xfrm>
        </p:spPr>
        <p:txBody>
          <a:bodyPr lIns="0" rIns="0" wrap="square" anchor="ctr"/>
          <a:lstStyle/>
          <a:p>
            <a:pPr algn="l"/>
            <a:r>
              <a:rPr lang="es-ES" sz="2600" b="true" i="false">
                <a:solidFill>
                  <a:srgbClr val="243B53"/>
                </a:solidFill>
                <a:latin typeface="Segoe UI"/>
              </a:rPr>
              <a:t>Conexiones y parámetros</a:t>
            </a:r>
            <a:endParaRPr sz="2600" lang="es-ES"/>
          </a:p>
        </p:txBody>
      </p:sp>
      <p:pic>
        <p:nvPicPr>
          <p:cNvPr name="Picture 3" id="3"/>
          <p:cNvPicPr>
            <a:picLocks noChangeAspect="true"/>
          </p:cNvPicPr>
          <p:nvPr/>
        </p:nvPicPr>
        <p:blipFill>
          <a:blip r:embed="rId2"/>
          <a:stretch>
            <a:fillRect/>
          </a:stretch>
        </p:blipFill>
        <p:spPr>
          <a:xfrm>
            <a:off x="10248900" y="5510084"/>
            <a:ext cx="1435100" cy="814516"/>
          </a:xfrm>
          <a:prstGeom prst="rect">
            <a:avLst/>
          </a:prstGeom>
        </p:spPr>
      </p:pic>
      <p:sp>
        <p:nvSpPr>
          <p:cNvPr name="AutoShape 4" id="4"/>
          <p:cNvSpPr/>
          <p:nvPr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243B53"/>
          </a:solidFill>
          <a:ln>
            <a:noFill/>
          </a:ln>
        </p:spPr>
      </p:sp>
      <p:pic>
        <p:nvPicPr>
          <p:cNvPr name="Picture 5" id="5"/>
          <p:cNvPicPr>
            <a:picLocks noChangeAspect="true"/>
          </p:cNvPicPr>
          <p:nvPr/>
        </p:nvPicPr>
        <p:blipFill>
          <a:blip r:embed="rId3"/>
          <a:stretch>
            <a:fillRect/>
          </a:stretch>
        </p:blipFill>
        <p:spPr>
          <a:xfrm>
            <a:off x="508000" y="6508750"/>
            <a:ext cx="177800" cy="100914"/>
          </a:xfrm>
          <a:prstGeom prst="rect">
            <a:avLst/>
          </a:prstGeom>
        </p:spPr>
      </p:pic>
      <p:sp>
        <p:nvSpPr>
          <p:cNvPr name="TextBox 6" id="6"/>
          <p:cNvSpPr txBox="true"/>
          <p:nvPr/>
        </p:nvSpPr>
        <p:spPr>
          <a:xfrm>
            <a:off x="749300" y="6451600"/>
            <a:ext cx="5080000" cy="228600"/>
          </a:xfrm>
          <a:prstGeom prst="rect">
            <a:avLst/>
          </a:prstGeom>
        </p:spPr>
        <p:txBody>
          <a:bodyPr anchor="ctr" rtlCol="false" wrap="square" lIns="0" rIns="0" tIns="25400" bIns="25400"/>
          <a:lstStyle/>
          <a:p>
            <a:pPr algn="l"/>
            <a:r>
              <a:rPr lang="es-ES" sz="750" b="false" i="false">
                <a:solidFill>
                  <a:srgbClr val="6B7785"/>
                </a:solidFill>
                <a:latin typeface="Segoe UI"/>
              </a:rPr>
              <a:t>Pentaho Live · IDC Studios</a:t>
            </a:r>
            <a:endParaRPr sz="750" lang="es-ES"/>
          </a:p>
        </p:txBody>
      </p:sp>
      <p:sp>
        <p:nvSpPr>
          <p:cNvPr name="TextBox 7" id="7"/>
          <p:cNvSpPr txBox="true"/>
          <p:nvPr/>
        </p:nvSpPr>
        <p:spPr>
          <a:xfrm>
            <a:off x="10160000" y="6451600"/>
            <a:ext cx="1524000" cy="228600"/>
          </a:xfrm>
          <a:prstGeom prst="rect">
            <a:avLst/>
          </a:prstGeom>
        </p:spPr>
        <p:txBody>
          <a:bodyPr anchor="ctr" rtlCol="false" wrap="square" lIns="0" rIns="0" tIns="25400" bIns="25400"/>
          <a:lstStyle/>
          <a:p>
            <a:pPr algn="r"/>
            <a:fld id="{C012487F-D3CC-4736-80D8-2B7E4721687A}" type="slidenum">
              <a:rPr lang="es-ES" sz="750">
                <a:solidFill>
                  <a:srgbClr val="6B7785"/>
                </a:solidFill>
                <a:latin typeface="Segoe UI"/>
              </a:rPr>
              <a:t>41</a:t>
            </a:fld>
            <a:endParaRPr sz="750" lang="es-ES"/>
          </a:p>
        </p:txBody>
      </p:sp>
      <p:sp>
        <p:nvSpPr>
          <p:cNvPr name="TextBox 8" id="8"/>
          <p:cNvSpPr txBox="true"/>
          <p:nvPr/>
        </p:nvSpPr>
        <p:spPr>
          <a:xfrm>
            <a:off x="508000" y="1016000"/>
            <a:ext cx="11176000" cy="254000"/>
          </a:xfrm>
          <a:prstGeom prst="rect">
            <a:avLst/>
          </a:prstGeom>
        </p:spPr>
        <p:txBody>
          <a:bodyPr anchor="t" rtlCol="false" wrap="square" lIns="0" rIns="0" tIns="25400" bIns="25400"/>
          <a:lstStyle/>
          <a:p>
            <a:pPr algn="l"/>
            <a:r>
              <a:rPr lang="es-ES" sz="1300" b="true" i="false">
                <a:solidFill>
                  <a:srgbClr val="243B53"/>
                </a:solidFill>
                <a:latin typeface="Segoe UI"/>
              </a:rPr>
              <a:t>Conexiones a bases de datos</a:t>
            </a:r>
            <a:endParaRPr sz="1300" lang="es-ES"/>
          </a:p>
        </p:txBody>
      </p:sp>
      <p:graphicFrame>
        <p:nvGraphicFramePr>
          <p:cNvPr name="Table 9" id="9"/>
          <p:cNvGraphicFramePr>
            <a:graphicFrameLocks noGrp="true"/>
          </p:cNvGraphicFramePr>
          <p:nvPr/>
        </p:nvGraphicFramePr>
        <p:xfrm>
          <a:off x="508000" y="1295400"/>
          <a:ext cx="10947400" cy="781812"/>
        </p:xfrm>
        <a:graphic>
          <a:graphicData uri="http://schemas.openxmlformats.org/drawingml/2006/table">
            <a:tbl>
              <a:tblPr/>
              <a:tblGrid>
                <a:gridCol w="1320800"/>
                <a:gridCol w="635000"/>
                <a:gridCol w="711200"/>
                <a:gridCol w="558800"/>
                <a:gridCol w="3860800"/>
                <a:gridCol w="3860800"/>
              </a:tblGrid>
              <a:tr h="298704">
                <a:tc>
                  <a:txBody>
                    <a:bodyPr anchor="t" rtlCol="false"/>
                    <a:lstStyle/>
                    <a:p>
                      <a:pPr algn="l"/>
                      <a:r>
                        <a:rPr lang="es-ES" sz="1100" b="true" i="false">
                          <a:solidFill>
                            <a:srgbClr val="FFFFFF"/>
                          </a:solidFill>
                          <a:latin typeface="Segoe UI"/>
                        </a:rPr>
                        <a:t>Nombre</a:t>
                      </a:r>
                      <a:endParaRPr sz="1100" lang="es-ES"/>
                    </a:p>
                  </a:txBody>
                  <a:tcPr marL="76200" marR="76200" marT="38100" marB="381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cmpd="sng" algn="ctr" cap="flat" w="9525">
                      <a:solidFill>
                        <a:srgbClr val="243B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3B53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l"/>
                      <a:r>
                        <a:rPr lang="es-ES" sz="1100" b="true" i="false">
                          <a:solidFill>
                            <a:srgbClr val="FFFFFF"/>
                          </a:solidFill>
                          <a:latin typeface="Segoe UI"/>
                        </a:rPr>
                        <a:t>Tipo</a:t>
                      </a:r>
                      <a:endParaRPr sz="1100" lang="es-ES"/>
                    </a:p>
                  </a:txBody>
                  <a:tcPr marL="76200" marR="76200" marT="38100" marB="381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cmpd="sng" algn="ctr" cap="flat" w="9525">
                      <a:solidFill>
                        <a:srgbClr val="243B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3B53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l"/>
                      <a:r>
                        <a:rPr lang="es-ES" sz="1100" b="true" i="false">
                          <a:solidFill>
                            <a:srgbClr val="FFFFFF"/>
                          </a:solidFill>
                          <a:latin typeface="Segoe UI"/>
                        </a:rPr>
                        <a:t>Acceso</a:t>
                      </a:r>
                      <a:endParaRPr sz="1100" lang="es-ES"/>
                    </a:p>
                  </a:txBody>
                  <a:tcPr marL="76200" marR="76200" marT="38100" marB="381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cmpd="sng" algn="ctr" cap="flat" w="9525">
                      <a:solidFill>
                        <a:srgbClr val="243B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3B53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l"/>
                      <a:r>
                        <a:rPr lang="es-ES" sz="1100" b="true" i="false">
                          <a:solidFill>
                            <a:srgbClr val="FFFFFF"/>
                          </a:solidFill>
                          <a:latin typeface="Segoe UI"/>
                        </a:rPr>
                        <a:t>Host</a:t>
                      </a:r>
                      <a:endParaRPr sz="1100" lang="es-ES"/>
                    </a:p>
                  </a:txBody>
                  <a:tcPr marL="76200" marR="76200" marT="38100" marB="381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cmpd="sng" algn="ctr" cap="flat" w="9525">
                      <a:solidFill>
                        <a:srgbClr val="243B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3B53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l"/>
                      <a:r>
                        <a:rPr lang="es-ES" sz="1100" b="true" i="false">
                          <a:solidFill>
                            <a:srgbClr val="FFFFFF"/>
                          </a:solidFill>
                          <a:latin typeface="Segoe UI"/>
                        </a:rPr>
                        <a:t>Base</a:t>
                      </a:r>
                      <a:endParaRPr sz="1100" lang="es-ES"/>
                    </a:p>
                  </a:txBody>
                  <a:tcPr marL="76200" marR="76200" marT="38100" marB="381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cmpd="sng" algn="ctr" cap="flat" w="9525">
                      <a:solidFill>
                        <a:srgbClr val="243B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3B53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l"/>
                      <a:r>
                        <a:rPr lang="es-ES" sz="1100" b="true" i="false">
                          <a:solidFill>
                            <a:srgbClr val="FFFFFF"/>
                          </a:solidFill>
                          <a:latin typeface="Segoe UI"/>
                        </a:rPr>
                        <a:t>Usada por</a:t>
                      </a:r>
                      <a:endParaRPr sz="1100" lang="es-ES"/>
                    </a:p>
                  </a:txBody>
                  <a:tcPr marL="76200" marR="76200" marT="38100" marB="381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cmpd="sng" algn="ctr" cap="flat" w="9525">
                      <a:solidFill>
                        <a:srgbClr val="243B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3B53"/>
                    </a:solidFill>
                  </a:tcPr>
                </a:tc>
              </a:tr>
              <a:tr h="483108">
                <a:tc>
                  <a:txBody>
                    <a:bodyPr anchor="t" rtlCol="false"/>
                    <a:lstStyle/>
                    <a:p>
                      <a:pPr algn="l"/>
                      <a:r>
                        <a:rPr lang="es-ES" sz="1100" b="false" i="false">
                          <a:solidFill>
                            <a:srgbClr val="1F2933"/>
                          </a:solidFill>
                          <a:latin typeface="Segoe UI"/>
                        </a:rPr>
                        <a:t>dw_grano_de_oro</a:t>
                      </a:r>
                      <a:endParaRPr sz="1100" lang="es-ES"/>
                    </a:p>
                  </a:txBody>
                  <a:tcPr marL="76200" marR="76200" marT="38100" marB="381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cmpd="sng" algn="ctr" cap="flat" w="9525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l"/>
                      <a:r>
                        <a:rPr lang="es-ES" sz="1100" b="false" i="false">
                          <a:solidFill>
                            <a:srgbClr val="1F2933"/>
                          </a:solidFill>
                          <a:latin typeface="Segoe UI"/>
                        </a:rPr>
                        <a:t>SQLite</a:t>
                      </a:r>
                      <a:endParaRPr sz="1100" lang="es-ES"/>
                    </a:p>
                  </a:txBody>
                  <a:tcPr marL="76200" marR="76200" marT="38100" marB="381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cmpd="sng" algn="ctr" cap="flat" w="9525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l"/>
                      <a:r>
                        <a:rPr lang="es-ES" sz="1100" b="false" i="false">
                          <a:solidFill>
                            <a:srgbClr val="1F2933"/>
                          </a:solidFill>
                          <a:latin typeface="Segoe UI"/>
                        </a:rPr>
                        <a:t>Native</a:t>
                      </a:r>
                      <a:endParaRPr sz="1100" lang="es-ES"/>
                    </a:p>
                  </a:txBody>
                  <a:tcPr marL="76200" marR="76200" marT="38100" marB="381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cmpd="sng" algn="ctr" cap="flat" w="9525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l"/>
                      <a:r>
                        <a:rPr lang="es-ES" sz="1100" b="false" i="false">
                          <a:solidFill>
                            <a:srgbClr val="1F2933"/>
                          </a:solidFill>
                          <a:latin typeface="Segoe UI"/>
                        </a:rPr>
                        <a:t> </a:t>
                      </a:r>
                      <a:endParaRPr sz="1100" lang="es-ES"/>
                    </a:p>
                  </a:txBody>
                  <a:tcPr marL="76200" marR="76200" marT="38100" marB="381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cmpd="sng" algn="ctr" cap="flat" w="9525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l"/>
                      <a:r>
                        <a:rPr lang="es-ES" sz="1100" b="false" i="false">
                          <a:solidFill>
                            <a:srgbClr val="1F2933"/>
                          </a:solidFill>
                          <a:latin typeface="Segoe UI"/>
                        </a:rPr>
                        <a:t>${Internal.Entry.Current.Directory}/../salida/grano_de_oro_dw.sqlite</a:t>
                      </a:r>
                      <a:endParaRPr sz="1100" lang="es-ES"/>
                    </a:p>
                  </a:txBody>
                  <a:tcPr marL="76200" marR="76200" marT="38100" marB="381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cmpd="sng" algn="ctr" cap="flat" w="9525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l"/>
                      <a:r>
                        <a:rPr lang="es-ES" sz="1100" b="false" i="false">
                          <a:solidFill>
                            <a:srgbClr val="1F2933"/>
                          </a:solidFill>
                          <a:latin typeface="Segoe UI"/>
                        </a:rPr>
                        <a:t>Buscar fecha, Buscar producto, Buscar tienda, Cargar hechos_ventas</a:t>
                      </a:r>
                      <a:endParaRPr sz="1100" lang="es-ES"/>
                    </a:p>
                  </a:txBody>
                  <a:tcPr marL="76200" marR="76200" marT="38100" marB="381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cmpd="sng" algn="ctr" cap="flat" w="9525">
                      <a:solidFill>
                        <a:srgbClr val="D9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name="TextBox 10" id="10"/>
          <p:cNvSpPr txBox="true"/>
          <p:nvPr/>
        </p:nvSpPr>
        <p:spPr>
          <a:xfrm>
            <a:off x="508000" y="2128012"/>
            <a:ext cx="11176000" cy="235458"/>
          </a:xfrm>
          <a:prstGeom prst="rect">
            <a:avLst/>
          </a:prstGeom>
        </p:spPr>
        <p:txBody>
          <a:bodyPr anchor="t" rtlCol="false" wrap="square" lIns="0" rIns="0" tIns="25400" bIns="25400"/>
          <a:lstStyle/>
          <a:p>
            <a:pPr algn="l"/>
            <a:r>
              <a:rPr lang="es-ES" sz="950" b="false" i="true">
                <a:solidFill>
                  <a:srgbClr val="6B7785"/>
                </a:solidFill>
                <a:latin typeface="Segoe UI"/>
              </a:rPr>
              <a:t>Nunca se incluyen contraseñas.</a:t>
            </a:r>
            <a:endParaRPr sz="950" lang="es-ES"/>
          </a:p>
        </p:txBody>
      </p:sp>
    </p:spTree>
  </p:cSld>
  <p:clrMapOvr>
    <a:masterClrMapping/>
  </p:clrMapOvr>
</p:sld>
</file>

<file path=ppt/slides/slide42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8000" y="203200"/>
            <a:ext cx="11176000" cy="635000"/>
          </a:xfrm>
        </p:spPr>
        <p:txBody>
          <a:bodyPr lIns="0" rIns="0" wrap="square" anchor="ctr"/>
          <a:lstStyle/>
          <a:p>
            <a:pPr algn="l"/>
            <a:r>
              <a:rPr lang="es-ES" sz="2600" b="true" i="false">
                <a:solidFill>
                  <a:srgbClr val="243B53"/>
                </a:solidFill>
                <a:latin typeface="Segoe UI"/>
              </a:rPr>
              <a:t>Conclusiones</a:t>
            </a:r>
            <a:endParaRPr sz="2600" lang="es-ES"/>
          </a:p>
        </p:txBody>
      </p:sp>
      <p:pic>
        <p:nvPicPr>
          <p:cNvPr name="Picture 3" id="3"/>
          <p:cNvPicPr>
            <a:picLocks noChangeAspect="true"/>
          </p:cNvPicPr>
          <p:nvPr/>
        </p:nvPicPr>
        <p:blipFill>
          <a:blip r:embed="rId2"/>
          <a:stretch>
            <a:fillRect/>
          </a:stretch>
        </p:blipFill>
        <p:spPr>
          <a:xfrm>
            <a:off x="10248900" y="5510084"/>
            <a:ext cx="1435100" cy="814516"/>
          </a:xfrm>
          <a:prstGeom prst="rect">
            <a:avLst/>
          </a:prstGeom>
        </p:spPr>
      </p:pic>
      <p:sp>
        <p:nvSpPr>
          <p:cNvPr name="AutoShape 4" id="4"/>
          <p:cNvSpPr/>
          <p:nvPr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243B53"/>
          </a:solidFill>
          <a:ln>
            <a:noFill/>
          </a:ln>
        </p:spPr>
      </p:sp>
      <p:pic>
        <p:nvPicPr>
          <p:cNvPr name="Picture 5" id="5"/>
          <p:cNvPicPr>
            <a:picLocks noChangeAspect="true"/>
          </p:cNvPicPr>
          <p:nvPr/>
        </p:nvPicPr>
        <p:blipFill>
          <a:blip r:embed="rId3"/>
          <a:stretch>
            <a:fillRect/>
          </a:stretch>
        </p:blipFill>
        <p:spPr>
          <a:xfrm>
            <a:off x="508000" y="6508750"/>
            <a:ext cx="177800" cy="100914"/>
          </a:xfrm>
          <a:prstGeom prst="rect">
            <a:avLst/>
          </a:prstGeom>
        </p:spPr>
      </p:pic>
      <p:sp>
        <p:nvSpPr>
          <p:cNvPr name="TextBox 6" id="6"/>
          <p:cNvSpPr txBox="true"/>
          <p:nvPr/>
        </p:nvSpPr>
        <p:spPr>
          <a:xfrm>
            <a:off x="749300" y="6451600"/>
            <a:ext cx="5080000" cy="228600"/>
          </a:xfrm>
          <a:prstGeom prst="rect">
            <a:avLst/>
          </a:prstGeom>
        </p:spPr>
        <p:txBody>
          <a:bodyPr anchor="ctr" rtlCol="false" wrap="square" lIns="0" rIns="0" tIns="25400" bIns="25400"/>
          <a:lstStyle/>
          <a:p>
            <a:pPr algn="l"/>
            <a:r>
              <a:rPr lang="es-ES" sz="750" b="false" i="false">
                <a:solidFill>
                  <a:srgbClr val="6B7785"/>
                </a:solidFill>
                <a:latin typeface="Segoe UI"/>
              </a:rPr>
              <a:t>Pentaho Live · IDC Studios</a:t>
            </a:r>
            <a:endParaRPr sz="750" lang="es-ES"/>
          </a:p>
        </p:txBody>
      </p:sp>
      <p:sp>
        <p:nvSpPr>
          <p:cNvPr name="TextBox 7" id="7"/>
          <p:cNvSpPr txBox="true"/>
          <p:nvPr/>
        </p:nvSpPr>
        <p:spPr>
          <a:xfrm>
            <a:off x="10160000" y="6451600"/>
            <a:ext cx="1524000" cy="228600"/>
          </a:xfrm>
          <a:prstGeom prst="rect">
            <a:avLst/>
          </a:prstGeom>
        </p:spPr>
        <p:txBody>
          <a:bodyPr anchor="ctr" rtlCol="false" wrap="square" lIns="0" rIns="0" tIns="25400" bIns="25400"/>
          <a:lstStyle/>
          <a:p>
            <a:pPr algn="r"/>
            <a:fld id="{DD3AE2DF-2CD5-4091-B4FF-E16E08B464F2}" type="slidenum">
              <a:rPr lang="es-ES" sz="750">
                <a:solidFill>
                  <a:srgbClr val="6B7785"/>
                </a:solidFill>
                <a:latin typeface="Segoe UI"/>
              </a:rPr>
              <a:t>42</a:t>
            </a:fld>
            <a:endParaRPr sz="750" lang="es-ES"/>
          </a:p>
        </p:txBody>
      </p:sp>
      <p:sp>
        <p:nvSpPr>
          <p:cNvPr name="TextBox 8" id="8"/>
          <p:cNvSpPr txBox="true"/>
          <p:nvPr/>
        </p:nvSpPr>
        <p:spPr>
          <a:xfrm>
            <a:off x="508000" y="1016000"/>
            <a:ext cx="11176000" cy="1588770"/>
          </a:xfrm>
          <a:prstGeom prst="rect">
            <a:avLst/>
          </a:prstGeom>
        </p:spPr>
        <p:txBody>
          <a:bodyPr anchor="t" rtlCol="false" wrap="square" lIns="0" rIns="0" tIns="25400" bIns="25400"/>
          <a:lstStyle/>
          <a:p>
            <a:pPr algn="l" marL="203200" indent="-152400">
              <a:spcAft>
                <a:spcPts val="489"/>
              </a:spcAft>
              <a:buClr>
                <a:srgbClr val="3F74D8"/>
              </a:buClr>
              <a:buFont typeface="Arial"/>
              <a:buChar char="•"/>
            </a:pPr>
            <a:r>
              <a:rPr lang="es-ES" sz="1400" b="false" i="false">
                <a:solidFill>
                  <a:srgbClr val="1F2933"/>
                </a:solidFill>
                <a:latin typeface="Segoe UI"/>
              </a:rPr>
              <a:t>La carga es completa y trazable: cada línea del fichero termina en `hechos_ventas` o en el fichero de rechazos, con el motivo.</a:t>
            </a:r>
            <a:endParaRPr sz="1400" lang="es-ES"/>
          </a:p>
          <a:p>
            <a:pPr algn="l" marL="203200" indent="-152400">
              <a:spcAft>
                <a:spcPts val="489"/>
              </a:spcAft>
              <a:buClr>
                <a:srgbClr val="3F74D8"/>
              </a:buClr>
              <a:buFont typeface="Arial"/>
              <a:buChar char="•"/>
            </a:pPr>
            <a:r>
              <a:rPr lang="es-ES" sz="1400" b="false" i="false">
                <a:solidFill>
                  <a:srgbClr val="1F2933"/>
                </a:solidFill>
                <a:latin typeface="Segoe UI"/>
              </a:rPr>
              <a:t>La validación de Spoon no encuentra errores ni advertencias.</a:t>
            </a:r>
            <a:endParaRPr sz="1400" lang="es-ES"/>
          </a:p>
          <a:p>
            <a:pPr algn="l" marL="203200" indent="-152400">
              <a:spcAft>
                <a:spcPts val="489"/>
              </a:spcAft>
              <a:buClr>
                <a:srgbClr val="3F74D8"/>
              </a:buClr>
              <a:buFont typeface="Arial"/>
              <a:buChar char="•"/>
            </a:pPr>
            <a:r>
              <a:rPr lang="es-ES" sz="1400" b="false" i="false">
                <a:solidFill>
                  <a:srgbClr val="1F2933"/>
                </a:solidFill>
                <a:latin typeface="Segoe UI"/>
              </a:rPr>
              <a:t>El paso más lento es la escritura en SQLite («Cargar hechos_ventas»), lo esperable en una carga de este tamaño.</a:t>
            </a:r>
            <a:endParaRPr sz="1400" lang="es-ES"/>
          </a:p>
        </p:txBody>
      </p:sp>
      <p:sp>
        <p:nvSpPr>
          <p:cNvPr name="TextBox 9" id="9"/>
          <p:cNvSpPr txBox="true"/>
          <p:nvPr/>
        </p:nvSpPr>
        <p:spPr>
          <a:xfrm>
            <a:off x="508000" y="2655570"/>
            <a:ext cx="11176000" cy="235458"/>
          </a:xfrm>
          <a:prstGeom prst="rect">
            <a:avLst/>
          </a:prstGeom>
        </p:spPr>
        <p:txBody>
          <a:bodyPr anchor="t" rtlCol="false" wrap="square" lIns="0" rIns="0" tIns="25400" bIns="25400"/>
          <a:lstStyle/>
          <a:p>
            <a:pPr algn="l"/>
            <a:r>
              <a:rPr lang="es-ES" sz="950" b="false" i="true">
                <a:solidFill>
                  <a:srgbClr val="6B7785"/>
                </a:solidFill>
                <a:latin typeface="Segoe UI"/>
              </a:rPr>
              <a:t>Texto redactado con asistencia de IA</a:t>
            </a:r>
            <a:endParaRPr sz="950" lang="es-E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Company/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terms="http://purl.org/dc/terms/" xmlns:dc="http://purl.org/dc/elements/1.1/" xmlns:xsi="http://www.w3.org/2001/XMLSchema-instance">
  <dcterms:created xsi:type="dcterms:W3CDTF">2006-08-16T00:00:00Z</dcterms:created>
  <dc:creator>Iván Castaño</dc:creator>
  <dc:description>Informe de la transformación 04_hechos_ventas</dc:description>
  <dc:language>es-ES</dc:language>
  <dcterms:modified xsi:type="dcterms:W3CDTF">2011-08-01T06:04:30Z</dcterms:modified>
  <cp:revision>1</cp:revision>
  <dc:title>Carga de hechos de ventas · Grano de Oro</dc:title>
</cp:coreProperties>
</file>